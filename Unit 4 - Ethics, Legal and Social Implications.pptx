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this positively: these are not obstacles. They are what make AI safe enough to actually deploy at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Deepfake voice fraud is the one to highlight - finance teams have authorised large transfers on a call that sounded exactly like the CFO. Verification process beats voice recognition.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insight for the class: the law does not regulate the model, it regulates the application. Recommending a film and deciding a loan are treated completely differently.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8686800" y="-1463040"/>
            <a:ext cx="5120640" cy="5120640"/>
          </a:xfrm>
          <a:prstGeom prst="ellipse">
            <a:avLst/>
          </a:prstGeom>
          <a:solidFill>
            <a:srgbClr val="3B7AF7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058400" y="3108960"/>
            <a:ext cx="3840480" cy="3840480"/>
          </a:xfrm>
          <a:prstGeom prst="ellipse">
            <a:avLst/>
          </a:prstGeom>
          <a:solidFill>
            <a:srgbClr val="00B3A4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o-bleed"/>
          <p:cNvSpPr/>
          <p:nvPr/>
        </p:nvSpPr>
        <p:spPr>
          <a:xfrm>
            <a:off x="7315200" y="1005840"/>
            <a:ext cx="2743200" cy="2743200"/>
          </a:xfrm>
          <a:prstGeom prst="ellipse">
            <a:avLst/>
          </a:prstGeom>
          <a:solidFill>
            <a:srgbClr val="FFFFFF">
              <a:alpha val="35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logo-plate"/>
          <p:cNvSpPr/>
          <p:nvPr/>
        </p:nvSpPr>
        <p:spPr>
          <a:xfrm>
            <a:off x="9126735" y="539496"/>
            <a:ext cx="2379159" cy="115214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5607" y="658368"/>
            <a:ext cx="2141415" cy="914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32688" y="2065553"/>
            <a:ext cx="7406640" cy="15788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Ethics, Privacy and Regulation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3662648"/>
            <a:ext cx="658368" cy="4572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973544"/>
            <a:ext cx="6766560" cy="74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5D2E8"/>
                </a:solidFill>
                <a:latin typeface="Segoe UI"/>
                <a:ea typeface="Segoe UI"/>
                <a:cs typeface="Segoe UI"/>
              </a:rPr>
              <a:t>The rules, risks and responsibilities that come with using AI - and how to keep a human properly in charge of decisions.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2688" y="4993614"/>
            <a:ext cx="793598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Privacy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54302" y="4993614"/>
            <a:ext cx="842066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Security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24384" y="4993614"/>
            <a:ext cx="1002999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Regulation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55400" y="4993614"/>
            <a:ext cx="1327717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Decision Making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5614416"/>
            <a:ext cx="3840480" cy="12700"/>
          </a:xfrm>
          <a:prstGeom prst="rect">
            <a:avLst/>
          </a:prstGeom>
          <a:solidFill>
            <a:srgbClr val="2A3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5797296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PRESENTED BY</a:t>
            </a:r>
          </a:p>
          <a:p>
            <a:pPr algn="l">
              <a:lnSpc>
                <a:spcPct val="122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Lingesh K</a:t>
            </a:r>
            <a:r>
              <a:rPr sz="1050" b="0" i="0">
                <a:solidFill>
                  <a:srgbClr val="7E91B4"/>
                </a:solidFill>
                <a:latin typeface="Segoe UI"/>
                <a:ea typeface="Segoe UI"/>
                <a:cs typeface="Segoe UI"/>
              </a:rPr>
              <a:t>      Register No. </a:t>
            </a:r>
            <a:r>
              <a:rPr sz="1050" b="1" i="0">
                <a:solidFill>
                  <a:srgbClr val="C5D2E8"/>
                </a:solidFill>
                <a:latin typeface="Segoe UI"/>
                <a:ea typeface="Segoe UI"/>
                <a:cs typeface="Segoe UI"/>
              </a:rPr>
              <a:t>OSI2509030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we will cover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One rule ties the whole unit together: a person is always accountable for the outcome.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2212848"/>
            <a:ext cx="32004" cy="78638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231136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9616" y="2267712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Why ethics is practical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It is a business risk, not a philosophy class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" y="3145536"/>
            <a:ext cx="32004" cy="786384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163824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99616" y="3200400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Privacy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What data you may collect, keep and use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4078224"/>
            <a:ext cx="32004" cy="786384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096511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99616" y="4133087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Security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New attack surfaces that come with AI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5010912"/>
            <a:ext cx="32004" cy="786384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29200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99616" y="5065776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Bias and fairness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How unfairness gets in, and how to catch it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4719" y="2212848"/>
            <a:ext cx="32004" cy="786384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5887" y="2231136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01103" y="2267712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AI regulations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global picture in plain terms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4719" y="3145536"/>
            <a:ext cx="32004" cy="786384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5887" y="3163824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01103" y="3200400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Risk-based rules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Why the same tool is fine here and banned there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4719" y="4078224"/>
            <a:ext cx="32004" cy="78638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5887" y="4096511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01103" y="4133087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AI in decision making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Who decides, and who is answerable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4719" y="5010912"/>
            <a:ext cx="32004" cy="786384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5887" y="5029200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01103" y="5065776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 governance checklist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What good practice looks like day to day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Why This Matters Commercially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Ethics failures show up as fines, lawsuits and lost customers.</a:t>
            </a:r>
          </a:p>
        </p:txBody>
      </p:sp>
      <p:sp>
        <p:nvSpPr>
          <p:cNvPr id="10" name="logo-plate"/>
          <p:cNvSpPr/>
          <p:nvPr/>
        </p:nvSpPr>
        <p:spPr>
          <a:xfrm>
            <a:off x="9512190" y="539496"/>
            <a:ext cx="1993704" cy="98755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062" y="658368"/>
            <a:ext cx="1755961" cy="74980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THE BUSINESS 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Four reasons this is not optional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Doing this well is a commercial advantage, not a cost centre.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3095764"/>
            <a:ext cx="2499283" cy="2057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3096678"/>
            <a:ext cx="249678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3489608"/>
            <a:ext cx="1950643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Legal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888039"/>
            <a:ext cx="1950643" cy="11005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Fines under data and AI law are now a percentage of global revenue, not a small penalty.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68547" y="3095764"/>
            <a:ext cx="2499283" cy="2057400"/>
          </a:xfrm>
          <a:prstGeom prst="roundRect">
            <a:avLst>
              <a:gd name="adj" fmla="val 6000"/>
            </a:avLst>
          </a:prstGeom>
          <a:solidFill>
            <a:srgbClr val="E0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69462" y="3096678"/>
            <a:ext cx="249678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2867" y="3605376"/>
            <a:ext cx="1950643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Reputation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2867" y="4003807"/>
            <a:ext cx="1950643" cy="9847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One unfair or leaked outcome can undo years of brand building.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3863" y="3095764"/>
            <a:ext cx="2499283" cy="2057400"/>
          </a:xfrm>
          <a:prstGeom prst="roundRect">
            <a:avLst>
              <a:gd name="adj" fmla="val 6000"/>
            </a:avLst>
          </a:prstGeom>
          <a:solidFill>
            <a:srgbClr val="FE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24778" y="3096678"/>
            <a:ext cx="2496784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8183" y="3605376"/>
            <a:ext cx="1950643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Customer trust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8183" y="4003807"/>
            <a:ext cx="1950643" cy="9847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People share data with organisations they believe will handle it properly.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9179" y="3095764"/>
            <a:ext cx="2499283" cy="2057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80093" y="3096678"/>
            <a:ext cx="249678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3499" y="3605376"/>
            <a:ext cx="1950643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Access to markets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3499" y="4003807"/>
            <a:ext cx="1950643" cy="9847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Buyers and regulators increasingly ask how your AI works before they sign.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Privacy and Security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Protecting the data, and protecting the system.</a:t>
            </a:r>
          </a:p>
        </p:txBody>
      </p:sp>
      <p:sp>
        <p:nvSpPr>
          <p:cNvPr id="10" name="logo-plate"/>
          <p:cNvSpPr/>
          <p:nvPr/>
        </p:nvSpPr>
        <p:spPr>
          <a:xfrm>
            <a:off x="9512190" y="539496"/>
            <a:ext cx="1993704" cy="98755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062" y="658368"/>
            <a:ext cx="1755961" cy="74980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PRIVACY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Six principles that cover most of the law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These appear in GDPR, India's DPDP Act and most other privacy laws.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2504923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Purpose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Collect data for a stated reason and use it only for that.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6986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7900" y="2504923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1306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Minimisation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1306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Collect the least you need. Extra data is extra risk.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0740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61655" y="2504923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5060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Consent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5060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People should know and agree, in language they understand.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4146" y="4244250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Accuracy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Wrong data produces wrong decisions about real people.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6986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87900" y="4244250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1306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Retention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1306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Delete it when the purpose ends. Do not keep it forever.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60740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61655" y="4244250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35060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Rights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5060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People can ask what you hold, correct it and have it removed.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THE EVERYDAY RISK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How private data actually leaks with Gen AI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Most incidents are not attacks. They are ordinary people taking a shortcut.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177312"/>
            <a:ext cx="10765231" cy="658368"/>
          </a:xfrm>
          <a:prstGeom prst="roundRect">
            <a:avLst>
              <a:gd name="adj" fmla="val 6000"/>
            </a:avLst>
          </a:prstGeom>
          <a:solidFill>
            <a:srgbClr val="F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The single most useful policy: never paste anything into a public AI tool that you would not post publicly.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2177312"/>
            <a:ext cx="32004" cy="65836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3443236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347224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Pasting into public tools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Staff paste customer data or contracts into a free chatbot to save time.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302772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4206760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Training on your input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Some consumer tools may use what you type to improve the model.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162308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5066296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Output that remembers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model can repeat sensitive detail it saw during training.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42735" y="3443236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0207" y="3347224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Screenshots and exports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Data leaves your controlled systems and lands in someone's downloads folder.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42735" y="4302772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90207" y="4206760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Shadow AI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Teams adopt tools nobody approved, so nobody can secure them.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42735" y="5162308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90207" y="5066296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Third-party add-ons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browser plugin can read everything on the page, including customer records.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New risks that come with AI systems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Old security still applies. These are the additions.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2504923"/>
            <a:ext cx="3414304" cy="6400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Prompt injection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Hidden instructions inside a document or web page hijack what the AI does next.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6986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7900" y="2504923"/>
            <a:ext cx="3414304" cy="6400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1306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Data poisoning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1306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Bad data is fed in deliberately so the model learns the wrong thing.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0740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61655" y="2504923"/>
            <a:ext cx="3414304" cy="6400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5060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Model theft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5060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Repeated querying is used to copy the behaviour of a model you paid to build.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4146" y="4244250"/>
            <a:ext cx="3414304" cy="6400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Deepfakes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Cloned voice or video used to authorise a payment or impersonate a leader.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6986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87900" y="4244250"/>
            <a:ext cx="3414304" cy="6400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1306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Over-permissioned agents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1306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An agent connected to too many systems can do too much damage.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60740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61655" y="4244250"/>
            <a:ext cx="3414304" cy="6400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35060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Supply chain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5060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vulnerability in a third-party AI service becomes your incident.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PRACTICAL PROTECTION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Five controls that prevent most problems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716603" y="2534883"/>
            <a:ext cx="8758488" cy="25400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78859" y="2308112"/>
            <a:ext cx="475488" cy="475488"/>
          </a:xfrm>
          <a:prstGeom prst="ellipse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413268"/>
            <a:ext cx="20067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2948192"/>
            <a:ext cx="2006742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149360"/>
            <a:ext cx="1677558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Approve 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3503421"/>
            <a:ext cx="1677558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Publish a short list of tools cleared for company data.</a:t>
            </a:r>
          </a:p>
        </p:txBody>
      </p:sp>
      <p:sp>
        <p:nvSpPr>
          <p:cNvPr id="14" name="Oval 13"/>
          <p:cNvSpPr/>
          <p:nvPr/>
        </p:nvSpPr>
        <p:spPr>
          <a:xfrm>
            <a:off x="3668481" y="2308112"/>
            <a:ext cx="475488" cy="475488"/>
          </a:xfrm>
          <a:prstGeom prst="ellipse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02854" y="2413268"/>
            <a:ext cx="20067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02854" y="2948192"/>
            <a:ext cx="2006742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67446" y="3149360"/>
            <a:ext cx="1677558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Classify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7446" y="3503421"/>
            <a:ext cx="1677558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Mark what may never leave your own systems.</a:t>
            </a:r>
          </a:p>
        </p:txBody>
      </p:sp>
      <p:sp>
        <p:nvSpPr>
          <p:cNvPr id="19" name="Oval 18"/>
          <p:cNvSpPr/>
          <p:nvPr/>
        </p:nvSpPr>
        <p:spPr>
          <a:xfrm>
            <a:off x="5858103" y="2308112"/>
            <a:ext cx="475488" cy="475488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92476" y="2413268"/>
            <a:ext cx="20067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92476" y="2948192"/>
            <a:ext cx="2006742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57068" y="3149360"/>
            <a:ext cx="1677558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Train people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57068" y="3503421"/>
            <a:ext cx="1677558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One hour of clear guidance prevents most incidents.</a:t>
            </a:r>
          </a:p>
        </p:txBody>
      </p:sp>
      <p:sp>
        <p:nvSpPr>
          <p:cNvPr id="24" name="Oval 23"/>
          <p:cNvSpPr/>
          <p:nvPr/>
        </p:nvSpPr>
        <p:spPr>
          <a:xfrm>
            <a:off x="8047725" y="2308112"/>
            <a:ext cx="475488" cy="475488"/>
          </a:xfrm>
          <a:prstGeom prst="ellipse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82098" y="2413268"/>
            <a:ext cx="20067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82098" y="2948192"/>
            <a:ext cx="2006742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46690" y="3149360"/>
            <a:ext cx="1677558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Limit access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6690" y="3503421"/>
            <a:ext cx="1677558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Agents and staff see only what their role needs.</a:t>
            </a:r>
          </a:p>
        </p:txBody>
      </p:sp>
      <p:sp>
        <p:nvSpPr>
          <p:cNvPr id="29" name="Oval 28"/>
          <p:cNvSpPr/>
          <p:nvPr/>
        </p:nvSpPr>
        <p:spPr>
          <a:xfrm>
            <a:off x="10237348" y="2308112"/>
            <a:ext cx="475488" cy="475488"/>
          </a:xfrm>
          <a:prstGeom prst="ellipse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71720" y="2413268"/>
            <a:ext cx="20067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471720" y="2948192"/>
            <a:ext cx="2006742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36312" y="3149360"/>
            <a:ext cx="1677558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Log and review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6312" y="3503421"/>
            <a:ext cx="1677558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Keep records so you can investigate and improve.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3232" y="5449824"/>
            <a:ext cx="10765231" cy="603504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19456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Banning AI does not work - people use it on their phones instead. Provide a safe approved option.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" y="5449824"/>
            <a:ext cx="32004" cy="60350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Bias and Fairness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The risk that is hardest to see and easiest to inherit.</a:t>
            </a:r>
          </a:p>
        </p:txBody>
      </p:sp>
      <p:sp>
        <p:nvSpPr>
          <p:cNvPr id="10" name="logo-plate"/>
          <p:cNvSpPr/>
          <p:nvPr/>
        </p:nvSpPr>
        <p:spPr>
          <a:xfrm>
            <a:off x="9512190" y="539496"/>
            <a:ext cx="1993704" cy="98755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062" y="658368"/>
            <a:ext cx="1755961" cy="74980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HOW IT HAPPENS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Bias is learned, not programmed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819728"/>
            <a:ext cx="4521397" cy="719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Nobody writes an unfair rule. The model copies the pattern it was shown.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2630378"/>
            <a:ext cx="457200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301442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0469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Past decisions were made by people, with their biases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39135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281623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The model learns those patterns as 'normal'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76827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65854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Groups missing from the data get served worst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14520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035473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The output looks neutral and statistical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452212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41239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At scale, a small bias affects thousands of people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00389" y="1783152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00389" y="1783152"/>
            <a:ext cx="45720" cy="1313663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74709" y="2164634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Representation bias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74709" y="2490813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Some groups barely appear in the training data.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00389" y="3261408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00389" y="3261408"/>
            <a:ext cx="45720" cy="1313663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74709" y="3642890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Historical bias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74709" y="3969069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past was unfair, so the prediction is too.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00389" y="4739664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00389" y="4739664"/>
            <a:ext cx="45720" cy="1313663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74709" y="5121146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Proxy bias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74709" y="5447325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postcode or school name stands in for something protected.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MANAGING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Four practical fairness controls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You cannot remove bias completely. You can measure it and manage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195600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2195600"/>
            <a:ext cx="45720" cy="1819135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2433344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Test by group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24128" y="2963696"/>
            <a:ext cx="91440" cy="91440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2863112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Measure accuracy for each group separately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3271371"/>
            <a:ext cx="91440" cy="91440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3170787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An overall score can hide a serious gap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" y="3579045"/>
            <a:ext cx="91440" cy="91440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0160" y="3478461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Do this before launch and again later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23863" y="2195600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23863" y="2195600"/>
            <a:ext cx="45720" cy="1819135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4759" y="2433344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Mixed review teams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34759" y="2963696"/>
            <a:ext cx="91440" cy="91440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90791" y="2863112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People who differ spot different problems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34759" y="3271371"/>
            <a:ext cx="91440" cy="91440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90791" y="3170787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Involve the affected function, not only IT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34759" y="3579045"/>
            <a:ext cx="91440" cy="91440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90791" y="3478461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Document what you checked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234192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234192"/>
            <a:ext cx="45720" cy="1819135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4128" y="4471936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Explainability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4128" y="5002288"/>
            <a:ext cx="91440" cy="91440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80160" y="4901704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Be able to say which factors mattered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24128" y="5309962"/>
            <a:ext cx="91440" cy="91440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80160" y="5209378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If you cannot explain it, do not automate it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24128" y="5617637"/>
            <a:ext cx="91440" cy="91440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80160" y="5517053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Required by law in many high-risk uses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23863" y="4234192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23863" y="4234192"/>
            <a:ext cx="45720" cy="1819135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4759" y="4471936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Appeal route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34759" y="5002288"/>
            <a:ext cx="91440" cy="91440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90791" y="4901704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 person can ask for a human review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34759" y="5309962"/>
            <a:ext cx="91440" cy="91440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90791" y="5209378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Someone has authority to overturn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34759" y="5617637"/>
            <a:ext cx="91440" cy="91440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90791" y="5517053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Track overturns - they show where it fails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AI Regulations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What the law now expects, in plain language.</a:t>
            </a:r>
          </a:p>
        </p:txBody>
      </p:sp>
      <p:sp>
        <p:nvSpPr>
          <p:cNvPr id="10" name="logo-plate"/>
          <p:cNvSpPr/>
          <p:nvPr/>
        </p:nvSpPr>
        <p:spPr>
          <a:xfrm>
            <a:off x="9512190" y="539496"/>
            <a:ext cx="1993704" cy="98755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062" y="658368"/>
            <a:ext cx="1755961" cy="74980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THE GLOBAL PICTURE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The frameworks that matter most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13232" y="1819728"/>
          <a:ext cx="10765228" cy="3310125"/>
        </p:xfrm>
        <a:graphic>
          <a:graphicData uri="http://schemas.openxmlformats.org/drawingml/2006/table">
            <a:tbl>
              <a:tblPr firstRow="1" bandRow="0" bandCol="0" firstCol="0" lastRow="0" lastCol="0">
                <a:tableStyleId>{5C22544A-7EE6-4342-B048-85BDC9FD1C3A}</a:tableStyleId>
              </a:tblPr>
              <a:tblGrid>
                <a:gridCol w="1983068"/>
                <a:gridCol w="1983068"/>
                <a:gridCol w="3541194"/>
                <a:gridCol w="3257898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Framework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Where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What it does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Why you care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</a:tr>
              <a:tr h="57058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EU AI Act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European Union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Sorts AI by risk level and bans the worst uses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The global benchmark - others copy it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</a:tr>
              <a:tr h="57058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GDPR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European Union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Governs personal data and automated decisions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Applies if you touch EU data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</a:tr>
              <a:tr h="57058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DPDP Act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India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Consent, purpose limits and duties for data handlers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Direct compliance duty in India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</a:tr>
              <a:tr h="57058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NIST AI RMF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United States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A voluntary framework for managing AI risk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Practical template for governance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</a:tr>
              <a:tr h="57058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Sector rules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Everywhere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Finance, health and hiring rules already apply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Existing law did not pause for AI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13232" y="5349312"/>
            <a:ext cx="10765231" cy="566928"/>
          </a:xfrm>
          <a:prstGeom prst="roundRect">
            <a:avLst>
              <a:gd name="adj" fmla="val 6000"/>
            </a:avLst>
          </a:prstGeom>
          <a:solidFill>
            <a:srgbClr val="E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Details differ by country. The direction is the same everywhere: more transparency and more accountability.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5349312"/>
            <a:ext cx="32004" cy="56692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THE CORE IDEA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Regulation is risk-based, not technology-based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same technology can sit in any band. What matters is what you use it for.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5184908"/>
            <a:ext cx="10765231" cy="8684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5184908"/>
            <a:ext cx="45720" cy="868419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50976" y="5417950"/>
            <a:ext cx="402336" cy="402336"/>
          </a:xfrm>
          <a:prstGeom prst="ellipse">
            <a:avLst/>
          </a:prstGeom>
          <a:solidFill>
            <a:srgbClr val="E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5513962"/>
            <a:ext cx="40233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L1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6192" y="5501748"/>
            <a:ext cx="2834640" cy="3261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Minimal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5508612"/>
            <a:ext cx="6558991" cy="312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Spam filters, grammar help, product recommendations. Use freely.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789755" y="4188472"/>
            <a:ext cx="9688708" cy="8684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89755" y="4188472"/>
            <a:ext cx="45720" cy="868419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027499" y="4421514"/>
            <a:ext cx="402336" cy="402336"/>
          </a:xfrm>
          <a:prstGeom prst="ellipse">
            <a:avLst/>
          </a:prstGeom>
          <a:solidFill>
            <a:srgbClr val="E0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27499" y="4517526"/>
            <a:ext cx="40233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L2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12715" y="4505312"/>
            <a:ext cx="2834640" cy="3261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Limited risk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30235" y="4512176"/>
            <a:ext cx="5482468" cy="312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Chatbots and generated content. Duty: tell people it is AI.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66278" y="3192036"/>
            <a:ext cx="8612184" cy="8684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866278" y="3192036"/>
            <a:ext cx="45720" cy="868419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104022" y="3425078"/>
            <a:ext cx="402336" cy="402336"/>
          </a:xfrm>
          <a:prstGeom prst="ellipse">
            <a:avLst/>
          </a:prstGeom>
          <a:solidFill>
            <a:srgbClr val="FE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04022" y="3521090"/>
            <a:ext cx="40233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L3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89238" y="3508876"/>
            <a:ext cx="2834640" cy="3261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High risk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06758" y="3405234"/>
            <a:ext cx="4405944" cy="5334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Hiring, credit, education, healthcare. Duty: testing, documentation, human oversight.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42801" y="2195600"/>
            <a:ext cx="7535661" cy="8684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942801" y="2195600"/>
            <a:ext cx="45720" cy="868419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180545" y="2428642"/>
            <a:ext cx="402336" cy="402336"/>
          </a:xfrm>
          <a:prstGeom prst="ellipse">
            <a:avLst/>
          </a:prstGeom>
          <a:solidFill>
            <a:srgbClr val="F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80545" y="2524654"/>
            <a:ext cx="40233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L4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65761" y="2512440"/>
            <a:ext cx="2834640" cy="3261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Unacceptable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83281" y="2408798"/>
            <a:ext cx="3329421" cy="5334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Social scoring and manipulative systems. Banned outright.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COMPLIANCE IN PRACTICE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Six duties that keep coming up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2297784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4146" y="2298699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64525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Disclose AI 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3043688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Tell people when they are interacting with AI or seeing generated content.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6986" y="2297784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7900" y="2298699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1306" y="264525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Keep documentation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1306" y="3043688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Record what the system does, on what data, and how it was tested.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0740" y="2297784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61655" y="2298699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5060" y="264525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Provide human oversight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5060" y="3043688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person can review, override and stop the system.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037112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4146" y="4038026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7552" y="4384584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Explain decisions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" y="4783015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Be able to give a meaningful reason for an outcome that affects someone.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6986" y="4037112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87900" y="4038026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1306" y="4384584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Protect the 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1306" y="4783015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Lawful basis, security controls and defined retention.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0740" y="4037112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61655" y="4038026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35060" y="4384584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Monitor after launch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5060" y="4783015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Performance drifts. Review it on a schedule, not once.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AI in Decision Making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The question that decides everything else: who is accountable?</a:t>
            </a:r>
          </a:p>
        </p:txBody>
      </p:sp>
      <p:sp>
        <p:nvSpPr>
          <p:cNvPr id="10" name="logo-plate"/>
          <p:cNvSpPr/>
          <p:nvPr/>
        </p:nvSpPr>
        <p:spPr>
          <a:xfrm>
            <a:off x="9512190" y="539496"/>
            <a:ext cx="1993704" cy="98755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062" y="658368"/>
            <a:ext cx="1755961" cy="74980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LEVELS OF AUTOMATION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Four ways AI can take part in a decision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Match the level to the consequence of being wrong.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1990305" y="3054711"/>
            <a:ext cx="8211083" cy="25400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52561" y="2827939"/>
            <a:ext cx="475488" cy="475488"/>
          </a:xfrm>
          <a:prstGeom prst="ellipse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933095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468019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669187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Human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023249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AI is not involved. The default for rare, high-stakes calls.</a:t>
            </a:r>
          </a:p>
        </p:txBody>
      </p:sp>
      <p:sp>
        <p:nvSpPr>
          <p:cNvPr id="15" name="Oval 14"/>
          <p:cNvSpPr/>
          <p:nvPr/>
        </p:nvSpPr>
        <p:spPr>
          <a:xfrm>
            <a:off x="4489589" y="2827939"/>
            <a:ext cx="475488" cy="475488"/>
          </a:xfrm>
          <a:prstGeom prst="ellipse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50259" y="2933095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50259" y="3468019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4851" y="3669187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AI advises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4851" y="4023249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AI recommends, a person decides. Safest useful setting.</a:t>
            </a:r>
          </a:p>
        </p:txBody>
      </p:sp>
      <p:sp>
        <p:nvSpPr>
          <p:cNvPr id="20" name="Oval 19"/>
          <p:cNvSpPr/>
          <p:nvPr/>
        </p:nvSpPr>
        <p:spPr>
          <a:xfrm>
            <a:off x="7226617" y="2827939"/>
            <a:ext cx="475488" cy="475488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87287" y="2933095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7287" y="3468019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3669187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AI decides, human reviews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4023249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AI acts, a person checks and can overturn.</a:t>
            </a:r>
          </a:p>
        </p:txBody>
      </p:sp>
      <p:sp>
        <p:nvSpPr>
          <p:cNvPr id="25" name="Oval 24"/>
          <p:cNvSpPr/>
          <p:nvPr/>
        </p:nvSpPr>
        <p:spPr>
          <a:xfrm>
            <a:off x="9963645" y="2827939"/>
            <a:ext cx="475488" cy="475488"/>
          </a:xfrm>
          <a:prstGeom prst="ellipse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24315" y="2933095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24315" y="3468019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88907" y="3669187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Fully automatic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88907" y="4023249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No human in the loop. Only for low-risk, reversible decisions.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" y="5449824"/>
            <a:ext cx="10765231" cy="603504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19456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Most business decisions belong in level 2. Most incidents happen when something quietly drifts to level 4.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" y="5449824"/>
            <a:ext cx="32004" cy="60350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CHOOSING THE LEVEL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Where automation is fine, and where it is not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1783152"/>
            <a:ext cx="5227167" cy="355694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4146" y="1784066"/>
            <a:ext cx="5221940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24128" y="2094048"/>
            <a:ext cx="1673424" cy="310896"/>
          </a:xfrm>
          <a:prstGeom prst="roundRect">
            <a:avLst>
              <a:gd name="adj" fmla="val 50000"/>
            </a:avLst>
          </a:prstGeom>
          <a:solidFill>
            <a:srgbClr val="E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SAFE TO AUTOMATE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569536"/>
            <a:ext cx="4605375" cy="352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Low stakes and easy to reverse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" y="3031525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24128" y="3356137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16736" y="3250981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Sorting and tagging incoming requests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8" y="372641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6736" y="3621255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Suggesting products or content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409668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16736" y="3991529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Drafting internal documents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24128" y="4466959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16736" y="4361803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Flagging items for human review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24128" y="483723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16736" y="4732077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Routine, high-volume, low-value calls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51295" y="1783152"/>
            <a:ext cx="5227167" cy="355694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2210" y="1784066"/>
            <a:ext cx="5221940" cy="6400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562191" y="2094048"/>
            <a:ext cx="1356604" cy="310896"/>
          </a:xfrm>
          <a:prstGeom prst="roundRect">
            <a:avLst>
              <a:gd name="adj" fmla="val 50000"/>
            </a:avLst>
          </a:prstGeom>
          <a:solidFill>
            <a:srgbClr val="F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KEEP A HUMAN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62191" y="2569536"/>
            <a:ext cx="4605375" cy="352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Life, money, rights or reputation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62191" y="3031525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562191" y="3356137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4799" y="3250981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Hiring, promotion and dismissal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62191" y="372641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4799" y="3621255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Credit, insurance and pricing decisions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62191" y="409668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4799" y="3991529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Medical and safety judgements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62191" y="4466959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4799" y="4361803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Anything that is hard to undo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62191" y="483723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4799" y="4732077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Anything a person could reasonably appeal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3232" y="5486400"/>
            <a:ext cx="10765231" cy="566928"/>
          </a:xfrm>
          <a:prstGeom prst="roundRect">
            <a:avLst>
              <a:gd name="adj" fmla="val 6000"/>
            </a:avLst>
          </a:prstGeom>
          <a:solidFill>
            <a:srgbClr val="0E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 cap="all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In short   </a:t>
            </a:r>
            <a:r>
              <a:rPr sz="12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Ask one question: if this is wrong, who is harmed and can we undo it?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HUMAN OVERSIGHT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'a human in the loop' has to mean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rubber stamp is not oversight. It is just paperwork.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958604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862592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Real authority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reviewer can actually say no, without needing permission.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18140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722128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Enough time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Sixty decisions an hour is not review, it is rubber-stamping.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77676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4581664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Enough information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reviewer sees why the AI suggested this.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42735" y="2958604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90207" y="2862592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Named accountability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One person owns the outcome. Not 'the algorithm'.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42735" y="3818140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0207" y="3722128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Overturns are tracked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Frequent overrides are a signal the model needs work.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42735" y="4677676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90207" y="4581664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Training on limits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Reviewers know where the AI is usually wrong.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-1280160" y="3657600"/>
            <a:ext cx="4572000" cy="457200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9692640" y="-1097280"/>
            <a:ext cx="4572000" cy="45720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ogo-plate"/>
          <p:cNvSpPr/>
          <p:nvPr/>
        </p:nvSpPr>
        <p:spPr>
          <a:xfrm>
            <a:off x="9769160" y="502920"/>
            <a:ext cx="1736734" cy="87782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8032" y="621792"/>
            <a:ext cx="1498991" cy="640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1737360"/>
            <a:ext cx="1003371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20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THE PRINCIPLE TO REMEMBER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286000"/>
            <a:ext cx="9082735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 model can make a recommendation. Only a person can be accountable.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775807" y="4553712"/>
            <a:ext cx="640080" cy="4572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791456"/>
            <a:ext cx="8168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A9BBDA"/>
                </a:solidFill>
                <a:latin typeface="Segoe UI"/>
                <a:ea typeface="Segoe UI"/>
                <a:cs typeface="Segoe UI"/>
              </a:rPr>
              <a:t>This is the line that regulators, courts and customers all care about.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 practical starting checklist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Governance is boring, cheap and the reason projects survive.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2504923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Write a short AI policy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Two pages people will actually read: approved tools, banned data, who to ask.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6986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7900" y="2504923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1306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Keep an AI register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1306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list of every AI use, its owner and its risk level.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0740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61655" y="2504923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5060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Classify each use case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5060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Minimal, limited or high risk - and apply the matching controls.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4146" y="4244250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Review on a schedule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Quarterly checks on accuracy, fairness and complaints.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6986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87900" y="4244250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1306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Train everyone once a year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1306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Short, practical, example-led. Not a legal lecture.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60740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61655" y="4244250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35060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Have an incident route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5060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People know exactly who to tell when something goes wrong.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RECAP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Key takeaways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Unit 4 in six lines.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232176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2232176"/>
            <a:ext cx="45720" cy="1151797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4984" y="2616051"/>
            <a:ext cx="384048" cy="384048"/>
          </a:xfrm>
          <a:prstGeom prst="ellipse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4" y="2702919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9344" y="2555280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Ethics is commercial risk management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Fines, reputation, trust and market access.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566853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3232" y="3566853"/>
            <a:ext cx="45720" cy="1151797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14984" y="3950728"/>
            <a:ext cx="384048" cy="384048"/>
          </a:xfrm>
          <a:prstGeom prst="ellipse">
            <a:avLst/>
          </a:prstGeom>
          <a:solidFill>
            <a:srgbClr val="E0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4037596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9344" y="3770529"/>
            <a:ext cx="4111599" cy="835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Privacy comes down to purpose, minimisation and consent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Collect less, use it only as promised, delete it on time.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4901530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3232" y="4901530"/>
            <a:ext cx="45720" cy="115179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14984" y="5285405"/>
            <a:ext cx="384048" cy="384048"/>
          </a:xfrm>
          <a:prstGeom prst="ellipse">
            <a:avLst/>
          </a:prstGeom>
          <a:solidFill>
            <a:srgbClr val="FE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5372273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9344" y="5224634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Most leaks are shortcuts, not attacks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Approve safe tools so people do not go around you.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3007" y="2232176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33007" y="2232176"/>
            <a:ext cx="45720" cy="1151797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534759" y="2616051"/>
            <a:ext cx="384048" cy="384048"/>
          </a:xfrm>
          <a:prstGeom prst="ellipse">
            <a:avLst/>
          </a:prstGeom>
          <a:solidFill>
            <a:srgbClr val="EEE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4759" y="2702919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29119" y="2555280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Bias is inherited from data and must be measured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Test by group, review with mixed teams, allow appeals.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33007" y="3566853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33007" y="3566853"/>
            <a:ext cx="45720" cy="1151797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534759" y="3950728"/>
            <a:ext cx="384048" cy="384048"/>
          </a:xfrm>
          <a:prstGeom prst="ellipse">
            <a:avLst/>
          </a:prstGeom>
          <a:solidFill>
            <a:srgbClr val="E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4759" y="4037596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29119" y="3779451"/>
            <a:ext cx="4111599" cy="818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Regulation follows risk, not technology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same model is unrestricted in one use and banned in another.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3007" y="4901530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33007" y="4901530"/>
            <a:ext cx="45720" cy="1151797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534759" y="5285405"/>
            <a:ext cx="384048" cy="384048"/>
          </a:xfrm>
          <a:prstGeom prst="ellipse">
            <a:avLst/>
          </a:prstGeom>
          <a:solidFill>
            <a:srgbClr val="F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34759" y="5372273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29119" y="5224634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Accountability cannot be automated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AI recommends. A named person decides and answers for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8961120" y="-1280160"/>
            <a:ext cx="4937760" cy="4937760"/>
          </a:xfrm>
          <a:prstGeom prst="ellipse">
            <a:avLst/>
          </a:prstGeom>
          <a:solidFill>
            <a:srgbClr val="3B7AF7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424160" y="3474720"/>
            <a:ext cx="3291840" cy="3291840"/>
          </a:xfrm>
          <a:prstGeom prst="ellipse">
            <a:avLst/>
          </a:prstGeom>
          <a:solidFill>
            <a:srgbClr val="00B3A4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542032"/>
            <a:ext cx="7315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Thank you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675887"/>
            <a:ext cx="658368" cy="45720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3950208"/>
            <a:ext cx="6583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B8C8E4"/>
                </a:solidFill>
                <a:latin typeface="Segoe UI"/>
                <a:ea typeface="Segoe UI"/>
                <a:cs typeface="Segoe UI"/>
              </a:rPr>
              <a:t>Next up — Unit 5: strategy, building AI-based business solutions, and how leaders make teams dramatically more effective.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4718304"/>
            <a:ext cx="7315200" cy="1207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 cap="all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Questions to think about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 i="0">
                <a:solidFill>
                  <a:srgbClr val="93A6C6"/>
                </a:solidFill>
                <a:latin typeface="Segoe UI"/>
                <a:ea typeface="Segoe UI"/>
                <a:cs typeface="Segoe UI"/>
              </a:rPr>
              <a:t>— What is the riskiest way AI is being used in your organisation today?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 i="0">
                <a:solidFill>
                  <a:srgbClr val="93A6C6"/>
                </a:solidFill>
                <a:latin typeface="Segoe UI"/>
                <a:ea typeface="Segoe UI"/>
                <a:cs typeface="Segoe UI"/>
              </a:rPr>
              <a:t>— Which of your decisions should never be fully automated?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 i="0">
                <a:solidFill>
                  <a:srgbClr val="93A6C6"/>
                </a:solidFill>
                <a:latin typeface="Segoe UI"/>
                <a:ea typeface="Segoe UI"/>
                <a:cs typeface="Segoe UI"/>
              </a:rPr>
              <a:t>— Who owns AI governance where you work - and do they know it?</a:t>
            </a:r>
          </a:p>
        </p:txBody>
      </p:sp>
      <p:sp>
        <p:nvSpPr>
          <p:cNvPr id="10" name="logo-plate"/>
          <p:cNvSpPr/>
          <p:nvPr/>
        </p:nvSpPr>
        <p:spPr>
          <a:xfrm>
            <a:off x="9233806" y="539496"/>
            <a:ext cx="2272088" cy="110642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2678" y="658368"/>
            <a:ext cx="2034345" cy="86868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987552" y="6035040"/>
            <a:ext cx="3291840" cy="12700"/>
          </a:xfrm>
          <a:prstGeom prst="rect">
            <a:avLst/>
          </a:prstGeom>
          <a:solidFill>
            <a:srgbClr val="2A3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6163056"/>
            <a:ext cx="5852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Lingesh K</a:t>
            </a:r>
            <a:r>
              <a:rPr sz="1000" b="0" i="0">
                <a:solidFill>
                  <a:srgbClr val="7E91B4"/>
                </a:solidFill>
                <a:latin typeface="Segoe UI"/>
                <a:ea typeface="Segoe UI"/>
                <a:cs typeface="Segoe UI"/>
              </a:rPr>
              <a:t>   ·   Register No. </a:t>
            </a:r>
            <a:r>
              <a:rPr sz="1000" b="1" i="0">
                <a:solidFill>
                  <a:srgbClr val="C5D2E8"/>
                </a:solidFill>
                <a:latin typeface="Segoe UI"/>
                <a:ea typeface="Segoe UI"/>
                <a:cs typeface="Segoe UI"/>
              </a:rPr>
              <a:t>OSI2509030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4 — Ethics, Legal and Social Implications</dc:title>
  <dc:subject>Artificial Intelligence &amp; Generative AI</dc:subject>
  <dc:creator>Lingesh K (OSI2509030)</dc:creator>
  <cp:keywords/>
  <dc:description>PGPM · Systems Specialisation · Unit 4 of 5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