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positively: these are not obstacles. They are what make AI safe enough to actually deploy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Deepfake voice fraud is the one to highlight - finance teams have authorised large transfers on a call that sounded exactly like the CFO. Verification process beats voice recognition.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 for the class: the law does not regulate the model, it regulates the application. Recommending a film and deciding a loan are treated completely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Ethics, Privacy and 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rules, risks and responsibilities that come with using AI - and how to keep a human properly in charge of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5159197"/>
            <a:ext cx="79359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54302" y="5159197"/>
            <a:ext cx="84206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24384" y="5159197"/>
            <a:ext cx="100299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Regulation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55400" y="5159197"/>
            <a:ext cx="132771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Decision Making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742432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925312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9DBE"/>
                </a:solidFill>
                <a:latin typeface="Segoe UI"/>
                <a:ea typeface="Segoe UI"/>
                <a:cs typeface="Segoe UI"/>
              </a:rPr>
              <a:t>Unit 4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rule ties the whole unit together: a person is always accountable for the outcome.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ethics is practical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is a business risk, not a philosophy 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data you may collect, keep and 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Security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New attack surfaces that come with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unfairness gets in, and how to catch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regulations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global picture in plain terms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Risk-based rules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the same tool is fine here and banned there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Who decides, and who is answerable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governance checklist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good practice looks like day to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Commercially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Ethics failures show up as fines, lawsuits and lost customers.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reasons this is not optional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Doing this well is a commercial advantage, not a cost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Legal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 under data and AI law are now a percentage of global revenue, not a small penalty.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unfair or leaked outcome can undo years of brand building.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share data with organisations they believe will handle it properly.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Access to markets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Buyers and regulators increasingly ask how your AI works before they 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Privacy and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Protecting the data, and protecting the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principles that cover most of the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appear in GDPR, India's DPDP Act and most other privacy laws.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data for a stated reason and use it only for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the least you need. Extra data is extra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should know and agree, in language they understand.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Wrong data produces wrong decisions about real people.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Delete it when the purpose ends. Do not keep it forever.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Rights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can ask what you hold, correct it and have it removed.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EVERYDAY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private data actually leaks with Gen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incidents are not attacks. They are ordinary people taking a shortcut.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77312"/>
            <a:ext cx="10765231" cy="658368"/>
          </a:xfrm>
          <a:prstGeom prst="roundRect">
            <a:avLst>
              <a:gd name="adj" fmla="val 6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single most useful policy: never paste anything into a public AI tool that you would not post publicly.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7312"/>
            <a:ext cx="32004" cy="65836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Pasting into public tools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Staff paste customer data or contracts into a free chatbot to save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your input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consumer tools may use what you type to improve the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Output that remembers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 repeat sensitive detail it saw during training.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Screenshots and exports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Data leaves your controlled systems and lands in someone's downloads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Shadow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Teams adopt tools nobody approved, so nobody can secure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2735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90207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Third-party add-ons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browser plugin can read everything on the page, including customer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New risks that come with AI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Old security still applies. These are the additions.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Hidden instructions inside a document or web page hijack what the AI does next.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poisoning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Bad data is fed in deliberately so the model learns the wrong 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 theft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Repeated querying is used to copy the behaviour of a model you paid to build.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Deepfakes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Cloned voice or video used to authorise a payment or impersonate a leader.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Over-permissioned agents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agent connected to too many systems can do too much damage.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Supply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vulnerability in a third-party AI service becomes your incident.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PRACTICAL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controls that prevent most problems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16603" y="2534883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859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Approve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Publish a short list of tools cleared for company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3668481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2854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2854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7446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7446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Mark what may never leave your own systems.</a:t>
            </a:r>
          </a:p>
        </p:txBody>
      </p:sp>
      <p:sp>
        <p:nvSpPr>
          <p:cNvPr id="19" name="Oval 18"/>
          <p:cNvSpPr/>
          <p:nvPr/>
        </p:nvSpPr>
        <p:spPr>
          <a:xfrm>
            <a:off x="5858103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2476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2476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7068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people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068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hour of clear guidance prevents most incidents.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25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2098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2098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6690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6690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Agents and staff see only what their role needs.</a:t>
            </a:r>
          </a:p>
        </p:txBody>
      </p:sp>
      <p:sp>
        <p:nvSpPr>
          <p:cNvPr id="29" name="Oval 28"/>
          <p:cNvSpPr/>
          <p:nvPr/>
        </p:nvSpPr>
        <p:spPr>
          <a:xfrm>
            <a:off x="10237348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71720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71720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6312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6312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 records so you can investigate and improve.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Banning AI does not work - people use it on their phones instead. Provide a safe approved option.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risk that is hardest to see and easiest to inherit.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HOW IT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learned, not programmed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Nobody writes an unfair rule. The model copies the pattern it was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 decisions were made by people, with their biases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learns those patterns as 'normal'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Groups missing from the data get served worst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output looks neutral and statistical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At scale, a small bias affects thousands of people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Representation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groups barely appear in the training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Historical bias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past was unfair, so the prediction is too.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Proxy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postcode or school name stands in for something protected.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MANAGING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practical fairness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cannot remove bias completely. You can measure it and manage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 by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accuracy for each group separately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overall score can hide a serious gap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 this before launch and again later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Mixed review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People who differ spot different problems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Involve the affected function, not only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Document what you checked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 able to say which factors mattered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If you cannot explain it, do not automate 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Required by law in many high-risk 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Appeal route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person can ask for a human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Someone has authority to overturn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Track overturns - they show where it fails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Regulations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What the law now expects, in plain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GLOBAL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frameworks that matter most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331012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83068"/>
                <a:gridCol w="1983068"/>
                <a:gridCol w="3541194"/>
                <a:gridCol w="325789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Framework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Where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does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Why you care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EU AI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Sorts AI by risk level and bans the worst uses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The global benchmark - others copy it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GDPR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Governs personal data and automated decisions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Applies if you touch EU data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DPDP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Consent, purpose limits and duties for data handlers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Direct compliance duty in 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NIST AI RMF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United States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 voluntary framework for managing AI risk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Practical template for governance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Sector rules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Everywhere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Finance, health and hiring rules already apply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Existing law did not pause for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3493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Details differ by country. The direction is the same everywhere: more transparency and more accountability.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349312"/>
            <a:ext cx="32004" cy="56692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CORE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is risk-based, not technology-based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technology can sit in any band. What matters is what you use it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5184908"/>
            <a:ext cx="1076523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5184908"/>
            <a:ext cx="45720" cy="868419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0976" y="5417950"/>
            <a:ext cx="402336" cy="402336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1396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5501748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Minimal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508612"/>
            <a:ext cx="6558991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Spam filters, grammar help, product recommendations. Use freely.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9755" y="4188472"/>
            <a:ext cx="9688708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9755" y="4188472"/>
            <a:ext cx="45720" cy="86841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27499" y="4421514"/>
            <a:ext cx="402336" cy="402336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7499" y="4517526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2715" y="4505312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Limited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0235" y="4512176"/>
            <a:ext cx="5482468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Chatbots and generated content. Duty: tell people it is 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6278" y="3192036"/>
            <a:ext cx="8612184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6278" y="3192036"/>
            <a:ext cx="45720" cy="86841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04022" y="3425078"/>
            <a:ext cx="402336" cy="402336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4022" y="3521090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9238" y="3508876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High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6758" y="3405234"/>
            <a:ext cx="4405944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credit, education, healthcare. Duty: testing, documentation, human oversight.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42801" y="2195600"/>
            <a:ext cx="753566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42801" y="2195600"/>
            <a:ext cx="45720" cy="868419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80545" y="2428642"/>
            <a:ext cx="402336" cy="402336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80545" y="252465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L4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5761" y="2512440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Unacceptable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83281" y="2408798"/>
            <a:ext cx="3329421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Social scoring and manipulative systems. Banned outright.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COMPLIANCE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duties that keep coming up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Disclose AI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people when they are interacting with AI or seeing generated content.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documentation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Record what the system does, on what data, and how it was 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Provide human oversight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can review, override and stop the system.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able to give a meaningful reason for an outcome that affects someone.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Protect the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Lawful basis, security controls and defined retention.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Monitor after 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Performance drifts. Review it on a schedule, not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question that decides everything else: who is accountable?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LEVELS OF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AI can take part in a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level to the consequence of being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involved. The default for rare, high-stakes calls.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advises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recommends, a person decides. Safest useful setting.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decides, human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acts, a person checks and can overturn.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Fully automatic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human in the loop. Only for low-risk, reversible decisions.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business decisions belong in level 2. Most incidents happen when something quietly drifts to level 4.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CHOOSING THE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automation is fine, and where it is 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1673424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SAFE TO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 stakes and easy to reverse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Sorting and tagging incoming requests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Suggesting products or content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Drafting internal documents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Flagging items for human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Routine, high-volume, low-value calls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1356604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KEEP A HUMAN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Life, money, rights or reputation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Hiring, promotion and dismissal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Credit, insurance and pricing decisions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Medical and safety judgements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that is hard to undo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a person could reasonably appeal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 one question: if this is wrong, who is harmed and can we undo 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HUMAN OVERSIGHT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'a human in the loop' has to mean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rubber stamp is not oversight. It is just paperwork.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Real authority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can actually say no, without needing permission.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Sixty decisions an hour is not review, it is rubber-stamping.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information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sees why the AI suggested this.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Named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 owns the outcome. Not 'the algorithm'.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Overturns are tracked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Frequent overrides are a signal the model needs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limits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Reviewers know where the AI is usually wrong.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THE PRINCIPLE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model can make a recommendation. Only a person can be accountable.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This is the line that regulators, courts and customers all care about.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practical starting checklist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Governance is boring, cheap and the reason projects survive.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Write a short AI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Two pages people will actually read: approved tools, banned data, who to 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an AI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list of every AI use, its owner and its risk level.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each use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Minimal, limited or high risk - and apply the matching controls.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Review on a schedule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Quarterly checks on accuracy, fairness and complaints.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everyone once a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Short, practical, example-led. Not a legal lecture.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Have an incident route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know exactly who to tell when something goes wrong.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4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Ethics is commercial risk management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Fines, reputation, trust and market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70529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 comes down to purpose, minimisation and consent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less, use it only as promised, delete it on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leaks are shortcuts, not attacks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Approve safe tools so people do not go around you.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 from data and must be measured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Test by group, review with mixed teams, allow appeals.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779451"/>
            <a:ext cx="4111599" cy="818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follows risk, not technology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model is unrestricted in one use and banned in another.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Accountability cannot be automated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recommends. A named person decides and answers for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04  ·  ETHICS, LEGAL AND SOCIAL IMPLICATIONS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5: strategy, building AI-based business solutions, and how leaders make teams dramatically more effective.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882896"/>
            <a:ext cx="731520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riskiest way AI is being used in your organisation today?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of your decisions should never be fully automated?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Who owns AI governance where you work - and do they know it?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