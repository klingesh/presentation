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positively: these are not obstacles. They are what make AI safe enough to actually deploy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Deepfake voice fraud is the one to highlight - finance teams have authorised large transfers on a call that sounded exactly like the CFO. Verification process beats voice recognition.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insight for the class: the law does not regulate the model, it regulates the application. Recommending a film and deciding a loan are treated completely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1704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1627632"/>
            <a:ext cx="1481328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7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UNIT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04288"/>
            <a:ext cx="7406640" cy="1578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Ethics, Privacy and Regulation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901383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212279"/>
            <a:ext cx="6766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The rules, risks and responsibilities that come with using AI - and how to keep a human properly in charge of decisions.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" y="4992624"/>
            <a:ext cx="79359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Privacy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54302" y="4992624"/>
            <a:ext cx="84206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Security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24384" y="4992624"/>
            <a:ext cx="100299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Regulation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55400" y="4992624"/>
            <a:ext cx="1327717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Decision Making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5614416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79729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PRESENTED BY</a:t>
            </a:r>
          </a:p>
          <a:p>
            <a:pPr algn="l">
              <a:lnSpc>
                <a:spcPct val="122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5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   Register No. </a:t>
            </a:r>
            <a:r>
              <a:rPr sz="105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80783" y="587044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Unit 4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rule ties the whole unit together: a person is always accountable for the outcome.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ethics is practical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is a business risk, not a philosophy class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Privacy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What data you may collect, keep and 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Security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New attack surfaces that come with 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and fairness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How unfairness gets in, and how to catch 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regulations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global picture in plain terms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Risk-based rules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Why the same tool is fine here and banned there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decision making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Who decides, and who is answerable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governance checklist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What good practice looks like day to 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Why This Matters Commercially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Ethics failures show up as fines, lawsuits and lost customers.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4  ·  ETHICS, LEGAL AND SOCIAL IMPLICATIONS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BUSINESS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reasons this is not optional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Doing this well is a commercial advantage, not a cost centre.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489608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Legal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88039"/>
            <a:ext cx="1950643" cy="1100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Fines under data and AI law are now a percentage of global revenue, not a small penalty.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8547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9462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2867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Reputation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2867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unfair or leaked outcome can undo years of brand building.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4778" y="3096678"/>
            <a:ext cx="249678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183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Customer trust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share data with organisations they believe will handle it properly.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179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80093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499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Access to markets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499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Buyers and regulators increasingly ask how your AI works before they sign.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Privacy and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Protecting the data, and protecting the system.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4  ·  ETHICS, LEGAL AND SOCIAL IMPLICATIONS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PRIVACY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principles that cover most of the law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These appear in GDPR, India's DPDP Act and most other privacy laws.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Collect data for a stated reason and use it only for that.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Minimisation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Collect the least you need. Extra data is extra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Consent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should know and agree, in language they understand.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Accuracy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Wrong data produces wrong decisions about real people.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Retention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Delete it when the purpose ends. Do not keep it forever.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Rights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can ask what you hold, correct it and have it removed.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THE EVERYDAY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private data actually leaks with Gen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Most incidents are not attacks. They are ordinary people taking a shortcut.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77312"/>
            <a:ext cx="10765231" cy="658368"/>
          </a:xfrm>
          <a:prstGeom prst="roundRect">
            <a:avLst>
              <a:gd name="adj" fmla="val 6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single most useful policy: never paste anything into a public AI tool that you would not post publicly.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177312"/>
            <a:ext cx="32004" cy="65836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344323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34722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Pasting into public tools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Staff paste customer data or contracts into a free chatbot to save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02772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206760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Training on your input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Some consumer tools may use what you type to improve the model.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62308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5066296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Output that remembers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model can repeat sensitive detail it saw during training.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2735" y="344323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0207" y="334722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Screenshots and exports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Data leaves your controlled systems and lands in someone's downloads folder.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2735" y="4302772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0207" y="4206760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Shadow AI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Teams adopt tools nobody approved, so nobody can secure them.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42735" y="5162308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90207" y="5066296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Third-party add-ons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browser plugin can read everything on the page, including customer records.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New risks that come with AI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Old security still applies. These are the additions.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 injection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Hidden instructions inside a document or web page hijack what the AI does next.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poisoning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Bad data is fed in deliberately so the model learns the wrong thing.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Model theft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Repeated querying is used to copy the behaviour of a model you paid to build.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Deepfakes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Cloned voice or video used to authorise a payment or impersonate a leader.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Over-permissioned agents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 agent connected to too many systems can do too much damage.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Supply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vulnerability in a third-party AI service becomes your incident.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PRACTICAL PROTECTION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Five controls that prevent most problems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16603" y="2534883"/>
            <a:ext cx="8758488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78859" y="2308112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Approve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Publish a short list of tools cleared for company data.</a:t>
            </a:r>
          </a:p>
        </p:txBody>
      </p:sp>
      <p:sp>
        <p:nvSpPr>
          <p:cNvPr id="14" name="Oval 13"/>
          <p:cNvSpPr/>
          <p:nvPr/>
        </p:nvSpPr>
        <p:spPr>
          <a:xfrm>
            <a:off x="3668481" y="2308112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2854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02854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7446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Classify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7446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Mark what may never leave your own systems.</a:t>
            </a:r>
          </a:p>
        </p:txBody>
      </p:sp>
      <p:sp>
        <p:nvSpPr>
          <p:cNvPr id="19" name="Oval 18"/>
          <p:cNvSpPr/>
          <p:nvPr/>
        </p:nvSpPr>
        <p:spPr>
          <a:xfrm>
            <a:off x="5858103" y="2308112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92476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2476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57068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 people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068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hour of clear guidance prevents most incidents.</a:t>
            </a:r>
          </a:p>
        </p:txBody>
      </p:sp>
      <p:sp>
        <p:nvSpPr>
          <p:cNvPr id="24" name="Oval 23"/>
          <p:cNvSpPr/>
          <p:nvPr/>
        </p:nvSpPr>
        <p:spPr>
          <a:xfrm>
            <a:off x="8047725" y="2308112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82098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82098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46690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Limit access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6690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Agents and staff see only what their role needs.</a:t>
            </a:r>
          </a:p>
        </p:txBody>
      </p:sp>
      <p:sp>
        <p:nvSpPr>
          <p:cNvPr id="29" name="Oval 28"/>
          <p:cNvSpPr/>
          <p:nvPr/>
        </p:nvSpPr>
        <p:spPr>
          <a:xfrm>
            <a:off x="10237348" y="2308112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71720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71720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6312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Log and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6312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Keep records so you can investigate and improve.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Banning AI does not work - people use it on their phones instead. Provide a safe approved option.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Bias and Fairness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risk that is hardest to see and easiest to inherit.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4  ·  ETHICS, LEGAL AND SOCIAL IMPLICATIONS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HOW IT HAPPENS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is learned, not programmed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Nobody writes an unfair rule. The model copies the pattern it was shown.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Past decisions were made by people, with their biases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model learns those patterns as 'normal'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Groups missing from the data get served worst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output looks neutral and statistical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At scale, a small bias affects thousands of people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Representation 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Some groups barely appear in the training data.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Historical bias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past was unfair, so the prediction is too.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Proxy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postcode or school name stands in for something protected.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MANAGING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practical fairness controls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You cannot remove bias completely. You can measure it and manage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Test by group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Measure accuracy for each group separately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 overall score can hide a serious gap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Do this before launch and again later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Mixed review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People who differ spot different problems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Involve the affected function, not only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Document what you checked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Explainability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Be able to say which factors mattered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If you cannot explain it, do not automate 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Required by law in many high-risk uses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Appeal route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person can ask for a human review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Someone has authority to overturn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Track overturns - they show where it fails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Regulations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What the law now expects, in plain language.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4  ·  ETHICS, LEGAL AND SOCIAL IMPLICATIONS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THE GLOBAL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frameworks that matter most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19728"/>
          <a:ext cx="10765228" cy="3310125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1983068"/>
                <a:gridCol w="1983068"/>
                <a:gridCol w="3541194"/>
                <a:gridCol w="325789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Framework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Where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What it does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Why you care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EU AI Act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European Union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Sorts AI by risk level and bans the worst uses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The global benchmark - others copy it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GDPR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European Union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Governs personal data and automated decisions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Applies if you touch EU data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DPDP Act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India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Consent, purpose limits and duties for data handlers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Direct compliance duty in India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NIST AI RMF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United States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 voluntary framework for managing AI risk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Practical template for governance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Sector rules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Everywhere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Finance, health and hiring rules already apply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Existing law did not pause for AI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13232" y="5349312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Details differ by country. The direction is the same everywhere: more transparency and more accountability.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349312"/>
            <a:ext cx="32004" cy="56692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THE CORE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Regulation is risk-based, not technology-based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technology can sit in any band. What matters is what you use it for.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5184908"/>
            <a:ext cx="10765231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5184908"/>
            <a:ext cx="45720" cy="868419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0976" y="5417950"/>
            <a:ext cx="402336" cy="402336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513962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L1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5501748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Minimal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5508612"/>
            <a:ext cx="6558991" cy="312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Spam filters, grammar help, product recommendations. Use freely.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89755" y="4188472"/>
            <a:ext cx="9688708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89755" y="4188472"/>
            <a:ext cx="45720" cy="868419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27499" y="4421514"/>
            <a:ext cx="402336" cy="402336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27499" y="4517526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L2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2715" y="4505312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Limited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0235" y="4512176"/>
            <a:ext cx="5482468" cy="312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Chatbots and generated content. Duty: tell people it is 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66278" y="3192036"/>
            <a:ext cx="8612184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66278" y="3192036"/>
            <a:ext cx="45720" cy="868419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104022" y="3425078"/>
            <a:ext cx="402336" cy="402336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4022" y="3521090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L3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9238" y="3508876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High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06758" y="3405234"/>
            <a:ext cx="4405944" cy="533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Hiring, credit, education, healthcare. Duty: testing, documentation, human oversight.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42801" y="2195600"/>
            <a:ext cx="7535661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42801" y="2195600"/>
            <a:ext cx="45720" cy="868419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80545" y="2428642"/>
            <a:ext cx="402336" cy="402336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80545" y="2524654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L4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5761" y="2512440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Unacceptable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83281" y="2408798"/>
            <a:ext cx="3329421" cy="533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Social scoring and manipulative systems. Banned outright.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COMPLIANCE IN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duties that keep coming up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Disclose AI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Tell people when they are interacting with AI or seeing generated content.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Keep documentation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Record what the system does, on what data, and how it was tested.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Provide human oversight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can review, override and stop the system.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Explain decisions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 able to give a meaningful reason for an outcome that affects someone.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Protect the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Lawful basis, security controls and defined retention.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Monitor after launch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Performance drifts. Review it on a schedule, not once.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Decision Making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question that decides everything else: who is accountable?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4  ·  ETHICS, LEGAL AND SOCIAL IMPLICATIONS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LEVELS OF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ways AI can take part in a decision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Match the level to the consequence of being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1990305" y="3054711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52561" y="2827939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Human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is not involved. The default for rare, high-stakes calls.</a:t>
            </a:r>
          </a:p>
        </p:txBody>
      </p:sp>
      <p:sp>
        <p:nvSpPr>
          <p:cNvPr id="15" name="Oval 14"/>
          <p:cNvSpPr/>
          <p:nvPr/>
        </p:nvSpPr>
        <p:spPr>
          <a:xfrm>
            <a:off x="4489589" y="2827939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0259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0259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4851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advises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4851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recommends, a person decides. Safest useful setting.</a:t>
            </a:r>
          </a:p>
        </p:txBody>
      </p:sp>
      <p:sp>
        <p:nvSpPr>
          <p:cNvPr id="20" name="Oval 19"/>
          <p:cNvSpPr/>
          <p:nvPr/>
        </p:nvSpPr>
        <p:spPr>
          <a:xfrm>
            <a:off x="7226617" y="2827939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7287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decides, human reviews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acts, a person checks and can overturn.</a:t>
            </a:r>
          </a:p>
        </p:txBody>
      </p:sp>
      <p:sp>
        <p:nvSpPr>
          <p:cNvPr id="25" name="Oval 24"/>
          <p:cNvSpPr/>
          <p:nvPr/>
        </p:nvSpPr>
        <p:spPr>
          <a:xfrm>
            <a:off x="9963645" y="2827939"/>
            <a:ext cx="475488" cy="475488"/>
          </a:xfrm>
          <a:prstGeom prst="ellipse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24315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24315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8907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Fully automatic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8907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 human in the loop. Only for low-risk, reversible decisions.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Most business decisions belong in level 2. Most incidents happen when something quietly drifts to level 4.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CHOOSING THE 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Where automation is fine, and where it is not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1784066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24128" y="2094048"/>
            <a:ext cx="1673424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SAFE TO AUTOMATE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Low stakes and easy to reverse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Sorting and tagging incoming requests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Suggesting products or content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Drafting internal documents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16736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Flagging items for human 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Routine, high-volume, low-value calls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1295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2210" y="1784066"/>
            <a:ext cx="5221940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62191" y="2094048"/>
            <a:ext cx="1356604" cy="310896"/>
          </a:xfrm>
          <a:prstGeom prst="roundRect">
            <a:avLst>
              <a:gd name="adj" fmla="val 50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KEEP A HUMAN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2191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Life, money, rights or reputation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2191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62191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4799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Hiring, promotion and dismissal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62191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4799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Credit, insurance and pricing decisions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2191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4799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Medical and safety judgements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2191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4799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Anything that is hard to undo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2191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4799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Anything a person could reasonably appeal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Ask one question: if this is wrong, who is harmed and can we undo it?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HUMAN OVERSIGHT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'a human in the loop' has to mean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rubber stamp is not oversight. It is just paperwork.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Real authority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reviewer can actually say no, without needing permission.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Enough time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Sixty decisions an hour is not review, it is rubber-stamping.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Enough information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reviewer sees why the AI suggested this.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2735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0207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Named accountability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person owns the outcome. Not 'the algorithm'.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2735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0207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Overturns are tracked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Frequent overrides are a signal the model needs work.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2735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0207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Training on limits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Reviewers know where the AI is usually wrong.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9692640" y="-1097280"/>
            <a:ext cx="4572000" cy="45720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737360"/>
            <a:ext cx="100337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THE PRINCIPLE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286000"/>
            <a:ext cx="9082735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 model can make a recommendation. Only a person can be accountable.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75807" y="4553712"/>
            <a:ext cx="640080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791456"/>
            <a:ext cx="8168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9BBDA"/>
                </a:solidFill>
                <a:latin typeface="Segoe UI"/>
                <a:ea typeface="Segoe UI"/>
                <a:cs typeface="Segoe UI"/>
              </a:rPr>
              <a:t>This is the line that regulators, courts and customers all care about.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practical starting checklist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Governance is boring, cheap and the reason projects survive.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Write a short AI 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Two pages people will actually read: approved tools, banned data, who to ask.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Keep an AI register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list of every AI use, its owner and its risk level.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Classify each use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Minimal, limited or high risk - and apply the matching controls.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Review on a schedule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Quarterly checks on accuracy, fairness and complaints.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 everyone once a year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Short, practical, example-led. Not a legal lecture.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Have an incident route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know exactly who to tell when something goes wrong.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4 in six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Ethics is commercial risk management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Fines, reputation, trust and market access.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770529"/>
            <a:ext cx="4111599" cy="835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Privacy comes down to purpose, minimisation and consent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Collect less, use it only as promised, delete it on time.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Most leaks are shortcuts, not attacks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Approve safe tools so people do not go around you.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is inherited from data and must be measured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Test by group, review with mixed teams, allow appeals.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9119" y="3779451"/>
            <a:ext cx="4111599" cy="818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Regulation follows risk, not technology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model is unrestricted in one use and banned in another.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Accountability cannot be automated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recommends. A named person decides and answers for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5798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UNIT 04  ·  ETHICS, LEGAL AND SOCIAL IMPLICATIONS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5: strategy, building AI-based business solutions, and how leaders make teams dramatically more effective.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718304"/>
            <a:ext cx="73152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is the riskiest way AI is being used in your organisation today?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of your decisions should never be fully automated?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Who owns AI governance where you work - and do they know it?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7552" y="6035040"/>
            <a:ext cx="329184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6163056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·   Register No. </a:t>
            </a: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  <a:r>
              <a:rPr sz="1000" b="0" i="0">
                <a:solidFill>
                  <a:srgbClr val="4A5E86"/>
                </a:solidFill>
                <a:latin typeface="Segoe UI"/>
                <a:ea typeface="Segoe UI"/>
                <a:cs typeface="Segoe UI"/>
              </a:rPr>
              <a:t>   ·   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4 — Ethics, Legal and Social Implications</dc:title>
  <dc:subject>Artificial Intelligence &amp; Generative AI</dc:subject>
  <dc:creator>Lingesh K (OSI2509030)</dc:creator>
  <cp:keywords/>
  <dc:description>PGPM · Systems Specialisation · Unit 4 of 5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