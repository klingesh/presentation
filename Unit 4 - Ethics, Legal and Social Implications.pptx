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embeddedFontLst>
    <p:embeddedFont>
      <p:font typeface="Quattrocento Sans" charset="-122" pitchFamily="34"/>
      <p:regular r:id="rId32"/>
      <p:bold r:id="rId33"/>
      <p:italic r:id="rId34"/>
    </p:embeddedFont>
    <p:embeddedFont>
      <p:font typeface="Sorts Mill Goudy" charset="-122" pitchFamily="34"/>
      <p:regular r:id="rId35"/>
      <p:italic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positively: these are not obstacles. They are what make AI safe enough to actually deploy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Deepfake voice fraud is the one to highlight - finance teams have authorised large transfers on a call that sounded exactly like the CFO. Verification process beats voice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 for the class: the law does not regulate the model, it regulates the application. Recommending a film and deciding a loan are treated completely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8B0000"/>
              </a:gs>
              <a:gs pos="100000">
                <a:srgbClr val="630000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412480" y="-1737360"/>
            <a:ext cx="5852160" cy="5852160"/>
          </a:xfrm>
          <a:prstGeom prst="ellipse">
            <a:avLst/>
          </a:prstGeom>
          <a:solidFill>
            <a:srgbClr val="FFFFFF">
              <a:alpha val="3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424160" y="3291840"/>
            <a:ext cx="4206240" cy="4206240"/>
          </a:xfrm>
          <a:prstGeom prst="ellipse">
            <a:avLst/>
          </a:prstGeom>
          <a:solidFill>
            <a:srgbClr val="FFFFFF">
              <a:alpha val="2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bleed"/>
          <p:cNvSpPr/>
          <p:nvPr/>
        </p:nvSpPr>
        <p:spPr>
          <a:xfrm>
            <a:off x="-1371600" y="4023360"/>
            <a:ext cx="4389120" cy="4389120"/>
          </a:xfrm>
          <a:prstGeom prst="ellipse">
            <a:avLst/>
          </a:prstGeom>
          <a:solidFill>
            <a:srgbClr val="000000">
              <a:alpha val="2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-plate"/>
          <p:cNvSpPr/>
          <p:nvPr/>
        </p:nvSpPr>
        <p:spPr>
          <a:xfrm>
            <a:off x="9695070" y="448056"/>
            <a:ext cx="1993704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942" y="566928"/>
            <a:ext cx="1755961" cy="7498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" y="1517904"/>
            <a:ext cx="3110630" cy="292608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ARTIFICIAL INTELLIGENCE &amp;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47589"/>
            <a:ext cx="8549640" cy="8914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Ethics, Privacy and Regulation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48735"/>
            <a:ext cx="7955279" cy="659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2D9D9"/>
                </a:solidFill>
                <a:latin typeface="Quattrocento Sans"/>
                <a:ea typeface="Quattrocento Sans"/>
                <a:cs typeface="Quattrocento Sans"/>
              </a:rPr>
              <a:t>The rules, risks and responsibilities that come with using AI - and how to keep a human properly in charge of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" y="4346402"/>
            <a:ext cx="856585" cy="292608"/>
          </a:xfrm>
          <a:prstGeom prst="rect">
            <a:avLst/>
          </a:prstGeom>
          <a:noFill/>
          <a:ln w="9525">
            <a:solidFill>
              <a:srgbClr val="A8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PRIVACY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34993" y="4346402"/>
            <a:ext cx="924192" cy="292608"/>
          </a:xfrm>
          <a:prstGeom prst="rect">
            <a:avLst/>
          </a:prstGeom>
          <a:noFill/>
          <a:ln w="9525">
            <a:solidFill>
              <a:srgbClr val="A8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SECURITY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8058" y="4346402"/>
            <a:ext cx="1105296" cy="292608"/>
          </a:xfrm>
          <a:prstGeom prst="rect">
            <a:avLst/>
          </a:prstGeom>
          <a:noFill/>
          <a:ln w="9525">
            <a:solidFill>
              <a:srgbClr val="A8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REGULATION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2227" y="4346402"/>
            <a:ext cx="1449486" cy="292608"/>
          </a:xfrm>
          <a:prstGeom prst="rect">
            <a:avLst/>
          </a:prstGeom>
          <a:noFill/>
          <a:ln w="9525">
            <a:solidFill>
              <a:srgbClr val="A8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DECISION MAKING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5376672"/>
            <a:ext cx="20320" cy="658368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54315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PRESENTED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565099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Lingesh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7791" y="5376672"/>
            <a:ext cx="20320" cy="658368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54315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REGISTER 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565099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OSI2509030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02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What we will cover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One rule ties the whole unit together: a person is always accountable for the outcome.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99425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33920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262849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Why ethics is practical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It is a business risk, not a philosophy class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7" y="3140673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8044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104097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Privacy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What data you may collect, keep and 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7" y="3981921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02169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3945345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Security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New attack surfaces that come with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7" y="4823169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86294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4786593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Bias and fairness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How unfairness gets in, and how to catch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9311" y="2299425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9311" y="233920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4799" y="2262849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AI regulations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global picture in plain terms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9311" y="3140673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9311" y="318044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4799" y="3104097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Risk-based rules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Why the same tool is fine here and banned there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9311" y="3981921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9311" y="402169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4799" y="3945345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AI in decision making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Who decides, and who is answerable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79311" y="4823169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9311" y="486294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4799" y="4786593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 governance checklist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What good practice looks like day to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0F1722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778240" y="-1280160"/>
            <a:ext cx="5303520" cy="530352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607040" y="3657600"/>
            <a:ext cx="3474720" cy="3474720"/>
          </a:xfrm>
          <a:prstGeom prst="ellipse">
            <a:avLst/>
          </a:prstGeom>
          <a:solidFill>
            <a:srgbClr val="8B0000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80727" y="448056"/>
            <a:ext cx="1908048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599" y="566928"/>
            <a:ext cx="1670304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170432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>
                <a:solidFill>
                  <a:srgbClr val="273140"/>
                </a:solidFill>
                <a:latin typeface="Sorts Mill Goudy"/>
                <a:ea typeface="Sorts Mill Goudy"/>
                <a:cs typeface="Sorts Mill Goudy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2696713"/>
            <a:ext cx="1110222" cy="274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1929"/>
            <a:ext cx="7315200" cy="79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Why This Matters Commercially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147151"/>
            <a:ext cx="786384" cy="20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21471"/>
            <a:ext cx="6766560" cy="352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ED8"/>
                </a:solidFill>
                <a:latin typeface="Quattrocento Sans"/>
                <a:ea typeface="Quattrocento Sans"/>
                <a:cs typeface="Quattrocento Sans"/>
              </a:rPr>
              <a:t>Ethics failures show up as fines, lawsuits and lost customers.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3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04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BUSINESS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Four reasons this is not optional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Doing this well is a commercial advantage, not a cost centre.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12266"/>
            <a:ext cx="2517571" cy="260604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24545"/>
            <a:ext cx="2042083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Legal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433374"/>
            <a:ext cx="2042083" cy="1256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2D9D9"/>
                </a:solidFill>
                <a:latin typeface="Quattrocento Sans"/>
                <a:ea typeface="Quattrocento Sans"/>
                <a:cs typeface="Quattrocento Sans"/>
              </a:rPr>
              <a:t>Fines under data and AI law are now a percentage of global revenue, not a small penalty.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96563" y="2212266"/>
            <a:ext cx="2517571" cy="260604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4307" y="3116939"/>
            <a:ext cx="2042083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Reputation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4307" y="3525768"/>
            <a:ext cx="2042083" cy="1164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2D9D9"/>
                </a:solidFill>
                <a:latin typeface="Quattrocento Sans"/>
                <a:ea typeface="Quattrocento Sans"/>
                <a:cs typeface="Quattrocento Sans"/>
              </a:rPr>
              <a:t>One unfair or leaked outcome can undo years of brand building.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1879" y="2212266"/>
            <a:ext cx="2517571" cy="260604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9623" y="3116939"/>
            <a:ext cx="2042083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Customer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9623" y="3525768"/>
            <a:ext cx="2042083" cy="1164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2D9D9"/>
                </a:solidFill>
                <a:latin typeface="Quattrocento Sans"/>
                <a:ea typeface="Quattrocento Sans"/>
                <a:cs typeface="Quattrocento Sans"/>
              </a:rPr>
              <a:t>People share data with organisations they believe will handle it properly.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07195" y="2212266"/>
            <a:ext cx="2517571" cy="260604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4939" y="3116939"/>
            <a:ext cx="2042083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Access to markets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4939" y="3525768"/>
            <a:ext cx="2042083" cy="1164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2D9D9"/>
                </a:solidFill>
                <a:latin typeface="Quattrocento Sans"/>
                <a:ea typeface="Quattrocento Sans"/>
                <a:cs typeface="Quattrocento Sans"/>
              </a:rPr>
              <a:t>Buyers and regulators increasingly ask how your AI works before they 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0F1722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778240" y="-1280160"/>
            <a:ext cx="5303520" cy="530352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607040" y="3657600"/>
            <a:ext cx="3474720" cy="3474720"/>
          </a:xfrm>
          <a:prstGeom prst="ellipse">
            <a:avLst/>
          </a:prstGeom>
          <a:solidFill>
            <a:srgbClr val="8B0000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80727" y="448056"/>
            <a:ext cx="1908048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599" y="566928"/>
            <a:ext cx="1670304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170432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>
                <a:solidFill>
                  <a:srgbClr val="273140"/>
                </a:solidFill>
                <a:latin typeface="Sorts Mill Goudy"/>
                <a:ea typeface="Sorts Mill Goudy"/>
                <a:cs typeface="Sorts Mill Goudy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2696713"/>
            <a:ext cx="1130934" cy="274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SECTION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1929"/>
            <a:ext cx="7315200" cy="79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Privacy and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147151"/>
            <a:ext cx="786384" cy="20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21471"/>
            <a:ext cx="6766560" cy="352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ED8"/>
                </a:solidFill>
                <a:latin typeface="Quattrocento Sans"/>
                <a:ea typeface="Quattrocento Sans"/>
                <a:cs typeface="Quattrocento Sans"/>
              </a:rPr>
              <a:t>Protecting the data, and protecting the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3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06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Six principles that cover most of the law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These appear in GDPR, India's DPDP Act and most other privacy laws.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12266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2212266"/>
            <a:ext cx="20320" cy="1481328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733845"/>
            <a:ext cx="77724" cy="77724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64697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055806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Collect data for a stated reason and use it only for that.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5002" y="2212266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5002" y="2212266"/>
            <a:ext cx="20320" cy="1481328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2746" y="2733845"/>
            <a:ext cx="77724" cy="77724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6482" y="264697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Minimisation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746" y="3055806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Collect the least you need. Extra data is extra 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8756" y="2212266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8756" y="2212266"/>
            <a:ext cx="20320" cy="1481328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6500" y="2641451"/>
            <a:ext cx="77724" cy="77724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0236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Consent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6500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People should know and agree, in language they understand.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7" y="3913050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7" y="3913050"/>
            <a:ext cx="20320" cy="1481328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2" y="4342235"/>
            <a:ext cx="77724" cy="77724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Wrong data produces wrong decisions about real people.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5002" y="3913050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5002" y="3913050"/>
            <a:ext cx="20320" cy="1481328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2746" y="4342235"/>
            <a:ext cx="77724" cy="77724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6482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Retention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2746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Delete it when the purpose ends. Do not keep it forever.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8756" y="3913050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8756" y="3913050"/>
            <a:ext cx="20320" cy="1481328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26500" y="4342235"/>
            <a:ext cx="77724" cy="77724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236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Rights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6500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People can ask what you hold, correct it and have it removed.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07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EVERYDAY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How private data actually leaks with Gen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Most incidents are not attacks. They are ordinary people taking a shortcut.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800786"/>
            <a:ext cx="10783519" cy="5669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00786"/>
            <a:ext cx="102714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The single most useful policy: never paste anything into a public AI tool that you would not post publicly.</a:t>
            </a:r>
          </a:p>
        </p:txBody>
      </p:sp>
      <p:sp>
        <p:nvSpPr>
          <p:cNvPr id="15" name="Oval 14"/>
          <p:cNvSpPr/>
          <p:nvPr/>
        </p:nvSpPr>
        <p:spPr>
          <a:xfrm>
            <a:off x="857250" y="3129243"/>
            <a:ext cx="77724" cy="77724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049233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Pasting into public tools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Staff paste customer data or contracts into a free chatbot to save time.</a:t>
            </a:r>
          </a:p>
        </p:txBody>
      </p:sp>
      <p:sp>
        <p:nvSpPr>
          <p:cNvPr id="17" name="Oval 16"/>
          <p:cNvSpPr/>
          <p:nvPr/>
        </p:nvSpPr>
        <p:spPr>
          <a:xfrm>
            <a:off x="857250" y="4007067"/>
            <a:ext cx="77724" cy="77724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927057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Training on your input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Some consumer tools may use what you type to improve the model.</a:t>
            </a:r>
          </a:p>
        </p:txBody>
      </p:sp>
      <p:sp>
        <p:nvSpPr>
          <p:cNvPr id="19" name="Oval 18"/>
          <p:cNvSpPr/>
          <p:nvPr/>
        </p:nvSpPr>
        <p:spPr>
          <a:xfrm>
            <a:off x="857250" y="4884891"/>
            <a:ext cx="77724" cy="77724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804881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Output that remembers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 model can repeat sensitive detail it saw during training.</a:t>
            </a:r>
          </a:p>
        </p:txBody>
      </p:sp>
      <p:sp>
        <p:nvSpPr>
          <p:cNvPr id="21" name="Oval 20"/>
          <p:cNvSpPr/>
          <p:nvPr/>
        </p:nvSpPr>
        <p:spPr>
          <a:xfrm>
            <a:off x="6477609" y="3129243"/>
            <a:ext cx="77724" cy="77724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1063" y="3049233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Screenshots and exports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Data leaves your controlled systems and lands in someone's downloads folder.</a:t>
            </a:r>
          </a:p>
        </p:txBody>
      </p:sp>
      <p:sp>
        <p:nvSpPr>
          <p:cNvPr id="23" name="Oval 22"/>
          <p:cNvSpPr/>
          <p:nvPr/>
        </p:nvSpPr>
        <p:spPr>
          <a:xfrm>
            <a:off x="6477609" y="4007067"/>
            <a:ext cx="77724" cy="77724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1063" y="3927057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Shadow AI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Teams adopt tools nobody approved, so nobody can secure them.</a:t>
            </a:r>
          </a:p>
        </p:txBody>
      </p:sp>
      <p:sp>
        <p:nvSpPr>
          <p:cNvPr id="25" name="Oval 24"/>
          <p:cNvSpPr/>
          <p:nvPr/>
        </p:nvSpPr>
        <p:spPr>
          <a:xfrm>
            <a:off x="6477609" y="4884891"/>
            <a:ext cx="77724" cy="77724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1063" y="4804881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Third-party add-ons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 browser plugin can read everything on the page, including customer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08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New risks that come with AI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Old security still applies. These are the additions.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12266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2212266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641451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Prompt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Hidden instructions inside a document or web page hijack what the AI does next.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5002" y="2212266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5002" y="2212266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2746" y="2641451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6482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Data poisoning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746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Bad data is fed in deliberately so the model learns the wrong thing.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8756" y="2212266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8756" y="2212266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6500" y="2641451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0236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Model theft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6500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Repeated querying is used to copy the behaviour of a model you paid to build.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7" y="3913050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7" y="3913050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2" y="4342235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Deepfakes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Cloned voice or video used to authorise a payment or impersonate a leader.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5002" y="3913050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5002" y="3913050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2746" y="4342235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6482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Over-permissioned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2746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An agent connected to too many systems can do too much damage.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8756" y="3913050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8756" y="3913050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26500" y="4342235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236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Supply chain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6500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 vulnerability in a third-party AI service becomes your incident.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09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PRACTICAL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Five controls that prevent most problems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0692"/>
            <a:ext cx="19050" cy="4609211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46447" y="2278049"/>
            <a:ext cx="877311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2711" y="2111629"/>
            <a:ext cx="347472" cy="347472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2711" y="215460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7" y="2632837"/>
            <a:ext cx="2010399" cy="107421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7" y="2632837"/>
            <a:ext cx="2010399" cy="1778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5" y="2815717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Approve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" y="3116396"/>
            <a:ext cx="169950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Publish a short list of tools cleared for company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65991" y="2111629"/>
            <a:ext cx="347472" cy="347472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5991" y="215460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4527" y="2632837"/>
            <a:ext cx="2010399" cy="107421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34527" y="2632837"/>
            <a:ext cx="2010399" cy="177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89975" y="2815717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Classify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9975" y="3116396"/>
            <a:ext cx="169950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Mark what may never leave your own systems.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9271" y="2111629"/>
            <a:ext cx="347472" cy="347472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9271" y="215460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27807" y="2632837"/>
            <a:ext cx="2010399" cy="107421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27807" y="2632837"/>
            <a:ext cx="2010399" cy="1778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83255" y="2815717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Train people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3255" y="3116396"/>
            <a:ext cx="169950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One hour of clear guidance prevents most incidents.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52551" y="2111629"/>
            <a:ext cx="347472" cy="347472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2551" y="215460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1087" y="2632837"/>
            <a:ext cx="2010399" cy="107421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21087" y="2632837"/>
            <a:ext cx="2010399" cy="1778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76535" y="2815717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Limit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6535" y="3116396"/>
            <a:ext cx="169950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Agents and staff see only what their role needs.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45831" y="2111629"/>
            <a:ext cx="347472" cy="347472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5831" y="215460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14367" y="2632837"/>
            <a:ext cx="2010399" cy="107421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14367" y="2632837"/>
            <a:ext cx="2010399" cy="177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69815" y="2815717"/>
            <a:ext cx="169950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Log and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9815" y="3116396"/>
            <a:ext cx="169950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Keep records so you can investigate and improve.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Banning AI does not work - people use it on their phones instead. Provide a safe approved option.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0F1722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778240" y="-1280160"/>
            <a:ext cx="5303520" cy="530352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607040" y="3657600"/>
            <a:ext cx="3474720" cy="3474720"/>
          </a:xfrm>
          <a:prstGeom prst="ellipse">
            <a:avLst/>
          </a:prstGeom>
          <a:solidFill>
            <a:srgbClr val="8B0000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80727" y="448056"/>
            <a:ext cx="1908048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599" y="566928"/>
            <a:ext cx="1670304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170432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>
                <a:solidFill>
                  <a:srgbClr val="273140"/>
                </a:solidFill>
                <a:latin typeface="Sorts Mill Goudy"/>
                <a:ea typeface="Sorts Mill Goudy"/>
                <a:cs typeface="Sorts Mill Goudy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2696713"/>
            <a:ext cx="1133736" cy="274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SECTION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1929"/>
            <a:ext cx="7315200" cy="79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Bias and Fairness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147151"/>
            <a:ext cx="786384" cy="20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21471"/>
            <a:ext cx="6766560" cy="352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ED8"/>
                </a:solidFill>
                <a:latin typeface="Quattrocento Sans"/>
                <a:ea typeface="Quattrocento Sans"/>
                <a:cs typeface="Quattrocento Sans"/>
              </a:rPr>
              <a:t>The risk that is hardest to see and easiest to inherit.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3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11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HOW IT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Bias is learned, not programmed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0692"/>
            <a:ext cx="19050" cy="4609211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535556"/>
            <a:ext cx="4313407" cy="794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Nobody writes an unfair rule. The model copies the pattern it was shown.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7" y="2421232"/>
            <a:ext cx="566928" cy="20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7250" y="2748130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2677264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Past decisions were made by people, with their biases</a:t>
            </a:r>
          </a:p>
        </p:txBody>
      </p:sp>
      <p:sp>
        <p:nvSpPr>
          <p:cNvPr id="16" name="Oval 15"/>
          <p:cNvSpPr/>
          <p:nvPr/>
        </p:nvSpPr>
        <p:spPr>
          <a:xfrm>
            <a:off x="857250" y="3086511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3015645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The model learns those patterns as 'normal'</a:t>
            </a:r>
          </a:p>
        </p:txBody>
      </p:sp>
      <p:sp>
        <p:nvSpPr>
          <p:cNvPr id="18" name="Oval 17"/>
          <p:cNvSpPr/>
          <p:nvPr/>
        </p:nvSpPr>
        <p:spPr>
          <a:xfrm>
            <a:off x="857250" y="3424893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3354027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Groups missing from the data get served worst</a:t>
            </a:r>
          </a:p>
        </p:txBody>
      </p:sp>
      <p:sp>
        <p:nvSpPr>
          <p:cNvPr id="20" name="Oval 19"/>
          <p:cNvSpPr/>
          <p:nvPr/>
        </p:nvSpPr>
        <p:spPr>
          <a:xfrm>
            <a:off x="857250" y="3763274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3692408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The output looks neutral and statistical</a:t>
            </a:r>
          </a:p>
        </p:txBody>
      </p:sp>
      <p:sp>
        <p:nvSpPr>
          <p:cNvPr id="22" name="Oval 21"/>
          <p:cNvSpPr/>
          <p:nvPr/>
        </p:nvSpPr>
        <p:spPr>
          <a:xfrm>
            <a:off x="857250" y="4101656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4030790"/>
            <a:ext cx="4075663" cy="2652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At scale, a small bias affects thousands of people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20415" y="1517268"/>
            <a:ext cx="6104351" cy="141448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0415" y="1517268"/>
            <a:ext cx="20320" cy="141448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76447" y="2012518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0183" y="1930222"/>
            <a:ext cx="5436839" cy="351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Representation bias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6447" y="2318480"/>
            <a:ext cx="5610575" cy="273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Some groups barely appear in the training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0415" y="3096344"/>
            <a:ext cx="6104351" cy="141448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0415" y="3096344"/>
            <a:ext cx="20320" cy="1414483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76447" y="3591594"/>
            <a:ext cx="77724" cy="7772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50183" y="3509298"/>
            <a:ext cx="5436839" cy="351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Historical bias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6447" y="3897556"/>
            <a:ext cx="5610575" cy="273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past was unfair, so the prediction is too.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0415" y="4675420"/>
            <a:ext cx="6104351" cy="141448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20415" y="4675420"/>
            <a:ext cx="20320" cy="141448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76447" y="5170670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50183" y="5088374"/>
            <a:ext cx="5436839" cy="351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Proxy bias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6447" y="5476632"/>
            <a:ext cx="5610575" cy="273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 postcode or school name stands in for something protected.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12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MANAGING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Four practical fairness controls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You cannot remove bias completely. You can measure it and manage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800786"/>
            <a:ext cx="5272887" cy="20439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800786"/>
            <a:ext cx="20320" cy="204397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052246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1974522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Test by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2417657"/>
            <a:ext cx="476082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3281" y="2611967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2522813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Measure accuracy for each group separately</a:t>
            </a:r>
          </a:p>
        </p:txBody>
      </p:sp>
      <p:sp>
        <p:nvSpPr>
          <p:cNvPr id="20" name="Oval 19"/>
          <p:cNvSpPr/>
          <p:nvPr/>
        </p:nvSpPr>
        <p:spPr>
          <a:xfrm>
            <a:off x="1113281" y="2996228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2907074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An overall score can hide a serious gap</a:t>
            </a:r>
          </a:p>
        </p:txBody>
      </p:sp>
      <p:sp>
        <p:nvSpPr>
          <p:cNvPr id="22" name="Oval 21"/>
          <p:cNvSpPr/>
          <p:nvPr/>
        </p:nvSpPr>
        <p:spPr>
          <a:xfrm>
            <a:off x="1113281" y="3380489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329133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Do this before launch and again later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1879" y="1800786"/>
            <a:ext cx="5272887" cy="20439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1800786"/>
            <a:ext cx="20320" cy="204397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07911" y="2052246"/>
            <a:ext cx="77724" cy="7772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1647" y="1974522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Mixed review teams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7911" y="2417657"/>
            <a:ext cx="476082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23913" y="2611967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09079" y="2522813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People who differ spot different problems</a:t>
            </a:r>
          </a:p>
        </p:txBody>
      </p:sp>
      <p:sp>
        <p:nvSpPr>
          <p:cNvPr id="31" name="Oval 30"/>
          <p:cNvSpPr/>
          <p:nvPr/>
        </p:nvSpPr>
        <p:spPr>
          <a:xfrm>
            <a:off x="6623913" y="2996228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9079" y="2907074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Involve the affected function, not only IT</a:t>
            </a:r>
          </a:p>
        </p:txBody>
      </p:sp>
      <p:sp>
        <p:nvSpPr>
          <p:cNvPr id="33" name="Oval 32"/>
          <p:cNvSpPr/>
          <p:nvPr/>
        </p:nvSpPr>
        <p:spPr>
          <a:xfrm>
            <a:off x="6623913" y="3380489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9079" y="329133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Document what you checked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7" y="4045929"/>
            <a:ext cx="5272887" cy="20439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7" y="4045929"/>
            <a:ext cx="20320" cy="2043974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4297389"/>
            <a:ext cx="77724" cy="77724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71016" y="4219665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Explainability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4662799"/>
            <a:ext cx="476082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3281" y="4857109"/>
            <a:ext cx="68580" cy="68580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8448" y="476795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Be able to say which factors mattered</a:t>
            </a:r>
          </a:p>
        </p:txBody>
      </p:sp>
      <p:sp>
        <p:nvSpPr>
          <p:cNvPr id="42" name="Oval 41"/>
          <p:cNvSpPr/>
          <p:nvPr/>
        </p:nvSpPr>
        <p:spPr>
          <a:xfrm>
            <a:off x="1113281" y="5241371"/>
            <a:ext cx="68580" cy="68580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8448" y="5152217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If you cannot explain it, do not automate it</a:t>
            </a:r>
          </a:p>
        </p:txBody>
      </p:sp>
      <p:sp>
        <p:nvSpPr>
          <p:cNvPr id="44" name="Oval 43"/>
          <p:cNvSpPr/>
          <p:nvPr/>
        </p:nvSpPr>
        <p:spPr>
          <a:xfrm>
            <a:off x="1113281" y="5625632"/>
            <a:ext cx="68580" cy="68580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98448" y="5536478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Required by law in many high-risk uses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1879" y="4045929"/>
            <a:ext cx="5272887" cy="20439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1879" y="4045929"/>
            <a:ext cx="20320" cy="204397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07911" y="4297389"/>
            <a:ext cx="77724" cy="7772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1647" y="4219665"/>
            <a:ext cx="4587087" cy="34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Appeal route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07911" y="4662799"/>
            <a:ext cx="476082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23913" y="4857109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09079" y="4767955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 person can ask for a human review</a:t>
            </a:r>
          </a:p>
        </p:txBody>
      </p:sp>
      <p:sp>
        <p:nvSpPr>
          <p:cNvPr id="53" name="Oval 52"/>
          <p:cNvSpPr/>
          <p:nvPr/>
        </p:nvSpPr>
        <p:spPr>
          <a:xfrm>
            <a:off x="6623913" y="5241371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09079" y="5152217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Someone has authority to overturn</a:t>
            </a:r>
          </a:p>
        </p:txBody>
      </p:sp>
      <p:sp>
        <p:nvSpPr>
          <p:cNvPr id="55" name="Oval 54"/>
          <p:cNvSpPr/>
          <p:nvPr/>
        </p:nvSpPr>
        <p:spPr>
          <a:xfrm>
            <a:off x="6623913" y="5625632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09079" y="5536478"/>
            <a:ext cx="4486503" cy="384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Track overturns - they show where it fails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0F1722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778240" y="-1280160"/>
            <a:ext cx="5303520" cy="530352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607040" y="3657600"/>
            <a:ext cx="3474720" cy="3474720"/>
          </a:xfrm>
          <a:prstGeom prst="ellipse">
            <a:avLst/>
          </a:prstGeom>
          <a:solidFill>
            <a:srgbClr val="8B0000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80727" y="448056"/>
            <a:ext cx="1908048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599" y="566928"/>
            <a:ext cx="1670304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170432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>
                <a:solidFill>
                  <a:srgbClr val="273140"/>
                </a:solidFill>
                <a:latin typeface="Sorts Mill Goudy"/>
                <a:ea typeface="Sorts Mill Goudy"/>
                <a:cs typeface="Sorts Mill Goudy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2696713"/>
            <a:ext cx="1130834" cy="274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SECTION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1929"/>
            <a:ext cx="7315200" cy="79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AI Regulations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147151"/>
            <a:ext cx="786384" cy="20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21471"/>
            <a:ext cx="6766560" cy="352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ED8"/>
                </a:solidFill>
                <a:latin typeface="Quattrocento Sans"/>
                <a:ea typeface="Quattrocento Sans"/>
                <a:cs typeface="Quattrocento Sans"/>
              </a:rPr>
              <a:t>What the law now expects, in plain language.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3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14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GLOBAL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The frameworks that matter most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0692"/>
            <a:ext cx="19050" cy="4609211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41247" y="1919922"/>
          <a:ext cx="10783517" cy="2980944"/>
        </p:xfrm>
        <a:graphic>
          <a:graphicData uri="http://schemas.openxmlformats.org/drawingml/2006/table">
            <a:tbl>
              <a:tblPr firstRow="1" bandRow="0" bandCol="0" firstCol="0" lastRow="0" lastCol="0">
                <a:tableStyleId>{5C22544A-7EE6-4342-B048-85BDC9FD1C3A}</a:tableStyleId>
              </a:tblPr>
              <a:tblGrid>
                <a:gridCol w="1986437"/>
                <a:gridCol w="1986437"/>
                <a:gridCol w="3547210"/>
                <a:gridCol w="3263433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FRAMEWORK</a:t>
                      </a:r>
                    </a:p>
                  </a:txBody>
                  <a:tcPr marL="146304" marR="146304" marT="73152" marB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WHERE</a:t>
                      </a:r>
                    </a:p>
                  </a:txBody>
                  <a:tcPr marL="146304" marR="146304" marT="73152" marB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WHAT IT DOES</a:t>
                      </a:r>
                    </a:p>
                  </a:txBody>
                  <a:tcPr marL="146304" marR="146304" marT="73152" marB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 spc="11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WHY YOU CARE</a:t>
                      </a:r>
                    </a:p>
                  </a:txBody>
                  <a:tcPr marL="146304" marR="146304" marT="73152" marB="73152" anchor="ctr">
                    <a:solidFill>
                      <a:srgbClr val="1F293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EU AI Act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European Union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Sorts AI by risk level and bans the worst uses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The global benchmark - others copy it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GDPR</a:t>
                      </a:r>
                    </a:p>
                  </a:txBody>
                  <a:tcPr marL="146304" marR="146304" marT="73152" marB="7315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European Union</a:t>
                      </a:r>
                    </a:p>
                  </a:txBody>
                  <a:tcPr marL="146304" marR="146304" marT="73152" marB="7315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Governs personal data and automated decisions</a:t>
                      </a:r>
                    </a:p>
                  </a:txBody>
                  <a:tcPr marL="146304" marR="146304" marT="73152" marB="7315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Applies if you touch EU data</a:t>
                      </a:r>
                    </a:p>
                  </a:txBody>
                  <a:tcPr marL="146304" marR="146304" marT="73152" marB="73152" anchor="ctr"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DPDP Act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India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Consent, purpose limits and duties for data handlers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Direct compliance duty in India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NIST AI RMF</a:t>
                      </a:r>
                    </a:p>
                  </a:txBody>
                  <a:tcPr marL="146304" marR="146304" marT="73152" marB="7315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United States</a:t>
                      </a:r>
                    </a:p>
                  </a:txBody>
                  <a:tcPr marL="146304" marR="146304" marT="73152" marB="7315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A voluntary framework for managing AI risk</a:t>
                      </a:r>
                    </a:p>
                  </a:txBody>
                  <a:tcPr marL="146304" marR="146304" marT="73152" marB="73152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Practical template for governance</a:t>
                      </a:r>
                    </a:p>
                  </a:txBody>
                  <a:tcPr marL="146304" marR="146304" marT="73152" marB="73152" anchor="ctr"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2937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Sector rules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Everywhere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Finance, health and hiring rules already apply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6B7280"/>
                          </a:solidFill>
                          <a:latin typeface="Quattrocento Sans"/>
                          <a:ea typeface="Quattrocento Sans"/>
                          <a:cs typeface="Quattrocento Sans"/>
                        </a:rPr>
                        <a:t>Existing law did not pause for AI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Details differ by country. The direction is the same everywhere: more transparency and more accountability.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15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Regulation is risk-based, not technology-based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same technology can sit in any band. What matters is what you use it for.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5070057"/>
            <a:ext cx="10783519" cy="93268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5070057"/>
            <a:ext cx="20320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2415" y="5390097"/>
            <a:ext cx="292608" cy="2926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543581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436774"/>
            <a:ext cx="2743200" cy="2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Minimal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5444935"/>
            <a:ext cx="6961327" cy="25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Spam filters, grammar help, product recommendations. Use freely.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75819" y="4009353"/>
            <a:ext cx="9848947" cy="93268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5819" y="4009353"/>
            <a:ext cx="20320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76987" y="4329393"/>
            <a:ext cx="292608" cy="2926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76987" y="437511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7611" y="4376070"/>
            <a:ext cx="2743200" cy="2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Limited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8555" y="4384231"/>
            <a:ext cx="6026755" cy="25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Chatbots and generated content. Duty: tell people it is AI.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0391" y="2948649"/>
            <a:ext cx="8914375" cy="93268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10391" y="2948649"/>
            <a:ext cx="20320" cy="93268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11559" y="3268689"/>
            <a:ext cx="292608" cy="29260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11559" y="331440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2183" y="3315366"/>
            <a:ext cx="2743200" cy="2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High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3127" y="3323527"/>
            <a:ext cx="5092183" cy="25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Hiring, credit, education, healthcare. Duty: testing, documentation, human oversight.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44962" y="1887945"/>
            <a:ext cx="7979804" cy="93268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44962" y="1887945"/>
            <a:ext cx="20320" cy="93268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6130" y="2207985"/>
            <a:ext cx="292608" cy="29260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6130" y="225370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6754" y="2254662"/>
            <a:ext cx="2743200" cy="2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Unacceptable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47698" y="2262823"/>
            <a:ext cx="4157612" cy="25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Social scoring and manipulative systems. Banned outright.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16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COMPLIANCE IN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Six duties that keep coming 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0692"/>
            <a:ext cx="19050" cy="4609211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1928748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928748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8992" y="2357934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2271066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Disclose AI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679895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Tell people when they are interacting with AI or seeing generated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15002" y="1928748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15002" y="1928748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2746" y="2357934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6482" y="2271066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Keep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2746" y="2679895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Record what the system does, on what data, and how it was tested.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8756" y="1928748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8756" y="1928748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26500" y="2450328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0236" y="2363460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Provide human oversight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6500" y="2772289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 person can review, override and stop the system.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7" y="3629533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7" y="3629533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78992" y="4058718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52728" y="3971850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Explain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380679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Be able to give a meaningful reason for an outcome that affects someone.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5002" y="3629533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15002" y="3629533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2746" y="4151112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26482" y="4064244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Protect the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2746" y="4473073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Lawful basis, security controls and defined retention.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8756" y="3629533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8756" y="3629533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26500" y="4151112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0236" y="4064244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Monitor after launch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6500" y="4473073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Performance drifts. Review it on a schedule, not once.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0F1722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778240" y="-1280160"/>
            <a:ext cx="5303520" cy="530352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607040" y="3657600"/>
            <a:ext cx="3474720" cy="3474720"/>
          </a:xfrm>
          <a:prstGeom prst="ellipse">
            <a:avLst/>
          </a:prstGeom>
          <a:solidFill>
            <a:srgbClr val="8B0000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80727" y="448056"/>
            <a:ext cx="1908048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599" y="566928"/>
            <a:ext cx="1670304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170432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>
                <a:solidFill>
                  <a:srgbClr val="273140"/>
                </a:solidFill>
                <a:latin typeface="Sorts Mill Goudy"/>
                <a:ea typeface="Sorts Mill Goudy"/>
                <a:cs typeface="Sorts Mill Goudy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2696713"/>
            <a:ext cx="1134059" cy="274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SECTION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81929"/>
            <a:ext cx="7315200" cy="79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AI in Decision Making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147151"/>
            <a:ext cx="786384" cy="20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21471"/>
            <a:ext cx="6766560" cy="352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ED8"/>
                </a:solidFill>
                <a:latin typeface="Quattrocento Sans"/>
                <a:ea typeface="Quattrocento Sans"/>
                <a:cs typeface="Quattrocento Sans"/>
              </a:rPr>
              <a:t>The question that decides everything else: who is accountable?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3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18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LEVELS OF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Four ways AI can take part in a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Match the level to the consequence of being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20607" y="2561567"/>
            <a:ext cx="822479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46871" y="2395146"/>
            <a:ext cx="347472" cy="347472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687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7" y="2916354"/>
            <a:ext cx="2558719" cy="107421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7" y="2916354"/>
            <a:ext cx="2558719" cy="1778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099234"/>
            <a:ext cx="224782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Human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" y="3399913"/>
            <a:ext cx="224782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AI is not involved. The default for rare, high-stakes calls.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8471" y="2395146"/>
            <a:ext cx="347472" cy="347472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847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2847" y="2916354"/>
            <a:ext cx="2558719" cy="107421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82847" y="2916354"/>
            <a:ext cx="2558719" cy="177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8295" y="3099234"/>
            <a:ext cx="224782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AI advises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8295" y="3399913"/>
            <a:ext cx="224782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AI recommends, a person decides. Safest useful setting.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0071" y="2395146"/>
            <a:ext cx="347472" cy="347472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007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4447" y="2916354"/>
            <a:ext cx="2558719" cy="107421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4447" y="2916354"/>
            <a:ext cx="2558719" cy="1778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9895" y="3099234"/>
            <a:ext cx="224782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AI decides, human reviews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895" y="3399913"/>
            <a:ext cx="224782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AI acts, a person checks and can overturn.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71671" y="2395146"/>
            <a:ext cx="347472" cy="347472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71671" y="243812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6047" y="2916354"/>
            <a:ext cx="2558719" cy="107421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66047" y="2916354"/>
            <a:ext cx="2558719" cy="1778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1495" y="3099234"/>
            <a:ext cx="2247823" cy="264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Fully automatic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1495" y="3399913"/>
            <a:ext cx="2247823" cy="554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No human in the loop. Only for low-risk, reversible decisions.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Most business decisions belong in level 2. Most incidents happen when something quietly drifts to level 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19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CHOOSING THE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Where automation is fine, and where it is not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480692"/>
            <a:ext cx="19050" cy="4609211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1517268"/>
            <a:ext cx="5254599" cy="3786251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517268"/>
            <a:ext cx="5254599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1517268"/>
            <a:ext cx="48156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SAFE TO AUTOMATE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92757"/>
            <a:ext cx="4742535" cy="3777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Low stakes and easy to reverse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461994"/>
            <a:ext cx="47425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281" y="2729456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2640302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Sorting and tagging incoming requests</a:t>
            </a:r>
          </a:p>
        </p:txBody>
      </p:sp>
      <p:sp>
        <p:nvSpPr>
          <p:cNvPr id="19" name="Oval 18"/>
          <p:cNvSpPr/>
          <p:nvPr/>
        </p:nvSpPr>
        <p:spPr>
          <a:xfrm>
            <a:off x="1113281" y="3220952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3131798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Suggesting products or content</a:t>
            </a:r>
          </a:p>
        </p:txBody>
      </p:sp>
      <p:sp>
        <p:nvSpPr>
          <p:cNvPr id="21" name="Oval 20"/>
          <p:cNvSpPr/>
          <p:nvPr/>
        </p:nvSpPr>
        <p:spPr>
          <a:xfrm>
            <a:off x="1113281" y="3712447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3623293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Drafting internal documents</a:t>
            </a:r>
          </a:p>
        </p:txBody>
      </p:sp>
      <p:sp>
        <p:nvSpPr>
          <p:cNvPr id="23" name="Oval 22"/>
          <p:cNvSpPr/>
          <p:nvPr/>
        </p:nvSpPr>
        <p:spPr>
          <a:xfrm>
            <a:off x="1113281" y="4203943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4114789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Flagging items for human review</a:t>
            </a:r>
          </a:p>
        </p:txBody>
      </p:sp>
      <p:sp>
        <p:nvSpPr>
          <p:cNvPr id="25" name="Oval 24"/>
          <p:cNvSpPr/>
          <p:nvPr/>
        </p:nvSpPr>
        <p:spPr>
          <a:xfrm>
            <a:off x="1113281" y="4695438"/>
            <a:ext cx="68580" cy="6858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4606284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Routine, high-volume, low-value calls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0167" y="1517268"/>
            <a:ext cx="5254599" cy="3786251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0167" y="1517268"/>
            <a:ext cx="5254599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9623" y="1517268"/>
            <a:ext cx="48156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KEEP A HUMAN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6199" y="1992757"/>
            <a:ext cx="4742535" cy="3777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Life, money, rights or reputation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6199" y="2461994"/>
            <a:ext cx="474253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42201" y="2729456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7367" y="2640302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Hiring, promotion and dismissal</a:t>
            </a:r>
          </a:p>
        </p:txBody>
      </p:sp>
      <p:sp>
        <p:nvSpPr>
          <p:cNvPr id="34" name="Oval 33"/>
          <p:cNvSpPr/>
          <p:nvPr/>
        </p:nvSpPr>
        <p:spPr>
          <a:xfrm>
            <a:off x="6642201" y="3220952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27367" y="3131798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Credit, insurance and pricing decisions</a:t>
            </a:r>
          </a:p>
        </p:txBody>
      </p:sp>
      <p:sp>
        <p:nvSpPr>
          <p:cNvPr id="36" name="Oval 35"/>
          <p:cNvSpPr/>
          <p:nvPr/>
        </p:nvSpPr>
        <p:spPr>
          <a:xfrm>
            <a:off x="6642201" y="3712447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7367" y="3623293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Medical and safety judgements</a:t>
            </a:r>
          </a:p>
        </p:txBody>
      </p:sp>
      <p:sp>
        <p:nvSpPr>
          <p:cNvPr id="38" name="Oval 37"/>
          <p:cNvSpPr/>
          <p:nvPr/>
        </p:nvSpPr>
        <p:spPr>
          <a:xfrm>
            <a:off x="6642201" y="4203943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27367" y="4114789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Anything that is hard to undo</a:t>
            </a:r>
          </a:p>
        </p:txBody>
      </p:sp>
      <p:sp>
        <p:nvSpPr>
          <p:cNvPr id="40" name="Oval 39"/>
          <p:cNvSpPr/>
          <p:nvPr/>
        </p:nvSpPr>
        <p:spPr>
          <a:xfrm>
            <a:off x="6642201" y="4695438"/>
            <a:ext cx="68580" cy="68580"/>
          </a:xfrm>
          <a:prstGeom prst="ellipse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27367" y="4606284"/>
            <a:ext cx="4468215" cy="49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Anything a person could reasonably appeal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5522976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IN SHORT   </a:t>
            </a:r>
            <a:r>
              <a:rPr sz="1150" b="0" i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Ask one question: if this is wrong, who is harmed and can we undo it?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20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HUMAN OVERSIGHT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What 'a human in the loop' has to mean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 rubber stamp is not oversight. It is just paperwork.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7250" y="2708619"/>
            <a:ext cx="77724" cy="777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628609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Real authority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reviewer can actually say no, without needing permission.</a:t>
            </a:r>
          </a:p>
        </p:txBody>
      </p:sp>
      <p:sp>
        <p:nvSpPr>
          <p:cNvPr id="15" name="Oval 14"/>
          <p:cNvSpPr/>
          <p:nvPr/>
        </p:nvSpPr>
        <p:spPr>
          <a:xfrm>
            <a:off x="857250" y="3586443"/>
            <a:ext cx="77724" cy="777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506433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Enough time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Sixty decisions an hour is not review, it is rubber-stamping.</a:t>
            </a:r>
          </a:p>
        </p:txBody>
      </p:sp>
      <p:sp>
        <p:nvSpPr>
          <p:cNvPr id="17" name="Oval 16"/>
          <p:cNvSpPr/>
          <p:nvPr/>
        </p:nvSpPr>
        <p:spPr>
          <a:xfrm>
            <a:off x="857250" y="4464267"/>
            <a:ext cx="77724" cy="777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384257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Enough information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reviewer sees why the AI suggested this.</a:t>
            </a:r>
          </a:p>
        </p:txBody>
      </p:sp>
      <p:sp>
        <p:nvSpPr>
          <p:cNvPr id="19" name="Oval 18"/>
          <p:cNvSpPr/>
          <p:nvPr/>
        </p:nvSpPr>
        <p:spPr>
          <a:xfrm>
            <a:off x="6477609" y="2708619"/>
            <a:ext cx="77724" cy="777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1063" y="2628609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Named accountability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One person owns the outcome. Not 'the algorithm'.</a:t>
            </a:r>
          </a:p>
        </p:txBody>
      </p:sp>
      <p:sp>
        <p:nvSpPr>
          <p:cNvPr id="21" name="Oval 20"/>
          <p:cNvSpPr/>
          <p:nvPr/>
        </p:nvSpPr>
        <p:spPr>
          <a:xfrm>
            <a:off x="6477609" y="3586443"/>
            <a:ext cx="77724" cy="777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1063" y="3506433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Overturns are tracked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Frequent overrides are a signal the model needs work.</a:t>
            </a:r>
          </a:p>
        </p:txBody>
      </p:sp>
      <p:sp>
        <p:nvSpPr>
          <p:cNvPr id="23" name="Oval 22"/>
          <p:cNvSpPr/>
          <p:nvPr/>
        </p:nvSpPr>
        <p:spPr>
          <a:xfrm>
            <a:off x="6477609" y="4464267"/>
            <a:ext cx="77724" cy="777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1063" y="4384257"/>
            <a:ext cx="4852263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Training on limits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Reviewers know where the AI is usually wrong.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8B0000"/>
              </a:gs>
              <a:gs pos="100000">
                <a:srgbClr val="630000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-1645920" y="3474720"/>
            <a:ext cx="5120640" cy="5120640"/>
          </a:xfrm>
          <a:prstGeom prst="ellipse">
            <a:avLst/>
          </a:prstGeom>
          <a:solidFill>
            <a:srgbClr val="000000">
              <a:alpha val="2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9509760" y="-1463040"/>
            <a:ext cx="5120640" cy="5120640"/>
          </a:xfrm>
          <a:prstGeom prst="ellipse">
            <a:avLst/>
          </a:prstGeom>
          <a:solidFill>
            <a:srgbClr val="FFFFFF">
              <a:alpha val="2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952040" y="448056"/>
            <a:ext cx="1736734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912" y="566928"/>
            <a:ext cx="1498991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79394" y="2103120"/>
            <a:ext cx="2232907" cy="274320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THE PRINCIPLE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56823"/>
            <a:ext cx="9082735" cy="1475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A model can make a recommendation. Only a person can be accountable.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1799" y="4882896"/>
            <a:ext cx="768096" cy="17780"/>
          </a:xfrm>
          <a:prstGeom prst="rect">
            <a:avLst/>
          </a:prstGeom>
          <a:solidFill>
            <a:srgbClr val="E3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5138928"/>
            <a:ext cx="7985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2D9D9"/>
                </a:solidFill>
                <a:latin typeface="Quattrocento Sans"/>
                <a:ea typeface="Quattrocento Sans"/>
                <a:cs typeface="Quattrocento Sans"/>
              </a:rPr>
              <a:t>This is the line that regulators, courts and customers all care about.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22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A practical starting checklist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Governance is boring, cheap and the reason projects survive.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2212266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2212266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641451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Write a short AI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Two pages people will actually read: approved tools, banned data, who to ask.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5002" y="2212266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5002" y="2212266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2746" y="2733845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6482" y="264697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Keep an AI register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746" y="3055806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 list of every AI use, its owner and its risk level.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8756" y="2212266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8756" y="2212266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6500" y="2641451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0236" y="2554583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Classify each use 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6500" y="2963412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Minimal, limited or high risk - and apply the matching controls.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7" y="3913050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7" y="3913050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2" y="4434629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4347761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Review on a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756590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Quarterly checks on accuracy, fairness and complaints.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5002" y="3913050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5002" y="3913050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2746" y="4434629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6482" y="4347761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Train everyone once a year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2746" y="4756590"/>
            <a:ext cx="2960522" cy="509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Short, practical, example-led. Not a legal lecture.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8756" y="3913050"/>
            <a:ext cx="3436010" cy="14813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8756" y="3913050"/>
            <a:ext cx="20320" cy="14813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26500" y="4342235"/>
            <a:ext cx="77724" cy="777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236" y="4255367"/>
            <a:ext cx="2786786" cy="35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Have an incident route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6500" y="4664196"/>
            <a:ext cx="2960522" cy="60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People know exactly who to tell when something goes wrong.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</a:rPr>
              <a:t>Lingesh K  ·  Register No. OSI2509030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1567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</a:rPr>
              <a:t>23</a:t>
            </a:r>
          </a:p>
        </p:txBody>
      </p:sp>
      <p:pic>
        <p:nvPicPr>
          <p:cNvPr id="5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16" y="365760"/>
            <a:ext cx="985051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02920"/>
            <a:ext cx="310896" cy="310896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25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75488"/>
            <a:ext cx="91833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RECAP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58368"/>
            <a:ext cx="9183319" cy="56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</a:rPr>
              <a:t>Key takeaways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242948"/>
            <a:ext cx="11057839" cy="1587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89252"/>
            <a:ext cx="9067428" cy="283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Unit 4 in six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64210"/>
            <a:ext cx="19050" cy="4325693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" y="1800786"/>
            <a:ext cx="5263743" cy="130778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800786"/>
            <a:ext cx="20320" cy="130778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308375"/>
            <a:ext cx="292608" cy="29260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33397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245749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Ethics is commercial risk management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Fines, reputation, trust and market access.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7" y="3291452"/>
            <a:ext cx="5263743" cy="130778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7" y="3291452"/>
            <a:ext cx="20320" cy="130778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" y="3799041"/>
            <a:ext cx="292608" cy="2926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8246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3736415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Privacy comes down to purpose, minimisation and consent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Collect less, use it only as promised, delete it on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7" y="4782118"/>
            <a:ext cx="5263743" cy="130778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7" y="4782118"/>
            <a:ext cx="20320" cy="130778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8992" y="5289707"/>
            <a:ext cx="292608" cy="29260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31531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904" y="5227081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Most leaks are shortcuts, not attacks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Approve safe tools so people do not go around you.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1023" y="1800786"/>
            <a:ext cx="5263743" cy="130778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61023" y="1800786"/>
            <a:ext cx="20320" cy="130778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98767" y="2308375"/>
            <a:ext cx="292608" cy="2926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8767" y="233397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7679" y="2245749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Bias is inherited from data and must be measured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Test by group, review with mixed teams, allow appeals.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1023" y="3291452"/>
            <a:ext cx="5263743" cy="130778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61023" y="3291452"/>
            <a:ext cx="20320" cy="1307785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98767" y="3799041"/>
            <a:ext cx="292608" cy="29260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8767" y="38246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7679" y="3736415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Regulation follows risk, not technology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The same model is unrestricted in one use and banned in another.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1023" y="4782118"/>
            <a:ext cx="5263743" cy="130778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61023" y="4782118"/>
            <a:ext cx="20320" cy="130778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98767" y="5289707"/>
            <a:ext cx="292608" cy="2926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8767" y="531531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37679" y="5227081"/>
            <a:ext cx="4294479" cy="509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</a:rPr>
              <a:t>Accountability cannot be automated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</a:rPr>
              <a:t>AI recommends. A named person decides and answers for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0F1722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FFFFF">
              <a:alpha val="2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424160" y="3474720"/>
            <a:ext cx="3657600" cy="3657600"/>
          </a:xfrm>
          <a:prstGeom prst="ellipse">
            <a:avLst/>
          </a:prstGeom>
          <a:solidFill>
            <a:srgbClr val="8B0000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37898" y="448056"/>
            <a:ext cx="1950876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770" y="566928"/>
            <a:ext cx="1713132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" y="1591056"/>
            <a:ext cx="1218048" cy="274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3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29968"/>
            <a:ext cx="7863840" cy="8914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994538"/>
            <a:ext cx="786384" cy="203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250570"/>
            <a:ext cx="7680960" cy="576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ED8"/>
                </a:solidFill>
                <a:latin typeface="Quattrocento Sans"/>
                <a:ea typeface="Quattrocento Sans"/>
                <a:cs typeface="Quattrocento Sans"/>
              </a:rPr>
              <a:t>Next up — Unit 5: strategy, building AI-based business solutions, and how leaders make teams dramatically more effective.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065224"/>
            <a:ext cx="3539642" cy="1188720"/>
          </a:xfrm>
          <a:prstGeom prst="rect">
            <a:avLst/>
          </a:prstGeom>
          <a:solidFill>
            <a:srgbClr val="2B3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065224"/>
            <a:ext cx="20320" cy="11887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248104"/>
            <a:ext cx="31190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30">
                <a:solidFill>
                  <a:srgbClr val="8E99A8"/>
                </a:solidFill>
                <a:latin typeface="Quattrocento Sans"/>
                <a:ea typeface="Quattrocento Sans"/>
                <a:cs typeface="Quattrocento Sans"/>
              </a:rPr>
              <a:t>QUESTION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485848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8DEE6"/>
                </a:solidFill>
                <a:latin typeface="Quattrocento Sans"/>
                <a:ea typeface="Quattrocento Sans"/>
                <a:cs typeface="Quattrocento Sans"/>
              </a:rPr>
              <a:t>What is the riskiest way AI is being used in your organisation today?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6026" y="4065224"/>
            <a:ext cx="3539642" cy="1188720"/>
          </a:xfrm>
          <a:prstGeom prst="rect">
            <a:avLst/>
          </a:prstGeom>
          <a:solidFill>
            <a:srgbClr val="2B3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6026" y="4065224"/>
            <a:ext cx="20320" cy="11887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5482" y="4248104"/>
            <a:ext cx="31190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30">
                <a:solidFill>
                  <a:srgbClr val="8E99A8"/>
                </a:solidFill>
                <a:latin typeface="Quattrocento Sans"/>
                <a:ea typeface="Quattrocento Sans"/>
                <a:cs typeface="Quattrocento Sans"/>
              </a:rPr>
              <a:t>QUESTION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5482" y="4485848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8DEE6"/>
                </a:solidFill>
                <a:latin typeface="Quattrocento Sans"/>
                <a:ea typeface="Quattrocento Sans"/>
                <a:cs typeface="Quattrocento Sans"/>
              </a:rPr>
              <a:t>Which of your decisions should never be fully automated?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5124" y="4065224"/>
            <a:ext cx="3539642" cy="1188720"/>
          </a:xfrm>
          <a:prstGeom prst="rect">
            <a:avLst/>
          </a:prstGeom>
          <a:solidFill>
            <a:srgbClr val="2B3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5124" y="4065224"/>
            <a:ext cx="20320" cy="118872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4580" y="4248104"/>
            <a:ext cx="31190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30">
                <a:solidFill>
                  <a:srgbClr val="8E99A8"/>
                </a:solidFill>
                <a:latin typeface="Quattrocento Sans"/>
                <a:ea typeface="Quattrocento Sans"/>
                <a:cs typeface="Quattrocento Sans"/>
              </a:rPr>
              <a:t>QUESTION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4580" y="4485848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8DEE6"/>
                </a:solidFill>
                <a:latin typeface="Quattrocento Sans"/>
                <a:ea typeface="Quattrocento Sans"/>
                <a:cs typeface="Quattrocento Sans"/>
              </a:rPr>
              <a:t>Who owns AI governance where you work - and do they know it?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760720"/>
            <a:ext cx="11057839" cy="56692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5760720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30" cap="all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Presented by   </a:t>
            </a: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Lingesh K</a:t>
            </a:r>
            <a:r>
              <a:rPr sz="800" b="0" i="0" spc="130" cap="all">
                <a:solidFill>
                  <a:srgbClr val="E3B4B4"/>
                </a:solidFill>
                <a:latin typeface="Quattrocento Sans"/>
                <a:ea typeface="Quattrocento Sans"/>
                <a:cs typeface="Quattrocento Sans"/>
              </a:rPr>
              <a:t>      Register No.   </a:t>
            </a:r>
            <a:r>
              <a:rPr sz="1300" b="0" i="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</a:rPr>
              <a:t>OSI2509030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— Ethics, Legal and Social Implications</dc:title>
  <dc:subject>Artificial Intelligence &amp; Generative AI</dc:subject>
  <dc:creator>Lingesh K (OSI2509030)</dc:creator>
  <cp:keywords/>
  <dc:description>PGPM · Systems Specialisation · Unit 4 of 5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