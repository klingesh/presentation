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unit that connects theory to the workplace. Keep asking the class: which of these happens in your company today?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cases exist of hiring tools quietly down-ranking women because past hires were mostly men. The tool was working exactly as trained. That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686800" y="-1463040"/>
            <a:ext cx="5120640" cy="5120640"/>
          </a:xfrm>
          <a:prstGeom prst="ellipse">
            <a:avLst/>
          </a:prstGeom>
          <a:solidFill>
            <a:srgbClr val="3B7AF7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058400" y="3108960"/>
            <a:ext cx="3840480" cy="3840480"/>
          </a:xfrm>
          <a:prstGeom prst="ellipse">
            <a:avLst/>
          </a:prstGeom>
          <a:solidFill>
            <a:srgbClr val="00B3A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bleed"/>
          <p:cNvSpPr/>
          <p:nvPr/>
        </p:nvSpPr>
        <p:spPr>
          <a:xfrm>
            <a:off x="7315200" y="1005840"/>
            <a:ext cx="2743200" cy="2743200"/>
          </a:xfrm>
          <a:prstGeom prst="ellipse">
            <a:avLst/>
          </a:prstGeom>
          <a:solidFill>
            <a:srgbClr val="FFFFFF">
              <a:alpha val="3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logo-plate"/>
          <p:cNvSpPr/>
          <p:nvPr/>
        </p:nvSpPr>
        <p:spPr>
          <a:xfrm>
            <a:off x="9126735" y="539496"/>
            <a:ext cx="2379159" cy="11521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7" y="658368"/>
            <a:ext cx="2141415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2414535"/>
            <a:ext cx="7406640" cy="880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Across the Business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313666"/>
            <a:ext cx="658368" cy="4572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624562"/>
            <a:ext cx="6766560" cy="74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D2E8"/>
                </a:solidFill>
                <a:latin typeface="Segoe UI"/>
                <a:ea typeface="Segoe UI"/>
                <a:cs typeface="Segoe UI"/>
              </a:rPr>
              <a:t>Where AI creates real value in marketing, finance, HR and operations - and what AI agents change about how work gets done.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644632"/>
            <a:ext cx="97412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Marketing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830" y="4644632"/>
            <a:ext cx="81517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Finance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8024" y="4644632"/>
            <a:ext cx="555225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HR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61266" y="4644632"/>
            <a:ext cx="1009647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98929" y="4644632"/>
            <a:ext cx="938259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AI Agents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5614416"/>
            <a:ext cx="3840480" cy="12700"/>
          </a:xfrm>
          <a:prstGeom prst="rect">
            <a:avLst/>
          </a:prstGeom>
          <a:solidFill>
            <a:srgbClr val="2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797296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PRESENTED BY</a:t>
            </a:r>
          </a:p>
          <a:p>
            <a:pPr algn="l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Lingesh K</a:t>
            </a:r>
            <a:r>
              <a:rPr sz="1050" b="0" i="0">
                <a:solidFill>
                  <a:srgbClr val="7E91B4"/>
                </a:solidFill>
                <a:latin typeface="Segoe UI"/>
                <a:ea typeface="Segoe UI"/>
                <a:cs typeface="Segoe UI"/>
              </a:rPr>
              <a:t>      Register No. </a:t>
            </a:r>
            <a:r>
              <a:rPr sz="1050" b="1" i="0">
                <a:solidFill>
                  <a:srgbClr val="C5D2E8"/>
                </a:solidFill>
                <a:latin typeface="Segoe UI"/>
                <a:ea typeface="Segoe UI"/>
                <a:cs typeface="Segoe UI"/>
              </a:rPr>
              <a:t>OSI2509030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we will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Function by function, then the technology that ties it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212848"/>
            <a:ext cx="32004" cy="786384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267712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Where AI pays off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 four questions that spot a good use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45536"/>
            <a:ext cx="32004" cy="786384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63824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200400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AI in Marketing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Targeting, content and campaign decisions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078224"/>
            <a:ext cx="32004" cy="7863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1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4133087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AI in Finance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Forecasting, fraud, reporting and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010912"/>
            <a:ext cx="32004" cy="786384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5065776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AI in HR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Hiring, onboarding, engagement and retention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4719" y="2212848"/>
            <a:ext cx="32004" cy="786384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5887" y="2231136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1103" y="2267712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AI in Operations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Demand, supply chain, quality and maintenance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4719" y="3145536"/>
            <a:ext cx="32004" cy="786384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5887" y="3163824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1103" y="3200400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is an AI agent?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 step beyond a chat assistant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4719" y="4078224"/>
            <a:ext cx="32004" cy="786384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5887" y="4096511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1103" y="4133087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Types of agents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Six kinds, from simple rules to teams of agents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4719" y="5010912"/>
            <a:ext cx="32004" cy="786384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5887" y="5029200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1103" y="5065776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How an agent works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 six-step loop behind every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Where AI Actually Pays 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Not every problem needs AI. Some are perfect for it.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CHOOSING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 good AI use case usually has all four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Fail any one of these and a spreadsheet or a clear process is the better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095764"/>
            <a:ext cx="2499283" cy="2057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3096678"/>
            <a:ext cx="2496784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605376"/>
            <a:ext cx="1950643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It repeats often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003807"/>
            <a:ext cx="1950643" cy="984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Hundreds or thousands of times a month. Rare tasks are not worth automating.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8547" y="3095764"/>
            <a:ext cx="2499283" cy="2057400"/>
          </a:xfrm>
          <a:prstGeom prst="roundRect">
            <a:avLst>
              <a:gd name="adj" fmla="val 6000"/>
            </a:avLst>
          </a:prstGeom>
          <a:solidFill>
            <a:srgbClr val="E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69462" y="3096678"/>
            <a:ext cx="249678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2867" y="3605376"/>
            <a:ext cx="1950643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There is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2867" y="4003807"/>
            <a:ext cx="1950643" cy="984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History exists in a system already - not only in people's heads.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3095764"/>
            <a:ext cx="2499283" cy="2057400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4778" y="3096678"/>
            <a:ext cx="2496784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183" y="3605376"/>
            <a:ext cx="1950643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Rules are fuzzy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4003807"/>
            <a:ext cx="1950643" cy="984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Judgement is involved, so a simple 'if this then that' rule does not 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179" y="3095764"/>
            <a:ext cx="2499283" cy="2057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0093" y="3096678"/>
            <a:ext cx="2496784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499" y="3479313"/>
            <a:ext cx="1950643" cy="595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Mistakes are survivable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499" y="4129871"/>
            <a:ext cx="1950643" cy="85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wrong answer can be caught and corrected before it does damage.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THE VALUE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AI creates value in four 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9728"/>
            <a:ext cx="4521397" cy="719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Every business case eventually lands in one of these buckets.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630378"/>
            <a:ext cx="457200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301442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0469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Save time - the work gets done 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9135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8162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Cut cost - fewer hours for the same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6827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854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Grow revenue - better targeting and pricing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4520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3547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Reduce risk - catch problems earlier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0389" y="1783152"/>
            <a:ext cx="5878074" cy="9440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00389" y="1783152"/>
            <a:ext cx="45720" cy="944099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4709" y="1979852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Save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4709" y="2306031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Draft, summarise and sort work that used to be manual.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389" y="2891844"/>
            <a:ext cx="5878074" cy="9440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00389" y="2891844"/>
            <a:ext cx="45720" cy="944099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4709" y="3088544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Cut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4709" y="3414723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Handle routine volume without adding headcount.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00389" y="4000536"/>
            <a:ext cx="5878074" cy="9440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00389" y="4000536"/>
            <a:ext cx="45720" cy="94409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4709" y="4197236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Grow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4709" y="4523415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Right offer, right customer, right moment.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0389" y="5109228"/>
            <a:ext cx="5878074" cy="9440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00389" y="5109228"/>
            <a:ext cx="45720" cy="944099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4709" y="5305928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Reduce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4709" y="5632107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Spot fraud, defects and churn before they land.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in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The function where adoption started, and moved fastest.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Six things marketing teams use AI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297784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146" y="2298699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4525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Customer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43688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Groups customers by real behaviour instead of broad age and location buckets.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6986" y="2297784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7900" y="2298699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1306" y="264525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Content at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1306" y="3043688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First drafts of ads, emails, posts and product descriptions in every variant.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0740" y="2297784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655" y="2298699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5060" y="264525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Personalisation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5060" y="3043688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Different message and offer for each segment,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37112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4146" y="4038026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3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Send-time and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783015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Predicts when and where each customer is most likely to respond.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6986" y="4037112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7900" y="4038026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1306" y="43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Lead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1306" y="4783015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Ranks enquiries so sales calls the most promising ones first.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0740" y="4037112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1655" y="4038026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5060" y="43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Campaign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5060" y="4783015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Explains which channel actually drove the result, not just the last click.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MARKETING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good looks like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Same team, more output, better targeting.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68752"/>
            <a:ext cx="341772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656385"/>
            <a:ext cx="2942234" cy="632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5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Days to 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" y="3329456"/>
            <a:ext cx="38404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512336"/>
            <a:ext cx="2942234" cy="2991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Campaign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848109"/>
            <a:ext cx="2942234" cy="633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Draft copy and creative variants are ready the same day the brief lands.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6986" y="2268752"/>
            <a:ext cx="341772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4730" y="2637319"/>
            <a:ext cx="2942234" cy="6710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1-to-1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24730" y="3329456"/>
            <a:ext cx="384048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4730" y="3512336"/>
            <a:ext cx="2942234" cy="2991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Personalisation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4730" y="3848109"/>
            <a:ext cx="2942234" cy="633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Every customer can get a relevant message, not one mass email.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0740" y="2268752"/>
            <a:ext cx="341772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2725022"/>
            <a:ext cx="2942234" cy="4956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50" b="1" i="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Fewer wasted 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98484" y="3329456"/>
            <a:ext cx="384048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8484" y="3512336"/>
            <a:ext cx="2942234" cy="2991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Sales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8484" y="3848109"/>
            <a:ext cx="2942234" cy="633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Lead scoring puts the best prospects at the top of the list.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20512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0E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risk: everyone's marketing starts to sound the same. Brand voice and human editing matter more than ever.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in 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Where accuracy, speed and audit trails all matter.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Six high-value finance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Mostly predictive AI, with Gen AI doing the writing.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2504923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Predicts revenue, cash flow and cost using history, seasonality and market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6986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7900" y="2504923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1306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Fraud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Flags transactions that break the customer's normal pattern, in real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0740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1655" y="2504923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5060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Credit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Scores applicants on far more signals than a manual review could handle.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4146" y="4244250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Invoice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Reads invoices, matches them to purchase orders and routes exceptions.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6986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7900" y="4244250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1306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1306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Drafts the narrative around the numbers so analysts review instead of write.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0740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1655" y="4244250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5060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Audit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5060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Scans every transaction for anomalies rather than checking a sample.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A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Fraud detection: before and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783152"/>
            <a:ext cx="5227167" cy="35569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146" y="1784066"/>
            <a:ext cx="5221940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2094048"/>
            <a:ext cx="1143288" cy="310896"/>
          </a:xfrm>
          <a:prstGeom prst="roundRect">
            <a:avLst>
              <a:gd name="adj" fmla="val 50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RULES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69536"/>
            <a:ext cx="4605375" cy="352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Fixed thresholds written by people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3031525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3356137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6736" y="3250981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Blocks anything over a set 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72641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6736" y="3621255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Fraudsters learn the limits and stay under them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09668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6736" y="3991529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Large numbers of false alarms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46695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6736" y="4361803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Every new pattern needs a new rule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483723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6736" y="4732077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Genuine customers get blocked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1295" y="1783152"/>
            <a:ext cx="5227167" cy="35569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2210" y="1784066"/>
            <a:ext cx="5221940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62191" y="2094048"/>
            <a:ext cx="874351" cy="310896"/>
          </a:xfrm>
          <a:prstGeom prst="roundRect">
            <a:avLst>
              <a:gd name="adj" fmla="val 50000"/>
            </a:avLst>
          </a:prstGeom>
          <a:solidFill>
            <a:srgbClr val="E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WITH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191" y="2569536"/>
            <a:ext cx="4605375" cy="352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Learns each customer's normal behaviour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62191" y="3031525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62191" y="3356137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4799" y="3250981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Compares to that customer's own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62191" y="372641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4799" y="3621255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Adapts as new fraud patterns appear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2191" y="409668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4799" y="3991529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Far fewer false alarms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62191" y="446695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4799" y="4361803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Learns continuously from outcomes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62191" y="483723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4799" y="4732077"/>
            <a:ext cx="4312767" cy="3702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Still needs a human for the edge cases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5486400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0E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 cap="all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In short   </a:t>
            </a:r>
            <a:r>
              <a:rPr sz="12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does not replace the rules. It handles what the rules cannot describe.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in Human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High value, and the highest need for care.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HUMAN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Six ways HR teams use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297784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146" y="2298699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4525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Job descriptions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43688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Consistent, inclusive postings drafted in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6986" y="2297784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7900" y="2298699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1306" y="264525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CV screening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1306" y="3043688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Shortlists against the skills that actually matter for the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0740" y="2297784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655" y="2298699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5060" y="264525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Interview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5060" y="3043688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Suggests questions and structures notes so candidates are compared fairly.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37112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4146" y="4038026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3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Onboarding help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783015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An assistant that answers policy questions on day one, at any hour.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6986" y="4037112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7900" y="4038026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1306" y="43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Engagement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1306" y="4783015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Finds the themes in thousands of open survey comments.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0740" y="4037112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1655" y="4038026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5060" y="43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Attrition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5060" y="4783015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Flags teams where people are likely to leave, so managers can act early.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HANDLE WITH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HR is the highest-risk place to use AI badly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Use AI to widen the funnel and save admin time, not to pick people.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860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62592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Bias is inherited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model trained on past hiring will copy past hiring bias.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18140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722128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Decisions must be explainable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rejected candidate may be entitled to know the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77676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581664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Data is deeply personal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Salary, performance and health data need strict access control.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2735" y="295860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0207" y="2862592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Regulators are watching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Hiring AI is treated as high risk in most new AI laws.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2735" y="3818140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3722128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Screen, do not decide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AI can shortlist. A person must make the final 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2735" y="4677676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0207" y="4581664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Tell people it is in use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Transparency avoids most of the trust problems later.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in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The quietest wins, and often the biggest.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Six operational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297784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146" y="2298699"/>
            <a:ext cx="3414304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4525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Demand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43688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Predicts what will sell where, so stock sits in the right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6986" y="2297784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7900" y="2298699"/>
            <a:ext cx="3414304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1306" y="264525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Inventory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1306" y="3043688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Balances holding cost against the cost of running 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0740" y="2297784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655" y="2298699"/>
            <a:ext cx="3414304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5060" y="2645256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Route optimisation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5060" y="3043688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Plans delivery routes around traffic, weight and time windows.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37112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4146" y="4038026"/>
            <a:ext cx="3414304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3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Predictive 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783015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Flags a machine that is about to fail, before it stops the 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6986" y="4037112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7900" y="4038026"/>
            <a:ext cx="3414304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1306" y="43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Quality inspection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1306" y="4783015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Cameras spot defects faster and more consistently than tired eyes.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0740" y="4037112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1655" y="4038026"/>
            <a:ext cx="3414304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5060" y="43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Service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5060" y="4783015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Handles routine customer questions and escalates the rest.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ACROSS THE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One view of all four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819728"/>
          <a:ext cx="10765228" cy="2743200"/>
        </p:xfrm>
        <a:graphic>
          <a:graphicData uri="http://schemas.openxmlformats.org/drawingml/2006/table">
            <a:tbl>
              <a:tblPr firstRow="1" bandRow="0" bandCol="0" firstCol="0" lastRow="0" lastCol="0">
                <a:tableStyleId>{5C22544A-7EE6-4342-B048-85BDC9FD1C3A}</a:tableStyleId>
              </a:tblPr>
              <a:tblGrid>
                <a:gridCol w="1817506"/>
                <a:gridCol w="3355396"/>
                <a:gridCol w="2796163"/>
                <a:gridCol w="2796163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Function</a:t>
                      </a:r>
                    </a:p>
                  </a:txBody>
                  <a:tcPr marL="164592" marR="164592" marT="91440" marB="91440" anchor="ctr">
                    <a:solidFill>
                      <a:srgbClr val="0E1E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Typical use</a:t>
                      </a:r>
                    </a:p>
                  </a:txBody>
                  <a:tcPr marL="164592" marR="164592" marT="91440" marB="91440" anchor="ctr">
                    <a:solidFill>
                      <a:srgbClr val="0E1E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Main benefit</a:t>
                      </a:r>
                    </a:p>
                  </a:txBody>
                  <a:tcPr marL="164592" marR="164592" marT="91440" marB="91440" anchor="ctr">
                    <a:solidFill>
                      <a:srgbClr val="0E1E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Main risk</a:t>
                      </a:r>
                    </a:p>
                  </a:txBody>
                  <a:tcPr marL="164592" marR="164592" marT="91440" marB="91440" anchor="ctr">
                    <a:solidFill>
                      <a:srgbClr val="0E1E3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Marketing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Segments, content, personalisation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Speed and relevance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Generic, off-brand output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Finance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Forecasting, fraud, reporting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Accuracy and early warning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Over-trusting a model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HR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Screening, onboarding, retention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Less admin, wider funnel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Bias and legal exposure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Operations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Demand, routes, maintenance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Lower cost, less downtime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Bad data breaks the forecast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" y="4782384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Different functions, same pattern: AI drafts and predicts, people decide and own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782384"/>
            <a:ext cx="32004" cy="56692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From answering questions to getting things done.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THE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An assistant answers. An agent acts.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Same underlying model. Very different amount of autonomy.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95600"/>
            <a:ext cx="5227167" cy="31444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2196514"/>
            <a:ext cx="5221940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2506496"/>
            <a:ext cx="1478489" cy="31089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CHAT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981984"/>
            <a:ext cx="4605375" cy="352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You do the work, it helps you think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3443973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376858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6736" y="3663429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Waits for each instruction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05637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16736" y="3951214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Produces text and nothing else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434415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4238998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Forgets once the chat closes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63193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6736" y="4526783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Cannot touch other systems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91972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6736" y="4814567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You carry out every step yourself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1295" y="2195600"/>
            <a:ext cx="5227167" cy="31444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2210" y="2196514"/>
            <a:ext cx="5221940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62191" y="2506496"/>
            <a:ext cx="963732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AI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2191" y="2981984"/>
            <a:ext cx="4605375" cy="352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You set the goal, it works towards 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2191" y="3443973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62191" y="376858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4799" y="3663429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Given an objective, not a script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2191" y="405637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4799" y="3951214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Plans the steps by itself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62191" y="434415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4799" y="4238998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Uses tools: email, search, databases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2191" y="463193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4799" y="4526783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Checks its own progress and retries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62191" y="491972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4799" y="4814567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Reports back when the goal is met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486400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0E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 cap="all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In short   </a:t>
            </a:r>
            <a:r>
              <a:rPr sz="12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 assistant helps you work. An agent does the work and reports back.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TYPES OF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Six types, in order of independence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More independence means more value, and more supervision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95600"/>
            <a:ext cx="3417722" cy="180999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2196514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2524784"/>
            <a:ext cx="347472" cy="347472"/>
          </a:xfrm>
          <a:prstGeom prst="ellipse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56593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03684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Simple reflex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435279"/>
            <a:ext cx="2869082" cy="40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Reacts to what is happening right now. No memory. A thermostat.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6986" y="2195600"/>
            <a:ext cx="3417722" cy="180999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7900" y="2196514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61306" y="2524784"/>
            <a:ext cx="347472" cy="347472"/>
          </a:xfrm>
          <a:prstGeom prst="ellipse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1306" y="256593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1306" y="303684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Model-based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1306" y="3435279"/>
            <a:ext cx="2869082" cy="40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Keeps an internal picture of the situation, so it can handle what it cannot directly see.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0740" y="2195600"/>
            <a:ext cx="3417722" cy="180999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1655" y="2196514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35060" y="2524784"/>
            <a:ext cx="347472" cy="347472"/>
          </a:xfrm>
          <a:prstGeom prst="ellipse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5060" y="2565932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5060" y="303684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Goal-based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5060" y="3435279"/>
            <a:ext cx="2869082" cy="40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Given an outcome, it plans a route to reach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243336"/>
            <a:ext cx="3417722" cy="180999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4146" y="4244250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2" y="4572520"/>
            <a:ext cx="347472" cy="347472"/>
          </a:xfrm>
          <a:prstGeom prst="ellipse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6136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0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Utility-based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483015"/>
            <a:ext cx="2869082" cy="40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Weighs trade-offs and picks the best option, not just a valid one.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6986" y="4243336"/>
            <a:ext cx="3417722" cy="180999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7900" y="4244250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61306" y="4572520"/>
            <a:ext cx="347472" cy="347472"/>
          </a:xfrm>
          <a:prstGeom prst="ellipse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1306" y="46136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1306" y="50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Learning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1306" y="5483015"/>
            <a:ext cx="2869082" cy="40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Improves from feedback and results over time.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0740" y="4243336"/>
            <a:ext cx="3417722" cy="180999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1655" y="4244250"/>
            <a:ext cx="341430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35060" y="4572520"/>
            <a:ext cx="347472" cy="347472"/>
          </a:xfrm>
          <a:prstGeom prst="ellipse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5060" y="46136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5060" y="5084584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Multi-agent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5060" y="5483015"/>
            <a:ext cx="2869082" cy="40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Several specialist agents working together with a coordinator.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 six-step loop inside every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34134" y="2534883"/>
            <a:ext cx="9123426" cy="254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96390" y="2308112"/>
            <a:ext cx="475488" cy="475488"/>
          </a:xfrm>
          <a:prstGeom prst="ellipse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13268"/>
            <a:ext cx="16418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948192"/>
            <a:ext cx="1641805" cy="1437247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149360"/>
            <a:ext cx="1312621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503421"/>
            <a:ext cx="1312621" cy="735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person sets the objective and the limits.</a:t>
            </a:r>
          </a:p>
        </p:txBody>
      </p:sp>
      <p:sp>
        <p:nvSpPr>
          <p:cNvPr id="14" name="Oval 13"/>
          <p:cNvSpPr/>
          <p:nvPr/>
        </p:nvSpPr>
        <p:spPr>
          <a:xfrm>
            <a:off x="3121075" y="2308112"/>
            <a:ext cx="475488" cy="475488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7917" y="2413268"/>
            <a:ext cx="16418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37917" y="2948192"/>
            <a:ext cx="1641805" cy="1437247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2509" y="3149360"/>
            <a:ext cx="1312621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509" y="3503421"/>
            <a:ext cx="1312621" cy="735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It breaks the goal into ordered steps.</a:t>
            </a:r>
          </a:p>
        </p:txBody>
      </p:sp>
      <p:sp>
        <p:nvSpPr>
          <p:cNvPr id="19" name="Oval 18"/>
          <p:cNvSpPr/>
          <p:nvPr/>
        </p:nvSpPr>
        <p:spPr>
          <a:xfrm>
            <a:off x="4945761" y="230811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2602" y="2413268"/>
            <a:ext cx="16418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2602" y="2948192"/>
            <a:ext cx="1641805" cy="1437247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7194" y="3149360"/>
            <a:ext cx="1312621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7194" y="3503421"/>
            <a:ext cx="1312621" cy="735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It uses tools - search, email, systems, code.</a:t>
            </a:r>
          </a:p>
        </p:txBody>
      </p:sp>
      <p:sp>
        <p:nvSpPr>
          <p:cNvPr id="24" name="Oval 23"/>
          <p:cNvSpPr/>
          <p:nvPr/>
        </p:nvSpPr>
        <p:spPr>
          <a:xfrm>
            <a:off x="6770446" y="2308112"/>
            <a:ext cx="475488" cy="475488"/>
          </a:xfrm>
          <a:prstGeom prst="ellipse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7287" y="2413268"/>
            <a:ext cx="16418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7287" y="2948192"/>
            <a:ext cx="1641805" cy="1437247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1879" y="3149360"/>
            <a:ext cx="1312621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Observe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1879" y="3503421"/>
            <a:ext cx="1312621" cy="735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It reads the result of what it just did.</a:t>
            </a:r>
          </a:p>
        </p:txBody>
      </p:sp>
      <p:sp>
        <p:nvSpPr>
          <p:cNvPr id="29" name="Oval 28"/>
          <p:cNvSpPr/>
          <p:nvPr/>
        </p:nvSpPr>
        <p:spPr>
          <a:xfrm>
            <a:off x="8595131" y="2308112"/>
            <a:ext cx="475488" cy="475488"/>
          </a:xfrm>
          <a:prstGeom prst="ellipse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1972" y="2413268"/>
            <a:ext cx="16418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1972" y="2948192"/>
            <a:ext cx="1641805" cy="1437247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6564" y="3149360"/>
            <a:ext cx="1312621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Adjust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6564" y="3503421"/>
            <a:ext cx="1312621" cy="735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If a step failed, it retries or changes approach.</a:t>
            </a:r>
          </a:p>
        </p:txBody>
      </p:sp>
      <p:sp>
        <p:nvSpPr>
          <p:cNvPr id="34" name="Oval 33"/>
          <p:cNvSpPr/>
          <p:nvPr/>
        </p:nvSpPr>
        <p:spPr>
          <a:xfrm>
            <a:off x="10419816" y="2308112"/>
            <a:ext cx="475488" cy="475488"/>
          </a:xfrm>
          <a:prstGeom prst="ellipse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36658" y="2413268"/>
            <a:ext cx="16418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6658" y="2948192"/>
            <a:ext cx="1641805" cy="1437247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01250" y="3149360"/>
            <a:ext cx="1312621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1250" y="3503421"/>
            <a:ext cx="1312621" cy="7357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It hands back the outcome for human sign-off.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449824"/>
            <a:ext cx="10765231" cy="603504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 loop is what makes it an agent. Plan, act, check, adjust - repeat until done.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449824"/>
            <a:ext cx="32004" cy="603504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 support agent, end to 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9728"/>
            <a:ext cx="4521397" cy="719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One goal, six steps, one human check at the 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630378"/>
            <a:ext cx="457200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301442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0469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Goal: resolve this refund 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9135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8162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Reads the ticket and finds the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6827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854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Checks the refund policy and the delivery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4520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3547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Drafts the reply and prepares the refund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52212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1239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Escalates to a person if the amount is large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89905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89322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Logs everything for the audit trail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389" y="1783152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00389" y="1783152"/>
            <a:ext cx="45720" cy="1313663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4709" y="2164634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people 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4709" y="2490813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Routine tickets close in minutes, at any hour.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00389" y="3261408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00389" y="3261408"/>
            <a:ext cx="45720" cy="1313663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4709" y="3642890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people keep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4709" y="3969069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 judgement calls, exceptions and the relationship.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0389" y="4739664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00389" y="4739664"/>
            <a:ext cx="45720" cy="1313663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4709" y="5121146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you must add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4709" y="5447325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Clear limits, an audit log and an easy way to escalate.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BEFORE YOU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Four guardrails every agent needs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Autonomy without guardrails is how pilots turn into incidents.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95600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195600"/>
            <a:ext cx="45720" cy="1819135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33344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Clear 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963696"/>
            <a:ext cx="91440" cy="91440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63112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Define what it may never do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271371"/>
            <a:ext cx="91440" cy="91440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170787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Cap the value it can approve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579045"/>
            <a:ext cx="91440" cy="91440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478461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Restrict which systems it can reach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2195600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2195600"/>
            <a:ext cx="45720" cy="1819135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4759" y="2433344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Human checkpoints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4759" y="2963696"/>
            <a:ext cx="91440" cy="9144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0791" y="2863112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Approval before anything irreversible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4759" y="3271371"/>
            <a:ext cx="91440" cy="9144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0791" y="3170787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 named owner for every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4759" y="3579045"/>
            <a:ext cx="91440" cy="9144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0791" y="3478461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An obvious way to stop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234192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234192"/>
            <a:ext cx="45720" cy="1819135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471936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Full logging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5002288"/>
            <a:ext cx="91440" cy="91440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901704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Record every action and decision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5309962"/>
            <a:ext cx="91440" cy="91440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5209378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Keep it reviewable and auditable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5617637"/>
            <a:ext cx="91440" cy="91440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517053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Know why it did what it did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863" y="4234192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3863" y="4234192"/>
            <a:ext cx="45720" cy="1819135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4759" y="4471936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Start small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4759" y="5002288"/>
            <a:ext cx="91440" cy="91440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90791" y="4901704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One narrow task, low risk, first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4759" y="5309962"/>
            <a:ext cx="91440" cy="91440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90791" y="5209378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Measure quality before widening scope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4759" y="5617637"/>
            <a:ext cx="91440" cy="91440"/>
          </a:xfrm>
          <a:prstGeom prst="roundRect">
            <a:avLst>
              <a:gd name="adj" fmla="val 30000"/>
            </a:avLst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90791" y="5517053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Expand only when it has earned trust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Unit 3 in six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32176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232176"/>
            <a:ext cx="45720" cy="1151797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4984" y="2616051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2702919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2435851"/>
            <a:ext cx="4111599" cy="835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Good use cases repeat, have data, need judgement and tolerate error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Check all four before you invest.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566853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566853"/>
            <a:ext cx="45720" cy="1151797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4984" y="3950728"/>
            <a:ext cx="384048" cy="384048"/>
          </a:xfrm>
          <a:prstGeom prst="ellipse">
            <a:avLst/>
          </a:prstGeom>
          <a:solidFill>
            <a:srgbClr val="E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403759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3889957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Marketing gains speed and relevance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Segments, content and personalisation at scale.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901530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901530"/>
            <a:ext cx="45720" cy="115179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" y="5285405"/>
            <a:ext cx="384048" cy="384048"/>
          </a:xfrm>
          <a:prstGeom prst="ellipse">
            <a:avLst/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" y="5372273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5224634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Finance gains accuracy and early warning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Forecasting, fraud, invoices and reporting.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2232176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3007" y="2232176"/>
            <a:ext cx="45720" cy="1151797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34759" y="2616051"/>
            <a:ext cx="384048" cy="384048"/>
          </a:xfrm>
          <a:prstGeom prst="ellipse">
            <a:avLst/>
          </a:prstGeom>
          <a:solidFill>
            <a:srgbClr val="EE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4759" y="2702919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9119" y="2555280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HR gains time but carries the most risk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Screen and support. Never let AI make the final call.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3566853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3007" y="3566853"/>
            <a:ext cx="45720" cy="1151797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4759" y="3950728"/>
            <a:ext cx="384048" cy="384048"/>
          </a:xfrm>
          <a:prstGeom prst="ellipse">
            <a:avLst/>
          </a:prstGeom>
          <a:solidFill>
            <a:srgbClr val="E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4759" y="403759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9119" y="3889957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Operations gains cost and uptime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Demand, routes, maintenance and quality.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4901530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3007" y="4901530"/>
            <a:ext cx="45720" cy="1151797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34759" y="5285405"/>
            <a:ext cx="384048" cy="384048"/>
          </a:xfrm>
          <a:prstGeom prst="ellipse">
            <a:avLst/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4759" y="5372273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9119" y="5224634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Agents act, so they need guardrails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Limits, human checkpoints, logging, and a small start.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B7AF7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424160" y="3474720"/>
            <a:ext cx="3291840" cy="3291840"/>
          </a:xfrm>
          <a:prstGeom prst="ellipse">
            <a:avLst/>
          </a:prstGeom>
          <a:solidFill>
            <a:srgbClr val="00B3A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542032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675887"/>
            <a:ext cx="658368" cy="45720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95020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B8C8E4"/>
                </a:solidFill>
                <a:latin typeface="Segoe UI"/>
                <a:ea typeface="Segoe UI"/>
                <a:cs typeface="Segoe UI"/>
              </a:rPr>
              <a:t>Next up — Unit 4: privacy, security, regulation and what happens when AI starts influencing real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718304"/>
            <a:ext cx="73152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 cap="all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Questions to think about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93A6C6"/>
                </a:solidFill>
                <a:latin typeface="Segoe UI"/>
                <a:ea typeface="Segoe UI"/>
                <a:cs typeface="Segoe UI"/>
              </a:rPr>
              <a:t>— Which function in your organisation would gain the most, fastest?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93A6C6"/>
                </a:solidFill>
                <a:latin typeface="Segoe UI"/>
                <a:ea typeface="Segoe UI"/>
                <a:cs typeface="Segoe UI"/>
              </a:rPr>
              <a:t>— Which decision would you never hand to an agent?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93A6C6"/>
                </a:solidFill>
                <a:latin typeface="Segoe UI"/>
                <a:ea typeface="Segoe UI"/>
                <a:cs typeface="Segoe UI"/>
              </a:rPr>
              <a:t>— What data would you need before any of this could work?</a:t>
            </a:r>
          </a:p>
        </p:txBody>
      </p:sp>
      <p:sp>
        <p:nvSpPr>
          <p:cNvPr id="10" name="logo-plate"/>
          <p:cNvSpPr/>
          <p:nvPr/>
        </p:nvSpPr>
        <p:spPr>
          <a:xfrm>
            <a:off x="9233806" y="539496"/>
            <a:ext cx="2272088" cy="11064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678" y="658368"/>
            <a:ext cx="2034345" cy="868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87552" y="6035040"/>
            <a:ext cx="3291840" cy="12700"/>
          </a:xfrm>
          <a:prstGeom prst="rect">
            <a:avLst/>
          </a:prstGeom>
          <a:solidFill>
            <a:srgbClr val="2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6163056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Lingesh K</a:t>
            </a:r>
            <a:r>
              <a:rPr sz="1000" b="0" i="0">
                <a:solidFill>
                  <a:srgbClr val="7E91B4"/>
                </a:solidFill>
                <a:latin typeface="Segoe UI"/>
                <a:ea typeface="Segoe UI"/>
                <a:cs typeface="Segoe UI"/>
              </a:rPr>
              <a:t>   ·   Register No. </a:t>
            </a:r>
            <a:r>
              <a:rPr sz="1000" b="1" i="0">
                <a:solidFill>
                  <a:srgbClr val="C5D2E8"/>
                </a:solidFill>
                <a:latin typeface="Segoe UI"/>
                <a:ea typeface="Segoe UI"/>
                <a:cs typeface="Segoe UI"/>
              </a:rPr>
              <a:t>OSI2509030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— Business Application in AI</dc:title>
  <dc:subject>Artificial Intelligence &amp; Generative AI</dc:subject>
  <dc:creator>Lingesh K (OSI2509030)</dc:creator>
  <cp:keywords/>
  <dc:description>PGPM · Systems Specialisation · Unit 3 of 5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