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unit that connects theory to the workplace. Keep asking the class: which of these happens in your company today?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cases exist of hiring tools quietly down-ranking women because past hires were mostly men. The tool was working exactly as trained. That is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686800" y="-1463040"/>
            <a:ext cx="5120640" cy="512064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058400" y="3108960"/>
            <a:ext cx="3840480" cy="384048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o-bleed"/>
          <p:cNvSpPr/>
          <p:nvPr/>
        </p:nvSpPr>
        <p:spPr>
          <a:xfrm>
            <a:off x="7315200" y="1005840"/>
            <a:ext cx="2743200" cy="2743200"/>
          </a:xfrm>
          <a:prstGeom prst="ellipse">
            <a:avLst/>
          </a:prstGeom>
          <a:solidFill>
            <a:srgbClr val="FFFFFF">
              <a:alpha val="35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17043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22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2688" y="1627632"/>
            <a:ext cx="1481328" cy="384048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3B7A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spc="16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UNIT 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304288"/>
            <a:ext cx="7406640" cy="880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Across the Business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3203419"/>
            <a:ext cx="658368" cy="457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514315"/>
            <a:ext cx="67665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5D2E8"/>
                </a:solidFill>
                <a:latin typeface="Segoe UI"/>
                <a:ea typeface="Segoe UI"/>
                <a:cs typeface="Segoe UI"/>
              </a:rPr>
              <a:t>Where AI creates real value in marketing, finance, HR and operations - and what AI agents change about how work gets done.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2688" y="4956048"/>
            <a:ext cx="974126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Marketing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34830" y="4956048"/>
            <a:ext cx="815178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Finance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78024" y="4956048"/>
            <a:ext cx="555225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HR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61266" y="4956048"/>
            <a:ext cx="1009647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Operations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98929" y="4956048"/>
            <a:ext cx="938259" cy="329184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34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9FB4D8"/>
                </a:solidFill>
                <a:latin typeface="Segoe UI"/>
                <a:ea typeface="Segoe UI"/>
                <a:cs typeface="Segoe UI"/>
              </a:rPr>
              <a:t>AI Agents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2688" y="5742432"/>
            <a:ext cx="3840480" cy="12700"/>
          </a:xfrm>
          <a:prstGeom prst="rect">
            <a:avLst/>
          </a:prstGeom>
          <a:solidFill>
            <a:srgbClr val="2A3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925312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PGPM · Systems Specialisation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8B9DBE"/>
                </a:solidFill>
                <a:latin typeface="Segoe UI"/>
                <a:ea typeface="Segoe UI"/>
                <a:cs typeface="Segoe UI"/>
              </a:rPr>
              <a:t>Unit 3 of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we will cover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Function by function, then the technology that ties it together.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212848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9616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Where AI pays off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four questions that spot a good use case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" y="3145536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9616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Marketing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Targeting, content and campaign decisions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" y="4078224"/>
            <a:ext cx="32004" cy="7863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9616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Finance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Forecasting, fraud, reporting and risk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5010912"/>
            <a:ext cx="32004" cy="786384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99616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HR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Hiring, onboarding, engagement and retention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4719" y="2212848"/>
            <a:ext cx="32004" cy="786384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7" y="2231136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1103" y="2267712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in Operations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Demand, supply chain, quality and maintenance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4719" y="3145536"/>
            <a:ext cx="32004" cy="786384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15887" y="3163824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1103" y="3200400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is an AI agent?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step beyond a chat assistant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4719" y="4078224"/>
            <a:ext cx="32004" cy="78638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5887" y="4096511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1103" y="4133087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Types of agents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Six kinds, from simple rules to teams of agents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4719" y="5010912"/>
            <a:ext cx="32004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5887" y="5029200"/>
            <a:ext cx="56692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1103" y="5065776"/>
            <a:ext cx="4349343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How an agent works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six-step loop behind every 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Where AI Actually Pays 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Not every problem needs AI. Some are perfect for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CHOOSING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good AI use case usually has all four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Fail any one of these and a spreadsheet or a clear process is the better answer.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It repeats often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Hundreds or thousands of times a month. Rare tasks are not worth automating.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8547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69462" y="3096678"/>
            <a:ext cx="249678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2867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There is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2867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History exists in a system already - not only in people's heads.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4778" y="3096678"/>
            <a:ext cx="249678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8183" y="3605376"/>
            <a:ext cx="1950643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Rules are fuzzy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003807"/>
            <a:ext cx="1950643" cy="9847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Judgement is involved, so a simple 'if this then that' rule does not work.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9179" y="3095764"/>
            <a:ext cx="2499283" cy="205740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80093" y="3096678"/>
            <a:ext cx="2496784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499" y="3479313"/>
            <a:ext cx="1950643" cy="595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Mistakes are survivable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499" y="4129871"/>
            <a:ext cx="1950643" cy="858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wrong answer can be caught and corrected before it does damage.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VALUE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AI creates value in four 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Every business case eventually lands in one of these buckets.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Save time - the work gets done faster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Cut cost - fewer hours for the same output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Grow revenue - better targeting and pricing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Reduce risk - catch problems earlier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00389" y="1783152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00389" y="1783152"/>
            <a:ext cx="45720" cy="944099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74709" y="1979852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Save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74709" y="2306031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Draft, summarise and sort work that used to be manual.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00389" y="2891844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0389" y="2891844"/>
            <a:ext cx="45720" cy="944099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74709" y="308854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Cut cost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4709" y="341472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Handle routine volume without adding headcount.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00389" y="4000536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0389" y="4000536"/>
            <a:ext cx="45720" cy="944099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4709" y="419723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Grow revenue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4709" y="452341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Right offer, right customer, right moment.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00389" y="5109228"/>
            <a:ext cx="5878074" cy="9440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0389" y="5109228"/>
            <a:ext cx="45720" cy="944099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4709" y="5305928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Reduce risk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4709" y="5632107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Spot fraud, defects and churn before they land.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function where adoption started, and moved fastest.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MARKETING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things marketing teams use AI 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Customer segments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Groups customers by real behaviour instead of broad age and location buckets.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Content at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First drafts of ads, emails, posts and product descriptions in every variant.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Personalisation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Different message and offer for each segment, automatically.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Send-time and channel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when and where each customer is most likely to respond.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Lead scoring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Ranks enquiries so sales calls the most promising ones first.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Campaign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Explains which channel actually drove the result, not just the last click.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MARKETING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good looks like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Same team, more output, better targeting.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656385"/>
            <a:ext cx="2942234" cy="6329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5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Days to hours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" y="3329456"/>
            <a:ext cx="38404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Campaign production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 copy and creative variants are ready the same day the brief lands.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6986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4730" y="2637319"/>
            <a:ext cx="2942234" cy="6710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80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1-to-1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24730" y="3329456"/>
            <a:ext cx="38404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24730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Personalisation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4730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Every customer can get a relevant message, not one mass email.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0740" y="2268752"/>
            <a:ext cx="3417722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98484" y="2725022"/>
            <a:ext cx="2942234" cy="4956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Fewer wasted calls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98484" y="3329456"/>
            <a:ext cx="38404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98484" y="3512336"/>
            <a:ext cx="2942234" cy="29919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Sales efficiency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8484" y="3848109"/>
            <a:ext cx="2942234" cy="6334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Lead scoring puts the best prospects at the top of the list.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4920512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The risk: everyone's marketing starts to sound the same. Brand voice and human editing matter more than ever.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Where accuracy, speed and audit trails all matter.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FINANCE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high-value finance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Mostly predictive AI, with Gen AI doing the writing.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Forecasting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revenue, cash flow and cost using history, seasonality and market signals.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6986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87900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1306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Fraud 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1306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transactions that break the customer's normal pattern, in real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0740" y="2504009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1655" y="2504923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5060" y="2851481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Credit risk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5060" y="3249912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Scores applicants on far more signals than a manual review could handle.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Invoice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Reads invoices, matches them to purchase orders and routes exceptions.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6986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1306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Reporting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1306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Drafts the narrative around the numbers so analysts review instead of write.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60740" y="4243336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5060" y="459080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Audit support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5060" y="4989239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Scans every transaction for anomalies rather than checking a sample.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A WORKED 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Fraud detection: before and after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1784066"/>
            <a:ext cx="5221940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24128" y="2094048"/>
            <a:ext cx="1143288" cy="310896"/>
          </a:xfrm>
          <a:prstGeom prst="roundRect">
            <a:avLst>
              <a:gd name="adj" fmla="val 50000"/>
            </a:avLst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RULES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Fixed thresholds written by people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24128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16736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Blocks anything over a set amount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6736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Fraudsters learn the limits and stay under them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16736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Large numbers of false alarms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16736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Every new pattern needs a new rule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16736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Genuine customers get blocked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51295" y="1783152"/>
            <a:ext cx="5227167" cy="355694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52210" y="1784066"/>
            <a:ext cx="5221940" cy="64008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562191" y="2094048"/>
            <a:ext cx="874351" cy="310896"/>
          </a:xfrm>
          <a:prstGeom prst="roundRect">
            <a:avLst>
              <a:gd name="adj" fmla="val 50000"/>
            </a:avLst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WITH AI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62191" y="2569536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Learns each customer's normal behaviour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62191" y="3031525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62191" y="3356137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4799" y="3250981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Compares to that customer's own history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62191" y="372641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4799" y="3621255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Adapts as new fraud patterns appear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62191" y="40966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4799" y="3991529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Far fewer false alarms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62191" y="446695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4799" y="4361803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Learns continuously from outcomes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62191" y="483723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4799" y="4732077"/>
            <a:ext cx="4312767" cy="3702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Still needs a human for the edge cases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does not replace the rules. It handles what the rules cannot describe.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Human Resources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High value, and the highest need for care.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HUMAN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ways HR teams use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Job descriptions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Consistent, inclusive postings drafted in minutes.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CV screening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Shortlists against the skills that actually matter for the role.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Interview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Suggests questions and structures notes so candidates are compared fairly.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Onboarding help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An assistant that answers policy questions on day one, at any hour.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Engagement 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Finds the themes in thousands of open survey comments.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Attrition risk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teams where people are likely to leave, so managers can act early.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HANDLE WITH CARE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HR is the highest-risk place to use AI badly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Use AI to widen the funnel and save admin time, not to pick people.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Bias is inherited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model trained on past hiring will copy past hiring bias.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Decisions must be explainable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rejected candidate may be entitled to know the reason.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Data is deeply personal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Salary, performance and health data need strict access control.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42735" y="2958604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0207" y="2862592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Regulators are watching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Hiring AI is treated as high risk in most new AI laws.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42735" y="3818140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0207" y="3722128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Screen, do not decide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AI can shortlist. A person must make the final 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42735" y="4677676"/>
            <a:ext cx="118872" cy="118872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90207" y="4581664"/>
            <a:ext cx="4696815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Tell people it is in use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Transparency avoids most of the trust problems later.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in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The quietest wins, and often the biggest.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operational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4146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Demand forecasting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Predicts what will sell where, so stock sits in the right place.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6986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7900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1306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Inventory planning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1306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Balances holding cost against the cost of running 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0740" y="2297784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61655" y="2298699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5060" y="2645256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Route optimisation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5060" y="3043688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Plans delivery routes around traffic, weight and time windows.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4146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Predictive maintenance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Flags a machine that is about to fail, before it stops the line.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6986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87900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1306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Quality inspection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61306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Cameras spot defects faster and more consistently than tired eyes.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0740" y="4037112"/>
            <a:ext cx="3417722" cy="1501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1655" y="4038026"/>
            <a:ext cx="3414304" cy="64008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35060" y="43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Service automation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5060" y="4783015"/>
            <a:ext cx="2869082" cy="591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Handles routine customer questions and escalates the rest.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ACROSS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view of all four functions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13232" y="1819728"/>
          <a:ext cx="10765228" cy="2743200"/>
        </p:xfrm>
        <a:graphic>
          <a:graphicData uri="http://schemas.openxmlformats.org/drawingml/2006/table">
            <a:tbl>
              <a:tblPr firstRow="1" bandRow="0" bandCol="0" firstCol="0" lastRow="0" lastCol="0">
                <a:tableStyleId>{5C22544A-7EE6-4342-B048-85BDC9FD1C3A}</a:tableStyleId>
              </a:tblPr>
              <a:tblGrid>
                <a:gridCol w="1817506"/>
                <a:gridCol w="3355396"/>
                <a:gridCol w="2796163"/>
                <a:gridCol w="2796163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Function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Typical use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Main benefit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Segoe UI"/>
                          <a:ea typeface="Segoe UI"/>
                          <a:cs typeface="Segoe UI"/>
                        </a:rPr>
                        <a:t>Main risk</a:t>
                      </a:r>
                    </a:p>
                  </a:txBody>
                  <a:tcPr marL="164592" marR="164592" marT="91440" marB="91440" anchor="ctr">
                    <a:solidFill>
                      <a:srgbClr val="0E1E3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Marketing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Segments, content, personalisation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Speed and relevance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Generic, off-brand output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Finance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Forecasting, fraud, reporting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Accuracy and early warning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Over-trusting a model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HR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Screening, onboarding, retention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Less admin, wider funnel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Bias and legal exposure</a:t>
                      </a:r>
                    </a:p>
                  </a:txBody>
                  <a:tcPr marL="164592" marR="164592" marT="82296" marB="82296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i="0">
                          <a:solidFill>
                            <a:srgbClr val="0E1E3C"/>
                          </a:solidFill>
                          <a:latin typeface="Segoe UI"/>
                          <a:ea typeface="Segoe UI"/>
                          <a:cs typeface="Segoe UI"/>
                        </a:rPr>
                        <a:t>Operations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Demand, routes, maintenance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Lower cost, less downtime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0" i="0">
                          <a:solidFill>
                            <a:srgbClr val="141C2E"/>
                          </a:solidFill>
                          <a:latin typeface="Segoe UI"/>
                          <a:ea typeface="Segoe UI"/>
                          <a:cs typeface="Segoe UI"/>
                        </a:rPr>
                        <a:t>Bad data breaks the forecast</a:t>
                      </a:r>
                    </a:p>
                  </a:txBody>
                  <a:tcPr marL="164592" marR="164592" marT="82296" marB="82296" anchor="ctr">
                    <a:solidFill>
                      <a:srgbClr val="F6F8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13232" y="4782384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Different functions, same pattern: AI drafts and predicts, people decide and own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" y="4782384"/>
            <a:ext cx="32004" cy="56692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9326880" y="914400"/>
            <a:ext cx="4206240" cy="4206240"/>
          </a:xfrm>
          <a:prstGeom prst="ellipse">
            <a:avLst/>
          </a:prstGeom>
          <a:solidFill>
            <a:srgbClr val="3B7AF7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972800" y="4023360"/>
            <a:ext cx="2743200" cy="2743200"/>
          </a:xfrm>
          <a:prstGeom prst="ellipse">
            <a:avLst/>
          </a:prstGeom>
          <a:solidFill>
            <a:srgbClr val="00B3A4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395728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sz="640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987552" y="3346704"/>
            <a:ext cx="603504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99232" y="2487168"/>
            <a:ext cx="7680960" cy="70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Agents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99232" y="3266703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AFC1DE"/>
                </a:solidFill>
                <a:latin typeface="Segoe UI"/>
                <a:ea typeface="Segoe UI"/>
                <a:cs typeface="Segoe UI"/>
              </a:rPr>
              <a:t>From answering questions to getting things done.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5943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60">
                <a:solidFill>
                  <a:srgbClr val="6B7FA6"/>
                </a:solidFill>
                <a:latin typeface="Segoe UI"/>
                <a:ea typeface="Segoe UI"/>
                <a:cs typeface="Segoe UI"/>
              </a:rPr>
              <a:t>UNIT 3  ·  BUSINESS APPLICATION IN AI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THE DIFFERENCE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An assistant answers. An agent acts.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Same underlying model. Very different amount of autonomy.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5221940" cy="6400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24128" y="2506496"/>
            <a:ext cx="1478489" cy="310896"/>
          </a:xfrm>
          <a:prstGeom prst="roundRect">
            <a:avLst>
              <a:gd name="adj" fmla="val 5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CHAT ASSISTANT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do the work, it helps you think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24128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16736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Waits for each instruction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16736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Produces text and nothing else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Forgets once the chat closes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16736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Cannot touch other systems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16736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You carry out every step yourself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1295" y="2195600"/>
            <a:ext cx="5227167" cy="314449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52210" y="2196514"/>
            <a:ext cx="5221940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62191" y="2506496"/>
            <a:ext cx="963732" cy="310896"/>
          </a:xfrm>
          <a:prstGeom prst="roundRect">
            <a:avLst>
              <a:gd name="adj" fmla="val 50000"/>
            </a:avLst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2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AI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62191" y="2981984"/>
            <a:ext cx="4605375" cy="3522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You set the goal, it works towards 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62191" y="3443973"/>
            <a:ext cx="4605375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62191" y="3768585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4799" y="3663429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Given an objective, not a script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62191" y="405637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4799" y="3951214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Plans the steps by itself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62191" y="4344154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4799" y="4238998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Uses tools: email, search, databases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62191" y="4631939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4799" y="4526783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Checks its own progress and retries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62191" y="4919723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4799" y="4814567"/>
            <a:ext cx="4312767" cy="287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Reports back when the goal is met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86400"/>
            <a:ext cx="10765231" cy="566928"/>
          </a:xfrm>
          <a:prstGeom prst="roundRect">
            <a:avLst>
              <a:gd name="adj" fmla="val 6000"/>
            </a:avLst>
          </a:prstGeom>
          <a:solidFill>
            <a:srgbClr val="0E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In short   </a:t>
            </a:r>
            <a:r>
              <a:rPr sz="125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An assistant helps you work. An agent does the work and reports back.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TYPES OF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Six types, in order of independence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More independence means more value, and more supervision needed.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4146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87552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Simple reflex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Reacts to what is happening right now. No memory. A thermostat.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6986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7900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61306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1306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1306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Model-based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1306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Keeps an internal picture of the situation, so it can handle what it cannot directly see.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60740" y="2195600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61655" y="2196514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35060" y="2524784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5060" y="2565932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5060" y="3036848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Goal-based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5060" y="3435279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Given an outcome, it plans a route to reach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4146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7552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Utility-based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Weighs trade-offs and picks the best option, not just a valid one.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386986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87900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661306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61306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1306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Learning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1306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Improves from feedback and results over time.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60740" y="4243336"/>
            <a:ext cx="3417722" cy="18099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1655" y="4244250"/>
            <a:ext cx="3414304" cy="64008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335060" y="4572520"/>
            <a:ext cx="347472" cy="347472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5060" y="4613668"/>
            <a:ext cx="3474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5060" y="5084584"/>
            <a:ext cx="2869082" cy="3435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Multi-agent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5060" y="5483015"/>
            <a:ext cx="2869082" cy="405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Several specialist agents working together with a coordinator.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six-step loop inside every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34134" y="2534883"/>
            <a:ext cx="9123426" cy="2540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296390" y="2308112"/>
            <a:ext cx="475488" cy="475488"/>
          </a:xfrm>
          <a:prstGeom prst="ellipse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 person sets the objective and the limits.</a:t>
            </a:r>
          </a:p>
        </p:txBody>
      </p:sp>
      <p:sp>
        <p:nvSpPr>
          <p:cNvPr id="14" name="Oval 13"/>
          <p:cNvSpPr/>
          <p:nvPr/>
        </p:nvSpPr>
        <p:spPr>
          <a:xfrm>
            <a:off x="3121075" y="2308112"/>
            <a:ext cx="475488" cy="475488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37917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537917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02509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2509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breaks the goal into ordered steps.</a:t>
            </a:r>
          </a:p>
        </p:txBody>
      </p:sp>
      <p:sp>
        <p:nvSpPr>
          <p:cNvPr id="19" name="Oval 18"/>
          <p:cNvSpPr/>
          <p:nvPr/>
        </p:nvSpPr>
        <p:spPr>
          <a:xfrm>
            <a:off x="4945761" y="2308112"/>
            <a:ext cx="475488" cy="475488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6260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6260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719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719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uses tools - search, email, systems, code.</a:t>
            </a:r>
          </a:p>
        </p:txBody>
      </p:sp>
      <p:sp>
        <p:nvSpPr>
          <p:cNvPr id="24" name="Oval 23"/>
          <p:cNvSpPr/>
          <p:nvPr/>
        </p:nvSpPr>
        <p:spPr>
          <a:xfrm>
            <a:off x="6770446" y="2308112"/>
            <a:ext cx="475488" cy="475488"/>
          </a:xfrm>
          <a:prstGeom prst="ellipse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7287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7287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1879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Observe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1879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reads the result of what it just did.</a:t>
            </a:r>
          </a:p>
        </p:txBody>
      </p:sp>
      <p:sp>
        <p:nvSpPr>
          <p:cNvPr id="29" name="Oval 28"/>
          <p:cNvSpPr/>
          <p:nvPr/>
        </p:nvSpPr>
        <p:spPr>
          <a:xfrm>
            <a:off x="8595131" y="2308112"/>
            <a:ext cx="475488" cy="475488"/>
          </a:xfrm>
          <a:prstGeom prst="ellipse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11972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11972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76564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Adjust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76564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If a step failed, it retries or changes approach.</a:t>
            </a:r>
          </a:p>
        </p:txBody>
      </p:sp>
      <p:sp>
        <p:nvSpPr>
          <p:cNvPr id="34" name="Oval 33"/>
          <p:cNvSpPr/>
          <p:nvPr/>
        </p:nvSpPr>
        <p:spPr>
          <a:xfrm>
            <a:off x="10419816" y="2308112"/>
            <a:ext cx="475488" cy="475488"/>
          </a:xfrm>
          <a:prstGeom prst="ellipse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36658" y="2413268"/>
            <a:ext cx="164180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836658" y="2948192"/>
            <a:ext cx="1641805" cy="1437247"/>
          </a:xfrm>
          <a:prstGeom prst="roundRect">
            <a:avLst>
              <a:gd name="adj" fmla="val 6000"/>
            </a:avLst>
          </a:prstGeom>
          <a:solidFill>
            <a:srgbClr val="F6F8FB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01250" y="3149360"/>
            <a:ext cx="1312621" cy="3174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Report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01250" y="3503421"/>
            <a:ext cx="1312621" cy="73571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It hands back the outcome for human sign-off.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3232" y="5449824"/>
            <a:ext cx="10765231" cy="603504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19456"/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The loop is what makes it an agent. Plan, act, check, adjust - repeat until done.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5449824"/>
            <a:ext cx="32004" cy="603504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IN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 support agent, end to 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19728"/>
            <a:ext cx="4521397" cy="7192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One goal, six steps, one human check at the end.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2630378"/>
            <a:ext cx="457200" cy="41148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30144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046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Goal: resolve this refund request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39135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8162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Reads the ticket and finds the order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76827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5854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Checks the refund policy and the delivery date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145201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35473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Drafts the reply and prepares the refund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4522126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12398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Escalates to a person if the amount is 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4899050"/>
            <a:ext cx="100584" cy="100584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789322"/>
            <a:ext cx="4228789" cy="303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Logs everything for the audit trail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00389" y="1783152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00389" y="1783152"/>
            <a:ext cx="45720" cy="1313663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74709" y="2164634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gain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74709" y="2490813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Routine tickets close in minutes, at any hour.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00389" y="3261408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00389" y="3261408"/>
            <a:ext cx="45720" cy="1313663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74709" y="3642890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people keep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4709" y="3969069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The judgement calls, exceptions and the relationship.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00389" y="4739664"/>
            <a:ext cx="5878074" cy="131366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00389" y="4739664"/>
            <a:ext cx="45720" cy="1313663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74709" y="5121146"/>
            <a:ext cx="5366010" cy="3078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What you must add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74709" y="5447325"/>
            <a:ext cx="5366010" cy="315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Clear limits, an audit log and an easy way to escalate.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BEFORE YOU DEPLOY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Four guardrails every agent needs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Autonomy without guardrails is how pilots turn into incidents.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195600"/>
            <a:ext cx="45720" cy="1819135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Clear 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24128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Define what it may never do alone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Cap the value it can approve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0160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Restrict which systems it can reach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23863" y="2195600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23863" y="2195600"/>
            <a:ext cx="45720" cy="1819135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4759" y="2433344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Human checkpoints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4759" y="2963696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90791" y="2863112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Approval before anything irreversible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4759" y="3271371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90791" y="3170787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 named owner for every agent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34759" y="3579045"/>
            <a:ext cx="91440" cy="91440"/>
          </a:xfrm>
          <a:prstGeom prst="roundRect">
            <a:avLst>
              <a:gd name="adj" fmla="val 30000"/>
            </a:avLst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0791" y="3478461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An obvious way to stop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13232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3232" y="4234192"/>
            <a:ext cx="45720" cy="1819135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4128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Full logging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0160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Record every action and decision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80160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Keep it reviewable and auditable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24128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280160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Know why it did what it did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23863" y="4234192"/>
            <a:ext cx="5254599" cy="181913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223863" y="4234192"/>
            <a:ext cx="45720" cy="1819135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34759" y="4471936"/>
            <a:ext cx="470595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Start small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34759" y="5002288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90791" y="4901704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One narrow task, low risk, first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34759" y="5309962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90791" y="5209378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Measure quality before widening scope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34759" y="5617637"/>
            <a:ext cx="91440" cy="91440"/>
          </a:xfrm>
          <a:prstGeom prst="roundRect">
            <a:avLst>
              <a:gd name="adj" fmla="val 30000"/>
            </a:avLst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90791" y="5517053"/>
            <a:ext cx="4376775" cy="307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41C2E"/>
                </a:solidFill>
                <a:latin typeface="Segoe UI"/>
                <a:ea typeface="Segoe UI"/>
                <a:cs typeface="Segoe UI"/>
              </a:rPr>
              <a:t>Expand only when it has earned trust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13232" y="6126480"/>
            <a:ext cx="10765231" cy="9525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6272784"/>
            <a:ext cx="807392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Unit 3</a:t>
            </a:r>
            <a:r>
              <a:rPr sz="900" b="0" i="0">
                <a:solidFill>
                  <a:srgbClr val="939EB3"/>
                </a:solidFill>
                <a:latin typeface="Segoe UI"/>
                <a:ea typeface="Segoe UI"/>
                <a:cs typeface="Segoe UI"/>
              </a:rPr>
              <a:t>  ·  </a:t>
            </a:r>
            <a:r>
              <a:rPr sz="90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Business Application in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81183" y="627278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66928"/>
            <a:ext cx="10765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868680"/>
            <a:ext cx="10765231" cy="5624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Key takeaways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412820"/>
            <a:ext cx="475488" cy="41148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18560"/>
            <a:ext cx="9258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Unit 3 in six lines.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232176"/>
            <a:ext cx="45720" cy="1151797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14984" y="2616051"/>
            <a:ext cx="384048" cy="384048"/>
          </a:xfrm>
          <a:prstGeom prst="ellipse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14984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B7AF7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2435851"/>
            <a:ext cx="4111599" cy="83588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Good use cases repeat, have data, need judgement and tolerate error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Check all four before you invest.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3566853"/>
            <a:ext cx="45720" cy="1151797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14984" y="3950728"/>
            <a:ext cx="384048" cy="384048"/>
          </a:xfrm>
          <a:prstGeom prst="ellipse">
            <a:avLst/>
          </a:prstGeom>
          <a:solidFill>
            <a:srgbClr val="E0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4984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9344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Marketing gains speed and relevance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Segments, content and personalisation at scale.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13232" y="4901530"/>
            <a:ext cx="45720" cy="1151797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4984" y="5285405"/>
            <a:ext cx="384048" cy="384048"/>
          </a:xfrm>
          <a:prstGeom prst="ellipse">
            <a:avLst/>
          </a:prstGeom>
          <a:solidFill>
            <a:srgbClr val="FEF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5A623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9344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Finance gains accuracy and early warning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Forecasting, fraud, invoices and reporting.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3007" y="2232176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3007" y="2232176"/>
            <a:ext cx="45720" cy="1151797"/>
          </a:xfrm>
          <a:prstGeom prst="rect">
            <a:avLst/>
          </a:prstGeom>
          <a:solidFill>
            <a:srgbClr val="745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4759" y="2616051"/>
            <a:ext cx="384048" cy="384048"/>
          </a:xfrm>
          <a:prstGeom prst="ellipse">
            <a:avLst/>
          </a:prstGeom>
          <a:solidFill>
            <a:srgbClr val="EEE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4759" y="2702919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745CE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29119" y="2555280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HR gains time but carries the most risk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Screen and support. Never let AI make the final call.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33007" y="3566853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33007" y="3566853"/>
            <a:ext cx="45720" cy="1151797"/>
          </a:xfrm>
          <a:prstGeom prst="rect">
            <a:avLst/>
          </a:prstGeom>
          <a:solidFill>
            <a:srgbClr val="27A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34759" y="3950728"/>
            <a:ext cx="384048" cy="384048"/>
          </a:xfrm>
          <a:prstGeom prst="ellipse">
            <a:avLst/>
          </a:prstGeom>
          <a:solidFill>
            <a:srgbClr val="E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4759" y="40375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7A06A"/>
                </a:solidFill>
                <a:latin typeface="Segoe UI"/>
                <a:ea typeface="Segoe UI"/>
                <a:cs typeface="Segoe U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29119" y="3889957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Operations gains cost and uptime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Demand, routes, maintenance and quality.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3007" y="4901530"/>
            <a:ext cx="5245455" cy="11517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DE3EC"/>
            </a:solidFill>
          </a:ln>
          <a:effectLst>
            <a:outerShdw blurRad="203200" dist="38100" dir="5400000" rotWithShape="0">
              <a:srgbClr val="0E1E3C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3007" y="4901530"/>
            <a:ext cx="45720" cy="1151797"/>
          </a:xfrm>
          <a:prstGeom prst="rect">
            <a:avLst/>
          </a:prstGeom>
          <a:solidFill>
            <a:srgbClr val="E05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34759" y="5285405"/>
            <a:ext cx="384048" cy="384048"/>
          </a:xfrm>
          <a:prstGeom prst="ellipse">
            <a:avLst/>
          </a:prstGeom>
          <a:solidFill>
            <a:srgbClr val="F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4759" y="5372273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E05151"/>
                </a:solidFill>
                <a:latin typeface="Segoe UI"/>
                <a:ea typeface="Segoe UI"/>
                <a:cs typeface="Segoe UI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29119" y="5224634"/>
            <a:ext cx="4111599" cy="5970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0E1E3C"/>
                </a:solidFill>
                <a:latin typeface="Segoe UI"/>
                <a:ea typeface="Segoe UI"/>
                <a:cs typeface="Segoe UI"/>
              </a:rPr>
              <a:t>Agents act, so they need guardrails</a:t>
            </a:r>
          </a:p>
          <a:p>
            <a:pPr algn="l">
              <a:lnSpc>
                <a:spcPct val="126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0" i="0">
                <a:solidFill>
                  <a:srgbClr val="636E85"/>
                </a:solidFill>
                <a:latin typeface="Segoe UI"/>
                <a:ea typeface="Segoe UI"/>
                <a:cs typeface="Segoe UI"/>
              </a:rPr>
              <a:t>Limits, human checkpoints, logging, and a small start.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1E3C"/>
              </a:gs>
              <a:gs pos="100000">
                <a:srgbClr val="071228"/>
              </a:gs>
            </a:gsLst>
            <a:lin scaled="0" ang="2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deco-bleed"/>
          <p:cNvSpPr/>
          <p:nvPr/>
        </p:nvSpPr>
        <p:spPr>
          <a:xfrm>
            <a:off x="8961120" y="-1280160"/>
            <a:ext cx="4937760" cy="4937760"/>
          </a:xfrm>
          <a:prstGeom prst="ellipse">
            <a:avLst/>
          </a:prstGeom>
          <a:solidFill>
            <a:srgbClr val="3B7AF7">
              <a:alpha val="9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o-bleed"/>
          <p:cNvSpPr/>
          <p:nvPr/>
        </p:nvSpPr>
        <p:spPr>
          <a:xfrm>
            <a:off x="10424160" y="3474720"/>
            <a:ext cx="3291840" cy="3291840"/>
          </a:xfrm>
          <a:prstGeom prst="ellipse">
            <a:avLst/>
          </a:prstGeom>
          <a:solidFill>
            <a:srgbClr val="00B3A4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5798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200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UNIT 03  ·  BUSINESS APPLICATION IN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42032"/>
            <a:ext cx="7315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Thank you</a:t>
            </a:r>
          </a:p>
        </p:txBody>
      </p:sp>
      <p:sp>
        <p:nvSpPr>
          <p:cNvPr id="8" name="Rectangle 7"/>
          <p:cNvSpPr/>
          <p:nvPr/>
        </p:nvSpPr>
        <p:spPr>
          <a:xfrm>
            <a:off x="987552" y="3675887"/>
            <a:ext cx="658368" cy="45720"/>
          </a:xfrm>
          <a:prstGeom prst="rect">
            <a:avLst/>
          </a:prstGeom>
          <a:solidFill>
            <a:srgbClr val="3B7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950208"/>
            <a:ext cx="6583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B8C8E4"/>
                </a:solidFill>
                <a:latin typeface="Segoe UI"/>
                <a:ea typeface="Segoe UI"/>
                <a:cs typeface="Segoe UI"/>
              </a:rPr>
              <a:t>Next up — Unit 4: privacy, security, regulation and what happens when AI starts influencing real decisions.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4882896"/>
            <a:ext cx="7315200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 spc="140" cap="all">
                <a:solidFill>
                  <a:srgbClr val="00B3A4"/>
                </a:solidFill>
                <a:latin typeface="Segoe UI"/>
                <a:ea typeface="Segoe UI"/>
                <a:cs typeface="Segoe UI"/>
              </a:rPr>
              <a:t>Questions to think about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function in your organisation would gain the most, fastest?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Which decision would you never hand to an agent?</a:t>
            </a:r>
          </a:p>
          <a:p>
            <a:pPr algn="l">
              <a:lnSpc>
                <a:spcPct val="132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 i="0">
                <a:solidFill>
                  <a:srgbClr val="93A6C6"/>
                </a:solidFill>
                <a:latin typeface="Segoe UI"/>
                <a:ea typeface="Segoe UI"/>
                <a:cs typeface="Segoe UI"/>
              </a:rPr>
              <a:t>— What data would you need before any of this could work?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