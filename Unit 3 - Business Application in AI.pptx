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embeddedFontLst>
    <p:embeddedFont>
      <p:font typeface="Quattrocento Sans" charset="-122" pitchFamily="34"/>
      <p:regular r:id="rId33"/>
      <p:bold r:id="rId34"/>
      <p:italic r:id="rId35"/>
    </p:embeddedFont>
    <p:embeddedFont>
      <p:font typeface="Sorts Mill Goudy" charset="-122" pitchFamily="34"/>
      <p:regular r:id="rId36"/>
      <p:italic r:id="rId3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font" Target="fonts/font1.fntdata"/><Relationship Id="rId34" Type="http://schemas.openxmlformats.org/officeDocument/2006/relationships/font" Target="fonts/font2.fntdata"/><Relationship Id="rId35" Type="http://schemas.openxmlformats.org/officeDocument/2006/relationships/font" Target="fonts/font3.fntdata"/><Relationship Id="rId36" Type="http://schemas.openxmlformats.org/officeDocument/2006/relationships/font" Target="fonts/font4.fntdata"/><Relationship Id="rId37" Type="http://schemas.openxmlformats.org/officeDocument/2006/relationships/font" Target="fonts/font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unit that connects theory to the workplace. Keep asking the class: which of these happens in your company today?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cases exist of hiring tools quietly down-ranking women because past hires were mostly men. The tool was working exactly as trained. That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8B0000"/>
              </a:gs>
              <a:gs pos="100000">
                <a:srgbClr val="630000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412480" y="-1737360"/>
            <a:ext cx="5852160" cy="5852160"/>
          </a:xfrm>
          <a:prstGeom prst="ellipse">
            <a:avLst/>
          </a:prstGeom>
          <a:solidFill>
            <a:srgbClr val="FFFFFF">
              <a:alpha val="3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424160" y="3291840"/>
            <a:ext cx="4206240" cy="4206240"/>
          </a:xfrm>
          <a:prstGeom prst="ellipse">
            <a:avLst/>
          </a:prstGeom>
          <a:solidFill>
            <a:srgbClr val="FFFFFF">
              <a:alpha val="2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o-bleed"/>
          <p:cNvSpPr/>
          <p:nvPr/>
        </p:nvSpPr>
        <p:spPr>
          <a:xfrm>
            <a:off x="-1371600" y="4023360"/>
            <a:ext cx="4389120" cy="4389120"/>
          </a:xfrm>
          <a:prstGeom prst="ellipse">
            <a:avLst/>
          </a:prstGeom>
          <a:solidFill>
            <a:srgbClr val="000000">
              <a:alpha val="2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ogo-plate"/>
          <p:cNvSpPr/>
          <p:nvPr/>
        </p:nvSpPr>
        <p:spPr>
          <a:xfrm>
            <a:off x="9695070" y="448056"/>
            <a:ext cx="1993704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3942" y="566928"/>
            <a:ext cx="1755961" cy="74980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9536" y="1517904"/>
            <a:ext cx="3110630" cy="292608"/>
          </a:xfrm>
          <a:prstGeom prst="rect">
            <a:avLst/>
          </a:prstGeom>
          <a:solidFill>
            <a:srgbClr val="A8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ARTIFICIAL INTELLIGENCE &amp; GENERATIVE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447589"/>
            <a:ext cx="8549640" cy="8914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AI Across the Business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448735"/>
            <a:ext cx="7955279" cy="6599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Where AI creates real value in marketing, finance, HR and operations - and what AI agents change about how work gets done.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" y="4346402"/>
            <a:ext cx="1044659" cy="292608"/>
          </a:xfrm>
          <a:prstGeom prst="rect">
            <a:avLst/>
          </a:prstGeom>
          <a:noFill/>
          <a:ln w="9525">
            <a:solidFill>
              <a:srgbClr val="A8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MARKETING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23067" y="4346402"/>
            <a:ext cx="867896" cy="292608"/>
          </a:xfrm>
          <a:prstGeom prst="rect">
            <a:avLst/>
          </a:prstGeom>
          <a:noFill/>
          <a:ln w="9525">
            <a:solidFill>
              <a:srgbClr val="A8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FINANCE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09835" y="4346402"/>
            <a:ext cx="514255" cy="292608"/>
          </a:xfrm>
          <a:prstGeom prst="rect">
            <a:avLst/>
          </a:prstGeom>
          <a:noFill/>
          <a:ln w="9525">
            <a:solidFill>
              <a:srgbClr val="A8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HR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42963" y="4346402"/>
            <a:ext cx="1105396" cy="292608"/>
          </a:xfrm>
          <a:prstGeom prst="rect">
            <a:avLst/>
          </a:prstGeom>
          <a:noFill/>
          <a:ln w="9525">
            <a:solidFill>
              <a:srgbClr val="A8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OPERATIONS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67231" y="4346402"/>
            <a:ext cx="980067" cy="292608"/>
          </a:xfrm>
          <a:prstGeom prst="rect">
            <a:avLst/>
          </a:prstGeom>
          <a:noFill/>
          <a:ln w="9525">
            <a:solidFill>
              <a:srgbClr val="A8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AI AGENTS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9536" y="5376672"/>
            <a:ext cx="20320" cy="658368"/>
          </a:xfrm>
          <a:prstGeom prst="rect">
            <a:avLst/>
          </a:prstGeom>
          <a:solidFill>
            <a:srgbClr val="A8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5" y="543153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PRESENTED 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5" y="5650992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Lingesh 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07791" y="5376672"/>
            <a:ext cx="20320" cy="658368"/>
          </a:xfrm>
          <a:prstGeom prst="rect">
            <a:avLst/>
          </a:prstGeom>
          <a:solidFill>
            <a:srgbClr val="A8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0672" y="543153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REGISTER NO.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0672" y="5650992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OSI2509030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02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AGENDA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What we will cover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Function by function, then the technology that ties it together.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2299425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2339201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6736" y="2262849"/>
            <a:ext cx="47699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Where AI pays off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The four questions that spot a good use case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7" y="3140673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318044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6" y="3104097"/>
            <a:ext cx="47699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AI in Marketing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Targeting, content and campaign decisions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7" y="3981921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4021697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6736" y="3945345"/>
            <a:ext cx="47699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AI in Finance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Forecasting, fraud, reporting and risk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7" y="4823169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486294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16736" y="4786593"/>
            <a:ext cx="47699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AI in HR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Hiring, onboarding, engagement and retention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79311" y="2299425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9311" y="2339201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4799" y="2262849"/>
            <a:ext cx="47699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AI in Operations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Demand, supply chain, quality and maintenance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79311" y="3140673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9311" y="318044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4799" y="3104097"/>
            <a:ext cx="47699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What is an AI agent?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The step beyond a chat assistant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79311" y="3981921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79311" y="4021697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4799" y="3945345"/>
            <a:ext cx="47699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Types of agents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Six kinds, from simple rules to teams of agents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79311" y="4823169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9311" y="486294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4799" y="4786593"/>
            <a:ext cx="47699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How an agent works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The six-step loop behind every agent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2937"/>
              </a:gs>
              <a:gs pos="100000">
                <a:srgbClr val="0F1722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778240" y="-1280160"/>
            <a:ext cx="5303520" cy="5303520"/>
          </a:xfrm>
          <a:prstGeom prst="ellipse">
            <a:avLst/>
          </a:prstGeom>
          <a:solidFill>
            <a:srgbClr val="FFFFFF">
              <a:alpha val="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607040" y="3657600"/>
            <a:ext cx="3474720" cy="3474720"/>
          </a:xfrm>
          <a:prstGeom prst="ellipse">
            <a:avLst/>
          </a:prstGeom>
          <a:solidFill>
            <a:srgbClr val="8B0000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-plate"/>
          <p:cNvSpPr/>
          <p:nvPr/>
        </p:nvSpPr>
        <p:spPr>
          <a:xfrm>
            <a:off x="9780727" y="448056"/>
            <a:ext cx="1908048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9599" y="566928"/>
            <a:ext cx="1670304" cy="713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170432"/>
            <a:ext cx="44805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0" b="0" i="0">
                <a:solidFill>
                  <a:srgbClr val="273140"/>
                </a:solidFill>
                <a:latin typeface="Sorts Mill Goudy"/>
                <a:ea typeface="Sorts Mill Goudy"/>
                <a:cs typeface="Sorts Mill Goudy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59536" y="2696713"/>
            <a:ext cx="1110222" cy="274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SECTION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281929"/>
            <a:ext cx="7315200" cy="792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Where AI Actually Pays Off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" y="4147151"/>
            <a:ext cx="786384" cy="20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4421471"/>
            <a:ext cx="6766560" cy="3524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7CED8"/>
                </a:solidFill>
                <a:latin typeface="Quattrocento Sans"/>
                <a:ea typeface="Quattrocento Sans"/>
                <a:cs typeface="Quattrocento Sans"/>
              </a:rPr>
              <a:t>Not every problem needs AI. Some are perfect for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A8493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04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CHOOSING USE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A good AI use case usually has all four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Fail any one of these and a spreadsheet or a clear process is the better answer.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2212266"/>
            <a:ext cx="2517571" cy="260604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24545"/>
            <a:ext cx="2042083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It repeats often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433374"/>
            <a:ext cx="2042083" cy="12569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Hundreds or thousands of times a month. Rare tasks are not worth automating.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96563" y="2212266"/>
            <a:ext cx="2517571" cy="260604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34307" y="3116939"/>
            <a:ext cx="2042083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There is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4307" y="3525768"/>
            <a:ext cx="2042083" cy="11645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History exists in a system already - not only in people's heads.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1879" y="2212266"/>
            <a:ext cx="2517571" cy="260604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9623" y="3116939"/>
            <a:ext cx="2042083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Rules are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9623" y="3525768"/>
            <a:ext cx="2042083" cy="11645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Judgement is involved, so a simple 'if this then that' rule does not work.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07195" y="2212266"/>
            <a:ext cx="2517571" cy="260604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44939" y="3116939"/>
            <a:ext cx="2042083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Mistakes are survivable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44939" y="3525768"/>
            <a:ext cx="2042083" cy="11645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2D9D9"/>
                </a:solidFill>
                <a:latin typeface="Quattrocento Sans"/>
                <a:ea typeface="Quattrocento Sans"/>
                <a:cs typeface="Quattrocento Sans"/>
              </a:rPr>
              <a:t>A wrong answer can be caught and corrected before it does damage.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05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THE VALUE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AI creates value in four ways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0692"/>
            <a:ext cx="19050" cy="4609211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535556"/>
            <a:ext cx="4313407" cy="794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Every business case eventually lands in one of these buckets.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7" y="2421232"/>
            <a:ext cx="566928" cy="20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7250" y="2748130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5" y="2677264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Save time - the work gets done faster</a:t>
            </a:r>
          </a:p>
        </p:txBody>
      </p:sp>
      <p:sp>
        <p:nvSpPr>
          <p:cNvPr id="16" name="Oval 15"/>
          <p:cNvSpPr/>
          <p:nvPr/>
        </p:nvSpPr>
        <p:spPr>
          <a:xfrm>
            <a:off x="857250" y="3086511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5" y="3015645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Cut cost - fewer hours for the same output</a:t>
            </a:r>
          </a:p>
        </p:txBody>
      </p:sp>
      <p:sp>
        <p:nvSpPr>
          <p:cNvPr id="18" name="Oval 17"/>
          <p:cNvSpPr/>
          <p:nvPr/>
        </p:nvSpPr>
        <p:spPr>
          <a:xfrm>
            <a:off x="857250" y="3424893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3354027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Grow revenue - better targeting and pricing</a:t>
            </a:r>
          </a:p>
        </p:txBody>
      </p:sp>
      <p:sp>
        <p:nvSpPr>
          <p:cNvPr id="20" name="Oval 19"/>
          <p:cNvSpPr/>
          <p:nvPr/>
        </p:nvSpPr>
        <p:spPr>
          <a:xfrm>
            <a:off x="857250" y="3763274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5" y="3692408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Reduce risk - catch problems earlier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20415" y="1517268"/>
            <a:ext cx="6104351" cy="1019714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20415" y="1517268"/>
            <a:ext cx="20320" cy="101971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76447" y="1815134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50183" y="1732838"/>
            <a:ext cx="5436839" cy="3516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Save time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76447" y="2121096"/>
            <a:ext cx="5610575" cy="273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Draft, summarise and sort work that used to be manual.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20415" y="2701575"/>
            <a:ext cx="6104351" cy="1019714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20415" y="2701575"/>
            <a:ext cx="20320" cy="101971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76447" y="2999440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50183" y="2917144"/>
            <a:ext cx="5436839" cy="3516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Cut cost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76447" y="3305403"/>
            <a:ext cx="5610575" cy="273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Handle routine volume without adding headcount.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20415" y="3885882"/>
            <a:ext cx="6104351" cy="1019714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20415" y="3885882"/>
            <a:ext cx="20320" cy="101971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776447" y="4183747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50183" y="4101451"/>
            <a:ext cx="5436839" cy="3516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Grow revenue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76447" y="4489709"/>
            <a:ext cx="5610575" cy="273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Right offer, right customer, right moment.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20415" y="5070189"/>
            <a:ext cx="6104351" cy="1019714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520415" y="5070189"/>
            <a:ext cx="20320" cy="101971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76447" y="5368054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50183" y="5285758"/>
            <a:ext cx="5436839" cy="3516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Reduce risk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76447" y="5674016"/>
            <a:ext cx="5610575" cy="273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Spot fraud, defects and churn before they land.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2937"/>
              </a:gs>
              <a:gs pos="100000">
                <a:srgbClr val="0F1722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778240" y="-1280160"/>
            <a:ext cx="5303520" cy="5303520"/>
          </a:xfrm>
          <a:prstGeom prst="ellipse">
            <a:avLst/>
          </a:prstGeom>
          <a:solidFill>
            <a:srgbClr val="FFFFFF">
              <a:alpha val="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607040" y="3657600"/>
            <a:ext cx="3474720" cy="3474720"/>
          </a:xfrm>
          <a:prstGeom prst="ellipse">
            <a:avLst/>
          </a:prstGeom>
          <a:solidFill>
            <a:srgbClr val="8B0000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-plate"/>
          <p:cNvSpPr/>
          <p:nvPr/>
        </p:nvSpPr>
        <p:spPr>
          <a:xfrm>
            <a:off x="9780727" y="448056"/>
            <a:ext cx="1908048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9599" y="566928"/>
            <a:ext cx="1670304" cy="713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170432"/>
            <a:ext cx="44805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0" b="0" i="0">
                <a:solidFill>
                  <a:srgbClr val="273140"/>
                </a:solidFill>
                <a:latin typeface="Sorts Mill Goudy"/>
                <a:ea typeface="Sorts Mill Goudy"/>
                <a:cs typeface="Sorts Mill Goudy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859536" y="2696713"/>
            <a:ext cx="1130934" cy="274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SECTION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281929"/>
            <a:ext cx="7315200" cy="792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AI in Marketing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" y="4147151"/>
            <a:ext cx="786384" cy="20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4421471"/>
            <a:ext cx="6766560" cy="3524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7CED8"/>
                </a:solidFill>
                <a:latin typeface="Quattrocento Sans"/>
                <a:ea typeface="Quattrocento Sans"/>
                <a:cs typeface="Quattrocento Sans"/>
              </a:rPr>
              <a:t>The function where adoption started, and moved fastest.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A8493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07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MARKETING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Six things marketing teams use AI for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0692"/>
            <a:ext cx="19050" cy="4609211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7" y="1928748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1928748"/>
            <a:ext cx="20320" cy="14813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78992" y="2357934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2728" y="2271066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Customer segments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679895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Groups customers by real behaviour instead of broad age and location buckets.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15002" y="1928748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15002" y="1928748"/>
            <a:ext cx="20320" cy="14813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2746" y="2357934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26482" y="2271066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Content at 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2746" y="2679895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First drafts of ads, emails, posts and product descriptions in every variant.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88756" y="1928748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88756" y="1928748"/>
            <a:ext cx="20320" cy="14813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26500" y="2357934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00236" y="2271066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Personalisation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6500" y="2679895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Different message and offer for each segment, automatically.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7" y="3629533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1247" y="3629533"/>
            <a:ext cx="20320" cy="14813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78992" y="4058718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52728" y="3971850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Send-time and channel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" y="4380679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Predicts when and where each customer is most likely to respond.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15002" y="3629533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15002" y="3629533"/>
            <a:ext cx="20320" cy="14813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52746" y="4058718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26482" y="3971850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Lead scoring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2746" y="4380679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Ranks enquiries so sales calls the most promising ones first.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88756" y="3629533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88756" y="3629533"/>
            <a:ext cx="20320" cy="14813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426500" y="4058718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00236" y="3971850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Campaign analysis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26500" y="4380679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Explains which channel actually drove the result, not just the last click.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08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MARKETING OUTCOMES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What good looks like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Same team, more output, better targeting.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2409153"/>
            <a:ext cx="3436010" cy="228600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7" y="2409153"/>
            <a:ext cx="3436010" cy="20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720049"/>
            <a:ext cx="2960522" cy="6393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Days to hours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78992" y="3432519"/>
            <a:ext cx="457200" cy="1524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3597111"/>
            <a:ext cx="2960522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Campaign production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3879502"/>
            <a:ext cx="2960522" cy="5961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Draft copy and creative variants are ready the same day the brief lands.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15002" y="2409153"/>
            <a:ext cx="3436010" cy="228600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15002" y="2409153"/>
            <a:ext cx="3436010" cy="203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2746" y="2720049"/>
            <a:ext cx="2960522" cy="6393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1-to-1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2746" y="3432519"/>
            <a:ext cx="457200" cy="1524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2746" y="3597111"/>
            <a:ext cx="2960522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Personalisation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2746" y="3879502"/>
            <a:ext cx="2960522" cy="5961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Every customer can get a relevant message, not one mass email.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88756" y="2409153"/>
            <a:ext cx="3436010" cy="228600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8756" y="2409153"/>
            <a:ext cx="3436010" cy="20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26500" y="2720049"/>
            <a:ext cx="2960522" cy="6301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Fewer wasted calls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26500" y="3423387"/>
            <a:ext cx="457200" cy="1524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26500" y="3587979"/>
            <a:ext cx="2960522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Sales efficiency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26500" y="3870371"/>
            <a:ext cx="2960522" cy="605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Lead scoring puts the best prospects at the top of the list.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5522976"/>
            <a:ext cx="11057839" cy="5669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7" y="5522976"/>
            <a:ext cx="10509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The risk: everyone's marketing starts to sound the same. Brand voice and human editing matter more than ever.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2937"/>
              </a:gs>
              <a:gs pos="100000">
                <a:srgbClr val="0F1722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778240" y="-1280160"/>
            <a:ext cx="5303520" cy="5303520"/>
          </a:xfrm>
          <a:prstGeom prst="ellipse">
            <a:avLst/>
          </a:prstGeom>
          <a:solidFill>
            <a:srgbClr val="FFFFFF">
              <a:alpha val="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607040" y="3657600"/>
            <a:ext cx="3474720" cy="3474720"/>
          </a:xfrm>
          <a:prstGeom prst="ellipse">
            <a:avLst/>
          </a:prstGeom>
          <a:solidFill>
            <a:srgbClr val="8B0000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-plate"/>
          <p:cNvSpPr/>
          <p:nvPr/>
        </p:nvSpPr>
        <p:spPr>
          <a:xfrm>
            <a:off x="9780727" y="448056"/>
            <a:ext cx="1908048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9599" y="566928"/>
            <a:ext cx="1670304" cy="713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170432"/>
            <a:ext cx="44805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0" b="0" i="0">
                <a:solidFill>
                  <a:srgbClr val="273140"/>
                </a:solidFill>
                <a:latin typeface="Sorts Mill Goudy"/>
                <a:ea typeface="Sorts Mill Goudy"/>
                <a:cs typeface="Sorts Mill Goudy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859536" y="2696713"/>
            <a:ext cx="1133736" cy="274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SECTION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281929"/>
            <a:ext cx="7315200" cy="792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AI in Finance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" y="4147151"/>
            <a:ext cx="786384" cy="20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4421471"/>
            <a:ext cx="6766560" cy="3524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7CED8"/>
                </a:solidFill>
                <a:latin typeface="Quattrocento Sans"/>
                <a:ea typeface="Quattrocento Sans"/>
                <a:cs typeface="Quattrocento Sans"/>
              </a:rPr>
              <a:t>Where accuracy, speed and audit trails all matter.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A8493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10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Six high-value finance applications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Mostly predictive AI, with Gen AI doing the writing.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2212266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7" y="2212266"/>
            <a:ext cx="20320" cy="14813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78992" y="2641451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2728" y="2554583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Forecasting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2963412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Predicts revenue, cash flow and cost using history, seasonality and market signals.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15002" y="2212266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15002" y="2212266"/>
            <a:ext cx="20320" cy="14813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2746" y="2641451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26482" y="2554583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Fraud detection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2746" y="2963412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Flags transactions that break the customer's normal pattern, in real time.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8756" y="2212266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88756" y="2212266"/>
            <a:ext cx="20320" cy="14813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26500" y="2641451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00236" y="2554583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Credit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26500" y="2963412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Scores applicants on far more signals than a manual review could handle.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7" y="3913050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1247" y="3913050"/>
            <a:ext cx="20320" cy="14813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78992" y="4342235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2728" y="4255367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Invoice processing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" y="4664196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Reads invoices, matches them to purchase orders and routes exceptions.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15002" y="3913050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15002" y="3913050"/>
            <a:ext cx="20320" cy="14813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52746" y="4342235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26482" y="4255367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Reporting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2746" y="4664196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Drafts the narrative around the numbers so analysts review instead of write.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88756" y="3913050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88756" y="3913050"/>
            <a:ext cx="20320" cy="14813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426500" y="4342235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00236" y="4255367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Audit support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26500" y="4664196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Scans every transaction for anomalies rather than checking a sample.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11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 WORKED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Fraud detection: before and after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0692"/>
            <a:ext cx="19050" cy="4609211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7" y="1517268"/>
            <a:ext cx="5254599" cy="3786251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1517268"/>
            <a:ext cx="5254599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1517268"/>
            <a:ext cx="481568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RULES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1992757"/>
            <a:ext cx="4742535" cy="3777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Fixed thresholds written by people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2461994"/>
            <a:ext cx="474253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13281" y="2729456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2640302"/>
            <a:ext cx="4468215" cy="49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Blocks anything over a set amount</a:t>
            </a:r>
          </a:p>
        </p:txBody>
      </p:sp>
      <p:sp>
        <p:nvSpPr>
          <p:cNvPr id="19" name="Oval 18"/>
          <p:cNvSpPr/>
          <p:nvPr/>
        </p:nvSpPr>
        <p:spPr>
          <a:xfrm>
            <a:off x="1113281" y="3220952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98448" y="3131798"/>
            <a:ext cx="4468215" cy="49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Fraudsters learn the limits and stay under them</a:t>
            </a:r>
          </a:p>
        </p:txBody>
      </p:sp>
      <p:sp>
        <p:nvSpPr>
          <p:cNvPr id="21" name="Oval 20"/>
          <p:cNvSpPr/>
          <p:nvPr/>
        </p:nvSpPr>
        <p:spPr>
          <a:xfrm>
            <a:off x="1113281" y="3712447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98448" y="3623293"/>
            <a:ext cx="4468215" cy="49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Large numbers of false alarms</a:t>
            </a:r>
          </a:p>
        </p:txBody>
      </p:sp>
      <p:sp>
        <p:nvSpPr>
          <p:cNvPr id="23" name="Oval 22"/>
          <p:cNvSpPr/>
          <p:nvPr/>
        </p:nvSpPr>
        <p:spPr>
          <a:xfrm>
            <a:off x="1113281" y="4203943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98448" y="4114789"/>
            <a:ext cx="4468215" cy="49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Every new pattern needs a new rule</a:t>
            </a:r>
          </a:p>
        </p:txBody>
      </p:sp>
      <p:sp>
        <p:nvSpPr>
          <p:cNvPr id="25" name="Oval 24"/>
          <p:cNvSpPr/>
          <p:nvPr/>
        </p:nvSpPr>
        <p:spPr>
          <a:xfrm>
            <a:off x="1113281" y="4695438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98448" y="4606284"/>
            <a:ext cx="4468215" cy="49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Genuine customers get blocked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70167" y="1517268"/>
            <a:ext cx="5254599" cy="3786251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70167" y="1517268"/>
            <a:ext cx="5254599" cy="310896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9623" y="1517268"/>
            <a:ext cx="481568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WITH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6199" y="1992757"/>
            <a:ext cx="4742535" cy="3777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Learns each customer's normal behaviour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26199" y="2461994"/>
            <a:ext cx="474253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642201" y="2729456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7367" y="2640302"/>
            <a:ext cx="4468215" cy="49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Compares to that customer's own history</a:t>
            </a:r>
          </a:p>
        </p:txBody>
      </p:sp>
      <p:sp>
        <p:nvSpPr>
          <p:cNvPr id="34" name="Oval 33"/>
          <p:cNvSpPr/>
          <p:nvPr/>
        </p:nvSpPr>
        <p:spPr>
          <a:xfrm>
            <a:off x="6642201" y="3220952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27367" y="3131798"/>
            <a:ext cx="4468215" cy="49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Adapts as new fraud patterns appear</a:t>
            </a:r>
          </a:p>
        </p:txBody>
      </p:sp>
      <p:sp>
        <p:nvSpPr>
          <p:cNvPr id="36" name="Oval 35"/>
          <p:cNvSpPr/>
          <p:nvPr/>
        </p:nvSpPr>
        <p:spPr>
          <a:xfrm>
            <a:off x="6642201" y="3712447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27367" y="3623293"/>
            <a:ext cx="4468215" cy="49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Far fewer false alarms</a:t>
            </a:r>
          </a:p>
        </p:txBody>
      </p:sp>
      <p:sp>
        <p:nvSpPr>
          <p:cNvPr id="38" name="Oval 37"/>
          <p:cNvSpPr/>
          <p:nvPr/>
        </p:nvSpPr>
        <p:spPr>
          <a:xfrm>
            <a:off x="6642201" y="4203943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27367" y="4114789"/>
            <a:ext cx="4468215" cy="49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Learns continuously from outcomes</a:t>
            </a:r>
          </a:p>
        </p:txBody>
      </p:sp>
      <p:sp>
        <p:nvSpPr>
          <p:cNvPr id="40" name="Oval 39"/>
          <p:cNvSpPr/>
          <p:nvPr/>
        </p:nvSpPr>
        <p:spPr>
          <a:xfrm>
            <a:off x="6642201" y="4695438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27367" y="4606284"/>
            <a:ext cx="4468215" cy="49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Still needs a human for the edge cases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5522976"/>
            <a:ext cx="11057839" cy="5669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1247" y="5522976"/>
            <a:ext cx="10509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IN SHORT   </a:t>
            </a:r>
            <a:r>
              <a:rPr sz="1150" b="0" i="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AI does not replace the rules. It handles what the rules cannot describe.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2937"/>
              </a:gs>
              <a:gs pos="100000">
                <a:srgbClr val="0F1722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778240" y="-1280160"/>
            <a:ext cx="5303520" cy="5303520"/>
          </a:xfrm>
          <a:prstGeom prst="ellipse">
            <a:avLst/>
          </a:prstGeom>
          <a:solidFill>
            <a:srgbClr val="FFFFFF">
              <a:alpha val="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607040" y="3657600"/>
            <a:ext cx="3474720" cy="3474720"/>
          </a:xfrm>
          <a:prstGeom prst="ellipse">
            <a:avLst/>
          </a:prstGeom>
          <a:solidFill>
            <a:srgbClr val="8B0000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-plate"/>
          <p:cNvSpPr/>
          <p:nvPr/>
        </p:nvSpPr>
        <p:spPr>
          <a:xfrm>
            <a:off x="9780727" y="448056"/>
            <a:ext cx="1908048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9599" y="566928"/>
            <a:ext cx="1670304" cy="713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170432"/>
            <a:ext cx="44805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0" b="0" i="0">
                <a:solidFill>
                  <a:srgbClr val="273140"/>
                </a:solidFill>
                <a:latin typeface="Sorts Mill Goudy"/>
                <a:ea typeface="Sorts Mill Goudy"/>
                <a:cs typeface="Sorts Mill Goudy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859536" y="2696713"/>
            <a:ext cx="1130834" cy="274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SECTION 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281929"/>
            <a:ext cx="7315200" cy="792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AI in Human Resources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" y="4147151"/>
            <a:ext cx="786384" cy="20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4421471"/>
            <a:ext cx="6766560" cy="3524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7CED8"/>
                </a:solidFill>
                <a:latin typeface="Quattrocento Sans"/>
                <a:ea typeface="Quattrocento Sans"/>
                <a:cs typeface="Quattrocento Sans"/>
              </a:rPr>
              <a:t>High value, and the highest need for care.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A8493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13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HUMAN RESOURCES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Six ways HR teams use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0692"/>
            <a:ext cx="19050" cy="4609211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7" y="1928748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1928748"/>
            <a:ext cx="20320" cy="1481328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78992" y="2450328"/>
            <a:ext cx="77724" cy="7772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2728" y="2363460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Job descriptions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772289"/>
            <a:ext cx="2960522" cy="5097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Consistent, inclusive postings drafted in minutes.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15002" y="1928748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15002" y="1928748"/>
            <a:ext cx="20320" cy="1481328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2746" y="2357934"/>
            <a:ext cx="77724" cy="7772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26482" y="2271066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CV screening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2746" y="2679895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Shortlists against the skills that actually matter for the role.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88756" y="1928748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88756" y="1928748"/>
            <a:ext cx="20320" cy="1481328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26500" y="2357934"/>
            <a:ext cx="77724" cy="7772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00236" y="2271066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Interview support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6500" y="2679895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Suggests questions and structures notes so candidates are compared fairly.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7" y="3629533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1247" y="3629533"/>
            <a:ext cx="20320" cy="1481328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78992" y="4058718"/>
            <a:ext cx="77724" cy="7772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52728" y="3971850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Onboarding help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" y="4380679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An assistant that answers policy questions on day one, at any hour.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15002" y="3629533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15002" y="3629533"/>
            <a:ext cx="20320" cy="1481328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52746" y="4058718"/>
            <a:ext cx="77724" cy="7772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26482" y="3971850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Engagement insight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2746" y="4380679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Finds the themes in thousands of open survey comments.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88756" y="3629533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88756" y="3629533"/>
            <a:ext cx="20320" cy="1481328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426500" y="4058718"/>
            <a:ext cx="77724" cy="7772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00236" y="3971850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Attrition risk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26500" y="4380679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Flags teams where people are likely to leave, so managers can act early.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14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HANDLE WITH CARE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HR is the highest-risk place to use AI badly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Use AI to widen the funnel and save admin time, not to pick people.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57250" y="2708619"/>
            <a:ext cx="77724" cy="77724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2628609"/>
            <a:ext cx="485226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Bias is inherited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 model trained on past hiring will copy past hiring bias.</a:t>
            </a:r>
          </a:p>
        </p:txBody>
      </p:sp>
      <p:sp>
        <p:nvSpPr>
          <p:cNvPr id="15" name="Oval 14"/>
          <p:cNvSpPr/>
          <p:nvPr/>
        </p:nvSpPr>
        <p:spPr>
          <a:xfrm>
            <a:off x="857250" y="3586443"/>
            <a:ext cx="77724" cy="77724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3506433"/>
            <a:ext cx="485226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Decisions must be explainable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 rejected candidate may be entitled to know the reason.</a:t>
            </a:r>
          </a:p>
        </p:txBody>
      </p:sp>
      <p:sp>
        <p:nvSpPr>
          <p:cNvPr id="17" name="Oval 16"/>
          <p:cNvSpPr/>
          <p:nvPr/>
        </p:nvSpPr>
        <p:spPr>
          <a:xfrm>
            <a:off x="857250" y="4464267"/>
            <a:ext cx="77724" cy="77724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384257"/>
            <a:ext cx="485226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Data is deeply personal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Salary, performance and health data need strict access control.</a:t>
            </a:r>
          </a:p>
        </p:txBody>
      </p:sp>
      <p:sp>
        <p:nvSpPr>
          <p:cNvPr id="19" name="Oval 18"/>
          <p:cNvSpPr/>
          <p:nvPr/>
        </p:nvSpPr>
        <p:spPr>
          <a:xfrm>
            <a:off x="6477609" y="2708619"/>
            <a:ext cx="77724" cy="77724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81063" y="2628609"/>
            <a:ext cx="485226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Regulators are watching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Hiring AI is treated as high risk in most new AI laws.</a:t>
            </a:r>
          </a:p>
        </p:txBody>
      </p:sp>
      <p:sp>
        <p:nvSpPr>
          <p:cNvPr id="21" name="Oval 20"/>
          <p:cNvSpPr/>
          <p:nvPr/>
        </p:nvSpPr>
        <p:spPr>
          <a:xfrm>
            <a:off x="6477609" y="3586443"/>
            <a:ext cx="77724" cy="77724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81063" y="3506433"/>
            <a:ext cx="485226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Screen, do not decide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AI can shortlist. A person must make the final call.</a:t>
            </a:r>
          </a:p>
        </p:txBody>
      </p:sp>
      <p:sp>
        <p:nvSpPr>
          <p:cNvPr id="23" name="Oval 22"/>
          <p:cNvSpPr/>
          <p:nvPr/>
        </p:nvSpPr>
        <p:spPr>
          <a:xfrm>
            <a:off x="6477609" y="4464267"/>
            <a:ext cx="77724" cy="77724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81063" y="4384257"/>
            <a:ext cx="4852263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Tell people it is in use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Transparency avoids most of the trust problems later.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2937"/>
              </a:gs>
              <a:gs pos="100000">
                <a:srgbClr val="0F1722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778240" y="-1280160"/>
            <a:ext cx="5303520" cy="5303520"/>
          </a:xfrm>
          <a:prstGeom prst="ellipse">
            <a:avLst/>
          </a:prstGeom>
          <a:solidFill>
            <a:srgbClr val="FFFFFF">
              <a:alpha val="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607040" y="3657600"/>
            <a:ext cx="3474720" cy="3474720"/>
          </a:xfrm>
          <a:prstGeom prst="ellipse">
            <a:avLst/>
          </a:prstGeom>
          <a:solidFill>
            <a:srgbClr val="8B0000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-plate"/>
          <p:cNvSpPr/>
          <p:nvPr/>
        </p:nvSpPr>
        <p:spPr>
          <a:xfrm>
            <a:off x="9780727" y="448056"/>
            <a:ext cx="1908048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9599" y="566928"/>
            <a:ext cx="1670304" cy="713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170432"/>
            <a:ext cx="44805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0" b="0" i="0">
                <a:solidFill>
                  <a:srgbClr val="273140"/>
                </a:solidFill>
                <a:latin typeface="Sorts Mill Goudy"/>
                <a:ea typeface="Sorts Mill Goudy"/>
                <a:cs typeface="Sorts Mill Goudy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859536" y="2696713"/>
            <a:ext cx="1134059" cy="274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SECTION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281929"/>
            <a:ext cx="7315200" cy="792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AI in Operations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" y="4147151"/>
            <a:ext cx="786384" cy="20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4421471"/>
            <a:ext cx="6766560" cy="3524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7CED8"/>
                </a:solidFill>
                <a:latin typeface="Quattrocento Sans"/>
                <a:ea typeface="Quattrocento Sans"/>
                <a:cs typeface="Quattrocento Sans"/>
              </a:rPr>
              <a:t>The quietest wins, and often the biggest.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A8493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16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OPERATIONS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Six operational applications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0692"/>
            <a:ext cx="19050" cy="4609211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7" y="1928748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1928748"/>
            <a:ext cx="20320" cy="14813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78992" y="2357934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2728" y="2271066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Demand forecasting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679895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Predicts what will sell where, so stock sits in the right place.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15002" y="1928748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15002" y="1928748"/>
            <a:ext cx="20320" cy="14813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2746" y="2450328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26482" y="2363460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Inventory planning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2746" y="2772289"/>
            <a:ext cx="2960522" cy="5097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Balances holding cost against the cost of running out.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88756" y="1928748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88756" y="1928748"/>
            <a:ext cx="20320" cy="14813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26500" y="2357934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00236" y="2271066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Route optimisation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6500" y="2679895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Plans delivery routes around traffic, weight and time windows.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7" y="3629533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1247" y="3629533"/>
            <a:ext cx="20320" cy="14813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78992" y="4058718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52728" y="3971850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Predictive maintenance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" y="4380679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Flags a machine that is about to fail, before it stops the line.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15002" y="3629533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15002" y="3629533"/>
            <a:ext cx="20320" cy="14813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52746" y="4058718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26482" y="3971850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Quality inspection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2746" y="4380679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Cameras spot defects faster and more consistently than tired eyes.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88756" y="3629533"/>
            <a:ext cx="3436010" cy="1481328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88756" y="3629533"/>
            <a:ext cx="20320" cy="14813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426500" y="4058718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00236" y="3971850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Service automation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26500" y="4380679"/>
            <a:ext cx="2960522" cy="602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Handles routine customer questions and escalates the rest.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17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ACROSS THE BUSINESS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One view of all four functions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0692"/>
            <a:ext cx="19050" cy="4609211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41247" y="2175954"/>
          <a:ext cx="10783518" cy="2468880"/>
        </p:xfrm>
        <a:graphic>
          <a:graphicData uri="http://schemas.openxmlformats.org/drawingml/2006/table">
            <a:tbl>
              <a:tblPr firstRow="1" bandRow="0" bandCol="0" firstCol="0" lastRow="0" lastCol="0">
                <a:tableStyleId>{5C22544A-7EE6-4342-B048-85BDC9FD1C3A}</a:tableStyleId>
              </a:tblPr>
              <a:tblGrid>
                <a:gridCol w="1820594"/>
                <a:gridCol w="3361096"/>
                <a:gridCol w="2800914"/>
                <a:gridCol w="2800914"/>
              </a:tblGrid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 spc="110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FUNCTION</a:t>
                      </a:r>
                    </a:p>
                  </a:txBody>
                  <a:tcPr marL="146304" marR="146304" marT="73152" marB="73152" anchor="ctr">
                    <a:solidFill>
                      <a:srgbClr val="8B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 spc="110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TYPICAL USE</a:t>
                      </a:r>
                    </a:p>
                  </a:txBody>
                  <a:tcPr marL="146304" marR="146304" marT="73152" marB="73152" anchor="ctr">
                    <a:solidFill>
                      <a:srgbClr val="8B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 spc="110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MAIN BENEFIT</a:t>
                      </a:r>
                    </a:p>
                  </a:txBody>
                  <a:tcPr marL="146304" marR="146304" marT="73152" marB="73152" anchor="ctr">
                    <a:solidFill>
                      <a:srgbClr val="8B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 spc="110">
                          <a:solidFill>
                            <a:srgbClr val="FFFFFF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MAIN RISK</a:t>
                      </a:r>
                    </a:p>
                  </a:txBody>
                  <a:tcPr marL="146304" marR="146304" marT="73152" marB="73152" anchor="ctr">
                    <a:solidFill>
                      <a:srgbClr val="8B0000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F2937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Marketing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Segments, content, personalisation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Speed and relevance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Generic, off-brand output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F2937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Finance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Forecasting, fraud, reporting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Accuracy and early warning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Over-trusting a model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F2937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HR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Screening, onboarding, retention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Less admin, wider funnel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Bias and legal exposure</a:t>
                      </a:r>
                    </a:p>
                  </a:txBody>
                  <a:tcPr marL="146304" marR="146304" marT="73152" marB="7315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F2937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Operations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Demand, routes, maintenance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Lower cost, less downtime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6B7280"/>
                          </a:solidFill>
                          <a:latin typeface="Quattrocento Sans"/>
                          <a:ea typeface="Quattrocento Sans"/>
                          <a:cs typeface="Quattrocento Sans"/>
                        </a:rPr>
                        <a:t>Bad data breaks the forecast</a:t>
                      </a:r>
                    </a:p>
                  </a:txBody>
                  <a:tcPr marL="146304" marR="146304" marT="73152" marB="73152" anchor="ctr"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566928" y="5522976"/>
            <a:ext cx="11057839" cy="5669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5522976"/>
            <a:ext cx="10509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Different functions, same pattern: AI drafts and predicts, people decide and own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2937"/>
              </a:gs>
              <a:gs pos="100000">
                <a:srgbClr val="0F1722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778240" y="-1280160"/>
            <a:ext cx="5303520" cy="5303520"/>
          </a:xfrm>
          <a:prstGeom prst="ellipse">
            <a:avLst/>
          </a:prstGeom>
          <a:solidFill>
            <a:srgbClr val="FFFFFF">
              <a:alpha val="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607040" y="3657600"/>
            <a:ext cx="3474720" cy="3474720"/>
          </a:xfrm>
          <a:prstGeom prst="ellipse">
            <a:avLst/>
          </a:prstGeom>
          <a:solidFill>
            <a:srgbClr val="8B0000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-plate"/>
          <p:cNvSpPr/>
          <p:nvPr/>
        </p:nvSpPr>
        <p:spPr>
          <a:xfrm>
            <a:off x="9780727" y="448056"/>
            <a:ext cx="1908048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9599" y="566928"/>
            <a:ext cx="1670304" cy="713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170432"/>
            <a:ext cx="448056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0" b="0" i="0">
                <a:solidFill>
                  <a:srgbClr val="273140"/>
                </a:solidFill>
                <a:latin typeface="Sorts Mill Goudy"/>
                <a:ea typeface="Sorts Mill Goudy"/>
                <a:cs typeface="Sorts Mill Goudy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859536" y="2696713"/>
            <a:ext cx="1135473" cy="274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SECTION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281929"/>
            <a:ext cx="7315200" cy="792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AI Agents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" y="4147151"/>
            <a:ext cx="786384" cy="20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4421471"/>
            <a:ext cx="6766560" cy="3524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7CED8"/>
                </a:solidFill>
                <a:latin typeface="Quattrocento Sans"/>
                <a:ea typeface="Quattrocento Sans"/>
                <a:cs typeface="Quattrocento Sans"/>
              </a:rPr>
              <a:t>From answering questions to getting things done.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A8493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19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THE DIFFERENCE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An assistant answers. An agent acts.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Same underlying model. Very different amount of autonomy.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1800786"/>
            <a:ext cx="5254599" cy="3502733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7" y="1800786"/>
            <a:ext cx="5254599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0704" y="1800786"/>
            <a:ext cx="481568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CHAT ASSISTANT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276274"/>
            <a:ext cx="4742535" cy="3777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You do the work, it helps you think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2745511"/>
            <a:ext cx="474253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3281" y="3012973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98448" y="2923819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Waits for each instruction</a:t>
            </a:r>
          </a:p>
        </p:txBody>
      </p:sp>
      <p:sp>
        <p:nvSpPr>
          <p:cNvPr id="20" name="Oval 19"/>
          <p:cNvSpPr/>
          <p:nvPr/>
        </p:nvSpPr>
        <p:spPr>
          <a:xfrm>
            <a:off x="1113281" y="3447765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98448" y="3358611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Produces text and nothing else</a:t>
            </a:r>
          </a:p>
        </p:txBody>
      </p:sp>
      <p:sp>
        <p:nvSpPr>
          <p:cNvPr id="22" name="Oval 21"/>
          <p:cNvSpPr/>
          <p:nvPr/>
        </p:nvSpPr>
        <p:spPr>
          <a:xfrm>
            <a:off x="1113281" y="3882557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98448" y="3793403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Forgets once the chat closes</a:t>
            </a:r>
          </a:p>
        </p:txBody>
      </p:sp>
      <p:sp>
        <p:nvSpPr>
          <p:cNvPr id="24" name="Oval 23"/>
          <p:cNvSpPr/>
          <p:nvPr/>
        </p:nvSpPr>
        <p:spPr>
          <a:xfrm>
            <a:off x="1113281" y="4317349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98448" y="4228195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Cannot touch other systems</a:t>
            </a:r>
          </a:p>
        </p:txBody>
      </p:sp>
      <p:sp>
        <p:nvSpPr>
          <p:cNvPr id="26" name="Oval 25"/>
          <p:cNvSpPr/>
          <p:nvPr/>
        </p:nvSpPr>
        <p:spPr>
          <a:xfrm>
            <a:off x="1113281" y="4752141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98448" y="4662987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You carry out every step yourself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70167" y="1800786"/>
            <a:ext cx="5254599" cy="3502733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70167" y="1800786"/>
            <a:ext cx="5254599" cy="310896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9623" y="1800786"/>
            <a:ext cx="481568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AI AGENT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6199" y="2276274"/>
            <a:ext cx="4742535" cy="3777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You set the goal, it works towards 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6199" y="2745511"/>
            <a:ext cx="474253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42201" y="3012973"/>
            <a:ext cx="68580" cy="6858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367" y="2923819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Given an objective, not a script</a:t>
            </a:r>
          </a:p>
        </p:txBody>
      </p:sp>
      <p:sp>
        <p:nvSpPr>
          <p:cNvPr id="35" name="Oval 34"/>
          <p:cNvSpPr/>
          <p:nvPr/>
        </p:nvSpPr>
        <p:spPr>
          <a:xfrm>
            <a:off x="6642201" y="3447765"/>
            <a:ext cx="68580" cy="6858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7367" y="3358611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Plans the steps by itself</a:t>
            </a:r>
          </a:p>
        </p:txBody>
      </p:sp>
      <p:sp>
        <p:nvSpPr>
          <p:cNvPr id="37" name="Oval 36"/>
          <p:cNvSpPr/>
          <p:nvPr/>
        </p:nvSpPr>
        <p:spPr>
          <a:xfrm>
            <a:off x="6642201" y="3882557"/>
            <a:ext cx="68580" cy="6858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27367" y="3793403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Uses tools: email, search, databases</a:t>
            </a:r>
          </a:p>
        </p:txBody>
      </p:sp>
      <p:sp>
        <p:nvSpPr>
          <p:cNvPr id="39" name="Oval 38"/>
          <p:cNvSpPr/>
          <p:nvPr/>
        </p:nvSpPr>
        <p:spPr>
          <a:xfrm>
            <a:off x="6642201" y="4317349"/>
            <a:ext cx="68580" cy="6858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27367" y="4228195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Checks its own progress and retries</a:t>
            </a:r>
          </a:p>
        </p:txBody>
      </p:sp>
      <p:sp>
        <p:nvSpPr>
          <p:cNvPr id="41" name="Oval 40"/>
          <p:cNvSpPr/>
          <p:nvPr/>
        </p:nvSpPr>
        <p:spPr>
          <a:xfrm>
            <a:off x="6642201" y="4752141"/>
            <a:ext cx="68580" cy="6858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27367" y="4662987"/>
            <a:ext cx="4468215" cy="43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Reports back when the goal is met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5522976"/>
            <a:ext cx="11057839" cy="5669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7" y="5522976"/>
            <a:ext cx="10509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IN SHORT   </a:t>
            </a:r>
            <a:r>
              <a:rPr sz="1150" b="0" i="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An assistant helps you work. An agent does the work and reports back.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20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TYPES OF AGENTS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Six types, in order of independence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More independence means more value, and more supervision needed.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2106235"/>
            <a:ext cx="3436010" cy="1729381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7" y="2106235"/>
            <a:ext cx="20320" cy="1729381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78992" y="2380555"/>
            <a:ext cx="292608" cy="292608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240615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78992" y="2869759"/>
            <a:ext cx="77724" cy="7772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52728" y="2782891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Simple reflex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191720"/>
            <a:ext cx="2960522" cy="51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Reacts to what is happening right now. No memory. A thermostat.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15002" y="2106235"/>
            <a:ext cx="3436010" cy="1729381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15002" y="2106235"/>
            <a:ext cx="20320" cy="1729381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752746" y="2380555"/>
            <a:ext cx="292608" cy="292608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2746" y="240615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2746" y="2869759"/>
            <a:ext cx="77724" cy="7772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26482" y="2782891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Model-based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2746" y="3191720"/>
            <a:ext cx="2960522" cy="51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Keeps an internal picture of the situation, so it can handle what it cannot directly see.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8756" y="2106235"/>
            <a:ext cx="3436010" cy="1729381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88756" y="2106235"/>
            <a:ext cx="20320" cy="1729381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26500" y="2472949"/>
            <a:ext cx="292608" cy="292608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26500" y="2498553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26500" y="2962153"/>
            <a:ext cx="77724" cy="7772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00236" y="2875285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Goal-based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26500" y="3284114"/>
            <a:ext cx="2960522" cy="423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Given an outcome, it plans a route to reach it.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7" y="4055073"/>
            <a:ext cx="3436010" cy="1729381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1247" y="4055073"/>
            <a:ext cx="20320" cy="1729381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78992" y="4329393"/>
            <a:ext cx="292608" cy="292608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78992" y="435499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78992" y="4818597"/>
            <a:ext cx="77724" cy="7772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52728" y="4731729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Utility-based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" y="5140558"/>
            <a:ext cx="2960522" cy="51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Weighs trade-offs and picks the best option, not just a valid one.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15002" y="4055073"/>
            <a:ext cx="3436010" cy="1729381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15002" y="4055073"/>
            <a:ext cx="20320" cy="1729381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752746" y="4421787"/>
            <a:ext cx="292608" cy="292608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2746" y="444739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52746" y="4910991"/>
            <a:ext cx="77724" cy="7772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26482" y="4824123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Learning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52746" y="5232952"/>
            <a:ext cx="2960522" cy="423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Improves from feedback and results over time.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88756" y="4055073"/>
            <a:ext cx="3436010" cy="1729381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88756" y="4055073"/>
            <a:ext cx="20320" cy="1729381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426500" y="4329393"/>
            <a:ext cx="292608" cy="292608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26500" y="435499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26500" y="4818597"/>
            <a:ext cx="77724" cy="77724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00236" y="4731729"/>
            <a:ext cx="2786786" cy="35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Multi-agent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6500" y="5140558"/>
            <a:ext cx="2960522" cy="51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Several specialist agents working together with a coordinator.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21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HOW IT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The six-step loop inside every agent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0692"/>
            <a:ext cx="19050" cy="4609211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63674" y="2278049"/>
            <a:ext cx="9138666" cy="190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89938" y="2111629"/>
            <a:ext cx="347472" cy="347472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89938" y="2154605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7" y="2632837"/>
            <a:ext cx="1644853" cy="1250677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7" y="2632837"/>
            <a:ext cx="1644853" cy="1778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5" y="2815717"/>
            <a:ext cx="1333957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Goal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5" y="3116396"/>
            <a:ext cx="1333957" cy="730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 person sets the objective and the limits.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17671" y="2111629"/>
            <a:ext cx="347472" cy="347472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7671" y="2154605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68981" y="2632837"/>
            <a:ext cx="1644853" cy="1250677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668981" y="2632837"/>
            <a:ext cx="1644853" cy="177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24429" y="2815717"/>
            <a:ext cx="1333957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Plan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24429" y="3116396"/>
            <a:ext cx="1333957" cy="730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It breaks the goal into ordered steps.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45405" y="2111629"/>
            <a:ext cx="347472" cy="347472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45405" y="2154605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96714" y="2632837"/>
            <a:ext cx="1644853" cy="1250677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96714" y="2632837"/>
            <a:ext cx="1644853" cy="1778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52162" y="2815717"/>
            <a:ext cx="1333957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2162" y="3116396"/>
            <a:ext cx="1333957" cy="730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It uses tools - search, email, systems, code.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73138" y="2111629"/>
            <a:ext cx="347472" cy="347472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73138" y="2154605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24447" y="2632837"/>
            <a:ext cx="1644853" cy="1250677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24447" y="2632837"/>
            <a:ext cx="1644853" cy="17780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9895" y="2815717"/>
            <a:ext cx="1333957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Observe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9895" y="3116396"/>
            <a:ext cx="1333957" cy="730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It reads the result of what it just did.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800871" y="2111629"/>
            <a:ext cx="347472" cy="347472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00871" y="2154605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52180" y="2632837"/>
            <a:ext cx="1644853" cy="1250677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52180" y="2632837"/>
            <a:ext cx="1644853" cy="177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07628" y="2815717"/>
            <a:ext cx="1333957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Adjust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7628" y="3116396"/>
            <a:ext cx="1333957" cy="730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If a step failed, it retries or changes approach.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628604" y="2111629"/>
            <a:ext cx="347472" cy="347472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28604" y="2154605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979914" y="2632837"/>
            <a:ext cx="1644853" cy="1250677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979914" y="2632837"/>
            <a:ext cx="1644853" cy="1778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35362" y="2815717"/>
            <a:ext cx="1333957" cy="264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Report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35362" y="3116396"/>
            <a:ext cx="1333957" cy="730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It hands back the outcome for human sign-off.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5522976"/>
            <a:ext cx="11057839" cy="5669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1247" y="5522976"/>
            <a:ext cx="10509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The loop is what makes it an agent. Plan, act, check, adjust - repeat until done.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22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IN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A support agent, end to end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480692"/>
            <a:ext cx="19050" cy="4609211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535556"/>
            <a:ext cx="4313407" cy="461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One goal, six steps, one human check at the end.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7" y="2088122"/>
            <a:ext cx="566928" cy="20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7250" y="2415020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5" y="2344154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Goal: resolve this refund request</a:t>
            </a:r>
          </a:p>
        </p:txBody>
      </p:sp>
      <p:sp>
        <p:nvSpPr>
          <p:cNvPr id="16" name="Oval 15"/>
          <p:cNvSpPr/>
          <p:nvPr/>
        </p:nvSpPr>
        <p:spPr>
          <a:xfrm>
            <a:off x="857250" y="2753402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5" y="2682536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Reads the ticket and finds the order</a:t>
            </a:r>
          </a:p>
        </p:txBody>
      </p:sp>
      <p:sp>
        <p:nvSpPr>
          <p:cNvPr id="18" name="Oval 17"/>
          <p:cNvSpPr/>
          <p:nvPr/>
        </p:nvSpPr>
        <p:spPr>
          <a:xfrm>
            <a:off x="857250" y="3091783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3020917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Checks the refund policy and the delivery date</a:t>
            </a:r>
          </a:p>
        </p:txBody>
      </p:sp>
      <p:sp>
        <p:nvSpPr>
          <p:cNvPr id="20" name="Oval 19"/>
          <p:cNvSpPr/>
          <p:nvPr/>
        </p:nvSpPr>
        <p:spPr>
          <a:xfrm>
            <a:off x="857250" y="3430164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5" y="3359298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Drafts the reply and prepares the refund</a:t>
            </a:r>
          </a:p>
        </p:txBody>
      </p:sp>
      <p:sp>
        <p:nvSpPr>
          <p:cNvPr id="22" name="Oval 21"/>
          <p:cNvSpPr/>
          <p:nvPr/>
        </p:nvSpPr>
        <p:spPr>
          <a:xfrm>
            <a:off x="857250" y="3768546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3697680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Escalates to a person if the amount is large</a:t>
            </a:r>
          </a:p>
        </p:txBody>
      </p:sp>
      <p:sp>
        <p:nvSpPr>
          <p:cNvPr id="24" name="Oval 23"/>
          <p:cNvSpPr/>
          <p:nvPr/>
        </p:nvSpPr>
        <p:spPr>
          <a:xfrm>
            <a:off x="857250" y="4106927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5" y="4036061"/>
            <a:ext cx="4075663" cy="2652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Logs everything for the audit trail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0415" y="1517268"/>
            <a:ext cx="6104351" cy="1414483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20415" y="1517268"/>
            <a:ext cx="20320" cy="141448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776447" y="2012518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50183" y="1930222"/>
            <a:ext cx="5436839" cy="3516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What people gain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76447" y="2318480"/>
            <a:ext cx="5610575" cy="273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Routine tickets close in minutes, at any hour.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20415" y="3096344"/>
            <a:ext cx="6104351" cy="1414483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520415" y="3096344"/>
            <a:ext cx="20320" cy="1414483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776447" y="3591594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50183" y="3509298"/>
            <a:ext cx="5436839" cy="3516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What people keep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76447" y="3897556"/>
            <a:ext cx="5610575" cy="273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The judgement calls, exceptions and the relationship.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20415" y="4675420"/>
            <a:ext cx="6104351" cy="1414483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520415" y="4675420"/>
            <a:ext cx="20320" cy="141448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776447" y="5170670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50183" y="5088374"/>
            <a:ext cx="5436839" cy="3516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What you must add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76447" y="5476632"/>
            <a:ext cx="5610575" cy="273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Clear limits, an audit log and an easy way to escalate.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23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BEFORE YOU DEPLOY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Four guardrails every agent needs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Autonomy without guardrails is how pilots turn into incidents.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1800786"/>
            <a:ext cx="5272887" cy="2043974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7" y="1800786"/>
            <a:ext cx="20320" cy="204397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2052246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71016" y="1974522"/>
            <a:ext cx="4587087" cy="342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Clear limits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2417657"/>
            <a:ext cx="4760823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3281" y="2611967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98448" y="2522813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Define what it may never do alone</a:t>
            </a:r>
          </a:p>
        </p:txBody>
      </p:sp>
      <p:sp>
        <p:nvSpPr>
          <p:cNvPr id="20" name="Oval 19"/>
          <p:cNvSpPr/>
          <p:nvPr/>
        </p:nvSpPr>
        <p:spPr>
          <a:xfrm>
            <a:off x="1113281" y="2996228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98448" y="2907074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Cap the value it can approve</a:t>
            </a:r>
          </a:p>
        </p:txBody>
      </p:sp>
      <p:sp>
        <p:nvSpPr>
          <p:cNvPr id="22" name="Oval 21"/>
          <p:cNvSpPr/>
          <p:nvPr/>
        </p:nvSpPr>
        <p:spPr>
          <a:xfrm>
            <a:off x="1113281" y="3380489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98448" y="3291335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Restrict which systems it can reach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1879" y="1800786"/>
            <a:ext cx="5272887" cy="2043974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1879" y="1800786"/>
            <a:ext cx="20320" cy="204397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07911" y="2052246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1647" y="1974522"/>
            <a:ext cx="4587087" cy="342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Human checkpoints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07911" y="2417657"/>
            <a:ext cx="4760823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23913" y="2611967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09079" y="2522813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Approval before anything irreversible</a:t>
            </a:r>
          </a:p>
        </p:txBody>
      </p:sp>
      <p:sp>
        <p:nvSpPr>
          <p:cNvPr id="31" name="Oval 30"/>
          <p:cNvSpPr/>
          <p:nvPr/>
        </p:nvSpPr>
        <p:spPr>
          <a:xfrm>
            <a:off x="6623913" y="2996228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09079" y="2907074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 named owner for every agent</a:t>
            </a:r>
          </a:p>
        </p:txBody>
      </p:sp>
      <p:sp>
        <p:nvSpPr>
          <p:cNvPr id="33" name="Oval 32"/>
          <p:cNvSpPr/>
          <p:nvPr/>
        </p:nvSpPr>
        <p:spPr>
          <a:xfrm>
            <a:off x="6623913" y="3380489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09079" y="3291335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An obvious way to stop 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1247" y="4045929"/>
            <a:ext cx="5272887" cy="2043974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41247" y="4045929"/>
            <a:ext cx="20320" cy="204397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97280" y="4297389"/>
            <a:ext cx="77724" cy="77724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4219665"/>
            <a:ext cx="4587087" cy="342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Full logging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97280" y="4662799"/>
            <a:ext cx="4760823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13281" y="4857109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98448" y="4767955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Record every action and decision</a:t>
            </a:r>
          </a:p>
        </p:txBody>
      </p:sp>
      <p:sp>
        <p:nvSpPr>
          <p:cNvPr id="42" name="Oval 41"/>
          <p:cNvSpPr/>
          <p:nvPr/>
        </p:nvSpPr>
        <p:spPr>
          <a:xfrm>
            <a:off x="1113281" y="5241371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98448" y="5152217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Keep it reviewable and auditable</a:t>
            </a:r>
          </a:p>
        </p:txBody>
      </p:sp>
      <p:sp>
        <p:nvSpPr>
          <p:cNvPr id="44" name="Oval 43"/>
          <p:cNvSpPr/>
          <p:nvPr/>
        </p:nvSpPr>
        <p:spPr>
          <a:xfrm>
            <a:off x="1113281" y="5625632"/>
            <a:ext cx="68580" cy="68580"/>
          </a:xfrm>
          <a:prstGeom prst="ellipse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98448" y="5536478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Know why it did what it did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51879" y="4045929"/>
            <a:ext cx="5272887" cy="2043974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351879" y="4045929"/>
            <a:ext cx="20320" cy="204397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607911" y="4297389"/>
            <a:ext cx="77724" cy="7772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81647" y="4219665"/>
            <a:ext cx="4587087" cy="342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Start small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07911" y="4662799"/>
            <a:ext cx="4760823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623913" y="4857109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09079" y="4767955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One narrow task, low risk, first</a:t>
            </a:r>
          </a:p>
        </p:txBody>
      </p:sp>
      <p:sp>
        <p:nvSpPr>
          <p:cNvPr id="53" name="Oval 52"/>
          <p:cNvSpPr/>
          <p:nvPr/>
        </p:nvSpPr>
        <p:spPr>
          <a:xfrm>
            <a:off x="6623913" y="5241371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09079" y="5152217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Measure quality before widening scope</a:t>
            </a:r>
          </a:p>
        </p:txBody>
      </p:sp>
      <p:sp>
        <p:nvSpPr>
          <p:cNvPr id="55" name="Oval 54"/>
          <p:cNvSpPr/>
          <p:nvPr/>
        </p:nvSpPr>
        <p:spPr>
          <a:xfrm>
            <a:off x="6623913" y="5625632"/>
            <a:ext cx="68580" cy="6858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09079" y="5536478"/>
            <a:ext cx="4486503" cy="384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Expand only when it has earned trust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459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CA3AF"/>
                </a:solidFill>
                <a:latin typeface="Quattrocento Sans"/>
                <a:ea typeface="Quattrocento Sans"/>
                <a:cs typeface="Quattrocento Sans"/>
              </a:rPr>
              <a:t>Lingesh K  ·  Register No. OSI2509030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1567" y="634593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B0000"/>
                </a:solidFill>
                <a:latin typeface="Sorts Mill Goudy"/>
                <a:ea typeface="Sorts Mill Goudy"/>
                <a:cs typeface="Sorts Mill Goudy"/>
              </a:rPr>
              <a:t>24</a:t>
            </a:r>
          </a:p>
        </p:txBody>
      </p:sp>
      <p:pic>
        <p:nvPicPr>
          <p:cNvPr id="5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9716" y="365760"/>
            <a:ext cx="985051" cy="420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02920"/>
            <a:ext cx="310896" cy="310896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5225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75488"/>
            <a:ext cx="91833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RECAP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658368"/>
            <a:ext cx="9183319" cy="5662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F2937"/>
                </a:solidFill>
                <a:latin typeface="Sorts Mill Goudy"/>
                <a:ea typeface="Sorts Mill Goudy"/>
                <a:cs typeface="Sorts Mill Goudy"/>
              </a:rPr>
              <a:t>Key takeaways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242948"/>
            <a:ext cx="11057839" cy="1587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89252"/>
            <a:ext cx="9067428" cy="283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Unit 3 in six lines.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64210"/>
            <a:ext cx="19050" cy="4325693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7" y="1800786"/>
            <a:ext cx="5263743" cy="1307785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7" y="1800786"/>
            <a:ext cx="20320" cy="130778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78992" y="2308375"/>
            <a:ext cx="292608" cy="29260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233397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17904" y="2146122"/>
            <a:ext cx="4294479" cy="708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Good use cases repeat, have data, need judgement and tolerate error</a:t>
            </a:r>
          </a:p>
          <a:p>
            <a:pPr algn="l">
              <a:lnSpc>
                <a:spcPct val="132000"/>
              </a:lnSpc>
              <a:spcBef>
                <a:spcPts val="20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Check all four before you invest.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7" y="3291452"/>
            <a:ext cx="5263743" cy="1307785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7" y="3291452"/>
            <a:ext cx="20320" cy="130778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78992" y="3799041"/>
            <a:ext cx="292608" cy="29260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382464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7904" y="3736415"/>
            <a:ext cx="4294479" cy="50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Marketing gains speed and relevance</a:t>
            </a:r>
          </a:p>
          <a:p>
            <a:pPr algn="l">
              <a:lnSpc>
                <a:spcPct val="132000"/>
              </a:lnSpc>
              <a:spcBef>
                <a:spcPts val="20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Segments, content and personalisation at scale.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7" y="4782118"/>
            <a:ext cx="5263743" cy="1307785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7" y="4782118"/>
            <a:ext cx="20320" cy="130778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78992" y="5289707"/>
            <a:ext cx="292608" cy="29260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2" y="531531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7904" y="5227081"/>
            <a:ext cx="4294479" cy="50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Finance gains accuracy and early warning</a:t>
            </a:r>
          </a:p>
          <a:p>
            <a:pPr algn="l">
              <a:lnSpc>
                <a:spcPct val="132000"/>
              </a:lnSpc>
              <a:spcBef>
                <a:spcPts val="20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Forecasting, fraud, invoices and reporting.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61023" y="1800786"/>
            <a:ext cx="5263743" cy="1307785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61023" y="1800786"/>
            <a:ext cx="20320" cy="130778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98767" y="2308375"/>
            <a:ext cx="292608" cy="29260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98767" y="233397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37679" y="2245749"/>
            <a:ext cx="4294479" cy="50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HR gains time but carries the most risk</a:t>
            </a:r>
          </a:p>
          <a:p>
            <a:pPr algn="l">
              <a:lnSpc>
                <a:spcPct val="132000"/>
              </a:lnSpc>
              <a:spcBef>
                <a:spcPts val="20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Screen and support. Never let AI make the final call.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61023" y="3291452"/>
            <a:ext cx="5263743" cy="1307785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61023" y="3291452"/>
            <a:ext cx="20320" cy="1307785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98767" y="3799041"/>
            <a:ext cx="292608" cy="29260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8767" y="382464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37679" y="3736415"/>
            <a:ext cx="4294479" cy="50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Operations gains cost and uptime</a:t>
            </a:r>
          </a:p>
          <a:p>
            <a:pPr algn="l">
              <a:lnSpc>
                <a:spcPct val="132000"/>
              </a:lnSpc>
              <a:spcBef>
                <a:spcPts val="20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Demand, routes, maintenance and quality.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61023" y="4782118"/>
            <a:ext cx="5263743" cy="1307785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61023" y="4782118"/>
            <a:ext cx="20320" cy="130778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98767" y="5289707"/>
            <a:ext cx="292608" cy="29260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98767" y="531531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37679" y="5227081"/>
            <a:ext cx="4294479" cy="50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2937"/>
                </a:solidFill>
                <a:latin typeface="Quattrocento Sans"/>
                <a:ea typeface="Quattrocento Sans"/>
                <a:cs typeface="Quattrocento Sans"/>
              </a:rPr>
              <a:t>Agents act, so they need guardrails</a:t>
            </a:r>
          </a:p>
          <a:p>
            <a:pPr algn="l">
              <a:lnSpc>
                <a:spcPct val="132000"/>
              </a:lnSpc>
              <a:spcBef>
                <a:spcPts val="200"/>
              </a:spcBef>
              <a:spcAft>
                <a:spcPts val="0"/>
              </a:spcAft>
            </a:pPr>
            <a:r>
              <a:rPr sz="980" b="0" i="0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</a:rPr>
              <a:t>Limits, human checkpoints, logging, and a small start.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2937"/>
              </a:gs>
              <a:gs pos="100000">
                <a:srgbClr val="0F1722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FFFFF">
              <a:alpha val="2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424160" y="3474720"/>
            <a:ext cx="3657600" cy="3657600"/>
          </a:xfrm>
          <a:prstGeom prst="ellipse">
            <a:avLst/>
          </a:prstGeom>
          <a:solidFill>
            <a:srgbClr val="8B0000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-plate"/>
          <p:cNvSpPr/>
          <p:nvPr/>
        </p:nvSpPr>
        <p:spPr>
          <a:xfrm>
            <a:off x="9737898" y="448056"/>
            <a:ext cx="1950876" cy="9692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6770" y="566928"/>
            <a:ext cx="1713132" cy="731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59536" y="1591056"/>
            <a:ext cx="1218048" cy="274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3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029968"/>
            <a:ext cx="7863840" cy="8914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Thank you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" y="2994538"/>
            <a:ext cx="786384" cy="203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3250570"/>
            <a:ext cx="7680960" cy="334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7CED8"/>
                </a:solidFill>
                <a:latin typeface="Quattrocento Sans"/>
                <a:ea typeface="Quattrocento Sans"/>
                <a:cs typeface="Quattrocento Sans"/>
              </a:rPr>
              <a:t>Next up — Unit 4: privacy, security, regulation and what happens when AI starts influencing real decisions.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931920"/>
            <a:ext cx="3539642" cy="1188720"/>
          </a:xfrm>
          <a:prstGeom prst="rect">
            <a:avLst/>
          </a:prstGeom>
          <a:solidFill>
            <a:srgbClr val="2B3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931920"/>
            <a:ext cx="20320" cy="11887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114800"/>
            <a:ext cx="311901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30">
                <a:solidFill>
                  <a:srgbClr val="8E99A8"/>
                </a:solidFill>
                <a:latin typeface="Quattrocento Sans"/>
                <a:ea typeface="Quattrocento Sans"/>
                <a:cs typeface="Quattrocento Sans"/>
              </a:rPr>
              <a:t>QUESTION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352544"/>
            <a:ext cx="311901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8DEE6"/>
                </a:solidFill>
                <a:latin typeface="Quattrocento Sans"/>
                <a:ea typeface="Quattrocento Sans"/>
                <a:cs typeface="Quattrocento Sans"/>
              </a:rPr>
              <a:t>Which function in your organisation would gain the most, fastest?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6026" y="3931920"/>
            <a:ext cx="3539642" cy="1188720"/>
          </a:xfrm>
          <a:prstGeom prst="rect">
            <a:avLst/>
          </a:prstGeom>
          <a:solidFill>
            <a:srgbClr val="2B3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6026" y="3931920"/>
            <a:ext cx="20320" cy="11887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5482" y="4114800"/>
            <a:ext cx="311901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30">
                <a:solidFill>
                  <a:srgbClr val="8E99A8"/>
                </a:solidFill>
                <a:latin typeface="Quattrocento Sans"/>
                <a:ea typeface="Quattrocento Sans"/>
                <a:cs typeface="Quattrocento Sans"/>
              </a:rPr>
              <a:t>QUESTION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5482" y="4352544"/>
            <a:ext cx="311901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8DEE6"/>
                </a:solidFill>
                <a:latin typeface="Quattrocento Sans"/>
                <a:ea typeface="Quattrocento Sans"/>
                <a:cs typeface="Quattrocento Sans"/>
              </a:rPr>
              <a:t>Which decision would you never hand to an agent?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85124" y="3931920"/>
            <a:ext cx="3539642" cy="1188720"/>
          </a:xfrm>
          <a:prstGeom prst="rect">
            <a:avLst/>
          </a:prstGeom>
          <a:solidFill>
            <a:srgbClr val="2B3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5124" y="3931920"/>
            <a:ext cx="20320" cy="1188720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4580" y="4114800"/>
            <a:ext cx="311901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30">
                <a:solidFill>
                  <a:srgbClr val="8E99A8"/>
                </a:solidFill>
                <a:latin typeface="Quattrocento Sans"/>
                <a:ea typeface="Quattrocento Sans"/>
                <a:cs typeface="Quattrocento Sans"/>
              </a:rPr>
              <a:t>QUESTION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4580" y="4352544"/>
            <a:ext cx="311901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8DEE6"/>
                </a:solidFill>
                <a:latin typeface="Quattrocento Sans"/>
                <a:ea typeface="Quattrocento Sans"/>
                <a:cs typeface="Quattrocento Sans"/>
              </a:rPr>
              <a:t>What data would you need before any of this could work?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760720"/>
            <a:ext cx="11057839" cy="566928"/>
          </a:xfrm>
          <a:prstGeom prst="rect">
            <a:avLst/>
          </a:prstGeom>
          <a:solidFill>
            <a:srgbClr val="8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7" y="5760720"/>
            <a:ext cx="1050919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30" cap="all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Presented by   </a:t>
            </a: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Lingesh K</a:t>
            </a:r>
            <a:r>
              <a:rPr sz="800" b="0" i="0" spc="130" cap="all">
                <a:solidFill>
                  <a:srgbClr val="E3B4B4"/>
                </a:solidFill>
                <a:latin typeface="Quattrocento Sans"/>
                <a:ea typeface="Quattrocento Sans"/>
                <a:cs typeface="Quattrocento Sans"/>
              </a:rPr>
              <a:t>      Register No.   </a:t>
            </a:r>
            <a:r>
              <a:rPr sz="1300" b="0" i="0">
                <a:solidFill>
                  <a:srgbClr val="FFFFFF"/>
                </a:solidFill>
                <a:latin typeface="Sorts Mill Goudy"/>
                <a:ea typeface="Sorts Mill Goudy"/>
                <a:cs typeface="Sorts Mill Goudy"/>
              </a:rPr>
              <a:t>OSI2509030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3 — Business Application in AI</dc:title>
  <dc:subject>Artificial Intelligence &amp; Generative AI</dc:subject>
  <dc:creator>Lingesh K (OSI2509030)</dc:creator>
  <cp:keywords/>
  <dc:description>PGPM · Systems Specialisation · Unit 3 of 5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