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Quattrocento Sans" charset="-122" pitchFamily="34"/>
      <p:regular r:id="rId14"/>
    </p:embeddedFont>
    <p:embeddedFont>
      <p:font typeface="Sorts Mill Goudy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corporatefinanceinstitute.com/28fdbe824f77318611d12be1d5891c4e9587a7d0.jpeg">    </p:cNvPr>
          <p:cNvPicPr>
            <a:picLocks noChangeAspect="1"/>
          </p:cNvPicPr>
          <p:nvPr/>
        </p:nvPicPr>
        <p:blipFill>
          <a:blip r:embed="rId1"/>
          <a:srcRect l="0" r="0" t="7771" b="777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B0000">
                  <a:alpha val="95000"/>
                </a:srgbClr>
              </a:gs>
              <a:gs pos="50000">
                <a:srgbClr val="8B0000">
                  <a:alpha val="85000"/>
                </a:srgbClr>
              </a:gs>
              <a:gs pos="100000">
                <a:srgbClr val="1F2937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066800"/>
            <a:ext cx="2590800" cy="381000"/>
          </a:xfrm>
          <a:custGeom>
            <a:avLst/>
            <a:gdLst/>
            <a:ahLst/>
            <a:cxnLst/>
            <a:rect l="l" t="t" r="r" b="b"/>
            <a:pathLst>
              <a:path w="2590800" h="381000">
                <a:moveTo>
                  <a:pt x="38100" y="0"/>
                </a:moveTo>
                <a:lnTo>
                  <a:pt x="2552700" y="0"/>
                </a:lnTo>
                <a:cubicBezTo>
                  <a:pt x="2573728" y="0"/>
                  <a:pt x="2590800" y="17072"/>
                  <a:pt x="2590800" y="38100"/>
                </a:cubicBezTo>
                <a:lnTo>
                  <a:pt x="2590800" y="342900"/>
                </a:lnTo>
                <a:cubicBezTo>
                  <a:pt x="2590800" y="363928"/>
                  <a:pt x="2573728" y="381000"/>
                  <a:pt x="25527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RESEARCH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05000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Job Opportunities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MBA Finance Graduates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48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148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9FAFB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and Around Thiruvallur, Tamil Nadu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4914900"/>
            <a:ext cx="3524250" cy="876300"/>
          </a:xfrm>
          <a:custGeom>
            <a:avLst/>
            <a:gdLst/>
            <a:ahLst/>
            <a:cxnLst/>
            <a:rect l="l" t="t" r="r" b="b"/>
            <a:pathLst>
              <a:path w="3524250" h="876300">
                <a:moveTo>
                  <a:pt x="38100" y="0"/>
                </a:moveTo>
                <a:lnTo>
                  <a:pt x="3486148" y="0"/>
                </a:lnTo>
                <a:cubicBezTo>
                  <a:pt x="3507191" y="0"/>
                  <a:pt x="3524250" y="17059"/>
                  <a:pt x="3524250" y="38102"/>
                </a:cubicBezTo>
                <a:lnTo>
                  <a:pt x="3524250" y="838198"/>
                </a:lnTo>
                <a:cubicBezTo>
                  <a:pt x="3524250" y="859241"/>
                  <a:pt x="3507191" y="876300"/>
                  <a:pt x="3486148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0050" y="49149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Text 8"/>
          <p:cNvSpPr/>
          <p:nvPr/>
        </p:nvSpPr>
        <p:spPr>
          <a:xfrm>
            <a:off x="609600" y="51054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Focus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" y="5334000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Companies offering finance-related roles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71950" y="4914900"/>
            <a:ext cx="3524250" cy="876300"/>
          </a:xfrm>
          <a:custGeom>
            <a:avLst/>
            <a:gdLst/>
            <a:ahLst/>
            <a:cxnLst/>
            <a:rect l="l" t="t" r="r" b="b"/>
            <a:pathLst>
              <a:path w="3524250" h="876300">
                <a:moveTo>
                  <a:pt x="38100" y="0"/>
                </a:moveTo>
                <a:lnTo>
                  <a:pt x="3486148" y="0"/>
                </a:lnTo>
                <a:cubicBezTo>
                  <a:pt x="3507191" y="0"/>
                  <a:pt x="3524250" y="17059"/>
                  <a:pt x="3524250" y="38102"/>
                </a:cubicBezTo>
                <a:lnTo>
                  <a:pt x="3524250" y="838198"/>
                </a:lnTo>
                <a:cubicBezTo>
                  <a:pt x="3524250" y="859241"/>
                  <a:pt x="3507191" y="876300"/>
                  <a:pt x="3486148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171950" y="49149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5" name="Text 12"/>
          <p:cNvSpPr/>
          <p:nvPr/>
        </p:nvSpPr>
        <p:spPr>
          <a:xfrm>
            <a:off x="4381500" y="510540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Area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81500" y="5334000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Thiruvallur district industrial zones</a:t>
            </a:r>
            <a:endParaRPr lang="en-US" sz="1600" dirty="0"/>
          </a:p>
        </p:txBody>
      </p:sp>
      <p:pic>
        <p:nvPicPr>
          <p:cNvPr id="17" name="Image 1" descr="https://kimi-img.moonshot.cn/pub/slides/26-03-07-12:41:11-d6lqoppg6i8g9d6g0cv0.png">    </p:cNvPr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9829800" y="39291"/>
            <a:ext cx="2402530" cy="9501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70667" y="514350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1.1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5305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Industrial Overview of Thiruvallur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0287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38250"/>
            <a:ext cx="6762750" cy="2362200"/>
          </a:xfrm>
          <a:custGeom>
            <a:avLst/>
            <a:gdLst/>
            <a:ahLst/>
            <a:cxnLst/>
            <a:rect l="l" t="t" r="r" b="b"/>
            <a:pathLst>
              <a:path w="6762750" h="2362200">
                <a:moveTo>
                  <a:pt x="0" y="0"/>
                </a:moveTo>
                <a:lnTo>
                  <a:pt x="6724648" y="0"/>
                </a:lnTo>
                <a:cubicBezTo>
                  <a:pt x="6745677" y="0"/>
                  <a:pt x="6762750" y="17073"/>
                  <a:pt x="6762750" y="38102"/>
                </a:cubicBezTo>
                <a:lnTo>
                  <a:pt x="6762750" y="2324098"/>
                </a:lnTo>
                <a:cubicBezTo>
                  <a:pt x="6762750" y="2345141"/>
                  <a:pt x="6745691" y="2362200"/>
                  <a:pt x="6724648" y="2362200"/>
                </a:cubicBez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23825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33413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47725" y="1428750"/>
            <a:ext cx="621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District Profile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1809750"/>
            <a:ext cx="6438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Thiruvallur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one of the major industrial districts in Tamil Nadu, strategically positioned with excellent connectivity to Chennai. The district hosts multiple industrial estates, most notably the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SIDCO Industrial Estate – Kakkalur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serves as a hub for MSMEs and manufacturing companies.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914650"/>
            <a:ext cx="6438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industries require finance professionals for accounting, auditing, budgeting, and financial planning, creating substantial employment opportunities for MBA Finance graduates.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752850"/>
            <a:ext cx="6762750" cy="2381250"/>
          </a:xfrm>
          <a:custGeom>
            <a:avLst/>
            <a:gdLst/>
            <a:ahLst/>
            <a:cxnLst/>
            <a:rect l="l" t="t" r="r" b="b"/>
            <a:pathLst>
              <a:path w="6762750" h="2381250">
                <a:moveTo>
                  <a:pt x="0" y="0"/>
                </a:moveTo>
                <a:lnTo>
                  <a:pt x="6724650" y="0"/>
                </a:lnTo>
                <a:cubicBezTo>
                  <a:pt x="6745678" y="0"/>
                  <a:pt x="6762750" y="17072"/>
                  <a:pt x="6762750" y="38100"/>
                </a:cubicBezTo>
                <a:lnTo>
                  <a:pt x="6762750" y="2343150"/>
                </a:lnTo>
                <a:cubicBezTo>
                  <a:pt x="6762750" y="2364178"/>
                  <a:pt x="6745678" y="2381250"/>
                  <a:pt x="6724650" y="2381250"/>
                </a:cubicBez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752850"/>
            <a:ext cx="38100" cy="2381250"/>
          </a:xfrm>
          <a:custGeom>
            <a:avLst/>
            <a:gdLst/>
            <a:ahLst/>
            <a:cxnLst/>
            <a:rect l="l" t="t" r="r" b="b"/>
            <a:pathLst>
              <a:path w="38100" h="2381250">
                <a:moveTo>
                  <a:pt x="0" y="0"/>
                </a:moveTo>
                <a:lnTo>
                  <a:pt x="38100" y="0"/>
                </a:lnTo>
                <a:lnTo>
                  <a:pt x="38100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413" y="3981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25" y="3943350"/>
            <a:ext cx="621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Finance Role Demand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4400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32435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Accounting &amp; Bookkeeping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Daily transaction recording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0" y="4400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000500" y="432435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Auditing &amp; Compliance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Internal and statutory audits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4972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489585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Budgeting &amp; Forecasting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Financial planning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0" y="4972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000500" y="489585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Taxation &amp; GST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Regulatory compliance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53300" y="1238250"/>
            <a:ext cx="4457700" cy="3067050"/>
          </a:xfrm>
          <a:custGeom>
            <a:avLst/>
            <a:gdLst/>
            <a:ahLst/>
            <a:cxnLst/>
            <a:rect l="l" t="t" r="r" b="b"/>
            <a:pathLst>
              <a:path w="4457700" h="3067050">
                <a:moveTo>
                  <a:pt x="38093" y="0"/>
                </a:moveTo>
                <a:lnTo>
                  <a:pt x="4419607" y="0"/>
                </a:lnTo>
                <a:cubicBezTo>
                  <a:pt x="4440645" y="0"/>
                  <a:pt x="4457700" y="17055"/>
                  <a:pt x="4457700" y="38093"/>
                </a:cubicBezTo>
                <a:lnTo>
                  <a:pt x="4457700" y="3028957"/>
                </a:lnTo>
                <a:cubicBezTo>
                  <a:pt x="4457700" y="3049995"/>
                  <a:pt x="4440645" y="3067050"/>
                  <a:pt x="4419607" y="3067050"/>
                </a:cubicBezTo>
                <a:lnTo>
                  <a:pt x="38093" y="3067050"/>
                </a:lnTo>
                <a:cubicBezTo>
                  <a:pt x="17055" y="3067050"/>
                  <a:pt x="0" y="3049995"/>
                  <a:pt x="0" y="3028957"/>
                </a:cubicBezTo>
                <a:lnTo>
                  <a:pt x="0" y="38093"/>
                </a:lnTo>
                <a:cubicBezTo>
                  <a:pt x="0" y="17069"/>
                  <a:pt x="17069" y="0"/>
                  <a:pt x="3809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7543800" y="14668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Text 25"/>
          <p:cNvSpPr/>
          <p:nvPr/>
        </p:nvSpPr>
        <p:spPr>
          <a:xfrm>
            <a:off x="7781925" y="1428750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Industries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43800" y="2346960"/>
            <a:ext cx="4076700" cy="7620"/>
          </a:xfrm>
          <a:custGeom>
            <a:avLst/>
            <a:gdLst/>
            <a:ahLst/>
            <a:cxnLst/>
            <a:rect l="l" t="t" r="r" b="b"/>
            <a:pathLst>
              <a:path w="4076700" h="7620">
                <a:moveTo>
                  <a:pt x="0" y="0"/>
                </a:moveTo>
                <a:lnTo>
                  <a:pt x="4076700" y="0"/>
                </a:lnTo>
                <a:lnTo>
                  <a:pt x="4076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43800" y="1866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50956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5274" y="39313"/>
                </a:moveTo>
                <a:lnTo>
                  <a:pt x="36534" y="64294"/>
                </a:lnTo>
                <a:lnTo>
                  <a:pt x="134916" y="64294"/>
                </a:lnTo>
                <a:lnTo>
                  <a:pt x="126176" y="39313"/>
                </a:lnTo>
                <a:cubicBezTo>
                  <a:pt x="124670" y="35027"/>
                  <a:pt x="120618" y="32147"/>
                  <a:pt x="116064" y="32147"/>
                </a:cubicBezTo>
                <a:lnTo>
                  <a:pt x="55386" y="32147"/>
                </a:lnTo>
                <a:cubicBezTo>
                  <a:pt x="50832" y="32147"/>
                  <a:pt x="46780" y="35027"/>
                  <a:pt x="45274" y="39313"/>
                </a:cubicBezTo>
                <a:close/>
                <a:moveTo>
                  <a:pt x="13261" y="65901"/>
                </a:moveTo>
                <a:lnTo>
                  <a:pt x="25048" y="32247"/>
                </a:lnTo>
                <a:cubicBezTo>
                  <a:pt x="29568" y="19355"/>
                  <a:pt x="41724" y="10716"/>
                  <a:pt x="55386" y="10716"/>
                </a:cubicBezTo>
                <a:lnTo>
                  <a:pt x="116064" y="10716"/>
                </a:lnTo>
                <a:cubicBezTo>
                  <a:pt x="129726" y="10716"/>
                  <a:pt x="141882" y="19355"/>
                  <a:pt x="146402" y="32247"/>
                </a:cubicBezTo>
                <a:lnTo>
                  <a:pt x="158189" y="65901"/>
                </a:lnTo>
                <a:cubicBezTo>
                  <a:pt x="165958" y="69116"/>
                  <a:pt x="171450" y="76784"/>
                  <a:pt x="171450" y="85725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50019" y="160734"/>
                </a:lnTo>
                <a:cubicBezTo>
                  <a:pt x="144092" y="160734"/>
                  <a:pt x="139303" y="155946"/>
                  <a:pt x="139303" y="150019"/>
                </a:cubicBezTo>
                <a:lnTo>
                  <a:pt x="139303" y="139303"/>
                </a:lnTo>
                <a:lnTo>
                  <a:pt x="32147" y="139303"/>
                </a:lnTo>
                <a:lnTo>
                  <a:pt x="32147" y="150019"/>
                </a:lnTo>
                <a:cubicBezTo>
                  <a:pt x="32147" y="155946"/>
                  <a:pt x="27358" y="160734"/>
                  <a:pt x="21431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85725"/>
                </a:lnTo>
                <a:cubicBezTo>
                  <a:pt x="0" y="76784"/>
                  <a:pt x="5492" y="69116"/>
                  <a:pt x="13261" y="65901"/>
                </a:cubicBezTo>
                <a:close/>
                <a:moveTo>
                  <a:pt x="42863" y="101798"/>
                </a:moveTo>
                <a:cubicBezTo>
                  <a:pt x="42863" y="95884"/>
                  <a:pt x="38061" y="91083"/>
                  <a:pt x="32147" y="91083"/>
                </a:cubicBezTo>
                <a:cubicBezTo>
                  <a:pt x="26233" y="91083"/>
                  <a:pt x="21431" y="95884"/>
                  <a:pt x="21431" y="101798"/>
                </a:cubicBezTo>
                <a:cubicBezTo>
                  <a:pt x="21431" y="107713"/>
                  <a:pt x="26233" y="112514"/>
                  <a:pt x="32147" y="112514"/>
                </a:cubicBezTo>
                <a:cubicBezTo>
                  <a:pt x="38061" y="112514"/>
                  <a:pt x="42863" y="107713"/>
                  <a:pt x="42863" y="101798"/>
                </a:cubicBezTo>
                <a:close/>
                <a:moveTo>
                  <a:pt x="139303" y="112514"/>
                </a:moveTo>
                <a:cubicBezTo>
                  <a:pt x="145217" y="112514"/>
                  <a:pt x="150019" y="107713"/>
                  <a:pt x="150019" y="101798"/>
                </a:cubicBezTo>
                <a:cubicBezTo>
                  <a:pt x="150019" y="95884"/>
                  <a:pt x="145217" y="91083"/>
                  <a:pt x="139303" y="91083"/>
                </a:cubicBezTo>
                <a:cubicBezTo>
                  <a:pt x="133389" y="91083"/>
                  <a:pt x="128588" y="95884"/>
                  <a:pt x="128588" y="101798"/>
                </a:cubicBezTo>
                <a:cubicBezTo>
                  <a:pt x="128588" y="107713"/>
                  <a:pt x="133389" y="112514"/>
                  <a:pt x="139303" y="112514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8039100" y="184785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Automobile Components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39100" y="207645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 parts, assemblies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43800" y="2964180"/>
            <a:ext cx="4076700" cy="7620"/>
          </a:xfrm>
          <a:custGeom>
            <a:avLst/>
            <a:gdLst/>
            <a:ahLst/>
            <a:cxnLst/>
            <a:rect l="l" t="t" r="r" b="b"/>
            <a:pathLst>
              <a:path w="4076700" h="7620">
                <a:moveTo>
                  <a:pt x="0" y="0"/>
                </a:moveTo>
                <a:lnTo>
                  <a:pt x="4076700" y="0"/>
                </a:lnTo>
                <a:lnTo>
                  <a:pt x="4076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543800" y="2484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40241" y="258889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0579" y="33018"/>
                </a:moveTo>
                <a:cubicBezTo>
                  <a:pt x="173124" y="30473"/>
                  <a:pt x="177377" y="31109"/>
                  <a:pt x="178650" y="34457"/>
                </a:cubicBezTo>
                <a:cubicBezTo>
                  <a:pt x="180927" y="40385"/>
                  <a:pt x="182166" y="46847"/>
                  <a:pt x="182166" y="53578"/>
                </a:cubicBezTo>
                <a:cubicBezTo>
                  <a:pt x="182166" y="83180"/>
                  <a:pt x="158189" y="107156"/>
                  <a:pt x="128588" y="107156"/>
                </a:cubicBezTo>
                <a:cubicBezTo>
                  <a:pt x="122727" y="107156"/>
                  <a:pt x="117068" y="106219"/>
                  <a:pt x="111777" y="104477"/>
                </a:cubicBezTo>
                <a:lnTo>
                  <a:pt x="49191" y="167063"/>
                </a:lnTo>
                <a:cubicBezTo>
                  <a:pt x="39782" y="176473"/>
                  <a:pt x="24512" y="176473"/>
                  <a:pt x="15102" y="167063"/>
                </a:cubicBezTo>
                <a:cubicBezTo>
                  <a:pt x="5693" y="157654"/>
                  <a:pt x="5693" y="142384"/>
                  <a:pt x="15102" y="132974"/>
                </a:cubicBezTo>
                <a:lnTo>
                  <a:pt x="77688" y="70388"/>
                </a:lnTo>
                <a:cubicBezTo>
                  <a:pt x="75947" y="65097"/>
                  <a:pt x="75009" y="59472"/>
                  <a:pt x="75009" y="53578"/>
                </a:cubicBezTo>
                <a:cubicBezTo>
                  <a:pt x="75009" y="23976"/>
                  <a:pt x="98986" y="0"/>
                  <a:pt x="128588" y="0"/>
                </a:cubicBezTo>
                <a:cubicBezTo>
                  <a:pt x="135318" y="0"/>
                  <a:pt x="141781" y="1239"/>
                  <a:pt x="147708" y="3516"/>
                </a:cubicBezTo>
                <a:cubicBezTo>
                  <a:pt x="151057" y="4789"/>
                  <a:pt x="151660" y="9041"/>
                  <a:pt x="149148" y="11586"/>
                </a:cubicBezTo>
                <a:lnTo>
                  <a:pt x="119446" y="41289"/>
                </a:lnTo>
                <a:cubicBezTo>
                  <a:pt x="118441" y="42293"/>
                  <a:pt x="117872" y="43666"/>
                  <a:pt x="117872" y="45073"/>
                </a:cubicBezTo>
                <a:lnTo>
                  <a:pt x="117872" y="58936"/>
                </a:lnTo>
                <a:cubicBezTo>
                  <a:pt x="117872" y="61883"/>
                  <a:pt x="120283" y="64294"/>
                  <a:pt x="123230" y="64294"/>
                </a:cubicBezTo>
                <a:lnTo>
                  <a:pt x="137093" y="64294"/>
                </a:lnTo>
                <a:cubicBezTo>
                  <a:pt x="138499" y="64294"/>
                  <a:pt x="139872" y="63724"/>
                  <a:pt x="140877" y="62720"/>
                </a:cubicBezTo>
                <a:lnTo>
                  <a:pt x="170579" y="33018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8039100" y="246507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Engineering &amp; Machinery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39100" y="269367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Manufacturing equipment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43800" y="3581400"/>
            <a:ext cx="4076700" cy="7620"/>
          </a:xfrm>
          <a:custGeom>
            <a:avLst/>
            <a:gdLst/>
            <a:ahLst/>
            <a:cxnLst/>
            <a:rect l="l" t="t" r="r" b="b"/>
            <a:pathLst>
              <a:path w="4076700" h="7620">
                <a:moveTo>
                  <a:pt x="0" y="0"/>
                </a:moveTo>
                <a:lnTo>
                  <a:pt x="4076700" y="0"/>
                </a:lnTo>
                <a:lnTo>
                  <a:pt x="4076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43800" y="3101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650956" y="320611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398" y="4822"/>
                </a:moveTo>
                <a:cubicBezTo>
                  <a:pt x="21130" y="2076"/>
                  <a:pt x="18819" y="0"/>
                  <a:pt x="16073" y="0"/>
                </a:cubicBezTo>
                <a:cubicBezTo>
                  <a:pt x="13328" y="0"/>
                  <a:pt x="11017" y="2076"/>
                  <a:pt x="10716" y="4789"/>
                </a:cubicBezTo>
                <a:lnTo>
                  <a:pt x="5994" y="50129"/>
                </a:lnTo>
                <a:cubicBezTo>
                  <a:pt x="5559" y="52138"/>
                  <a:pt x="5358" y="54181"/>
                  <a:pt x="5358" y="56224"/>
                </a:cubicBezTo>
                <a:cubicBezTo>
                  <a:pt x="5358" y="71594"/>
                  <a:pt x="17112" y="84218"/>
                  <a:pt x="32147" y="85591"/>
                </a:cubicBezTo>
                <a:lnTo>
                  <a:pt x="32147" y="160734"/>
                </a:lnTo>
                <a:cubicBezTo>
                  <a:pt x="32147" y="166661"/>
                  <a:pt x="36935" y="171450"/>
                  <a:pt x="42863" y="171450"/>
                </a:cubicBezTo>
                <a:cubicBezTo>
                  <a:pt x="48790" y="171450"/>
                  <a:pt x="53578" y="166661"/>
                  <a:pt x="53578" y="160734"/>
                </a:cubicBezTo>
                <a:lnTo>
                  <a:pt x="53578" y="85591"/>
                </a:lnTo>
                <a:cubicBezTo>
                  <a:pt x="68613" y="84218"/>
                  <a:pt x="80367" y="71594"/>
                  <a:pt x="80367" y="56224"/>
                </a:cubicBezTo>
                <a:cubicBezTo>
                  <a:pt x="80367" y="54181"/>
                  <a:pt x="80166" y="52138"/>
                  <a:pt x="79731" y="50129"/>
                </a:cubicBezTo>
                <a:lnTo>
                  <a:pt x="74976" y="4789"/>
                </a:lnTo>
                <a:cubicBezTo>
                  <a:pt x="74708" y="2076"/>
                  <a:pt x="72397" y="0"/>
                  <a:pt x="69652" y="0"/>
                </a:cubicBezTo>
                <a:cubicBezTo>
                  <a:pt x="66906" y="0"/>
                  <a:pt x="64595" y="2076"/>
                  <a:pt x="64327" y="4822"/>
                </a:cubicBezTo>
                <a:lnTo>
                  <a:pt x="59773" y="50196"/>
                </a:lnTo>
                <a:cubicBezTo>
                  <a:pt x="59572" y="52105"/>
                  <a:pt x="57965" y="53578"/>
                  <a:pt x="56056" y="53578"/>
                </a:cubicBezTo>
                <a:cubicBezTo>
                  <a:pt x="54114" y="53578"/>
                  <a:pt x="52507" y="52105"/>
                  <a:pt x="52306" y="50163"/>
                </a:cubicBezTo>
                <a:lnTo>
                  <a:pt x="48187" y="4889"/>
                </a:lnTo>
                <a:cubicBezTo>
                  <a:pt x="47952" y="2110"/>
                  <a:pt x="45642" y="0"/>
                  <a:pt x="42863" y="0"/>
                </a:cubicBezTo>
                <a:cubicBezTo>
                  <a:pt x="40083" y="0"/>
                  <a:pt x="37773" y="2110"/>
                  <a:pt x="37538" y="4889"/>
                </a:cubicBezTo>
                <a:lnTo>
                  <a:pt x="33419" y="50163"/>
                </a:lnTo>
                <a:cubicBezTo>
                  <a:pt x="33252" y="52105"/>
                  <a:pt x="31611" y="53578"/>
                  <a:pt x="29669" y="53578"/>
                </a:cubicBezTo>
                <a:cubicBezTo>
                  <a:pt x="27727" y="53578"/>
                  <a:pt x="26119" y="52105"/>
                  <a:pt x="25952" y="50196"/>
                </a:cubicBezTo>
                <a:lnTo>
                  <a:pt x="21398" y="4822"/>
                </a:lnTo>
                <a:close/>
                <a:moveTo>
                  <a:pt x="150019" y="0"/>
                </a:moveTo>
                <a:cubicBezTo>
                  <a:pt x="144661" y="0"/>
                  <a:pt x="107156" y="10716"/>
                  <a:pt x="107156" y="58936"/>
                </a:cubicBezTo>
                <a:lnTo>
                  <a:pt x="107156" y="96441"/>
                </a:lnTo>
                <a:cubicBezTo>
                  <a:pt x="107156" y="108261"/>
                  <a:pt x="116767" y="117872"/>
                  <a:pt x="128588" y="117872"/>
                </a:cubicBezTo>
                <a:lnTo>
                  <a:pt x="139303" y="117872"/>
                </a:lnTo>
                <a:lnTo>
                  <a:pt x="139303" y="160734"/>
                </a:lnTo>
                <a:cubicBezTo>
                  <a:pt x="139303" y="166661"/>
                  <a:pt x="144092" y="171450"/>
                  <a:pt x="150019" y="171450"/>
                </a:cubicBezTo>
                <a:cubicBezTo>
                  <a:pt x="155946" y="171450"/>
                  <a:pt x="160734" y="166661"/>
                  <a:pt x="160734" y="160734"/>
                </a:cubicBezTo>
                <a:lnTo>
                  <a:pt x="160734" y="10716"/>
                </a:lnTo>
                <a:cubicBezTo>
                  <a:pt x="160734" y="4789"/>
                  <a:pt x="155946" y="0"/>
                  <a:pt x="15001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1" name="Text 39"/>
          <p:cNvSpPr/>
          <p:nvPr/>
        </p:nvSpPr>
        <p:spPr>
          <a:xfrm>
            <a:off x="8039100" y="308229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Food Processing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39100" y="331089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FMCG, packaged foods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43800" y="37185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" y="0"/>
                </a:moveTo>
                <a:lnTo>
                  <a:pt x="342900" y="0"/>
                </a:lnTo>
                <a:cubicBezTo>
                  <a:pt x="363928" y="0"/>
                  <a:pt x="381000" y="17072"/>
                  <a:pt x="381000" y="38100"/>
                </a:cubicBezTo>
                <a:lnTo>
                  <a:pt x="381000" y="342900"/>
                </a:lnTo>
                <a:cubicBezTo>
                  <a:pt x="381000" y="363928"/>
                  <a:pt x="363928" y="381000"/>
                  <a:pt x="342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40241" y="382333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17872" y="10716"/>
                </a:lnTo>
                <a:cubicBezTo>
                  <a:pt x="129693" y="10716"/>
                  <a:pt x="139303" y="20326"/>
                  <a:pt x="139303" y="32147"/>
                </a:cubicBezTo>
                <a:lnTo>
                  <a:pt x="139303" y="42863"/>
                </a:lnTo>
                <a:lnTo>
                  <a:pt x="156281" y="42863"/>
                </a:lnTo>
                <a:cubicBezTo>
                  <a:pt x="161973" y="42863"/>
                  <a:pt x="167432" y="45106"/>
                  <a:pt x="171450" y="49124"/>
                </a:cubicBezTo>
                <a:lnTo>
                  <a:pt x="186619" y="64294"/>
                </a:lnTo>
                <a:cubicBezTo>
                  <a:pt x="190638" y="68312"/>
                  <a:pt x="192881" y="73770"/>
                  <a:pt x="192881" y="79463"/>
                </a:cubicBezTo>
                <a:lnTo>
                  <a:pt x="192881" y="128588"/>
                </a:lnTo>
                <a:cubicBezTo>
                  <a:pt x="192881" y="140408"/>
                  <a:pt x="183271" y="150019"/>
                  <a:pt x="171450" y="150019"/>
                </a:cubicBezTo>
                <a:lnTo>
                  <a:pt x="170345" y="150019"/>
                </a:lnTo>
                <a:cubicBezTo>
                  <a:pt x="166862" y="162375"/>
                  <a:pt x="155477" y="171450"/>
                  <a:pt x="141982" y="171450"/>
                </a:cubicBezTo>
                <a:cubicBezTo>
                  <a:pt x="128487" y="171450"/>
                  <a:pt x="117135" y="162375"/>
                  <a:pt x="113619" y="150019"/>
                </a:cubicBezTo>
                <a:lnTo>
                  <a:pt x="79262" y="150019"/>
                </a:lnTo>
                <a:cubicBezTo>
                  <a:pt x="75780" y="162375"/>
                  <a:pt x="64394" y="171450"/>
                  <a:pt x="50899" y="171450"/>
                </a:cubicBezTo>
                <a:cubicBezTo>
                  <a:pt x="37404" y="171450"/>
                  <a:pt x="26052" y="162375"/>
                  <a:pt x="22536" y="150019"/>
                </a:cubicBezTo>
                <a:lnTo>
                  <a:pt x="21431" y="150019"/>
                </a:lnTo>
                <a:cubicBezTo>
                  <a:pt x="9611" y="150019"/>
                  <a:pt x="0" y="140408"/>
                  <a:pt x="0" y="128588"/>
                </a:cubicBezTo>
                <a:lnTo>
                  <a:pt x="0" y="32147"/>
                </a:lnTo>
                <a:close/>
                <a:moveTo>
                  <a:pt x="171450" y="96441"/>
                </a:moveTo>
                <a:lnTo>
                  <a:pt x="171450" y="79463"/>
                </a:lnTo>
                <a:lnTo>
                  <a:pt x="156281" y="64294"/>
                </a:lnTo>
                <a:lnTo>
                  <a:pt x="139303" y="64294"/>
                </a:lnTo>
                <a:lnTo>
                  <a:pt x="139303" y="96441"/>
                </a:lnTo>
                <a:lnTo>
                  <a:pt x="171450" y="96441"/>
                </a:lnTo>
                <a:close/>
                <a:moveTo>
                  <a:pt x="64294" y="141982"/>
                </a:moveTo>
                <a:cubicBezTo>
                  <a:pt x="64294" y="134589"/>
                  <a:pt x="58292" y="128588"/>
                  <a:pt x="50899" y="128588"/>
                </a:cubicBezTo>
                <a:cubicBezTo>
                  <a:pt x="43507" y="128588"/>
                  <a:pt x="37505" y="134589"/>
                  <a:pt x="37505" y="141982"/>
                </a:cubicBezTo>
                <a:cubicBezTo>
                  <a:pt x="37505" y="149375"/>
                  <a:pt x="43507" y="155377"/>
                  <a:pt x="50899" y="155377"/>
                </a:cubicBezTo>
                <a:cubicBezTo>
                  <a:pt x="58292" y="155377"/>
                  <a:pt x="64294" y="149375"/>
                  <a:pt x="64294" y="141982"/>
                </a:cubicBezTo>
                <a:close/>
                <a:moveTo>
                  <a:pt x="141982" y="155377"/>
                </a:moveTo>
                <a:cubicBezTo>
                  <a:pt x="149375" y="155377"/>
                  <a:pt x="155377" y="149375"/>
                  <a:pt x="155377" y="141982"/>
                </a:cubicBezTo>
                <a:cubicBezTo>
                  <a:pt x="155377" y="134589"/>
                  <a:pt x="149375" y="128588"/>
                  <a:pt x="141982" y="128588"/>
                </a:cubicBezTo>
                <a:cubicBezTo>
                  <a:pt x="134589" y="128588"/>
                  <a:pt x="128588" y="134589"/>
                  <a:pt x="128588" y="141982"/>
                </a:cubicBezTo>
                <a:cubicBezTo>
                  <a:pt x="128588" y="149375"/>
                  <a:pt x="134589" y="155377"/>
                  <a:pt x="141982" y="155377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5" name="Text 43"/>
          <p:cNvSpPr/>
          <p:nvPr/>
        </p:nvSpPr>
        <p:spPr>
          <a:xfrm>
            <a:off x="8039100" y="369951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Logistics &amp; Infrastructure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39100" y="392811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Supply chain, warehousing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57110" y="4465320"/>
            <a:ext cx="4446270" cy="1074420"/>
          </a:xfrm>
          <a:custGeom>
            <a:avLst/>
            <a:gdLst/>
            <a:ahLst/>
            <a:cxnLst/>
            <a:rect l="l" t="t" r="r" b="b"/>
            <a:pathLst>
              <a:path w="4446270" h="1074420">
                <a:moveTo>
                  <a:pt x="38099" y="0"/>
                </a:moveTo>
                <a:lnTo>
                  <a:pt x="4408171" y="0"/>
                </a:lnTo>
                <a:cubicBezTo>
                  <a:pt x="4429213" y="0"/>
                  <a:pt x="4446270" y="17057"/>
                  <a:pt x="4446270" y="38099"/>
                </a:cubicBezTo>
                <a:lnTo>
                  <a:pt x="4446270" y="1036321"/>
                </a:lnTo>
                <a:cubicBezTo>
                  <a:pt x="4446270" y="1057363"/>
                  <a:pt x="4429213" y="1074420"/>
                  <a:pt x="4408171" y="1074420"/>
                </a:cubicBezTo>
                <a:lnTo>
                  <a:pt x="38099" y="1074420"/>
                </a:lnTo>
                <a:cubicBezTo>
                  <a:pt x="17057" y="1074420"/>
                  <a:pt x="0" y="1057363"/>
                  <a:pt x="0" y="103632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3320" y="4621531"/>
            <a:ext cx="420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 Estate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13320" y="4888231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SIDCO Industrial Estate – Kakkalur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13320" y="5193031"/>
            <a:ext cx="420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MSMEs and manufacturing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81000" y="62865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Tamil Nadu Industrial Development Corporation (SIDCO)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97779" y="6286500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Figure 1: Industrial Landscape of Thiruvallur District</a:t>
            </a:r>
            <a:endParaRPr lang="en-US" sz="1600" dirty="0"/>
          </a:p>
        </p:txBody>
      </p:sp>
      <p:pic>
        <p:nvPicPr>
          <p:cNvPr id="53" name="Image 0" descr="https://kimi-img.moonshot.cn/pub/slides/26-03-07-12:41:11-d6lqoppg6i8g9d6g0c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9291"/>
            <a:ext cx="2402530" cy="9501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56022" y="514350"/>
            <a:ext cx="21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47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Profile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558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 Engineers Autotech India Pvt Ltd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0287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200150"/>
            <a:ext cx="5619750" cy="1752600"/>
          </a:xfrm>
          <a:custGeom>
            <a:avLst/>
            <a:gdLst/>
            <a:ahLst/>
            <a:cxnLst/>
            <a:rect l="l" t="t" r="r" b="b"/>
            <a:pathLst>
              <a:path w="5619750" h="17526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1714498"/>
                </a:lnTo>
                <a:cubicBezTo>
                  <a:pt x="5619750" y="1735541"/>
                  <a:pt x="5602691" y="1752600"/>
                  <a:pt x="5581648" y="1752600"/>
                </a:cubicBezTo>
                <a:lnTo>
                  <a:pt x="38102" y="1752600"/>
                </a:lnTo>
                <a:cubicBezTo>
                  <a:pt x="17059" y="1752600"/>
                  <a:pt x="0" y="1735541"/>
                  <a:pt x="0" y="17144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4953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5456" y="65522"/>
                </a:moveTo>
                <a:lnTo>
                  <a:pt x="60889" y="107156"/>
                </a:lnTo>
                <a:lnTo>
                  <a:pt x="224861" y="107156"/>
                </a:lnTo>
                <a:lnTo>
                  <a:pt x="210294" y="65522"/>
                </a:lnTo>
                <a:cubicBezTo>
                  <a:pt x="207783" y="58378"/>
                  <a:pt x="201030" y="53578"/>
                  <a:pt x="193439" y="53578"/>
                </a:cubicBezTo>
                <a:lnTo>
                  <a:pt x="92311" y="53578"/>
                </a:lnTo>
                <a:cubicBezTo>
                  <a:pt x="84720" y="53578"/>
                  <a:pt x="77967" y="58378"/>
                  <a:pt x="75456" y="65522"/>
                </a:cubicBezTo>
                <a:close/>
                <a:moveTo>
                  <a:pt x="22101" y="109835"/>
                </a:moveTo>
                <a:lnTo>
                  <a:pt x="41746" y="53746"/>
                </a:lnTo>
                <a:cubicBezTo>
                  <a:pt x="49281" y="32258"/>
                  <a:pt x="69540" y="17859"/>
                  <a:pt x="92311" y="17859"/>
                </a:cubicBezTo>
                <a:lnTo>
                  <a:pt x="193439" y="17859"/>
                </a:lnTo>
                <a:cubicBezTo>
                  <a:pt x="216210" y="17859"/>
                  <a:pt x="236469" y="32258"/>
                  <a:pt x="244004" y="53746"/>
                </a:cubicBezTo>
                <a:lnTo>
                  <a:pt x="263649" y="109835"/>
                </a:lnTo>
                <a:cubicBezTo>
                  <a:pt x="276597" y="115193"/>
                  <a:pt x="285750" y="127974"/>
                  <a:pt x="285750" y="142875"/>
                </a:cubicBezTo>
                <a:lnTo>
                  <a:pt x="285750" y="250031"/>
                </a:lnTo>
                <a:cubicBezTo>
                  <a:pt x="285750" y="259910"/>
                  <a:pt x="277769" y="267891"/>
                  <a:pt x="267891" y="267891"/>
                </a:cubicBezTo>
                <a:lnTo>
                  <a:pt x="250031" y="267891"/>
                </a:lnTo>
                <a:cubicBezTo>
                  <a:pt x="240153" y="267891"/>
                  <a:pt x="232172" y="259910"/>
                  <a:pt x="232172" y="250031"/>
                </a:cubicBezTo>
                <a:lnTo>
                  <a:pt x="232172" y="232172"/>
                </a:lnTo>
                <a:lnTo>
                  <a:pt x="53578" y="232172"/>
                </a:lnTo>
                <a:lnTo>
                  <a:pt x="53578" y="250031"/>
                </a:lnTo>
                <a:cubicBezTo>
                  <a:pt x="53578" y="259910"/>
                  <a:pt x="45597" y="267891"/>
                  <a:pt x="35719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142875"/>
                </a:lnTo>
                <a:cubicBezTo>
                  <a:pt x="0" y="127974"/>
                  <a:pt x="9153" y="115193"/>
                  <a:pt x="22101" y="109835"/>
                </a:cubicBezTo>
                <a:close/>
                <a:moveTo>
                  <a:pt x="71438" y="169664"/>
                </a:moveTo>
                <a:cubicBezTo>
                  <a:pt x="71438" y="159807"/>
                  <a:pt x="63435" y="151805"/>
                  <a:pt x="53578" y="151805"/>
                </a:cubicBezTo>
                <a:cubicBezTo>
                  <a:pt x="43721" y="151805"/>
                  <a:pt x="35719" y="159807"/>
                  <a:pt x="35719" y="169664"/>
                </a:cubicBezTo>
                <a:cubicBezTo>
                  <a:pt x="35719" y="179521"/>
                  <a:pt x="43721" y="187523"/>
                  <a:pt x="53578" y="187523"/>
                </a:cubicBezTo>
                <a:cubicBezTo>
                  <a:pt x="63435" y="187523"/>
                  <a:pt x="71438" y="179521"/>
                  <a:pt x="71438" y="169664"/>
                </a:cubicBezTo>
                <a:close/>
                <a:moveTo>
                  <a:pt x="232172" y="187523"/>
                </a:moveTo>
                <a:cubicBezTo>
                  <a:pt x="242029" y="187523"/>
                  <a:pt x="250031" y="179521"/>
                  <a:pt x="250031" y="169664"/>
                </a:cubicBezTo>
                <a:cubicBezTo>
                  <a:pt x="250031" y="159807"/>
                  <a:pt x="242029" y="151805"/>
                  <a:pt x="232172" y="151805"/>
                </a:cubicBezTo>
                <a:cubicBezTo>
                  <a:pt x="222315" y="151805"/>
                  <a:pt x="214313" y="159807"/>
                  <a:pt x="214313" y="169664"/>
                </a:cubicBezTo>
                <a:cubicBezTo>
                  <a:pt x="214313" y="179521"/>
                  <a:pt x="222315" y="187523"/>
                  <a:pt x="232172" y="187523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1042988" y="1390650"/>
            <a:ext cx="413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Sector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988" y="1581150"/>
            <a:ext cx="418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Automobile Components Manufacturing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038231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38099" y="0"/>
                </a:moveTo>
                <a:lnTo>
                  <a:pt x="5200651" y="0"/>
                </a:lnTo>
                <a:cubicBezTo>
                  <a:pt x="5221678" y="0"/>
                  <a:pt x="5238750" y="17072"/>
                  <a:pt x="5238750" y="38099"/>
                </a:cubicBezTo>
                <a:lnTo>
                  <a:pt x="5238750" y="685801"/>
                </a:lnTo>
                <a:cubicBezTo>
                  <a:pt x="5238750" y="706828"/>
                  <a:pt x="5221678" y="723900"/>
                  <a:pt x="52006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52531"/>
            <a:ext cx="5086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Specializes in manufacturing precision automobile components and assemblies for major automotive OEMs in India.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05031"/>
            <a:ext cx="5600700" cy="3105150"/>
          </a:xfrm>
          <a:custGeom>
            <a:avLst/>
            <a:gdLst/>
            <a:ahLst/>
            <a:cxnLst/>
            <a:rect l="l" t="t" r="r" b="b"/>
            <a:pathLst>
              <a:path w="5600700" h="3105150">
                <a:moveTo>
                  <a:pt x="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3067050"/>
                </a:lnTo>
                <a:cubicBezTo>
                  <a:pt x="5600700" y="3088092"/>
                  <a:pt x="5583642" y="3105150"/>
                  <a:pt x="5562600" y="3105150"/>
                </a:cubicBezTo>
                <a:lnTo>
                  <a:pt x="0" y="31051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105031"/>
            <a:ext cx="38100" cy="3105150"/>
          </a:xfrm>
          <a:custGeom>
            <a:avLst/>
            <a:gdLst/>
            <a:ahLst/>
            <a:cxnLst/>
            <a:rect l="l" t="t" r="r" b="b"/>
            <a:pathLst>
              <a:path w="38100" h="3105150">
                <a:moveTo>
                  <a:pt x="0" y="0"/>
                </a:moveTo>
                <a:lnTo>
                  <a:pt x="38100" y="0"/>
                </a:lnTo>
                <a:lnTo>
                  <a:pt x="38100" y="3105150"/>
                </a:lnTo>
                <a:lnTo>
                  <a:pt x="0" y="3105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413" y="33336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25" y="329553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Role Responsibilities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37336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9259" y="3790831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8700" y="3714631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Maintain Company Accounts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8700" y="3943231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ledger management, journal entries, reconciliation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4267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0687" y="4324231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8700" y="4248031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 Financial Records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8700" y="4476631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Expense tracking, accounts payable/receivable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48004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4973" y="4857631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8700" y="4781431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Prepare Financial Reports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8700" y="5010031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Monthly/quarterly statements, tax documentation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5060" y="1203960"/>
            <a:ext cx="5608320" cy="2455545"/>
          </a:xfrm>
          <a:custGeom>
            <a:avLst/>
            <a:gdLst/>
            <a:ahLst/>
            <a:cxnLst/>
            <a:rect l="l" t="t" r="r" b="b"/>
            <a:pathLst>
              <a:path w="5608320" h="2455545">
                <a:moveTo>
                  <a:pt x="38110" y="0"/>
                </a:moveTo>
                <a:lnTo>
                  <a:pt x="5570210" y="0"/>
                </a:lnTo>
                <a:cubicBezTo>
                  <a:pt x="5591258" y="0"/>
                  <a:pt x="5608320" y="17062"/>
                  <a:pt x="5608320" y="38110"/>
                </a:cubicBezTo>
                <a:lnTo>
                  <a:pt x="5608320" y="2417435"/>
                </a:lnTo>
                <a:cubicBezTo>
                  <a:pt x="5608320" y="2438483"/>
                  <a:pt x="5591258" y="2455545"/>
                  <a:pt x="5570210" y="2455545"/>
                </a:cubicBezTo>
                <a:lnTo>
                  <a:pt x="38110" y="2455545"/>
                </a:lnTo>
                <a:cubicBezTo>
                  <a:pt x="17062" y="2455545"/>
                  <a:pt x="0" y="2438483"/>
                  <a:pt x="0" y="2417435"/>
                </a:cubicBezTo>
                <a:lnTo>
                  <a:pt x="0" y="38110"/>
                </a:lnTo>
                <a:cubicBezTo>
                  <a:pt x="0" y="17077"/>
                  <a:pt x="17077" y="0"/>
                  <a:pt x="38110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5089" y="14363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6627495" y="139827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Available Finance Roles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3180" y="1821180"/>
            <a:ext cx="5217795" cy="464820"/>
          </a:xfrm>
          <a:custGeom>
            <a:avLst/>
            <a:gdLst/>
            <a:ahLst/>
            <a:cxnLst/>
            <a:rect l="l" t="t" r="r" b="b"/>
            <a:pathLst>
              <a:path w="5217795" h="464820">
                <a:moveTo>
                  <a:pt x="38101" y="0"/>
                </a:moveTo>
                <a:lnTo>
                  <a:pt x="5179694" y="0"/>
                </a:lnTo>
                <a:cubicBezTo>
                  <a:pt x="5200736" y="0"/>
                  <a:pt x="5217795" y="17059"/>
                  <a:pt x="5217795" y="38101"/>
                </a:cubicBezTo>
                <a:lnTo>
                  <a:pt x="5217795" y="426719"/>
                </a:lnTo>
                <a:cubicBezTo>
                  <a:pt x="5217795" y="447761"/>
                  <a:pt x="5200736" y="464820"/>
                  <a:pt x="5179694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1290" y="199644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739890" y="193929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Accounts Executive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3180" y="2407920"/>
            <a:ext cx="5217795" cy="464820"/>
          </a:xfrm>
          <a:custGeom>
            <a:avLst/>
            <a:gdLst/>
            <a:ahLst/>
            <a:cxnLst/>
            <a:rect l="l" t="t" r="r" b="b"/>
            <a:pathLst>
              <a:path w="5217795" h="464820">
                <a:moveTo>
                  <a:pt x="38101" y="0"/>
                </a:moveTo>
                <a:lnTo>
                  <a:pt x="5179694" y="0"/>
                </a:lnTo>
                <a:cubicBezTo>
                  <a:pt x="5200736" y="0"/>
                  <a:pt x="5217795" y="17059"/>
                  <a:pt x="5217795" y="38101"/>
                </a:cubicBezTo>
                <a:lnTo>
                  <a:pt x="5217795" y="426719"/>
                </a:lnTo>
                <a:cubicBezTo>
                  <a:pt x="5217795" y="447761"/>
                  <a:pt x="5200736" y="464820"/>
                  <a:pt x="5179694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1290" y="258318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739890" y="2526031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Finance Executive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3180" y="2994660"/>
            <a:ext cx="5217795" cy="464820"/>
          </a:xfrm>
          <a:custGeom>
            <a:avLst/>
            <a:gdLst/>
            <a:ahLst/>
            <a:cxnLst/>
            <a:rect l="l" t="t" r="r" b="b"/>
            <a:pathLst>
              <a:path w="5217795" h="464820">
                <a:moveTo>
                  <a:pt x="38101" y="0"/>
                </a:moveTo>
                <a:lnTo>
                  <a:pt x="5179694" y="0"/>
                </a:lnTo>
                <a:cubicBezTo>
                  <a:pt x="5200736" y="0"/>
                  <a:pt x="5217795" y="17059"/>
                  <a:pt x="5217795" y="38101"/>
                </a:cubicBezTo>
                <a:lnTo>
                  <a:pt x="5217795" y="426719"/>
                </a:lnTo>
                <a:cubicBezTo>
                  <a:pt x="5217795" y="447761"/>
                  <a:pt x="5200736" y="464820"/>
                  <a:pt x="5179694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1290" y="31699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739890" y="311277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Cost Accountant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0300" y="381381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0" y="0"/>
                </a:moveTo>
                <a:lnTo>
                  <a:pt x="5562604" y="0"/>
                </a:lnTo>
                <a:cubicBezTo>
                  <a:pt x="5583644" y="0"/>
                  <a:pt x="5600700" y="17056"/>
                  <a:pt x="5600700" y="38096"/>
                </a:cubicBezTo>
                <a:lnTo>
                  <a:pt x="5600700" y="1219204"/>
                </a:lnTo>
                <a:cubicBezTo>
                  <a:pt x="5600700" y="1240244"/>
                  <a:pt x="5583644" y="1257300"/>
                  <a:pt x="5562604" y="1257300"/>
                </a:cubicBez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210300" y="381381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3" name="Shape 41"/>
          <p:cNvSpPr/>
          <p:nvPr/>
        </p:nvSpPr>
        <p:spPr>
          <a:xfrm>
            <a:off x="6431756" y="404241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4" name="Text 42"/>
          <p:cNvSpPr/>
          <p:nvPr/>
        </p:nvSpPr>
        <p:spPr>
          <a:xfrm>
            <a:off x="6657975" y="4004310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Entry Level Skills Required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38900" y="445198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662738" y="442341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Accounting &amp; Reporting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7325" y="445198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9301163" y="442341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GST &amp; Taxation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38900" y="471868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662738" y="469011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Tally / ERP Software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77325" y="471868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9301163" y="469011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 Excel &amp; Analysis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91250" y="5223511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098" y="0"/>
                </a:moveTo>
                <a:lnTo>
                  <a:pt x="5581652" y="0"/>
                </a:lnTo>
                <a:cubicBezTo>
                  <a:pt x="5602693" y="0"/>
                  <a:pt x="5619750" y="17057"/>
                  <a:pt x="5619750" y="38098"/>
                </a:cubicBezTo>
                <a:lnTo>
                  <a:pt x="5619750" y="952502"/>
                </a:lnTo>
                <a:cubicBezTo>
                  <a:pt x="5619750" y="973543"/>
                  <a:pt x="5602693" y="990600"/>
                  <a:pt x="5581652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381750" y="5414011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Salary Package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81750" y="5642611"/>
            <a:ext cx="2343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₹2.4 – ₹3.5 LPA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106150" y="54902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374690"/>
                </a:moveTo>
                <a:lnTo>
                  <a:pt x="0" y="97780"/>
                </a:lnTo>
                <a:cubicBezTo>
                  <a:pt x="0" y="77063"/>
                  <a:pt x="21521" y="63311"/>
                  <a:pt x="41344" y="69205"/>
                </a:cubicBezTo>
                <a:cubicBezTo>
                  <a:pt x="119658" y="92601"/>
                  <a:pt x="175022" y="74116"/>
                  <a:pt x="230743" y="55543"/>
                </a:cubicBezTo>
                <a:cubicBezTo>
                  <a:pt x="288340" y="36344"/>
                  <a:pt x="346293" y="17056"/>
                  <a:pt x="430143" y="43845"/>
                </a:cubicBezTo>
                <a:cubicBezTo>
                  <a:pt x="446663" y="49113"/>
                  <a:pt x="457200" y="65097"/>
                  <a:pt x="457200" y="82510"/>
                </a:cubicBezTo>
                <a:lnTo>
                  <a:pt x="457200" y="359420"/>
                </a:lnTo>
                <a:cubicBezTo>
                  <a:pt x="457200" y="380137"/>
                  <a:pt x="435679" y="393889"/>
                  <a:pt x="415945" y="387995"/>
                </a:cubicBezTo>
                <a:cubicBezTo>
                  <a:pt x="337631" y="364599"/>
                  <a:pt x="282178" y="383084"/>
                  <a:pt x="226546" y="401657"/>
                </a:cubicBezTo>
                <a:cubicBezTo>
                  <a:pt x="168950" y="420856"/>
                  <a:pt x="110996" y="440144"/>
                  <a:pt x="27146" y="413355"/>
                </a:cubicBezTo>
                <a:cubicBezTo>
                  <a:pt x="10626" y="408087"/>
                  <a:pt x="89" y="392103"/>
                  <a:pt x="89" y="374690"/>
                </a:cubicBezTo>
                <a:close/>
                <a:moveTo>
                  <a:pt x="300038" y="228600"/>
                </a:moveTo>
                <a:cubicBezTo>
                  <a:pt x="300038" y="181273"/>
                  <a:pt x="268069" y="142875"/>
                  <a:pt x="228600" y="142875"/>
                </a:cubicBezTo>
                <a:cubicBezTo>
                  <a:pt x="189131" y="142875"/>
                  <a:pt x="157163" y="181273"/>
                  <a:pt x="157163" y="228600"/>
                </a:cubicBezTo>
                <a:cubicBezTo>
                  <a:pt x="157163" y="275927"/>
                  <a:pt x="189131" y="314325"/>
                  <a:pt x="228600" y="314325"/>
                </a:cubicBezTo>
                <a:cubicBezTo>
                  <a:pt x="268069" y="314325"/>
                  <a:pt x="300038" y="275927"/>
                  <a:pt x="300038" y="228600"/>
                </a:cubicBezTo>
                <a:close/>
                <a:moveTo>
                  <a:pt x="107156" y="369332"/>
                </a:moveTo>
                <a:cubicBezTo>
                  <a:pt x="111085" y="369332"/>
                  <a:pt x="114211" y="365939"/>
                  <a:pt x="113586" y="362099"/>
                </a:cubicBezTo>
                <a:cubicBezTo>
                  <a:pt x="109478" y="337274"/>
                  <a:pt x="89475" y="317897"/>
                  <a:pt x="64294" y="314771"/>
                </a:cubicBezTo>
                <a:cubicBezTo>
                  <a:pt x="60365" y="314325"/>
                  <a:pt x="57150" y="317540"/>
                  <a:pt x="57150" y="321469"/>
                </a:cubicBezTo>
                <a:lnTo>
                  <a:pt x="57150" y="357098"/>
                </a:lnTo>
                <a:cubicBezTo>
                  <a:pt x="57150" y="360313"/>
                  <a:pt x="59293" y="363170"/>
                  <a:pt x="62508" y="363974"/>
                </a:cubicBezTo>
                <a:cubicBezTo>
                  <a:pt x="78492" y="367725"/>
                  <a:pt x="93137" y="369421"/>
                  <a:pt x="107156" y="369421"/>
                </a:cubicBezTo>
                <a:close/>
                <a:moveTo>
                  <a:pt x="391567" y="323701"/>
                </a:moveTo>
                <a:cubicBezTo>
                  <a:pt x="396032" y="324416"/>
                  <a:pt x="400050" y="321022"/>
                  <a:pt x="400050" y="316557"/>
                </a:cubicBezTo>
                <a:lnTo>
                  <a:pt x="400050" y="278517"/>
                </a:lnTo>
                <a:cubicBezTo>
                  <a:pt x="400050" y="274588"/>
                  <a:pt x="396835" y="271284"/>
                  <a:pt x="392906" y="271820"/>
                </a:cubicBezTo>
                <a:cubicBezTo>
                  <a:pt x="370403" y="274588"/>
                  <a:pt x="351919" y="290483"/>
                  <a:pt x="345400" y="311646"/>
                </a:cubicBezTo>
                <a:cubicBezTo>
                  <a:pt x="344150" y="315843"/>
                  <a:pt x="347454" y="319772"/>
                  <a:pt x="351830" y="319861"/>
                </a:cubicBezTo>
                <a:cubicBezTo>
                  <a:pt x="364510" y="320219"/>
                  <a:pt x="377726" y="321379"/>
                  <a:pt x="391478" y="323701"/>
                </a:cubicBezTo>
                <a:close/>
                <a:moveTo>
                  <a:pt x="400050" y="135731"/>
                </a:moveTo>
                <a:lnTo>
                  <a:pt x="400050" y="100102"/>
                </a:lnTo>
                <a:cubicBezTo>
                  <a:pt x="400050" y="96887"/>
                  <a:pt x="397818" y="94030"/>
                  <a:pt x="394692" y="93226"/>
                </a:cubicBezTo>
                <a:cubicBezTo>
                  <a:pt x="378708" y="89475"/>
                  <a:pt x="364063" y="87779"/>
                  <a:pt x="350044" y="87779"/>
                </a:cubicBezTo>
                <a:cubicBezTo>
                  <a:pt x="346115" y="87779"/>
                  <a:pt x="342989" y="91172"/>
                  <a:pt x="343614" y="95012"/>
                </a:cubicBezTo>
                <a:cubicBezTo>
                  <a:pt x="347722" y="119836"/>
                  <a:pt x="367725" y="139214"/>
                  <a:pt x="392906" y="142339"/>
                </a:cubicBezTo>
                <a:cubicBezTo>
                  <a:pt x="396835" y="142786"/>
                  <a:pt x="400050" y="139571"/>
                  <a:pt x="400050" y="135642"/>
                </a:cubicBezTo>
                <a:close/>
                <a:moveTo>
                  <a:pt x="111800" y="145465"/>
                </a:moveTo>
                <a:cubicBezTo>
                  <a:pt x="113050" y="141268"/>
                  <a:pt x="109746" y="137339"/>
                  <a:pt x="105370" y="137249"/>
                </a:cubicBezTo>
                <a:cubicBezTo>
                  <a:pt x="92690" y="136892"/>
                  <a:pt x="79474" y="135731"/>
                  <a:pt x="65723" y="133410"/>
                </a:cubicBezTo>
                <a:cubicBezTo>
                  <a:pt x="61258" y="132695"/>
                  <a:pt x="57239" y="136088"/>
                  <a:pt x="57239" y="140553"/>
                </a:cubicBezTo>
                <a:lnTo>
                  <a:pt x="57150" y="178594"/>
                </a:lnTo>
                <a:cubicBezTo>
                  <a:pt x="57150" y="182523"/>
                  <a:pt x="60365" y="185827"/>
                  <a:pt x="64294" y="185291"/>
                </a:cubicBezTo>
                <a:cubicBezTo>
                  <a:pt x="86797" y="182523"/>
                  <a:pt x="105281" y="166628"/>
                  <a:pt x="111800" y="145465"/>
                </a:cubicBezTo>
                <a:close/>
              </a:path>
            </a:pathLst>
          </a:custGeom>
          <a:solidFill>
            <a:srgbClr val="F9FAFB">
              <a:alpha val="3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381000" y="6328411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data based on industry research and job market analysis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97979" y="6328411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1: SP Engineers Autotech – Finance Role Overview</a:t>
            </a:r>
            <a:endParaRPr lang="en-US" sz="1600" dirty="0"/>
          </a:p>
        </p:txBody>
      </p:sp>
      <p:pic>
        <p:nvPicPr>
          <p:cNvPr id="59" name="Image 0" descr="https://kimi-img.moonshot.cn/pub/slides/26-03-07-12:41:11-d6lqoppg6i8g9d6g0c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9291"/>
            <a:ext cx="2402530" cy="9501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413898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35990" y="0"/>
                </a:moveTo>
                <a:lnTo>
                  <a:pt x="395904" y="0"/>
                </a:lnTo>
                <a:cubicBezTo>
                  <a:pt x="415781" y="0"/>
                  <a:pt x="431894" y="16113"/>
                  <a:pt x="431894" y="35990"/>
                </a:cubicBezTo>
                <a:lnTo>
                  <a:pt x="431894" y="395904"/>
                </a:lnTo>
                <a:cubicBezTo>
                  <a:pt x="431894" y="415781"/>
                  <a:pt x="415781" y="431894"/>
                  <a:pt x="395904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32219" y="485880"/>
            <a:ext cx="197951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9779" y="359911"/>
            <a:ext cx="400401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spc="5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Profile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9779" y="539867"/>
            <a:ext cx="410299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Paramacharya Foods Pvt Ltd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911" y="971761"/>
            <a:ext cx="11472177" cy="17996"/>
          </a:xfrm>
          <a:custGeom>
            <a:avLst/>
            <a:gdLst/>
            <a:ahLst/>
            <a:cxnLst/>
            <a:rect l="l" t="t" r="r" b="b"/>
            <a:pathLst>
              <a:path w="11472177" h="17996">
                <a:moveTo>
                  <a:pt x="0" y="0"/>
                </a:moveTo>
                <a:lnTo>
                  <a:pt x="11472177" y="0"/>
                </a:lnTo>
                <a:lnTo>
                  <a:pt x="11472177" y="17996"/>
                </a:lnTo>
                <a:lnTo>
                  <a:pt x="0" y="1799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59911" y="1133721"/>
            <a:ext cx="4480897" cy="1889535"/>
          </a:xfrm>
          <a:custGeom>
            <a:avLst/>
            <a:gdLst/>
            <a:ahLst/>
            <a:cxnLst/>
            <a:rect l="l" t="t" r="r" b="b"/>
            <a:pathLst>
              <a:path w="4480897" h="1889535">
                <a:moveTo>
                  <a:pt x="35996" y="0"/>
                </a:moveTo>
                <a:lnTo>
                  <a:pt x="4444902" y="0"/>
                </a:lnTo>
                <a:cubicBezTo>
                  <a:pt x="4464782" y="0"/>
                  <a:pt x="4480897" y="16116"/>
                  <a:pt x="4480897" y="35996"/>
                </a:cubicBezTo>
                <a:lnTo>
                  <a:pt x="4480897" y="1853539"/>
                </a:lnTo>
                <a:cubicBezTo>
                  <a:pt x="4480897" y="1873419"/>
                  <a:pt x="4464782" y="1889535"/>
                  <a:pt x="4444902" y="1889535"/>
                </a:cubicBezTo>
                <a:lnTo>
                  <a:pt x="35996" y="1889535"/>
                </a:lnTo>
                <a:cubicBezTo>
                  <a:pt x="16116" y="1889535"/>
                  <a:pt x="0" y="1873419"/>
                  <a:pt x="0" y="1853539"/>
                </a:cubicBezTo>
                <a:lnTo>
                  <a:pt x="0" y="35996"/>
                </a:lnTo>
                <a:cubicBezTo>
                  <a:pt x="0" y="16129"/>
                  <a:pt x="16129" y="0"/>
                  <a:pt x="3599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75858" y="1412540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33689" y="7592"/>
                </a:moveTo>
                <a:cubicBezTo>
                  <a:pt x="33267" y="3269"/>
                  <a:pt x="29629" y="0"/>
                  <a:pt x="25306" y="0"/>
                </a:cubicBezTo>
                <a:cubicBezTo>
                  <a:pt x="20983" y="0"/>
                  <a:pt x="17345" y="3269"/>
                  <a:pt x="16871" y="7539"/>
                </a:cubicBezTo>
                <a:lnTo>
                  <a:pt x="9437" y="78924"/>
                </a:lnTo>
                <a:cubicBezTo>
                  <a:pt x="8752" y="82087"/>
                  <a:pt x="8435" y="85303"/>
                  <a:pt x="8435" y="88519"/>
                </a:cubicBezTo>
                <a:cubicBezTo>
                  <a:pt x="8435" y="112718"/>
                  <a:pt x="26941" y="132594"/>
                  <a:pt x="50613" y="134756"/>
                </a:cubicBezTo>
                <a:lnTo>
                  <a:pt x="50613" y="253063"/>
                </a:lnTo>
                <a:cubicBezTo>
                  <a:pt x="50613" y="262394"/>
                  <a:pt x="58152" y="269934"/>
                  <a:pt x="67483" y="269934"/>
                </a:cubicBezTo>
                <a:cubicBezTo>
                  <a:pt x="76815" y="269934"/>
                  <a:pt x="84354" y="262394"/>
                  <a:pt x="84354" y="253063"/>
                </a:cubicBezTo>
                <a:lnTo>
                  <a:pt x="84354" y="134756"/>
                </a:lnTo>
                <a:cubicBezTo>
                  <a:pt x="108026" y="132594"/>
                  <a:pt x="126531" y="112718"/>
                  <a:pt x="126531" y="88519"/>
                </a:cubicBezTo>
                <a:cubicBezTo>
                  <a:pt x="126531" y="85303"/>
                  <a:pt x="126215" y="82087"/>
                  <a:pt x="125530" y="78924"/>
                </a:cubicBezTo>
                <a:lnTo>
                  <a:pt x="118043" y="7539"/>
                </a:lnTo>
                <a:cubicBezTo>
                  <a:pt x="117621" y="3269"/>
                  <a:pt x="113984" y="0"/>
                  <a:pt x="109661" y="0"/>
                </a:cubicBezTo>
                <a:cubicBezTo>
                  <a:pt x="105337" y="0"/>
                  <a:pt x="101700" y="3269"/>
                  <a:pt x="101278" y="7592"/>
                </a:cubicBezTo>
                <a:lnTo>
                  <a:pt x="94108" y="79029"/>
                </a:lnTo>
                <a:cubicBezTo>
                  <a:pt x="93791" y="82035"/>
                  <a:pt x="91261" y="84354"/>
                  <a:pt x="88256" y="84354"/>
                </a:cubicBezTo>
                <a:cubicBezTo>
                  <a:pt x="85198" y="84354"/>
                  <a:pt x="82667" y="82035"/>
                  <a:pt x="82351" y="78977"/>
                </a:cubicBezTo>
                <a:lnTo>
                  <a:pt x="75866" y="7697"/>
                </a:lnTo>
                <a:cubicBezTo>
                  <a:pt x="75497" y="3321"/>
                  <a:pt x="71859" y="0"/>
                  <a:pt x="67483" y="0"/>
                </a:cubicBezTo>
                <a:cubicBezTo>
                  <a:pt x="63108" y="0"/>
                  <a:pt x="59470" y="3321"/>
                  <a:pt x="59101" y="7697"/>
                </a:cubicBezTo>
                <a:lnTo>
                  <a:pt x="52616" y="78977"/>
                </a:lnTo>
                <a:cubicBezTo>
                  <a:pt x="52352" y="82035"/>
                  <a:pt x="49769" y="84354"/>
                  <a:pt x="46711" y="84354"/>
                </a:cubicBezTo>
                <a:cubicBezTo>
                  <a:pt x="43653" y="84354"/>
                  <a:pt x="41123" y="82035"/>
                  <a:pt x="40859" y="79029"/>
                </a:cubicBezTo>
                <a:lnTo>
                  <a:pt x="33689" y="7592"/>
                </a:lnTo>
                <a:close/>
                <a:moveTo>
                  <a:pt x="236192" y="0"/>
                </a:moveTo>
                <a:cubicBezTo>
                  <a:pt x="227756" y="0"/>
                  <a:pt x="168708" y="16871"/>
                  <a:pt x="168708" y="92790"/>
                </a:cubicBezTo>
                <a:lnTo>
                  <a:pt x="168708" y="151838"/>
                </a:lnTo>
                <a:cubicBezTo>
                  <a:pt x="168708" y="170448"/>
                  <a:pt x="183840" y="185579"/>
                  <a:pt x="202450" y="185579"/>
                </a:cubicBezTo>
                <a:lnTo>
                  <a:pt x="219321" y="185579"/>
                </a:lnTo>
                <a:lnTo>
                  <a:pt x="219321" y="253063"/>
                </a:lnTo>
                <a:cubicBezTo>
                  <a:pt x="219321" y="262394"/>
                  <a:pt x="226860" y="269934"/>
                  <a:pt x="236192" y="269934"/>
                </a:cubicBezTo>
                <a:cubicBezTo>
                  <a:pt x="245524" y="269934"/>
                  <a:pt x="253063" y="262394"/>
                  <a:pt x="253063" y="253063"/>
                </a:cubicBezTo>
                <a:lnTo>
                  <a:pt x="253063" y="16871"/>
                </a:lnTo>
                <a:cubicBezTo>
                  <a:pt x="253063" y="7539"/>
                  <a:pt x="245524" y="0"/>
                  <a:pt x="23619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985258" y="1313677"/>
            <a:ext cx="242040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Sector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5258" y="1493632"/>
            <a:ext cx="246539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Food Processing / FMCG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867" y="1925414"/>
            <a:ext cx="4120986" cy="917774"/>
          </a:xfrm>
          <a:custGeom>
            <a:avLst/>
            <a:gdLst/>
            <a:ahLst/>
            <a:cxnLst/>
            <a:rect l="l" t="t" r="r" b="b"/>
            <a:pathLst>
              <a:path w="4120986" h="917774">
                <a:moveTo>
                  <a:pt x="35995" y="0"/>
                </a:moveTo>
                <a:lnTo>
                  <a:pt x="4084991" y="0"/>
                </a:lnTo>
                <a:cubicBezTo>
                  <a:pt x="4104870" y="0"/>
                  <a:pt x="4120986" y="16116"/>
                  <a:pt x="4120986" y="35995"/>
                </a:cubicBezTo>
                <a:lnTo>
                  <a:pt x="4120986" y="881779"/>
                </a:lnTo>
                <a:cubicBezTo>
                  <a:pt x="4120986" y="901659"/>
                  <a:pt x="4104870" y="917774"/>
                  <a:pt x="4084991" y="917774"/>
                </a:cubicBezTo>
                <a:lnTo>
                  <a:pt x="35995" y="917774"/>
                </a:lnTo>
                <a:cubicBezTo>
                  <a:pt x="16116" y="917774"/>
                  <a:pt x="0" y="901659"/>
                  <a:pt x="0" y="881779"/>
                </a:cubicBezTo>
                <a:lnTo>
                  <a:pt x="0" y="35995"/>
                </a:lnTo>
                <a:cubicBezTo>
                  <a:pt x="0" y="16116"/>
                  <a:pt x="16116" y="0"/>
                  <a:pt x="35995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7841" y="2033388"/>
            <a:ext cx="3977021" cy="70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Engaged in food processing and FMCG manufacturing, producing packaged food products for retail and institutional markets.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3511" y="3170708"/>
            <a:ext cx="4470100" cy="2319629"/>
          </a:xfrm>
          <a:custGeom>
            <a:avLst/>
            <a:gdLst/>
            <a:ahLst/>
            <a:cxnLst/>
            <a:rect l="l" t="t" r="r" b="b"/>
            <a:pathLst>
              <a:path w="4470100" h="2319629">
                <a:moveTo>
                  <a:pt x="36001" y="0"/>
                </a:moveTo>
                <a:lnTo>
                  <a:pt x="4434099" y="0"/>
                </a:lnTo>
                <a:cubicBezTo>
                  <a:pt x="4453982" y="0"/>
                  <a:pt x="4470100" y="16118"/>
                  <a:pt x="4470100" y="36001"/>
                </a:cubicBezTo>
                <a:lnTo>
                  <a:pt x="4470100" y="2283629"/>
                </a:lnTo>
                <a:cubicBezTo>
                  <a:pt x="4470100" y="2303511"/>
                  <a:pt x="4453982" y="2319629"/>
                  <a:pt x="4434099" y="2319629"/>
                </a:cubicBezTo>
                <a:lnTo>
                  <a:pt x="36001" y="2319629"/>
                </a:lnTo>
                <a:cubicBezTo>
                  <a:pt x="16118" y="2319629"/>
                  <a:pt x="0" y="2303511"/>
                  <a:pt x="0" y="2283629"/>
                </a:cubicBezTo>
                <a:lnTo>
                  <a:pt x="0" y="36001"/>
                </a:lnTo>
                <a:cubicBezTo>
                  <a:pt x="0" y="16118"/>
                  <a:pt x="16118" y="0"/>
                  <a:pt x="3600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807" y="3390254"/>
            <a:ext cx="157461" cy="179956"/>
          </a:xfrm>
          <a:custGeom>
            <a:avLst/>
            <a:gdLst/>
            <a:ahLst/>
            <a:cxnLst/>
            <a:rect l="l" t="t" r="r" b="b"/>
            <a:pathLst>
              <a:path w="157461" h="179956">
                <a:moveTo>
                  <a:pt x="78731" y="87166"/>
                </a:moveTo>
                <a:cubicBezTo>
                  <a:pt x="55452" y="87166"/>
                  <a:pt x="36554" y="68267"/>
                  <a:pt x="36554" y="44989"/>
                </a:cubicBezTo>
                <a:cubicBezTo>
                  <a:pt x="36554" y="21711"/>
                  <a:pt x="55452" y="2812"/>
                  <a:pt x="78731" y="2812"/>
                </a:cubicBezTo>
                <a:cubicBezTo>
                  <a:pt x="102009" y="2812"/>
                  <a:pt x="120908" y="21711"/>
                  <a:pt x="120908" y="44989"/>
                </a:cubicBezTo>
                <a:cubicBezTo>
                  <a:pt x="120908" y="68267"/>
                  <a:pt x="102009" y="87166"/>
                  <a:pt x="78731" y="87166"/>
                </a:cubicBezTo>
                <a:close/>
                <a:moveTo>
                  <a:pt x="68011" y="106849"/>
                </a:moveTo>
                <a:lnTo>
                  <a:pt x="89451" y="106849"/>
                </a:lnTo>
                <a:cubicBezTo>
                  <a:pt x="92860" y="106849"/>
                  <a:pt x="95601" y="109590"/>
                  <a:pt x="95601" y="113000"/>
                </a:cubicBezTo>
                <a:cubicBezTo>
                  <a:pt x="95601" y="114476"/>
                  <a:pt x="95074" y="115882"/>
                  <a:pt x="94125" y="117006"/>
                </a:cubicBezTo>
                <a:lnTo>
                  <a:pt x="84495" y="128254"/>
                </a:lnTo>
                <a:lnTo>
                  <a:pt x="95391" y="168708"/>
                </a:lnTo>
                <a:lnTo>
                  <a:pt x="95601" y="168708"/>
                </a:lnTo>
                <a:lnTo>
                  <a:pt x="107763" y="120029"/>
                </a:lnTo>
                <a:cubicBezTo>
                  <a:pt x="108536" y="116971"/>
                  <a:pt x="111664" y="115108"/>
                  <a:pt x="114616" y="116233"/>
                </a:cubicBezTo>
                <a:cubicBezTo>
                  <a:pt x="136373" y="124528"/>
                  <a:pt x="151838" y="145617"/>
                  <a:pt x="151838" y="170290"/>
                </a:cubicBezTo>
                <a:cubicBezTo>
                  <a:pt x="151838" y="175597"/>
                  <a:pt x="147514" y="179921"/>
                  <a:pt x="142207" y="179921"/>
                </a:cubicBezTo>
                <a:lnTo>
                  <a:pt x="15254" y="179956"/>
                </a:lnTo>
                <a:cubicBezTo>
                  <a:pt x="9947" y="179956"/>
                  <a:pt x="5624" y="175633"/>
                  <a:pt x="5624" y="170325"/>
                </a:cubicBezTo>
                <a:cubicBezTo>
                  <a:pt x="5624" y="145652"/>
                  <a:pt x="21089" y="124563"/>
                  <a:pt x="42845" y="116268"/>
                </a:cubicBezTo>
                <a:cubicBezTo>
                  <a:pt x="45797" y="115144"/>
                  <a:pt x="48925" y="117006"/>
                  <a:pt x="49699" y="120064"/>
                </a:cubicBezTo>
                <a:lnTo>
                  <a:pt x="61860" y="168744"/>
                </a:lnTo>
                <a:lnTo>
                  <a:pt x="62071" y="168744"/>
                </a:lnTo>
                <a:lnTo>
                  <a:pt x="72966" y="128289"/>
                </a:lnTo>
                <a:lnTo>
                  <a:pt x="63336" y="117042"/>
                </a:lnTo>
                <a:cubicBezTo>
                  <a:pt x="62387" y="115917"/>
                  <a:pt x="61860" y="114511"/>
                  <a:pt x="61860" y="113035"/>
                </a:cubicBezTo>
                <a:cubicBezTo>
                  <a:pt x="61860" y="109625"/>
                  <a:pt x="64601" y="106884"/>
                  <a:pt x="68011" y="106884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772010" y="3354263"/>
            <a:ext cx="396802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Available Finance Roles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0664" y="3753765"/>
            <a:ext cx="4101191" cy="439092"/>
          </a:xfrm>
          <a:custGeom>
            <a:avLst/>
            <a:gdLst/>
            <a:ahLst/>
            <a:cxnLst/>
            <a:rect l="l" t="t" r="r" b="b"/>
            <a:pathLst>
              <a:path w="4101191" h="439092">
                <a:moveTo>
                  <a:pt x="35992" y="0"/>
                </a:moveTo>
                <a:lnTo>
                  <a:pt x="4065198" y="0"/>
                </a:lnTo>
                <a:cubicBezTo>
                  <a:pt x="4085077" y="0"/>
                  <a:pt x="4101191" y="16114"/>
                  <a:pt x="4101191" y="35992"/>
                </a:cubicBezTo>
                <a:lnTo>
                  <a:pt x="4101191" y="403100"/>
                </a:lnTo>
                <a:cubicBezTo>
                  <a:pt x="4101191" y="422978"/>
                  <a:pt x="4085077" y="439092"/>
                  <a:pt x="4065198" y="439092"/>
                </a:cubicBezTo>
                <a:lnTo>
                  <a:pt x="35992" y="439092"/>
                </a:lnTo>
                <a:cubicBezTo>
                  <a:pt x="16128" y="439092"/>
                  <a:pt x="0" y="422964"/>
                  <a:pt x="0" y="403100"/>
                </a:cubicBezTo>
                <a:lnTo>
                  <a:pt x="0" y="35992"/>
                </a:lnTo>
                <a:cubicBezTo>
                  <a:pt x="0" y="16128"/>
                  <a:pt x="16128" y="0"/>
                  <a:pt x="3599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237" y="3919324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53987" y="0"/>
                </a:moveTo>
                <a:lnTo>
                  <a:pt x="53987" y="0"/>
                </a:lnTo>
                <a:cubicBezTo>
                  <a:pt x="83783" y="0"/>
                  <a:pt x="107973" y="24191"/>
                  <a:pt x="107973" y="53987"/>
                </a:cubicBezTo>
                <a:lnTo>
                  <a:pt x="107973" y="53987"/>
                </a:lnTo>
                <a:cubicBezTo>
                  <a:pt x="107973" y="83783"/>
                  <a:pt x="83783" y="107973"/>
                  <a:pt x="53987" y="107973"/>
                </a:cubicBezTo>
                <a:lnTo>
                  <a:pt x="53987" y="107973"/>
                </a:lnTo>
                <a:cubicBezTo>
                  <a:pt x="24191" y="107973"/>
                  <a:pt x="0" y="83783"/>
                  <a:pt x="0" y="53987"/>
                </a:cubicBezTo>
                <a:lnTo>
                  <a:pt x="0" y="53987"/>
                </a:lnTo>
                <a:cubicBezTo>
                  <a:pt x="0" y="24191"/>
                  <a:pt x="24191" y="0"/>
                  <a:pt x="5398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78184" y="3865338"/>
            <a:ext cx="123269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Junior Accountant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664" y="4308027"/>
            <a:ext cx="4101191" cy="439092"/>
          </a:xfrm>
          <a:custGeom>
            <a:avLst/>
            <a:gdLst/>
            <a:ahLst/>
            <a:cxnLst/>
            <a:rect l="l" t="t" r="r" b="b"/>
            <a:pathLst>
              <a:path w="4101191" h="439092">
                <a:moveTo>
                  <a:pt x="35992" y="0"/>
                </a:moveTo>
                <a:lnTo>
                  <a:pt x="4065198" y="0"/>
                </a:lnTo>
                <a:cubicBezTo>
                  <a:pt x="4085077" y="0"/>
                  <a:pt x="4101191" y="16114"/>
                  <a:pt x="4101191" y="35992"/>
                </a:cubicBezTo>
                <a:lnTo>
                  <a:pt x="4101191" y="403100"/>
                </a:lnTo>
                <a:cubicBezTo>
                  <a:pt x="4101191" y="422978"/>
                  <a:pt x="4085077" y="439092"/>
                  <a:pt x="4065198" y="439092"/>
                </a:cubicBezTo>
                <a:lnTo>
                  <a:pt x="35992" y="439092"/>
                </a:lnTo>
                <a:cubicBezTo>
                  <a:pt x="16128" y="439092"/>
                  <a:pt x="0" y="422964"/>
                  <a:pt x="0" y="403100"/>
                </a:cubicBezTo>
                <a:lnTo>
                  <a:pt x="0" y="35992"/>
                </a:lnTo>
                <a:cubicBezTo>
                  <a:pt x="0" y="16128"/>
                  <a:pt x="16128" y="0"/>
                  <a:pt x="3599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237" y="4473587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53987" y="0"/>
                </a:moveTo>
                <a:lnTo>
                  <a:pt x="53987" y="0"/>
                </a:lnTo>
                <a:cubicBezTo>
                  <a:pt x="83783" y="0"/>
                  <a:pt x="107973" y="24191"/>
                  <a:pt x="107973" y="53987"/>
                </a:cubicBezTo>
                <a:lnTo>
                  <a:pt x="107973" y="53987"/>
                </a:lnTo>
                <a:cubicBezTo>
                  <a:pt x="107973" y="83783"/>
                  <a:pt x="83783" y="107973"/>
                  <a:pt x="53987" y="107973"/>
                </a:cubicBezTo>
                <a:lnTo>
                  <a:pt x="53987" y="107973"/>
                </a:lnTo>
                <a:cubicBezTo>
                  <a:pt x="24191" y="107973"/>
                  <a:pt x="0" y="83783"/>
                  <a:pt x="0" y="53987"/>
                </a:cubicBezTo>
                <a:lnTo>
                  <a:pt x="0" y="53987"/>
                </a:lnTo>
                <a:cubicBezTo>
                  <a:pt x="0" y="24191"/>
                  <a:pt x="24191" y="0"/>
                  <a:pt x="5398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78184" y="4419600"/>
            <a:ext cx="116971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Finance Assistant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0664" y="4862292"/>
            <a:ext cx="4101191" cy="439092"/>
          </a:xfrm>
          <a:custGeom>
            <a:avLst/>
            <a:gdLst/>
            <a:ahLst/>
            <a:cxnLst/>
            <a:rect l="l" t="t" r="r" b="b"/>
            <a:pathLst>
              <a:path w="4101191" h="439092">
                <a:moveTo>
                  <a:pt x="35992" y="0"/>
                </a:moveTo>
                <a:lnTo>
                  <a:pt x="4065198" y="0"/>
                </a:lnTo>
                <a:cubicBezTo>
                  <a:pt x="4085077" y="0"/>
                  <a:pt x="4101191" y="16114"/>
                  <a:pt x="4101191" y="35992"/>
                </a:cubicBezTo>
                <a:lnTo>
                  <a:pt x="4101191" y="403100"/>
                </a:lnTo>
                <a:cubicBezTo>
                  <a:pt x="4101191" y="422978"/>
                  <a:pt x="4085077" y="439092"/>
                  <a:pt x="4065198" y="439092"/>
                </a:cubicBezTo>
                <a:lnTo>
                  <a:pt x="35992" y="439092"/>
                </a:lnTo>
                <a:cubicBezTo>
                  <a:pt x="16128" y="439092"/>
                  <a:pt x="0" y="422964"/>
                  <a:pt x="0" y="403100"/>
                </a:cubicBezTo>
                <a:lnTo>
                  <a:pt x="0" y="35992"/>
                </a:lnTo>
                <a:cubicBezTo>
                  <a:pt x="0" y="16128"/>
                  <a:pt x="16128" y="0"/>
                  <a:pt x="3599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237" y="5027851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53987" y="0"/>
                </a:moveTo>
                <a:lnTo>
                  <a:pt x="53987" y="0"/>
                </a:lnTo>
                <a:cubicBezTo>
                  <a:pt x="83783" y="0"/>
                  <a:pt x="107973" y="24191"/>
                  <a:pt x="107973" y="53987"/>
                </a:cubicBezTo>
                <a:lnTo>
                  <a:pt x="107973" y="53987"/>
                </a:lnTo>
                <a:cubicBezTo>
                  <a:pt x="107973" y="83783"/>
                  <a:pt x="83783" y="107973"/>
                  <a:pt x="53987" y="107973"/>
                </a:cubicBezTo>
                <a:lnTo>
                  <a:pt x="53987" y="107973"/>
                </a:lnTo>
                <a:cubicBezTo>
                  <a:pt x="24191" y="107973"/>
                  <a:pt x="0" y="83783"/>
                  <a:pt x="0" y="53987"/>
                </a:cubicBezTo>
                <a:lnTo>
                  <a:pt x="0" y="53987"/>
                </a:lnTo>
                <a:cubicBezTo>
                  <a:pt x="0" y="24191"/>
                  <a:pt x="24191" y="0"/>
                  <a:pt x="5398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78184" y="4973864"/>
            <a:ext cx="131367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Accounts Executive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9911" y="5636100"/>
            <a:ext cx="4480897" cy="935770"/>
          </a:xfrm>
          <a:custGeom>
            <a:avLst/>
            <a:gdLst/>
            <a:ahLst/>
            <a:cxnLst/>
            <a:rect l="l" t="t" r="r" b="b"/>
            <a:pathLst>
              <a:path w="4480897" h="935770">
                <a:moveTo>
                  <a:pt x="35990" y="0"/>
                </a:moveTo>
                <a:lnTo>
                  <a:pt x="4444908" y="0"/>
                </a:lnTo>
                <a:cubicBezTo>
                  <a:pt x="4464784" y="0"/>
                  <a:pt x="4480897" y="16113"/>
                  <a:pt x="4480897" y="35990"/>
                </a:cubicBezTo>
                <a:lnTo>
                  <a:pt x="4480897" y="899780"/>
                </a:lnTo>
                <a:cubicBezTo>
                  <a:pt x="4480897" y="919657"/>
                  <a:pt x="4464784" y="935770"/>
                  <a:pt x="4444908" y="935770"/>
                </a:cubicBezTo>
                <a:lnTo>
                  <a:pt x="35990" y="935770"/>
                </a:lnTo>
                <a:cubicBezTo>
                  <a:pt x="16113" y="935770"/>
                  <a:pt x="0" y="919657"/>
                  <a:pt x="0" y="899780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39867" y="5816056"/>
            <a:ext cx="218646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Salary Package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867" y="6032003"/>
            <a:ext cx="2285438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₹2.0 – ₹3.0 LPA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73736" y="5888038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0" y="353950"/>
                </a:moveTo>
                <a:lnTo>
                  <a:pt x="0" y="92368"/>
                </a:lnTo>
                <a:cubicBezTo>
                  <a:pt x="0" y="72798"/>
                  <a:pt x="20329" y="59807"/>
                  <a:pt x="39056" y="65375"/>
                </a:cubicBezTo>
                <a:cubicBezTo>
                  <a:pt x="113035" y="87475"/>
                  <a:pt x="165334" y="70014"/>
                  <a:pt x="217971" y="52468"/>
                </a:cubicBezTo>
                <a:cubicBezTo>
                  <a:pt x="272380" y="34332"/>
                  <a:pt x="327126" y="16112"/>
                  <a:pt x="406334" y="41418"/>
                </a:cubicBezTo>
                <a:cubicBezTo>
                  <a:pt x="421940" y="46395"/>
                  <a:pt x="431894" y="61494"/>
                  <a:pt x="431894" y="77943"/>
                </a:cubicBezTo>
                <a:lnTo>
                  <a:pt x="431894" y="339526"/>
                </a:lnTo>
                <a:cubicBezTo>
                  <a:pt x="431894" y="359096"/>
                  <a:pt x="411564" y="372087"/>
                  <a:pt x="392922" y="366519"/>
                </a:cubicBezTo>
                <a:cubicBezTo>
                  <a:pt x="318943" y="344418"/>
                  <a:pt x="266559" y="361880"/>
                  <a:pt x="214007" y="379425"/>
                </a:cubicBezTo>
                <a:cubicBezTo>
                  <a:pt x="159598" y="397562"/>
                  <a:pt x="104852" y="415782"/>
                  <a:pt x="25644" y="390476"/>
                </a:cubicBezTo>
                <a:cubicBezTo>
                  <a:pt x="10038" y="385499"/>
                  <a:pt x="84" y="370399"/>
                  <a:pt x="84" y="353950"/>
                </a:cubicBezTo>
                <a:close/>
                <a:moveTo>
                  <a:pt x="283430" y="215947"/>
                </a:moveTo>
                <a:cubicBezTo>
                  <a:pt x="283430" y="171239"/>
                  <a:pt x="253231" y="134967"/>
                  <a:pt x="215947" y="134967"/>
                </a:cubicBezTo>
                <a:cubicBezTo>
                  <a:pt x="178662" y="134967"/>
                  <a:pt x="148463" y="171239"/>
                  <a:pt x="148463" y="215947"/>
                </a:cubicBezTo>
                <a:cubicBezTo>
                  <a:pt x="148463" y="260655"/>
                  <a:pt x="178662" y="296927"/>
                  <a:pt x="215947" y="296927"/>
                </a:cubicBezTo>
                <a:cubicBezTo>
                  <a:pt x="253231" y="296927"/>
                  <a:pt x="283430" y="260655"/>
                  <a:pt x="283430" y="215947"/>
                </a:cubicBezTo>
                <a:close/>
                <a:moveTo>
                  <a:pt x="101225" y="348889"/>
                </a:moveTo>
                <a:cubicBezTo>
                  <a:pt x="104937" y="348889"/>
                  <a:pt x="107889" y="345684"/>
                  <a:pt x="107299" y="342056"/>
                </a:cubicBezTo>
                <a:cubicBezTo>
                  <a:pt x="103418" y="318606"/>
                  <a:pt x="84523" y="300301"/>
                  <a:pt x="60735" y="297349"/>
                </a:cubicBezTo>
                <a:cubicBezTo>
                  <a:pt x="57023" y="296927"/>
                  <a:pt x="53987" y="299964"/>
                  <a:pt x="53987" y="303675"/>
                </a:cubicBezTo>
                <a:lnTo>
                  <a:pt x="53987" y="337333"/>
                </a:lnTo>
                <a:cubicBezTo>
                  <a:pt x="53987" y="340369"/>
                  <a:pt x="56011" y="343069"/>
                  <a:pt x="59048" y="343828"/>
                </a:cubicBezTo>
                <a:cubicBezTo>
                  <a:pt x="74147" y="347371"/>
                  <a:pt x="87981" y="348974"/>
                  <a:pt x="101225" y="348974"/>
                </a:cubicBezTo>
                <a:close/>
                <a:moveTo>
                  <a:pt x="369893" y="305784"/>
                </a:moveTo>
                <a:cubicBezTo>
                  <a:pt x="374111" y="306459"/>
                  <a:pt x="377907" y="303254"/>
                  <a:pt x="377907" y="299036"/>
                </a:cubicBezTo>
                <a:lnTo>
                  <a:pt x="377907" y="263101"/>
                </a:lnTo>
                <a:cubicBezTo>
                  <a:pt x="377907" y="259389"/>
                  <a:pt x="374870" y="256268"/>
                  <a:pt x="371159" y="256774"/>
                </a:cubicBezTo>
                <a:cubicBezTo>
                  <a:pt x="349901" y="259389"/>
                  <a:pt x="332440" y="274404"/>
                  <a:pt x="326282" y="294396"/>
                </a:cubicBezTo>
                <a:cubicBezTo>
                  <a:pt x="325101" y="298361"/>
                  <a:pt x="328222" y="302073"/>
                  <a:pt x="332356" y="302157"/>
                </a:cubicBezTo>
                <a:cubicBezTo>
                  <a:pt x="344334" y="302494"/>
                  <a:pt x="356818" y="303591"/>
                  <a:pt x="369809" y="305784"/>
                </a:cubicBezTo>
                <a:close/>
                <a:moveTo>
                  <a:pt x="377907" y="128218"/>
                </a:moveTo>
                <a:lnTo>
                  <a:pt x="377907" y="94561"/>
                </a:lnTo>
                <a:cubicBezTo>
                  <a:pt x="377907" y="91524"/>
                  <a:pt x="375798" y="88825"/>
                  <a:pt x="372846" y="88066"/>
                </a:cubicBezTo>
                <a:cubicBezTo>
                  <a:pt x="357746" y="84523"/>
                  <a:pt x="343912" y="82920"/>
                  <a:pt x="330669" y="82920"/>
                </a:cubicBezTo>
                <a:cubicBezTo>
                  <a:pt x="326957" y="82920"/>
                  <a:pt x="324005" y="86126"/>
                  <a:pt x="324595" y="89753"/>
                </a:cubicBezTo>
                <a:cubicBezTo>
                  <a:pt x="328475" y="113203"/>
                  <a:pt x="347371" y="131508"/>
                  <a:pt x="371159" y="134461"/>
                </a:cubicBezTo>
                <a:cubicBezTo>
                  <a:pt x="374870" y="134882"/>
                  <a:pt x="377907" y="131846"/>
                  <a:pt x="377907" y="128134"/>
                </a:cubicBezTo>
                <a:close/>
                <a:moveTo>
                  <a:pt x="105612" y="137413"/>
                </a:moveTo>
                <a:cubicBezTo>
                  <a:pt x="106792" y="133448"/>
                  <a:pt x="103671" y="129737"/>
                  <a:pt x="99538" y="129652"/>
                </a:cubicBezTo>
                <a:cubicBezTo>
                  <a:pt x="87560" y="129315"/>
                  <a:pt x="75075" y="128218"/>
                  <a:pt x="62085" y="126025"/>
                </a:cubicBezTo>
                <a:cubicBezTo>
                  <a:pt x="57867" y="125350"/>
                  <a:pt x="54071" y="128556"/>
                  <a:pt x="54071" y="132774"/>
                </a:cubicBezTo>
                <a:lnTo>
                  <a:pt x="53987" y="168708"/>
                </a:lnTo>
                <a:cubicBezTo>
                  <a:pt x="53987" y="172420"/>
                  <a:pt x="57023" y="175541"/>
                  <a:pt x="60735" y="175035"/>
                </a:cubicBezTo>
                <a:cubicBezTo>
                  <a:pt x="81992" y="172420"/>
                  <a:pt x="99454" y="157405"/>
                  <a:pt x="105612" y="137413"/>
                </a:cubicBezTo>
                <a:close/>
              </a:path>
            </a:pathLst>
          </a:custGeom>
          <a:solidFill>
            <a:srgbClr val="F9FAFB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037523" y="1133721"/>
            <a:ext cx="6793328" cy="2645349"/>
          </a:xfrm>
          <a:custGeom>
            <a:avLst/>
            <a:gdLst/>
            <a:ahLst/>
            <a:cxnLst/>
            <a:rect l="l" t="t" r="r" b="b"/>
            <a:pathLst>
              <a:path w="6793328" h="2645349">
                <a:moveTo>
                  <a:pt x="0" y="0"/>
                </a:moveTo>
                <a:lnTo>
                  <a:pt x="6757325" y="0"/>
                </a:lnTo>
                <a:cubicBezTo>
                  <a:pt x="6777209" y="0"/>
                  <a:pt x="6793328" y="16119"/>
                  <a:pt x="6793328" y="36003"/>
                </a:cubicBezTo>
                <a:lnTo>
                  <a:pt x="6793328" y="2609346"/>
                </a:lnTo>
                <a:cubicBezTo>
                  <a:pt x="6793328" y="2629230"/>
                  <a:pt x="6777209" y="2645349"/>
                  <a:pt x="6757325" y="2645349"/>
                </a:cubicBezTo>
                <a:lnTo>
                  <a:pt x="0" y="264534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5037523" y="1133721"/>
            <a:ext cx="35991" cy="2645349"/>
          </a:xfrm>
          <a:custGeom>
            <a:avLst/>
            <a:gdLst/>
            <a:ahLst/>
            <a:cxnLst/>
            <a:rect l="l" t="t" r="r" b="b"/>
            <a:pathLst>
              <a:path w="35991" h="2645349">
                <a:moveTo>
                  <a:pt x="0" y="0"/>
                </a:moveTo>
                <a:lnTo>
                  <a:pt x="35991" y="0"/>
                </a:lnTo>
                <a:lnTo>
                  <a:pt x="35991" y="2645349"/>
                </a:lnTo>
                <a:lnTo>
                  <a:pt x="0" y="264534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5257969" y="1349668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47027" y="12759"/>
                </a:moveTo>
                <a:cubicBezTo>
                  <a:pt x="50859" y="15430"/>
                  <a:pt x="51772" y="20702"/>
                  <a:pt x="49101" y="24498"/>
                </a:cubicBezTo>
                <a:lnTo>
                  <a:pt x="29419" y="52616"/>
                </a:lnTo>
                <a:cubicBezTo>
                  <a:pt x="27977" y="54655"/>
                  <a:pt x="25728" y="55955"/>
                  <a:pt x="23233" y="56166"/>
                </a:cubicBezTo>
                <a:cubicBezTo>
                  <a:pt x="20737" y="56377"/>
                  <a:pt x="18277" y="55533"/>
                  <a:pt x="16519" y="53776"/>
                </a:cubicBezTo>
                <a:lnTo>
                  <a:pt x="2460" y="39717"/>
                </a:lnTo>
                <a:cubicBezTo>
                  <a:pt x="-808" y="36413"/>
                  <a:pt x="-808" y="31070"/>
                  <a:pt x="2460" y="27767"/>
                </a:cubicBezTo>
                <a:cubicBezTo>
                  <a:pt x="5729" y="24463"/>
                  <a:pt x="11107" y="24498"/>
                  <a:pt x="14411" y="27767"/>
                </a:cubicBezTo>
                <a:lnTo>
                  <a:pt x="21370" y="34726"/>
                </a:lnTo>
                <a:lnTo>
                  <a:pt x="35288" y="14832"/>
                </a:lnTo>
                <a:cubicBezTo>
                  <a:pt x="37959" y="11001"/>
                  <a:pt x="43232" y="10087"/>
                  <a:pt x="47027" y="12759"/>
                </a:cubicBezTo>
                <a:close/>
                <a:moveTo>
                  <a:pt x="47027" y="68995"/>
                </a:moveTo>
                <a:cubicBezTo>
                  <a:pt x="50859" y="71666"/>
                  <a:pt x="51772" y="76938"/>
                  <a:pt x="49101" y="80734"/>
                </a:cubicBezTo>
                <a:lnTo>
                  <a:pt x="29419" y="108852"/>
                </a:lnTo>
                <a:cubicBezTo>
                  <a:pt x="27977" y="110891"/>
                  <a:pt x="25728" y="112191"/>
                  <a:pt x="23233" y="112402"/>
                </a:cubicBezTo>
                <a:cubicBezTo>
                  <a:pt x="20737" y="112613"/>
                  <a:pt x="18277" y="111769"/>
                  <a:pt x="16519" y="110012"/>
                </a:cubicBezTo>
                <a:lnTo>
                  <a:pt x="2460" y="95953"/>
                </a:lnTo>
                <a:cubicBezTo>
                  <a:pt x="-844" y="92649"/>
                  <a:pt x="-844" y="87307"/>
                  <a:pt x="2460" y="84038"/>
                </a:cubicBezTo>
                <a:cubicBezTo>
                  <a:pt x="5764" y="80769"/>
                  <a:pt x="11107" y="80734"/>
                  <a:pt x="14375" y="84038"/>
                </a:cubicBezTo>
                <a:lnTo>
                  <a:pt x="21335" y="90997"/>
                </a:lnTo>
                <a:lnTo>
                  <a:pt x="35253" y="71104"/>
                </a:lnTo>
                <a:cubicBezTo>
                  <a:pt x="37924" y="67273"/>
                  <a:pt x="43196" y="66359"/>
                  <a:pt x="46992" y="69030"/>
                </a:cubicBezTo>
                <a:close/>
                <a:moveTo>
                  <a:pt x="78731" y="33742"/>
                </a:moveTo>
                <a:cubicBezTo>
                  <a:pt x="78731" y="27521"/>
                  <a:pt x="83757" y="22494"/>
                  <a:pt x="89978" y="22494"/>
                </a:cubicBezTo>
                <a:lnTo>
                  <a:pt x="168708" y="22494"/>
                </a:lnTo>
                <a:cubicBezTo>
                  <a:pt x="174930" y="22494"/>
                  <a:pt x="179956" y="27521"/>
                  <a:pt x="179956" y="33742"/>
                </a:cubicBezTo>
                <a:cubicBezTo>
                  <a:pt x="179956" y="39963"/>
                  <a:pt x="174930" y="44989"/>
                  <a:pt x="168708" y="44989"/>
                </a:cubicBezTo>
                <a:lnTo>
                  <a:pt x="89978" y="44989"/>
                </a:lnTo>
                <a:cubicBezTo>
                  <a:pt x="83757" y="44989"/>
                  <a:pt x="78731" y="39963"/>
                  <a:pt x="78731" y="33742"/>
                </a:cubicBezTo>
                <a:close/>
                <a:moveTo>
                  <a:pt x="78731" y="89978"/>
                </a:moveTo>
                <a:cubicBezTo>
                  <a:pt x="78731" y="83757"/>
                  <a:pt x="83757" y="78731"/>
                  <a:pt x="89978" y="78731"/>
                </a:cubicBezTo>
                <a:lnTo>
                  <a:pt x="168708" y="78731"/>
                </a:lnTo>
                <a:cubicBezTo>
                  <a:pt x="174930" y="78731"/>
                  <a:pt x="179956" y="83757"/>
                  <a:pt x="179956" y="89978"/>
                </a:cubicBezTo>
                <a:cubicBezTo>
                  <a:pt x="179956" y="96199"/>
                  <a:pt x="174930" y="101225"/>
                  <a:pt x="168708" y="101225"/>
                </a:cubicBezTo>
                <a:lnTo>
                  <a:pt x="89978" y="101225"/>
                </a:lnTo>
                <a:cubicBezTo>
                  <a:pt x="83757" y="101225"/>
                  <a:pt x="78731" y="96199"/>
                  <a:pt x="78731" y="89978"/>
                </a:cubicBezTo>
                <a:close/>
                <a:moveTo>
                  <a:pt x="56236" y="146214"/>
                </a:moveTo>
                <a:cubicBezTo>
                  <a:pt x="56236" y="139993"/>
                  <a:pt x="61262" y="134967"/>
                  <a:pt x="67483" y="134967"/>
                </a:cubicBezTo>
                <a:lnTo>
                  <a:pt x="168708" y="134967"/>
                </a:lnTo>
                <a:cubicBezTo>
                  <a:pt x="174930" y="134967"/>
                  <a:pt x="179956" y="139993"/>
                  <a:pt x="179956" y="146214"/>
                </a:cubicBezTo>
                <a:cubicBezTo>
                  <a:pt x="179956" y="152435"/>
                  <a:pt x="174930" y="157461"/>
                  <a:pt x="168708" y="157461"/>
                </a:cubicBezTo>
                <a:lnTo>
                  <a:pt x="67483" y="157461"/>
                </a:lnTo>
                <a:cubicBezTo>
                  <a:pt x="61262" y="157461"/>
                  <a:pt x="56236" y="152435"/>
                  <a:pt x="56236" y="146214"/>
                </a:cubicBezTo>
                <a:close/>
                <a:moveTo>
                  <a:pt x="22494" y="132155"/>
                </a:moveTo>
                <a:cubicBezTo>
                  <a:pt x="30254" y="132155"/>
                  <a:pt x="36554" y="138455"/>
                  <a:pt x="36554" y="146214"/>
                </a:cubicBezTo>
                <a:cubicBezTo>
                  <a:pt x="36554" y="153973"/>
                  <a:pt x="30254" y="160273"/>
                  <a:pt x="22494" y="160273"/>
                </a:cubicBezTo>
                <a:cubicBezTo>
                  <a:pt x="14735" y="160273"/>
                  <a:pt x="8435" y="153973"/>
                  <a:pt x="8435" y="146214"/>
                </a:cubicBezTo>
                <a:cubicBezTo>
                  <a:pt x="8435" y="138455"/>
                  <a:pt x="14735" y="132155"/>
                  <a:pt x="22494" y="13215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460419" y="1313677"/>
            <a:ext cx="62804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Role Responsibilities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9073" y="1713178"/>
            <a:ext cx="2031700" cy="1878738"/>
          </a:xfrm>
          <a:custGeom>
            <a:avLst/>
            <a:gdLst/>
            <a:ahLst/>
            <a:cxnLst/>
            <a:rect l="l" t="t" r="r" b="b"/>
            <a:pathLst>
              <a:path w="2031700" h="1878738">
                <a:moveTo>
                  <a:pt x="35997" y="0"/>
                </a:moveTo>
                <a:lnTo>
                  <a:pt x="1995703" y="0"/>
                </a:lnTo>
                <a:cubicBezTo>
                  <a:pt x="2015584" y="0"/>
                  <a:pt x="2031700" y="16116"/>
                  <a:pt x="2031700" y="35997"/>
                </a:cubicBezTo>
                <a:lnTo>
                  <a:pt x="2031700" y="1842741"/>
                </a:lnTo>
                <a:cubicBezTo>
                  <a:pt x="2031700" y="1862621"/>
                  <a:pt x="2015584" y="1878738"/>
                  <a:pt x="1995703" y="1878738"/>
                </a:cubicBezTo>
                <a:lnTo>
                  <a:pt x="35997" y="1878738"/>
                </a:lnTo>
                <a:cubicBezTo>
                  <a:pt x="16116" y="1878738"/>
                  <a:pt x="0" y="1862621"/>
                  <a:pt x="0" y="1842741"/>
                </a:cubicBezTo>
                <a:lnTo>
                  <a:pt x="0" y="35997"/>
                </a:lnTo>
                <a:cubicBezTo>
                  <a:pt x="0" y="16116"/>
                  <a:pt x="16116" y="0"/>
                  <a:pt x="359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86637" y="1860743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35990" y="0"/>
                </a:moveTo>
                <a:lnTo>
                  <a:pt x="395904" y="0"/>
                </a:lnTo>
                <a:cubicBezTo>
                  <a:pt x="415781" y="0"/>
                  <a:pt x="431894" y="16113"/>
                  <a:pt x="431894" y="35990"/>
                </a:cubicBezTo>
                <a:lnTo>
                  <a:pt x="431894" y="395904"/>
                </a:lnTo>
                <a:cubicBezTo>
                  <a:pt x="431894" y="415781"/>
                  <a:pt x="415781" y="431894"/>
                  <a:pt x="395904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535101" y="1986712"/>
            <a:ext cx="134967" cy="179956"/>
          </a:xfrm>
          <a:custGeom>
            <a:avLst/>
            <a:gdLst/>
            <a:ahLst/>
            <a:cxnLst/>
            <a:rect l="l" t="t" r="r" b="b"/>
            <a:pathLst>
              <a:path w="134967" h="179956">
                <a:moveTo>
                  <a:pt x="22494" y="0"/>
                </a:moveTo>
                <a:cubicBezTo>
                  <a:pt x="10087" y="0"/>
                  <a:pt x="0" y="10087"/>
                  <a:pt x="0" y="22494"/>
                </a:cubicBezTo>
                <a:lnTo>
                  <a:pt x="0" y="157461"/>
                </a:lnTo>
                <a:cubicBezTo>
                  <a:pt x="0" y="169868"/>
                  <a:pt x="10087" y="179956"/>
                  <a:pt x="22494" y="179956"/>
                </a:cubicBezTo>
                <a:lnTo>
                  <a:pt x="112472" y="179956"/>
                </a:lnTo>
                <a:cubicBezTo>
                  <a:pt x="124879" y="179956"/>
                  <a:pt x="134967" y="169868"/>
                  <a:pt x="134967" y="157461"/>
                </a:cubicBezTo>
                <a:lnTo>
                  <a:pt x="134967" y="59927"/>
                </a:lnTo>
                <a:cubicBezTo>
                  <a:pt x="134967" y="53952"/>
                  <a:pt x="132612" y="48223"/>
                  <a:pt x="128394" y="44005"/>
                </a:cubicBezTo>
                <a:lnTo>
                  <a:pt x="90927" y="6573"/>
                </a:lnTo>
                <a:cubicBezTo>
                  <a:pt x="86709" y="2355"/>
                  <a:pt x="81015" y="0"/>
                  <a:pt x="75040" y="0"/>
                </a:cubicBezTo>
                <a:lnTo>
                  <a:pt x="22494" y="0"/>
                </a:lnTo>
                <a:close/>
                <a:moveTo>
                  <a:pt x="114405" y="61860"/>
                </a:moveTo>
                <a:lnTo>
                  <a:pt x="81542" y="61860"/>
                </a:lnTo>
                <a:cubicBezTo>
                  <a:pt x="76868" y="61860"/>
                  <a:pt x="73107" y="58099"/>
                  <a:pt x="73107" y="53424"/>
                </a:cubicBezTo>
                <a:lnTo>
                  <a:pt x="73107" y="20561"/>
                </a:lnTo>
                <a:lnTo>
                  <a:pt x="114405" y="61860"/>
                </a:lnTo>
                <a:close/>
                <a:moveTo>
                  <a:pt x="22494" y="134967"/>
                </a:moveTo>
                <a:lnTo>
                  <a:pt x="22494" y="112472"/>
                </a:lnTo>
                <a:cubicBezTo>
                  <a:pt x="22494" y="106251"/>
                  <a:pt x="27521" y="101225"/>
                  <a:pt x="33742" y="101225"/>
                </a:cubicBezTo>
                <a:lnTo>
                  <a:pt x="101225" y="101225"/>
                </a:lnTo>
                <a:cubicBezTo>
                  <a:pt x="107446" y="101225"/>
                  <a:pt x="112472" y="106251"/>
                  <a:pt x="112472" y="112472"/>
                </a:cubicBezTo>
                <a:lnTo>
                  <a:pt x="112472" y="134967"/>
                </a:lnTo>
                <a:cubicBezTo>
                  <a:pt x="112472" y="141188"/>
                  <a:pt x="107446" y="146214"/>
                  <a:pt x="101225" y="146214"/>
                </a:cubicBezTo>
                <a:lnTo>
                  <a:pt x="33742" y="146214"/>
                </a:lnTo>
                <a:cubicBezTo>
                  <a:pt x="27521" y="146214"/>
                  <a:pt x="22494" y="141188"/>
                  <a:pt x="22494" y="134967"/>
                </a:cubicBezTo>
                <a:close/>
                <a:moveTo>
                  <a:pt x="30930" y="22494"/>
                </a:moveTo>
                <a:lnTo>
                  <a:pt x="47801" y="22494"/>
                </a:lnTo>
                <a:cubicBezTo>
                  <a:pt x="52475" y="22494"/>
                  <a:pt x="56236" y="26255"/>
                  <a:pt x="56236" y="30930"/>
                </a:cubicBezTo>
                <a:cubicBezTo>
                  <a:pt x="56236" y="35605"/>
                  <a:pt x="52475" y="39365"/>
                  <a:pt x="47801" y="39365"/>
                </a:cubicBezTo>
                <a:lnTo>
                  <a:pt x="30930" y="39365"/>
                </a:lnTo>
                <a:cubicBezTo>
                  <a:pt x="26255" y="39365"/>
                  <a:pt x="22494" y="35605"/>
                  <a:pt x="22494" y="30930"/>
                </a:cubicBezTo>
                <a:cubicBezTo>
                  <a:pt x="22494" y="26255"/>
                  <a:pt x="26255" y="22494"/>
                  <a:pt x="30930" y="22494"/>
                </a:cubicBezTo>
                <a:close/>
                <a:moveTo>
                  <a:pt x="30930" y="56236"/>
                </a:moveTo>
                <a:lnTo>
                  <a:pt x="47801" y="56236"/>
                </a:lnTo>
                <a:cubicBezTo>
                  <a:pt x="52475" y="56236"/>
                  <a:pt x="56236" y="59997"/>
                  <a:pt x="56236" y="64672"/>
                </a:cubicBezTo>
                <a:cubicBezTo>
                  <a:pt x="56236" y="69346"/>
                  <a:pt x="52475" y="73107"/>
                  <a:pt x="47801" y="73107"/>
                </a:cubicBezTo>
                <a:lnTo>
                  <a:pt x="30930" y="73107"/>
                </a:lnTo>
                <a:cubicBezTo>
                  <a:pt x="26255" y="73107"/>
                  <a:pt x="22494" y="69346"/>
                  <a:pt x="22494" y="64672"/>
                </a:cubicBezTo>
                <a:cubicBezTo>
                  <a:pt x="22494" y="59997"/>
                  <a:pt x="26255" y="56236"/>
                  <a:pt x="30930" y="562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5386637" y="2400610"/>
            <a:ext cx="180855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 Invoices &amp; Billing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86637" y="2688539"/>
            <a:ext cx="1799557" cy="539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vendor invoices, customer billing, payment tracking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24861" y="1713178"/>
            <a:ext cx="2031700" cy="1878738"/>
          </a:xfrm>
          <a:custGeom>
            <a:avLst/>
            <a:gdLst/>
            <a:ahLst/>
            <a:cxnLst/>
            <a:rect l="l" t="t" r="r" b="b"/>
            <a:pathLst>
              <a:path w="2031700" h="1878738">
                <a:moveTo>
                  <a:pt x="35997" y="0"/>
                </a:moveTo>
                <a:lnTo>
                  <a:pt x="1995703" y="0"/>
                </a:lnTo>
                <a:cubicBezTo>
                  <a:pt x="2015584" y="0"/>
                  <a:pt x="2031700" y="16116"/>
                  <a:pt x="2031700" y="35997"/>
                </a:cubicBezTo>
                <a:lnTo>
                  <a:pt x="2031700" y="1842741"/>
                </a:lnTo>
                <a:cubicBezTo>
                  <a:pt x="2031700" y="1862621"/>
                  <a:pt x="2015584" y="1878738"/>
                  <a:pt x="1995703" y="1878738"/>
                </a:cubicBezTo>
                <a:lnTo>
                  <a:pt x="35997" y="1878738"/>
                </a:lnTo>
                <a:cubicBezTo>
                  <a:pt x="16116" y="1878738"/>
                  <a:pt x="0" y="1862621"/>
                  <a:pt x="0" y="1842741"/>
                </a:cubicBezTo>
                <a:lnTo>
                  <a:pt x="0" y="35997"/>
                </a:lnTo>
                <a:cubicBezTo>
                  <a:pt x="0" y="16116"/>
                  <a:pt x="16116" y="0"/>
                  <a:pt x="359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72424" y="1860743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35990" y="0"/>
                </a:moveTo>
                <a:lnTo>
                  <a:pt x="395904" y="0"/>
                </a:lnTo>
                <a:cubicBezTo>
                  <a:pt x="415781" y="0"/>
                  <a:pt x="431894" y="16113"/>
                  <a:pt x="431894" y="35990"/>
                </a:cubicBezTo>
                <a:lnTo>
                  <a:pt x="431894" y="395904"/>
                </a:lnTo>
                <a:cubicBezTo>
                  <a:pt x="431894" y="415781"/>
                  <a:pt x="415781" y="431894"/>
                  <a:pt x="395904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709641" y="1986712"/>
            <a:ext cx="157461" cy="179956"/>
          </a:xfrm>
          <a:custGeom>
            <a:avLst/>
            <a:gdLst/>
            <a:ahLst/>
            <a:cxnLst/>
            <a:rect l="l" t="t" r="r" b="b"/>
            <a:pathLst>
              <a:path w="157461" h="179956">
                <a:moveTo>
                  <a:pt x="134967" y="179956"/>
                </a:moveTo>
                <a:lnTo>
                  <a:pt x="33742" y="179956"/>
                </a:lnTo>
                <a:cubicBezTo>
                  <a:pt x="15113" y="179956"/>
                  <a:pt x="0" y="164842"/>
                  <a:pt x="0" y="146214"/>
                </a:cubicBezTo>
                <a:lnTo>
                  <a:pt x="0" y="33742"/>
                </a:lnTo>
                <a:cubicBezTo>
                  <a:pt x="0" y="15113"/>
                  <a:pt x="15113" y="0"/>
                  <a:pt x="33742" y="0"/>
                </a:cubicBezTo>
                <a:lnTo>
                  <a:pt x="140590" y="0"/>
                </a:lnTo>
                <a:cubicBezTo>
                  <a:pt x="149905" y="0"/>
                  <a:pt x="157461" y="7557"/>
                  <a:pt x="157461" y="16871"/>
                </a:cubicBezTo>
                <a:lnTo>
                  <a:pt x="157461" y="118096"/>
                </a:lnTo>
                <a:cubicBezTo>
                  <a:pt x="157461" y="125442"/>
                  <a:pt x="152751" y="131698"/>
                  <a:pt x="146214" y="134018"/>
                </a:cubicBezTo>
                <a:lnTo>
                  <a:pt x="146214" y="157461"/>
                </a:lnTo>
                <a:cubicBezTo>
                  <a:pt x="152435" y="157461"/>
                  <a:pt x="157461" y="162487"/>
                  <a:pt x="157461" y="168708"/>
                </a:cubicBezTo>
                <a:cubicBezTo>
                  <a:pt x="157461" y="174930"/>
                  <a:pt x="152435" y="179956"/>
                  <a:pt x="146214" y="179956"/>
                </a:cubicBezTo>
                <a:lnTo>
                  <a:pt x="134967" y="179956"/>
                </a:lnTo>
                <a:close/>
                <a:moveTo>
                  <a:pt x="33742" y="134967"/>
                </a:moveTo>
                <a:cubicBezTo>
                  <a:pt x="27521" y="134967"/>
                  <a:pt x="22494" y="139993"/>
                  <a:pt x="22494" y="146214"/>
                </a:cubicBezTo>
                <a:cubicBezTo>
                  <a:pt x="22494" y="152435"/>
                  <a:pt x="27521" y="157461"/>
                  <a:pt x="33742" y="157461"/>
                </a:cubicBezTo>
                <a:lnTo>
                  <a:pt x="123720" y="157461"/>
                </a:lnTo>
                <a:lnTo>
                  <a:pt x="123720" y="134967"/>
                </a:lnTo>
                <a:lnTo>
                  <a:pt x="33742" y="134967"/>
                </a:lnTo>
                <a:close/>
                <a:moveTo>
                  <a:pt x="44989" y="53424"/>
                </a:moveTo>
                <a:cubicBezTo>
                  <a:pt x="44989" y="58099"/>
                  <a:pt x="48750" y="61860"/>
                  <a:pt x="53424" y="61860"/>
                </a:cubicBezTo>
                <a:lnTo>
                  <a:pt x="115284" y="61860"/>
                </a:lnTo>
                <a:cubicBezTo>
                  <a:pt x="119959" y="61860"/>
                  <a:pt x="123720" y="58099"/>
                  <a:pt x="123720" y="53424"/>
                </a:cubicBezTo>
                <a:cubicBezTo>
                  <a:pt x="123720" y="48750"/>
                  <a:pt x="119959" y="44989"/>
                  <a:pt x="115284" y="44989"/>
                </a:cubicBezTo>
                <a:lnTo>
                  <a:pt x="53424" y="44989"/>
                </a:lnTo>
                <a:cubicBezTo>
                  <a:pt x="48750" y="44989"/>
                  <a:pt x="44989" y="48750"/>
                  <a:pt x="44989" y="53424"/>
                </a:cubicBezTo>
                <a:close/>
                <a:moveTo>
                  <a:pt x="53424" y="78731"/>
                </a:moveTo>
                <a:cubicBezTo>
                  <a:pt x="48750" y="78731"/>
                  <a:pt x="44989" y="82491"/>
                  <a:pt x="44989" y="87166"/>
                </a:cubicBezTo>
                <a:cubicBezTo>
                  <a:pt x="44989" y="91841"/>
                  <a:pt x="48750" y="95601"/>
                  <a:pt x="53424" y="95601"/>
                </a:cubicBezTo>
                <a:lnTo>
                  <a:pt x="115284" y="95601"/>
                </a:lnTo>
                <a:cubicBezTo>
                  <a:pt x="119959" y="95601"/>
                  <a:pt x="123720" y="91841"/>
                  <a:pt x="123720" y="87166"/>
                </a:cubicBezTo>
                <a:cubicBezTo>
                  <a:pt x="123720" y="82491"/>
                  <a:pt x="119959" y="78731"/>
                  <a:pt x="115284" y="78731"/>
                </a:cubicBezTo>
                <a:lnTo>
                  <a:pt x="53424" y="7873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7572424" y="2400610"/>
            <a:ext cx="1808555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Maintain Purchase &amp; Sales Records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72424" y="2904486"/>
            <a:ext cx="1799557" cy="539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transactions, inventory accounting, stock valuation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610648" y="1713178"/>
            <a:ext cx="2031700" cy="1878738"/>
          </a:xfrm>
          <a:custGeom>
            <a:avLst/>
            <a:gdLst/>
            <a:ahLst/>
            <a:cxnLst/>
            <a:rect l="l" t="t" r="r" b="b"/>
            <a:pathLst>
              <a:path w="2031700" h="1878738">
                <a:moveTo>
                  <a:pt x="35997" y="0"/>
                </a:moveTo>
                <a:lnTo>
                  <a:pt x="1995703" y="0"/>
                </a:lnTo>
                <a:cubicBezTo>
                  <a:pt x="2015584" y="0"/>
                  <a:pt x="2031700" y="16116"/>
                  <a:pt x="2031700" y="35997"/>
                </a:cubicBezTo>
                <a:lnTo>
                  <a:pt x="2031700" y="1842741"/>
                </a:lnTo>
                <a:cubicBezTo>
                  <a:pt x="2031700" y="1862621"/>
                  <a:pt x="2015584" y="1878738"/>
                  <a:pt x="1995703" y="1878738"/>
                </a:cubicBezTo>
                <a:lnTo>
                  <a:pt x="35997" y="1878738"/>
                </a:lnTo>
                <a:cubicBezTo>
                  <a:pt x="16116" y="1878738"/>
                  <a:pt x="0" y="1862621"/>
                  <a:pt x="0" y="1842741"/>
                </a:cubicBezTo>
                <a:lnTo>
                  <a:pt x="0" y="35997"/>
                </a:lnTo>
                <a:cubicBezTo>
                  <a:pt x="0" y="16116"/>
                  <a:pt x="16116" y="0"/>
                  <a:pt x="359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58212" y="1860743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35990" y="0"/>
                </a:moveTo>
                <a:lnTo>
                  <a:pt x="395904" y="0"/>
                </a:lnTo>
                <a:cubicBezTo>
                  <a:pt x="415781" y="0"/>
                  <a:pt x="431894" y="16113"/>
                  <a:pt x="431894" y="35990"/>
                </a:cubicBezTo>
                <a:lnTo>
                  <a:pt x="431894" y="395904"/>
                </a:lnTo>
                <a:cubicBezTo>
                  <a:pt x="431894" y="415781"/>
                  <a:pt x="415781" y="431894"/>
                  <a:pt x="395904" y="431894"/>
                </a:cubicBezTo>
                <a:lnTo>
                  <a:pt x="35990" y="431894"/>
                </a:lnTo>
                <a:cubicBezTo>
                  <a:pt x="16113" y="431894"/>
                  <a:pt x="0" y="415781"/>
                  <a:pt x="0" y="395904"/>
                </a:cubicBezTo>
                <a:lnTo>
                  <a:pt x="0" y="35990"/>
                </a:lnTo>
                <a:cubicBezTo>
                  <a:pt x="0" y="16126"/>
                  <a:pt x="16126" y="0"/>
                  <a:pt x="3599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906675" y="1986712"/>
            <a:ext cx="134967" cy="179956"/>
          </a:xfrm>
          <a:custGeom>
            <a:avLst/>
            <a:gdLst/>
            <a:ahLst/>
            <a:cxnLst/>
            <a:rect l="l" t="t" r="r" b="b"/>
            <a:pathLst>
              <a:path w="134967" h="179956">
                <a:moveTo>
                  <a:pt x="109450" y="11247"/>
                </a:moveTo>
                <a:lnTo>
                  <a:pt x="112472" y="11247"/>
                </a:lnTo>
                <a:cubicBezTo>
                  <a:pt x="124879" y="11247"/>
                  <a:pt x="134967" y="21335"/>
                  <a:pt x="134967" y="33742"/>
                </a:cubicBezTo>
                <a:lnTo>
                  <a:pt x="134967" y="157461"/>
                </a:lnTo>
                <a:cubicBezTo>
                  <a:pt x="134967" y="169868"/>
                  <a:pt x="124879" y="179956"/>
                  <a:pt x="112472" y="179956"/>
                </a:cubicBezTo>
                <a:lnTo>
                  <a:pt x="22494" y="179956"/>
                </a:lnTo>
                <a:cubicBezTo>
                  <a:pt x="10087" y="179956"/>
                  <a:pt x="0" y="169868"/>
                  <a:pt x="0" y="157461"/>
                </a:cubicBezTo>
                <a:lnTo>
                  <a:pt x="0" y="33742"/>
                </a:lnTo>
                <a:cubicBezTo>
                  <a:pt x="0" y="21335"/>
                  <a:pt x="10087" y="11247"/>
                  <a:pt x="22494" y="11247"/>
                </a:cubicBezTo>
                <a:lnTo>
                  <a:pt x="25517" y="11247"/>
                </a:lnTo>
                <a:cubicBezTo>
                  <a:pt x="29383" y="4534"/>
                  <a:pt x="36659" y="0"/>
                  <a:pt x="44989" y="0"/>
                </a:cubicBezTo>
                <a:lnTo>
                  <a:pt x="89978" y="0"/>
                </a:lnTo>
                <a:cubicBezTo>
                  <a:pt x="98308" y="0"/>
                  <a:pt x="105583" y="4534"/>
                  <a:pt x="109450" y="11247"/>
                </a:cubicBezTo>
                <a:close/>
                <a:moveTo>
                  <a:pt x="87166" y="39365"/>
                </a:moveTo>
                <a:cubicBezTo>
                  <a:pt x="91841" y="39365"/>
                  <a:pt x="95601" y="35605"/>
                  <a:pt x="95601" y="30930"/>
                </a:cubicBezTo>
                <a:cubicBezTo>
                  <a:pt x="95601" y="26255"/>
                  <a:pt x="91841" y="22494"/>
                  <a:pt x="87166" y="22494"/>
                </a:cubicBezTo>
                <a:lnTo>
                  <a:pt x="47801" y="22494"/>
                </a:lnTo>
                <a:cubicBezTo>
                  <a:pt x="43126" y="22494"/>
                  <a:pt x="39365" y="26255"/>
                  <a:pt x="39365" y="30930"/>
                </a:cubicBezTo>
                <a:cubicBezTo>
                  <a:pt x="39365" y="35605"/>
                  <a:pt x="43126" y="39365"/>
                  <a:pt x="47801" y="39365"/>
                </a:cubicBezTo>
                <a:lnTo>
                  <a:pt x="87166" y="39365"/>
                </a:lnTo>
                <a:close/>
                <a:moveTo>
                  <a:pt x="97148" y="91630"/>
                </a:moveTo>
                <a:cubicBezTo>
                  <a:pt x="99608" y="87693"/>
                  <a:pt x="98413" y="82491"/>
                  <a:pt x="94477" y="79996"/>
                </a:cubicBezTo>
                <a:cubicBezTo>
                  <a:pt x="90540" y="77500"/>
                  <a:pt x="85338" y="78731"/>
                  <a:pt x="82843" y="82667"/>
                </a:cubicBezTo>
                <a:lnTo>
                  <a:pt x="61262" y="117217"/>
                </a:lnTo>
                <a:lnTo>
                  <a:pt x="51772" y="104564"/>
                </a:lnTo>
                <a:cubicBezTo>
                  <a:pt x="48961" y="100838"/>
                  <a:pt x="43688" y="100065"/>
                  <a:pt x="39963" y="102877"/>
                </a:cubicBezTo>
                <a:cubicBezTo>
                  <a:pt x="36237" y="105689"/>
                  <a:pt x="35464" y="110961"/>
                  <a:pt x="38276" y="114687"/>
                </a:cubicBezTo>
                <a:lnTo>
                  <a:pt x="55147" y="137181"/>
                </a:lnTo>
                <a:cubicBezTo>
                  <a:pt x="56799" y="139395"/>
                  <a:pt x="59470" y="140661"/>
                  <a:pt x="62246" y="140555"/>
                </a:cubicBezTo>
                <a:cubicBezTo>
                  <a:pt x="65023" y="140450"/>
                  <a:pt x="67554" y="138974"/>
                  <a:pt x="69030" y="136584"/>
                </a:cubicBezTo>
                <a:lnTo>
                  <a:pt x="97148" y="9159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9758212" y="2400610"/>
            <a:ext cx="180855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Assist in Financial Audits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58212" y="2688539"/>
            <a:ext cx="1799557" cy="539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audit preparation, documentation, compliance checks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37523" y="3919436"/>
            <a:ext cx="6793328" cy="2654347"/>
          </a:xfrm>
          <a:custGeom>
            <a:avLst/>
            <a:gdLst/>
            <a:ahLst/>
            <a:cxnLst/>
            <a:rect l="l" t="t" r="r" b="b"/>
            <a:pathLst>
              <a:path w="6793328" h="2654347">
                <a:moveTo>
                  <a:pt x="0" y="0"/>
                </a:moveTo>
                <a:lnTo>
                  <a:pt x="6757335" y="0"/>
                </a:lnTo>
                <a:cubicBezTo>
                  <a:pt x="6777214" y="0"/>
                  <a:pt x="6793328" y="16115"/>
                  <a:pt x="6793328" y="35993"/>
                </a:cubicBezTo>
                <a:lnTo>
                  <a:pt x="6793328" y="2618354"/>
                </a:lnTo>
                <a:cubicBezTo>
                  <a:pt x="6793328" y="2638232"/>
                  <a:pt x="6777214" y="2654347"/>
                  <a:pt x="6757335" y="2654347"/>
                </a:cubicBezTo>
                <a:lnTo>
                  <a:pt x="0" y="265434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9" name="Shape 47"/>
          <p:cNvSpPr/>
          <p:nvPr/>
        </p:nvSpPr>
        <p:spPr>
          <a:xfrm>
            <a:off x="5037523" y="3919436"/>
            <a:ext cx="35991" cy="2654347"/>
          </a:xfrm>
          <a:custGeom>
            <a:avLst/>
            <a:gdLst/>
            <a:ahLst/>
            <a:cxnLst/>
            <a:rect l="l" t="t" r="r" b="b"/>
            <a:pathLst>
              <a:path w="35991" h="2654347">
                <a:moveTo>
                  <a:pt x="0" y="0"/>
                </a:moveTo>
                <a:lnTo>
                  <a:pt x="35991" y="0"/>
                </a:lnTo>
                <a:lnTo>
                  <a:pt x="35991" y="2654347"/>
                </a:lnTo>
                <a:lnTo>
                  <a:pt x="0" y="2654347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50" name="Shape 48"/>
          <p:cNvSpPr/>
          <p:nvPr/>
        </p:nvSpPr>
        <p:spPr>
          <a:xfrm>
            <a:off x="5246721" y="4135383"/>
            <a:ext cx="202450" cy="179956"/>
          </a:xfrm>
          <a:custGeom>
            <a:avLst/>
            <a:gdLst/>
            <a:ahLst/>
            <a:cxnLst/>
            <a:rect l="l" t="t" r="r" b="b"/>
            <a:pathLst>
              <a:path w="202450" h="179956">
                <a:moveTo>
                  <a:pt x="16871" y="68819"/>
                </a:moveTo>
                <a:lnTo>
                  <a:pt x="90400" y="99081"/>
                </a:lnTo>
                <a:cubicBezTo>
                  <a:pt x="93844" y="100487"/>
                  <a:pt x="97499" y="101225"/>
                  <a:pt x="101225" y="101225"/>
                </a:cubicBezTo>
                <a:cubicBezTo>
                  <a:pt x="104951" y="101225"/>
                  <a:pt x="108606" y="100487"/>
                  <a:pt x="112051" y="99081"/>
                </a:cubicBezTo>
                <a:lnTo>
                  <a:pt x="197248" y="64004"/>
                </a:lnTo>
                <a:cubicBezTo>
                  <a:pt x="200412" y="62703"/>
                  <a:pt x="202450" y="59645"/>
                  <a:pt x="202450" y="56236"/>
                </a:cubicBezTo>
                <a:cubicBezTo>
                  <a:pt x="202450" y="52827"/>
                  <a:pt x="200412" y="49769"/>
                  <a:pt x="197248" y="48469"/>
                </a:cubicBezTo>
                <a:lnTo>
                  <a:pt x="112051" y="13391"/>
                </a:lnTo>
                <a:cubicBezTo>
                  <a:pt x="108606" y="11985"/>
                  <a:pt x="104951" y="11247"/>
                  <a:pt x="101225" y="11247"/>
                </a:cubicBezTo>
                <a:cubicBezTo>
                  <a:pt x="97499" y="11247"/>
                  <a:pt x="93844" y="11985"/>
                  <a:pt x="90400" y="13391"/>
                </a:cubicBezTo>
                <a:lnTo>
                  <a:pt x="5202" y="48469"/>
                </a:lnTo>
                <a:cubicBezTo>
                  <a:pt x="2039" y="49769"/>
                  <a:pt x="0" y="52827"/>
                  <a:pt x="0" y="56236"/>
                </a:cubicBezTo>
                <a:lnTo>
                  <a:pt x="0" y="160273"/>
                </a:lnTo>
                <a:cubicBezTo>
                  <a:pt x="0" y="164948"/>
                  <a:pt x="3761" y="168708"/>
                  <a:pt x="8435" y="168708"/>
                </a:cubicBezTo>
                <a:cubicBezTo>
                  <a:pt x="13110" y="168708"/>
                  <a:pt x="16871" y="164948"/>
                  <a:pt x="16871" y="160273"/>
                </a:cubicBezTo>
                <a:lnTo>
                  <a:pt x="16871" y="68819"/>
                </a:lnTo>
                <a:close/>
                <a:moveTo>
                  <a:pt x="33742" y="94020"/>
                </a:moveTo>
                <a:lnTo>
                  <a:pt x="33742" y="134967"/>
                </a:lnTo>
                <a:cubicBezTo>
                  <a:pt x="33742" y="153595"/>
                  <a:pt x="63969" y="168708"/>
                  <a:pt x="101225" y="168708"/>
                </a:cubicBezTo>
                <a:cubicBezTo>
                  <a:pt x="138482" y="168708"/>
                  <a:pt x="168708" y="153595"/>
                  <a:pt x="168708" y="134967"/>
                </a:cubicBezTo>
                <a:lnTo>
                  <a:pt x="168708" y="93985"/>
                </a:lnTo>
                <a:lnTo>
                  <a:pt x="118483" y="114687"/>
                </a:lnTo>
                <a:cubicBezTo>
                  <a:pt x="113000" y="116936"/>
                  <a:pt x="107165" y="118096"/>
                  <a:pt x="101225" y="118096"/>
                </a:cubicBezTo>
                <a:cubicBezTo>
                  <a:pt x="95285" y="118096"/>
                  <a:pt x="89451" y="116936"/>
                  <a:pt x="83968" y="114687"/>
                </a:cubicBezTo>
                <a:lnTo>
                  <a:pt x="33742" y="93985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1" name="Text 49"/>
          <p:cNvSpPr/>
          <p:nvPr/>
        </p:nvSpPr>
        <p:spPr>
          <a:xfrm>
            <a:off x="5460419" y="4099392"/>
            <a:ext cx="62804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Entry Level Skills Required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35474" y="4495295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35991" y="0"/>
                </a:moveTo>
                <a:lnTo>
                  <a:pt x="251938" y="0"/>
                </a:lnTo>
                <a:cubicBezTo>
                  <a:pt x="271815" y="0"/>
                  <a:pt x="287929" y="16114"/>
                  <a:pt x="287929" y="35991"/>
                </a:cubicBezTo>
                <a:lnTo>
                  <a:pt x="287929" y="251938"/>
                </a:lnTo>
                <a:cubicBezTo>
                  <a:pt x="287929" y="271815"/>
                  <a:pt x="271815" y="287929"/>
                  <a:pt x="251938" y="287929"/>
                </a:cubicBezTo>
                <a:lnTo>
                  <a:pt x="35991" y="287929"/>
                </a:lnTo>
                <a:cubicBezTo>
                  <a:pt x="16114" y="287929"/>
                  <a:pt x="0" y="271815"/>
                  <a:pt x="0" y="25193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5326577" y="4576275"/>
            <a:ext cx="110223" cy="125969"/>
          </a:xfrm>
          <a:custGeom>
            <a:avLst/>
            <a:gdLst/>
            <a:ahLst/>
            <a:cxnLst/>
            <a:rect l="l" t="t" r="r" b="b"/>
            <a:pathLst>
              <a:path w="110223" h="125969">
                <a:moveTo>
                  <a:pt x="106975" y="17247"/>
                </a:moveTo>
                <a:cubicBezTo>
                  <a:pt x="110494" y="19806"/>
                  <a:pt x="111281" y="24726"/>
                  <a:pt x="108722" y="28245"/>
                </a:cubicBezTo>
                <a:lnTo>
                  <a:pt x="45738" y="114848"/>
                </a:lnTo>
                <a:cubicBezTo>
                  <a:pt x="44384" y="116718"/>
                  <a:pt x="42293" y="117875"/>
                  <a:pt x="39980" y="118071"/>
                </a:cubicBezTo>
                <a:cubicBezTo>
                  <a:pt x="37668" y="118268"/>
                  <a:pt x="35429" y="117407"/>
                  <a:pt x="33805" y="115783"/>
                </a:cubicBezTo>
                <a:lnTo>
                  <a:pt x="2313" y="84291"/>
                </a:lnTo>
                <a:cubicBezTo>
                  <a:pt x="-763" y="81216"/>
                  <a:pt x="-763" y="76221"/>
                  <a:pt x="2313" y="73146"/>
                </a:cubicBezTo>
                <a:cubicBezTo>
                  <a:pt x="5388" y="70070"/>
                  <a:pt x="10383" y="70070"/>
                  <a:pt x="13458" y="73146"/>
                </a:cubicBezTo>
                <a:lnTo>
                  <a:pt x="38430" y="98118"/>
                </a:lnTo>
                <a:lnTo>
                  <a:pt x="96002" y="18969"/>
                </a:lnTo>
                <a:cubicBezTo>
                  <a:pt x="98561" y="15451"/>
                  <a:pt x="103482" y="14664"/>
                  <a:pt x="107000" y="17222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4" name="Text 52"/>
          <p:cNvSpPr/>
          <p:nvPr/>
        </p:nvSpPr>
        <p:spPr>
          <a:xfrm>
            <a:off x="5631377" y="4495295"/>
            <a:ext cx="206949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Bookkeeping Fundamentals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631377" y="4711242"/>
            <a:ext cx="206049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Double-entry system, journal entries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50146" y="4495295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35991" y="0"/>
                </a:moveTo>
                <a:lnTo>
                  <a:pt x="251938" y="0"/>
                </a:lnTo>
                <a:cubicBezTo>
                  <a:pt x="271815" y="0"/>
                  <a:pt x="287929" y="16114"/>
                  <a:pt x="287929" y="35991"/>
                </a:cubicBezTo>
                <a:lnTo>
                  <a:pt x="287929" y="251938"/>
                </a:lnTo>
                <a:cubicBezTo>
                  <a:pt x="287929" y="271815"/>
                  <a:pt x="271815" y="287929"/>
                  <a:pt x="251938" y="287929"/>
                </a:cubicBezTo>
                <a:lnTo>
                  <a:pt x="35991" y="287929"/>
                </a:lnTo>
                <a:cubicBezTo>
                  <a:pt x="16114" y="287929"/>
                  <a:pt x="0" y="271815"/>
                  <a:pt x="0" y="25193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8641249" y="4576275"/>
            <a:ext cx="110223" cy="125969"/>
          </a:xfrm>
          <a:custGeom>
            <a:avLst/>
            <a:gdLst/>
            <a:ahLst/>
            <a:cxnLst/>
            <a:rect l="l" t="t" r="r" b="b"/>
            <a:pathLst>
              <a:path w="110223" h="125969">
                <a:moveTo>
                  <a:pt x="106975" y="17247"/>
                </a:moveTo>
                <a:cubicBezTo>
                  <a:pt x="110494" y="19806"/>
                  <a:pt x="111281" y="24726"/>
                  <a:pt x="108722" y="28245"/>
                </a:cubicBezTo>
                <a:lnTo>
                  <a:pt x="45738" y="114848"/>
                </a:lnTo>
                <a:cubicBezTo>
                  <a:pt x="44384" y="116718"/>
                  <a:pt x="42293" y="117875"/>
                  <a:pt x="39980" y="118071"/>
                </a:cubicBezTo>
                <a:cubicBezTo>
                  <a:pt x="37668" y="118268"/>
                  <a:pt x="35429" y="117407"/>
                  <a:pt x="33805" y="115783"/>
                </a:cubicBezTo>
                <a:lnTo>
                  <a:pt x="2313" y="84291"/>
                </a:lnTo>
                <a:cubicBezTo>
                  <a:pt x="-763" y="81216"/>
                  <a:pt x="-763" y="76221"/>
                  <a:pt x="2313" y="73146"/>
                </a:cubicBezTo>
                <a:cubicBezTo>
                  <a:pt x="5388" y="70070"/>
                  <a:pt x="10383" y="70070"/>
                  <a:pt x="13458" y="73146"/>
                </a:cubicBezTo>
                <a:lnTo>
                  <a:pt x="38430" y="98118"/>
                </a:lnTo>
                <a:lnTo>
                  <a:pt x="96002" y="18969"/>
                </a:lnTo>
                <a:cubicBezTo>
                  <a:pt x="98561" y="15451"/>
                  <a:pt x="103482" y="14664"/>
                  <a:pt x="107000" y="17222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8" name="Text 56"/>
          <p:cNvSpPr/>
          <p:nvPr/>
        </p:nvSpPr>
        <p:spPr>
          <a:xfrm>
            <a:off x="8946049" y="4495295"/>
            <a:ext cx="209648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GST Filing Knowledge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946049" y="4711242"/>
            <a:ext cx="2087486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filing, input credit, compliance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235474" y="4999171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35991" y="0"/>
                </a:moveTo>
                <a:lnTo>
                  <a:pt x="251938" y="0"/>
                </a:lnTo>
                <a:cubicBezTo>
                  <a:pt x="271815" y="0"/>
                  <a:pt x="287929" y="16114"/>
                  <a:pt x="287929" y="35991"/>
                </a:cubicBezTo>
                <a:lnTo>
                  <a:pt x="287929" y="251938"/>
                </a:lnTo>
                <a:cubicBezTo>
                  <a:pt x="287929" y="271815"/>
                  <a:pt x="271815" y="287929"/>
                  <a:pt x="251938" y="287929"/>
                </a:cubicBezTo>
                <a:lnTo>
                  <a:pt x="35991" y="287929"/>
                </a:lnTo>
                <a:cubicBezTo>
                  <a:pt x="16114" y="287929"/>
                  <a:pt x="0" y="271815"/>
                  <a:pt x="0" y="25193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5326577" y="5080151"/>
            <a:ext cx="110223" cy="125969"/>
          </a:xfrm>
          <a:custGeom>
            <a:avLst/>
            <a:gdLst/>
            <a:ahLst/>
            <a:cxnLst/>
            <a:rect l="l" t="t" r="r" b="b"/>
            <a:pathLst>
              <a:path w="110223" h="125969">
                <a:moveTo>
                  <a:pt x="106975" y="17247"/>
                </a:moveTo>
                <a:cubicBezTo>
                  <a:pt x="110494" y="19806"/>
                  <a:pt x="111281" y="24726"/>
                  <a:pt x="108722" y="28245"/>
                </a:cubicBezTo>
                <a:lnTo>
                  <a:pt x="45738" y="114848"/>
                </a:lnTo>
                <a:cubicBezTo>
                  <a:pt x="44384" y="116718"/>
                  <a:pt x="42293" y="117875"/>
                  <a:pt x="39980" y="118071"/>
                </a:cubicBezTo>
                <a:cubicBezTo>
                  <a:pt x="37668" y="118268"/>
                  <a:pt x="35429" y="117407"/>
                  <a:pt x="33805" y="115783"/>
                </a:cubicBezTo>
                <a:lnTo>
                  <a:pt x="2313" y="84291"/>
                </a:lnTo>
                <a:cubicBezTo>
                  <a:pt x="-763" y="81216"/>
                  <a:pt x="-763" y="76221"/>
                  <a:pt x="2313" y="73146"/>
                </a:cubicBezTo>
                <a:cubicBezTo>
                  <a:pt x="5388" y="70070"/>
                  <a:pt x="10383" y="70070"/>
                  <a:pt x="13458" y="73146"/>
                </a:cubicBezTo>
                <a:lnTo>
                  <a:pt x="38430" y="98118"/>
                </a:lnTo>
                <a:lnTo>
                  <a:pt x="96002" y="18969"/>
                </a:lnTo>
                <a:cubicBezTo>
                  <a:pt x="98561" y="15451"/>
                  <a:pt x="103482" y="14664"/>
                  <a:pt x="107000" y="17222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2" name="Text 60"/>
          <p:cNvSpPr/>
          <p:nvPr/>
        </p:nvSpPr>
        <p:spPr>
          <a:xfrm>
            <a:off x="5631377" y="4999171"/>
            <a:ext cx="174557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Excel &amp; Documentation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631377" y="5215118"/>
            <a:ext cx="173657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Spreadsheets, financial reports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550146" y="4999171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35991" y="0"/>
                </a:moveTo>
                <a:lnTo>
                  <a:pt x="251938" y="0"/>
                </a:lnTo>
                <a:cubicBezTo>
                  <a:pt x="271815" y="0"/>
                  <a:pt x="287929" y="16114"/>
                  <a:pt x="287929" y="35991"/>
                </a:cubicBezTo>
                <a:lnTo>
                  <a:pt x="287929" y="251938"/>
                </a:lnTo>
                <a:cubicBezTo>
                  <a:pt x="287929" y="271815"/>
                  <a:pt x="271815" y="287929"/>
                  <a:pt x="251938" y="287929"/>
                </a:cubicBezTo>
                <a:lnTo>
                  <a:pt x="35991" y="287929"/>
                </a:lnTo>
                <a:cubicBezTo>
                  <a:pt x="16114" y="287929"/>
                  <a:pt x="0" y="271815"/>
                  <a:pt x="0" y="25193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8641249" y="5080151"/>
            <a:ext cx="110223" cy="125969"/>
          </a:xfrm>
          <a:custGeom>
            <a:avLst/>
            <a:gdLst/>
            <a:ahLst/>
            <a:cxnLst/>
            <a:rect l="l" t="t" r="r" b="b"/>
            <a:pathLst>
              <a:path w="110223" h="125969">
                <a:moveTo>
                  <a:pt x="106975" y="17247"/>
                </a:moveTo>
                <a:cubicBezTo>
                  <a:pt x="110494" y="19806"/>
                  <a:pt x="111281" y="24726"/>
                  <a:pt x="108722" y="28245"/>
                </a:cubicBezTo>
                <a:lnTo>
                  <a:pt x="45738" y="114848"/>
                </a:lnTo>
                <a:cubicBezTo>
                  <a:pt x="44384" y="116718"/>
                  <a:pt x="42293" y="117875"/>
                  <a:pt x="39980" y="118071"/>
                </a:cubicBezTo>
                <a:cubicBezTo>
                  <a:pt x="37668" y="118268"/>
                  <a:pt x="35429" y="117407"/>
                  <a:pt x="33805" y="115783"/>
                </a:cubicBezTo>
                <a:lnTo>
                  <a:pt x="2313" y="84291"/>
                </a:lnTo>
                <a:cubicBezTo>
                  <a:pt x="-763" y="81216"/>
                  <a:pt x="-763" y="76221"/>
                  <a:pt x="2313" y="73146"/>
                </a:cubicBezTo>
                <a:cubicBezTo>
                  <a:pt x="5388" y="70070"/>
                  <a:pt x="10383" y="70070"/>
                  <a:pt x="13458" y="73146"/>
                </a:cubicBezTo>
                <a:lnTo>
                  <a:pt x="38430" y="98118"/>
                </a:lnTo>
                <a:lnTo>
                  <a:pt x="96002" y="18969"/>
                </a:lnTo>
                <a:cubicBezTo>
                  <a:pt x="98561" y="15451"/>
                  <a:pt x="103482" y="14664"/>
                  <a:pt x="107000" y="17222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6" name="Text 64"/>
          <p:cNvSpPr/>
          <p:nvPr/>
        </p:nvSpPr>
        <p:spPr>
          <a:xfrm>
            <a:off x="8946049" y="4999171"/>
            <a:ext cx="213247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Budget Tracking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946049" y="5215118"/>
            <a:ext cx="212347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Expense monitoring, variance analysis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59911" y="6679843"/>
            <a:ext cx="367109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data based on industry research and job market analysis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853372" y="6679843"/>
            <a:ext cx="304125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2: Paramacharya Foods – Finance Role Overview</a:t>
            </a:r>
            <a:endParaRPr lang="en-US" sz="1600" dirty="0"/>
          </a:p>
        </p:txBody>
      </p:sp>
      <p:pic>
        <p:nvPicPr>
          <p:cNvPr id="70" name="Image 0" descr="https://kimi-img.moonshot.cn/pub/slides/26-03-07-12:41:11-d6lqoppg6i8g9d6g0c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9291"/>
            <a:ext cx="2402530" cy="9501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51974" y="5143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21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Profile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5324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DR Enterprise Automotive Pvt Ltd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0287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200150"/>
            <a:ext cx="5619750" cy="1752600"/>
          </a:xfrm>
          <a:custGeom>
            <a:avLst/>
            <a:gdLst/>
            <a:ahLst/>
            <a:cxnLst/>
            <a:rect l="l" t="t" r="r" b="b"/>
            <a:pathLst>
              <a:path w="5619750" h="1752600">
                <a:moveTo>
                  <a:pt x="38102" y="0"/>
                </a:moveTo>
                <a:lnTo>
                  <a:pt x="5581648" y="0"/>
                </a:lnTo>
                <a:cubicBezTo>
                  <a:pt x="5602691" y="0"/>
                  <a:pt x="5619750" y="17059"/>
                  <a:pt x="5619750" y="38102"/>
                </a:cubicBezTo>
                <a:lnTo>
                  <a:pt x="5619750" y="1714498"/>
                </a:lnTo>
                <a:cubicBezTo>
                  <a:pt x="5619750" y="1735541"/>
                  <a:pt x="5602691" y="1752600"/>
                  <a:pt x="5581648" y="1752600"/>
                </a:cubicBezTo>
                <a:lnTo>
                  <a:pt x="38102" y="1752600"/>
                </a:lnTo>
                <a:cubicBezTo>
                  <a:pt x="17059" y="1752600"/>
                  <a:pt x="0" y="1735541"/>
                  <a:pt x="0" y="17144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73881" y="1495306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1042988" y="1390650"/>
            <a:ext cx="418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Sector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988" y="158115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Automotive / Engineering Manufacturing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038231"/>
            <a:ext cx="5238750" cy="723900"/>
          </a:xfrm>
          <a:custGeom>
            <a:avLst/>
            <a:gdLst/>
            <a:ahLst/>
            <a:cxnLst/>
            <a:rect l="l" t="t" r="r" b="b"/>
            <a:pathLst>
              <a:path w="5238750" h="723900">
                <a:moveTo>
                  <a:pt x="38099" y="0"/>
                </a:moveTo>
                <a:lnTo>
                  <a:pt x="5200651" y="0"/>
                </a:lnTo>
                <a:cubicBezTo>
                  <a:pt x="5221678" y="0"/>
                  <a:pt x="5238750" y="17072"/>
                  <a:pt x="5238750" y="38099"/>
                </a:cubicBezTo>
                <a:lnTo>
                  <a:pt x="5238750" y="685801"/>
                </a:lnTo>
                <a:cubicBezTo>
                  <a:pt x="5238750" y="706828"/>
                  <a:pt x="5221678" y="723900"/>
                  <a:pt x="52006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52531"/>
            <a:ext cx="5086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Specializes in automotive and engineering manufacturing, producing precision components and assemblies for the automotive industry.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05031"/>
            <a:ext cx="5600700" cy="3105150"/>
          </a:xfrm>
          <a:custGeom>
            <a:avLst/>
            <a:gdLst/>
            <a:ahLst/>
            <a:cxnLst/>
            <a:rect l="l" t="t" r="r" b="b"/>
            <a:pathLst>
              <a:path w="5600700" h="3105150">
                <a:moveTo>
                  <a:pt x="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3067050"/>
                </a:lnTo>
                <a:cubicBezTo>
                  <a:pt x="5600700" y="3088092"/>
                  <a:pt x="5583642" y="3105150"/>
                  <a:pt x="5562600" y="3105150"/>
                </a:cubicBezTo>
                <a:lnTo>
                  <a:pt x="0" y="31051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105031"/>
            <a:ext cx="38100" cy="3105150"/>
          </a:xfrm>
          <a:custGeom>
            <a:avLst/>
            <a:gdLst/>
            <a:ahLst/>
            <a:cxnLst/>
            <a:rect l="l" t="t" r="r" b="b"/>
            <a:pathLst>
              <a:path w="38100" h="3105150">
                <a:moveTo>
                  <a:pt x="0" y="0"/>
                </a:moveTo>
                <a:lnTo>
                  <a:pt x="38100" y="0"/>
                </a:lnTo>
                <a:lnTo>
                  <a:pt x="38100" y="3105150"/>
                </a:lnTo>
                <a:lnTo>
                  <a:pt x="0" y="3105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413" y="33336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25" y="329553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Role Responsibilities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37336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9259" y="3790831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8700" y="3714631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Monitor Production Costs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8700" y="3943231"/>
            <a:ext cx="437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manufacturing costs, material usage, labor costs, overhead allocation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4267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0687" y="4324231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8700" y="4248031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Analyze Financial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8700" y="4476631"/>
            <a:ext cx="3486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Variance analysis, profitability reports, cost-benefit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" y="48004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4973" y="4857631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8700" y="4781431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Assist in Financial Planning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8700" y="5010031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preparation, forecasting, capital expenditure planning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5060" y="1203960"/>
            <a:ext cx="5608320" cy="2455545"/>
          </a:xfrm>
          <a:custGeom>
            <a:avLst/>
            <a:gdLst/>
            <a:ahLst/>
            <a:cxnLst/>
            <a:rect l="l" t="t" r="r" b="b"/>
            <a:pathLst>
              <a:path w="5608320" h="2455545">
                <a:moveTo>
                  <a:pt x="38110" y="0"/>
                </a:moveTo>
                <a:lnTo>
                  <a:pt x="5570210" y="0"/>
                </a:lnTo>
                <a:cubicBezTo>
                  <a:pt x="5591258" y="0"/>
                  <a:pt x="5608320" y="17062"/>
                  <a:pt x="5608320" y="38110"/>
                </a:cubicBezTo>
                <a:lnTo>
                  <a:pt x="5608320" y="2417435"/>
                </a:lnTo>
                <a:cubicBezTo>
                  <a:pt x="5608320" y="2438483"/>
                  <a:pt x="5591258" y="2455545"/>
                  <a:pt x="5570210" y="2455545"/>
                </a:cubicBezTo>
                <a:lnTo>
                  <a:pt x="38110" y="2455545"/>
                </a:lnTo>
                <a:cubicBezTo>
                  <a:pt x="17062" y="2455545"/>
                  <a:pt x="0" y="2438483"/>
                  <a:pt x="0" y="2417435"/>
                </a:cubicBezTo>
                <a:lnTo>
                  <a:pt x="0" y="38110"/>
                </a:lnTo>
                <a:cubicBezTo>
                  <a:pt x="0" y="17077"/>
                  <a:pt x="17077" y="0"/>
                  <a:pt x="38110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5089" y="14363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6627495" y="139827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Available Finance Roles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3180" y="1821180"/>
            <a:ext cx="5217795" cy="464820"/>
          </a:xfrm>
          <a:custGeom>
            <a:avLst/>
            <a:gdLst/>
            <a:ahLst/>
            <a:cxnLst/>
            <a:rect l="l" t="t" r="r" b="b"/>
            <a:pathLst>
              <a:path w="5217795" h="464820">
                <a:moveTo>
                  <a:pt x="38101" y="0"/>
                </a:moveTo>
                <a:lnTo>
                  <a:pt x="5179694" y="0"/>
                </a:lnTo>
                <a:cubicBezTo>
                  <a:pt x="5200736" y="0"/>
                  <a:pt x="5217795" y="17059"/>
                  <a:pt x="5217795" y="38101"/>
                </a:cubicBezTo>
                <a:lnTo>
                  <a:pt x="5217795" y="426719"/>
                </a:lnTo>
                <a:cubicBezTo>
                  <a:pt x="5217795" y="447761"/>
                  <a:pt x="5200736" y="464820"/>
                  <a:pt x="5179694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1290" y="199644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739890" y="1939291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Accounts Officer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3180" y="2407921"/>
            <a:ext cx="5217795" cy="464820"/>
          </a:xfrm>
          <a:custGeom>
            <a:avLst/>
            <a:gdLst/>
            <a:ahLst/>
            <a:cxnLst/>
            <a:rect l="l" t="t" r="r" b="b"/>
            <a:pathLst>
              <a:path w="5217795" h="464820">
                <a:moveTo>
                  <a:pt x="38101" y="0"/>
                </a:moveTo>
                <a:lnTo>
                  <a:pt x="5179694" y="0"/>
                </a:lnTo>
                <a:cubicBezTo>
                  <a:pt x="5200736" y="0"/>
                  <a:pt x="5217795" y="17059"/>
                  <a:pt x="5217795" y="38101"/>
                </a:cubicBezTo>
                <a:lnTo>
                  <a:pt x="5217795" y="426719"/>
                </a:lnTo>
                <a:cubicBezTo>
                  <a:pt x="5217795" y="447761"/>
                  <a:pt x="5200736" y="464820"/>
                  <a:pt x="5179694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1290" y="258318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739890" y="252603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Finance Analyst (Entry Level)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3180" y="2994660"/>
            <a:ext cx="5217795" cy="464820"/>
          </a:xfrm>
          <a:custGeom>
            <a:avLst/>
            <a:gdLst/>
            <a:ahLst/>
            <a:cxnLst/>
            <a:rect l="l" t="t" r="r" b="b"/>
            <a:pathLst>
              <a:path w="5217795" h="464820">
                <a:moveTo>
                  <a:pt x="38101" y="0"/>
                </a:moveTo>
                <a:lnTo>
                  <a:pt x="5179694" y="0"/>
                </a:lnTo>
                <a:cubicBezTo>
                  <a:pt x="5200736" y="0"/>
                  <a:pt x="5217795" y="17059"/>
                  <a:pt x="5217795" y="38101"/>
                </a:cubicBezTo>
                <a:lnTo>
                  <a:pt x="5217795" y="426719"/>
                </a:lnTo>
                <a:cubicBezTo>
                  <a:pt x="5217795" y="447761"/>
                  <a:pt x="5200736" y="464820"/>
                  <a:pt x="5179694" y="464820"/>
                </a:cubicBezTo>
                <a:lnTo>
                  <a:pt x="38101" y="464820"/>
                </a:lnTo>
                <a:cubicBezTo>
                  <a:pt x="17059" y="464820"/>
                  <a:pt x="0" y="447761"/>
                  <a:pt x="0" y="426719"/>
                </a:cubicBezTo>
                <a:lnTo>
                  <a:pt x="0" y="38101"/>
                </a:lnTo>
                <a:cubicBezTo>
                  <a:pt x="0" y="17059"/>
                  <a:pt x="17059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B7280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1290" y="31699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739890" y="311277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Costing Assistant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0300" y="3813811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0" y="0"/>
                </a:moveTo>
                <a:lnTo>
                  <a:pt x="5562604" y="0"/>
                </a:lnTo>
                <a:cubicBezTo>
                  <a:pt x="5583644" y="0"/>
                  <a:pt x="5600700" y="17056"/>
                  <a:pt x="5600700" y="38096"/>
                </a:cubicBezTo>
                <a:lnTo>
                  <a:pt x="5600700" y="1219204"/>
                </a:lnTo>
                <a:cubicBezTo>
                  <a:pt x="5600700" y="1240244"/>
                  <a:pt x="5583644" y="1257300"/>
                  <a:pt x="5562604" y="1257300"/>
                </a:cubicBez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210300" y="3813811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3" name="Shape 41"/>
          <p:cNvSpPr/>
          <p:nvPr/>
        </p:nvSpPr>
        <p:spPr>
          <a:xfrm>
            <a:off x="6431756" y="404241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4" name="Text 42"/>
          <p:cNvSpPr/>
          <p:nvPr/>
        </p:nvSpPr>
        <p:spPr>
          <a:xfrm>
            <a:off x="6657975" y="4004311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Entry Level Skills Required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38900" y="44519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662738" y="4423411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Accounting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7325" y="44519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9301163" y="4423411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Statements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38900" y="47186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662738" y="4690111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/ SAP Basics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77325" y="47186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9301163" y="4690111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Skills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91250" y="5223511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098" y="0"/>
                </a:moveTo>
                <a:lnTo>
                  <a:pt x="5581652" y="0"/>
                </a:lnTo>
                <a:cubicBezTo>
                  <a:pt x="5602693" y="0"/>
                  <a:pt x="5619750" y="17057"/>
                  <a:pt x="5619750" y="38098"/>
                </a:cubicBezTo>
                <a:lnTo>
                  <a:pt x="5619750" y="952502"/>
                </a:lnTo>
                <a:cubicBezTo>
                  <a:pt x="5619750" y="973543"/>
                  <a:pt x="5602693" y="990600"/>
                  <a:pt x="5581652" y="990600"/>
                </a:cubicBezTo>
                <a:lnTo>
                  <a:pt x="38098" y="990600"/>
                </a:lnTo>
                <a:cubicBezTo>
                  <a:pt x="17057" y="990600"/>
                  <a:pt x="0" y="973543"/>
                  <a:pt x="0" y="952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381750" y="5414011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Salary Package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81750" y="5642611"/>
            <a:ext cx="2390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₹2.5 – ₹4.0 LPA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106150" y="54902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374690"/>
                </a:moveTo>
                <a:lnTo>
                  <a:pt x="0" y="97780"/>
                </a:lnTo>
                <a:cubicBezTo>
                  <a:pt x="0" y="77063"/>
                  <a:pt x="21521" y="63311"/>
                  <a:pt x="41344" y="69205"/>
                </a:cubicBezTo>
                <a:cubicBezTo>
                  <a:pt x="119658" y="92601"/>
                  <a:pt x="175022" y="74116"/>
                  <a:pt x="230743" y="55543"/>
                </a:cubicBezTo>
                <a:cubicBezTo>
                  <a:pt x="288340" y="36344"/>
                  <a:pt x="346293" y="17056"/>
                  <a:pt x="430143" y="43845"/>
                </a:cubicBezTo>
                <a:cubicBezTo>
                  <a:pt x="446663" y="49113"/>
                  <a:pt x="457200" y="65097"/>
                  <a:pt x="457200" y="82510"/>
                </a:cubicBezTo>
                <a:lnTo>
                  <a:pt x="457200" y="359420"/>
                </a:lnTo>
                <a:cubicBezTo>
                  <a:pt x="457200" y="380137"/>
                  <a:pt x="435679" y="393889"/>
                  <a:pt x="415945" y="387995"/>
                </a:cubicBezTo>
                <a:cubicBezTo>
                  <a:pt x="337631" y="364599"/>
                  <a:pt x="282178" y="383084"/>
                  <a:pt x="226546" y="401657"/>
                </a:cubicBezTo>
                <a:cubicBezTo>
                  <a:pt x="168950" y="420856"/>
                  <a:pt x="110996" y="440144"/>
                  <a:pt x="27146" y="413355"/>
                </a:cubicBezTo>
                <a:cubicBezTo>
                  <a:pt x="10626" y="408087"/>
                  <a:pt x="89" y="392103"/>
                  <a:pt x="89" y="374690"/>
                </a:cubicBezTo>
                <a:close/>
                <a:moveTo>
                  <a:pt x="300038" y="228600"/>
                </a:moveTo>
                <a:cubicBezTo>
                  <a:pt x="300038" y="181273"/>
                  <a:pt x="268069" y="142875"/>
                  <a:pt x="228600" y="142875"/>
                </a:cubicBezTo>
                <a:cubicBezTo>
                  <a:pt x="189131" y="142875"/>
                  <a:pt x="157163" y="181273"/>
                  <a:pt x="157163" y="228600"/>
                </a:cubicBezTo>
                <a:cubicBezTo>
                  <a:pt x="157163" y="275927"/>
                  <a:pt x="189131" y="314325"/>
                  <a:pt x="228600" y="314325"/>
                </a:cubicBezTo>
                <a:cubicBezTo>
                  <a:pt x="268069" y="314325"/>
                  <a:pt x="300038" y="275927"/>
                  <a:pt x="300038" y="228600"/>
                </a:cubicBezTo>
                <a:close/>
                <a:moveTo>
                  <a:pt x="107156" y="369332"/>
                </a:moveTo>
                <a:cubicBezTo>
                  <a:pt x="111085" y="369332"/>
                  <a:pt x="114211" y="365939"/>
                  <a:pt x="113586" y="362099"/>
                </a:cubicBezTo>
                <a:cubicBezTo>
                  <a:pt x="109478" y="337274"/>
                  <a:pt x="89475" y="317897"/>
                  <a:pt x="64294" y="314771"/>
                </a:cubicBezTo>
                <a:cubicBezTo>
                  <a:pt x="60365" y="314325"/>
                  <a:pt x="57150" y="317540"/>
                  <a:pt x="57150" y="321469"/>
                </a:cubicBezTo>
                <a:lnTo>
                  <a:pt x="57150" y="357098"/>
                </a:lnTo>
                <a:cubicBezTo>
                  <a:pt x="57150" y="360313"/>
                  <a:pt x="59293" y="363170"/>
                  <a:pt x="62508" y="363974"/>
                </a:cubicBezTo>
                <a:cubicBezTo>
                  <a:pt x="78492" y="367725"/>
                  <a:pt x="93137" y="369421"/>
                  <a:pt x="107156" y="369421"/>
                </a:cubicBezTo>
                <a:close/>
                <a:moveTo>
                  <a:pt x="391567" y="323701"/>
                </a:moveTo>
                <a:cubicBezTo>
                  <a:pt x="396032" y="324416"/>
                  <a:pt x="400050" y="321022"/>
                  <a:pt x="400050" y="316557"/>
                </a:cubicBezTo>
                <a:lnTo>
                  <a:pt x="400050" y="278517"/>
                </a:lnTo>
                <a:cubicBezTo>
                  <a:pt x="400050" y="274588"/>
                  <a:pt x="396835" y="271284"/>
                  <a:pt x="392906" y="271820"/>
                </a:cubicBezTo>
                <a:cubicBezTo>
                  <a:pt x="370403" y="274588"/>
                  <a:pt x="351919" y="290483"/>
                  <a:pt x="345400" y="311646"/>
                </a:cubicBezTo>
                <a:cubicBezTo>
                  <a:pt x="344150" y="315843"/>
                  <a:pt x="347454" y="319772"/>
                  <a:pt x="351830" y="319861"/>
                </a:cubicBezTo>
                <a:cubicBezTo>
                  <a:pt x="364510" y="320219"/>
                  <a:pt x="377726" y="321379"/>
                  <a:pt x="391478" y="323701"/>
                </a:cubicBezTo>
                <a:close/>
                <a:moveTo>
                  <a:pt x="400050" y="135731"/>
                </a:moveTo>
                <a:lnTo>
                  <a:pt x="400050" y="100102"/>
                </a:lnTo>
                <a:cubicBezTo>
                  <a:pt x="400050" y="96887"/>
                  <a:pt x="397818" y="94030"/>
                  <a:pt x="394692" y="93226"/>
                </a:cubicBezTo>
                <a:cubicBezTo>
                  <a:pt x="378708" y="89475"/>
                  <a:pt x="364063" y="87779"/>
                  <a:pt x="350044" y="87779"/>
                </a:cubicBezTo>
                <a:cubicBezTo>
                  <a:pt x="346115" y="87779"/>
                  <a:pt x="342989" y="91172"/>
                  <a:pt x="343614" y="95012"/>
                </a:cubicBezTo>
                <a:cubicBezTo>
                  <a:pt x="347722" y="119836"/>
                  <a:pt x="367725" y="139214"/>
                  <a:pt x="392906" y="142339"/>
                </a:cubicBezTo>
                <a:cubicBezTo>
                  <a:pt x="396835" y="142786"/>
                  <a:pt x="400050" y="139571"/>
                  <a:pt x="400050" y="135642"/>
                </a:cubicBezTo>
                <a:close/>
                <a:moveTo>
                  <a:pt x="111800" y="145465"/>
                </a:moveTo>
                <a:cubicBezTo>
                  <a:pt x="113050" y="141268"/>
                  <a:pt x="109746" y="137339"/>
                  <a:pt x="105370" y="137249"/>
                </a:cubicBezTo>
                <a:cubicBezTo>
                  <a:pt x="92690" y="136892"/>
                  <a:pt x="79474" y="135731"/>
                  <a:pt x="65723" y="133410"/>
                </a:cubicBezTo>
                <a:cubicBezTo>
                  <a:pt x="61258" y="132695"/>
                  <a:pt x="57239" y="136088"/>
                  <a:pt x="57239" y="140553"/>
                </a:cubicBezTo>
                <a:lnTo>
                  <a:pt x="57150" y="178594"/>
                </a:lnTo>
                <a:cubicBezTo>
                  <a:pt x="57150" y="182523"/>
                  <a:pt x="60365" y="185827"/>
                  <a:pt x="64294" y="185291"/>
                </a:cubicBezTo>
                <a:cubicBezTo>
                  <a:pt x="86797" y="182523"/>
                  <a:pt x="105281" y="166628"/>
                  <a:pt x="111800" y="145465"/>
                </a:cubicBezTo>
                <a:close/>
              </a:path>
            </a:pathLst>
          </a:custGeom>
          <a:solidFill>
            <a:srgbClr val="F9FAFB">
              <a:alpha val="3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381000" y="6328411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data based on industry research and job market analysis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64498" y="6328411"/>
            <a:ext cx="3514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3: DR Enterprise Automotive – Finance Role Overview</a:t>
            </a:r>
            <a:endParaRPr lang="en-US" sz="1600" dirty="0"/>
          </a:p>
        </p:txBody>
      </p:sp>
      <p:pic>
        <p:nvPicPr>
          <p:cNvPr id="59" name="Image 0" descr="https://kimi-img.moonshot.cn/pub/slides/26-03-07-12:41:11-d6lqoppg6i8g9d6g0c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9291"/>
            <a:ext cx="2402530" cy="9501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419102"/>
                </a:lnTo>
                <a:cubicBezTo>
                  <a:pt x="457200" y="440143"/>
                  <a:pt x="440143" y="457200"/>
                  <a:pt x="4191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70428" y="514350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713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1.2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Common Skills Required for MBA Finance Jobs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0287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200150"/>
            <a:ext cx="3686175" cy="571500"/>
          </a:xfrm>
          <a:custGeom>
            <a:avLst/>
            <a:gdLst/>
            <a:ahLst/>
            <a:cxnLst/>
            <a:rect l="l" t="t" r="r" b="b"/>
            <a:pathLst>
              <a:path w="3686175" h="571500">
                <a:moveTo>
                  <a:pt x="38102" y="0"/>
                </a:moveTo>
                <a:lnTo>
                  <a:pt x="3648073" y="0"/>
                </a:lnTo>
                <a:cubicBezTo>
                  <a:pt x="3669116" y="0"/>
                  <a:pt x="3686175" y="17059"/>
                  <a:pt x="3686175" y="38102"/>
                </a:cubicBezTo>
                <a:lnTo>
                  <a:pt x="3686175" y="571500"/>
                </a:lnTo>
                <a:lnTo>
                  <a:pt x="0" y="571500"/>
                </a:ln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371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Text 7"/>
          <p:cNvSpPr/>
          <p:nvPr/>
        </p:nvSpPr>
        <p:spPr>
          <a:xfrm>
            <a:off x="933450" y="135255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1771650"/>
            <a:ext cx="3674745" cy="3242310"/>
          </a:xfrm>
          <a:custGeom>
            <a:avLst/>
            <a:gdLst/>
            <a:ahLst/>
            <a:cxnLst/>
            <a:rect l="l" t="t" r="r" b="b"/>
            <a:pathLst>
              <a:path w="3674745" h="3242310">
                <a:moveTo>
                  <a:pt x="0" y="0"/>
                </a:moveTo>
                <a:lnTo>
                  <a:pt x="3674745" y="0"/>
                </a:lnTo>
                <a:lnTo>
                  <a:pt x="3674745" y="3234690"/>
                </a:lnTo>
                <a:cubicBezTo>
                  <a:pt x="3674745" y="3238898"/>
                  <a:pt x="3671333" y="3242310"/>
                  <a:pt x="3667125" y="3242310"/>
                </a:cubicBezTo>
                <a:lnTo>
                  <a:pt x="7620" y="3242310"/>
                </a:lnTo>
                <a:cubicBezTo>
                  <a:pt x="3412" y="3242310"/>
                  <a:pt x="0" y="3238898"/>
                  <a:pt x="0" y="323469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4059555" y="1771650"/>
            <a:ext cx="7620" cy="3242310"/>
          </a:xfrm>
          <a:custGeom>
            <a:avLst/>
            <a:gdLst/>
            <a:ahLst/>
            <a:cxnLst/>
            <a:rect l="l" t="t" r="r" b="b"/>
            <a:pathLst>
              <a:path w="7620" h="3242310">
                <a:moveTo>
                  <a:pt x="0" y="0"/>
                </a:moveTo>
                <a:lnTo>
                  <a:pt x="7620" y="0"/>
                </a:lnTo>
                <a:lnTo>
                  <a:pt x="7620" y="3234690"/>
                </a:lnTo>
                <a:cubicBezTo>
                  <a:pt x="7620" y="3238898"/>
                  <a:pt x="4208" y="3242310"/>
                  <a:pt x="0" y="3242310"/>
                </a:cubicBezTo>
                <a:lnTo>
                  <a:pt x="0" y="324231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4810" y="5013960"/>
            <a:ext cx="3674745" cy="7620"/>
          </a:xfrm>
          <a:custGeom>
            <a:avLst/>
            <a:gdLst/>
            <a:ahLst/>
            <a:cxnLst/>
            <a:rect l="l" t="t" r="r" b="b"/>
            <a:pathLst>
              <a:path w="3674745" h="7620">
                <a:moveTo>
                  <a:pt x="0" y="0"/>
                </a:moveTo>
                <a:lnTo>
                  <a:pt x="3674745" y="0"/>
                </a:lnTo>
                <a:lnTo>
                  <a:pt x="3674745" y="0"/>
                </a:lnTo>
                <a:cubicBezTo>
                  <a:pt x="3674745" y="4208"/>
                  <a:pt x="3671333" y="7620"/>
                  <a:pt x="3667125" y="7620"/>
                </a:cubicBezTo>
                <a:lnTo>
                  <a:pt x="7620" y="7620"/>
                </a:lnTo>
                <a:cubicBezTo>
                  <a:pt x="3414" y="7620"/>
                  <a:pt x="0" y="420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810" y="1771650"/>
            <a:ext cx="7620" cy="3242310"/>
          </a:xfrm>
          <a:custGeom>
            <a:avLst/>
            <a:gdLst/>
            <a:ahLst/>
            <a:cxnLst/>
            <a:rect l="l" t="t" r="r" b="b"/>
            <a:pathLst>
              <a:path w="7620" h="3242310">
                <a:moveTo>
                  <a:pt x="0" y="0"/>
                </a:moveTo>
                <a:lnTo>
                  <a:pt x="7620" y="0"/>
                </a:lnTo>
                <a:lnTo>
                  <a:pt x="7620" y="3242310"/>
                </a:lnTo>
                <a:lnTo>
                  <a:pt x="7620" y="3242310"/>
                </a:lnTo>
                <a:cubicBezTo>
                  <a:pt x="3412" y="3242310"/>
                  <a:pt x="0" y="3238898"/>
                  <a:pt x="0" y="3234690"/>
                </a:cubicBez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0070" y="19240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93420" y="19240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Financial Accounting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3420" y="21907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GAAP, journal entries, ledger maintenance, trial balance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0070" y="24955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3420" y="24955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Tally / SAP / ERP Systems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" y="27622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resource planning, inventory modules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0070" y="30670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93420" y="30670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Excel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3420" y="33337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Pivot tables, VLOOKUP, financial modeling, macros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0070" y="36385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93420" y="36385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GST &amp; Taxation Knowledge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3420" y="39052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filing, input credit, compliance, TDS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4460" y="1200150"/>
            <a:ext cx="3686175" cy="571500"/>
          </a:xfrm>
          <a:custGeom>
            <a:avLst/>
            <a:gdLst/>
            <a:ahLst/>
            <a:cxnLst/>
            <a:rect l="l" t="t" r="r" b="b"/>
            <a:pathLst>
              <a:path w="3686175" h="571500">
                <a:moveTo>
                  <a:pt x="38102" y="0"/>
                </a:moveTo>
                <a:lnTo>
                  <a:pt x="3648073" y="0"/>
                </a:lnTo>
                <a:cubicBezTo>
                  <a:pt x="3669116" y="0"/>
                  <a:pt x="3686175" y="17059"/>
                  <a:pt x="3686175" y="38102"/>
                </a:cubicBezTo>
                <a:lnTo>
                  <a:pt x="3686175" y="571500"/>
                </a:lnTo>
                <a:lnTo>
                  <a:pt x="0" y="571500"/>
                </a:ln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5435" y="1371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6910" y="13525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Analytical Skills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58270" y="1771650"/>
            <a:ext cx="3674745" cy="3242310"/>
          </a:xfrm>
          <a:custGeom>
            <a:avLst/>
            <a:gdLst/>
            <a:ahLst/>
            <a:cxnLst/>
            <a:rect l="l" t="t" r="r" b="b"/>
            <a:pathLst>
              <a:path w="3674745" h="3242310">
                <a:moveTo>
                  <a:pt x="0" y="0"/>
                </a:moveTo>
                <a:lnTo>
                  <a:pt x="3674745" y="0"/>
                </a:lnTo>
                <a:lnTo>
                  <a:pt x="3674745" y="3234690"/>
                </a:lnTo>
                <a:cubicBezTo>
                  <a:pt x="3674745" y="3238898"/>
                  <a:pt x="3671333" y="3242310"/>
                  <a:pt x="3667125" y="3242310"/>
                </a:cubicBezTo>
                <a:lnTo>
                  <a:pt x="7620" y="3242310"/>
                </a:lnTo>
                <a:cubicBezTo>
                  <a:pt x="3412" y="3242310"/>
                  <a:pt x="0" y="3238898"/>
                  <a:pt x="0" y="323469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933015" y="1771650"/>
            <a:ext cx="7620" cy="3242310"/>
          </a:xfrm>
          <a:custGeom>
            <a:avLst/>
            <a:gdLst/>
            <a:ahLst/>
            <a:cxnLst/>
            <a:rect l="l" t="t" r="r" b="b"/>
            <a:pathLst>
              <a:path w="7620" h="3242310">
                <a:moveTo>
                  <a:pt x="0" y="0"/>
                </a:moveTo>
                <a:lnTo>
                  <a:pt x="7620" y="0"/>
                </a:lnTo>
                <a:lnTo>
                  <a:pt x="7620" y="3234690"/>
                </a:lnTo>
                <a:cubicBezTo>
                  <a:pt x="7620" y="3238898"/>
                  <a:pt x="4208" y="3242310"/>
                  <a:pt x="0" y="3242310"/>
                </a:cubicBezTo>
                <a:lnTo>
                  <a:pt x="0" y="324231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258270" y="5013960"/>
            <a:ext cx="3674745" cy="7620"/>
          </a:xfrm>
          <a:custGeom>
            <a:avLst/>
            <a:gdLst/>
            <a:ahLst/>
            <a:cxnLst/>
            <a:rect l="l" t="t" r="r" b="b"/>
            <a:pathLst>
              <a:path w="3674745" h="7620">
                <a:moveTo>
                  <a:pt x="0" y="0"/>
                </a:moveTo>
                <a:lnTo>
                  <a:pt x="3674745" y="0"/>
                </a:lnTo>
                <a:lnTo>
                  <a:pt x="3674745" y="0"/>
                </a:lnTo>
                <a:cubicBezTo>
                  <a:pt x="3674745" y="4208"/>
                  <a:pt x="3671333" y="7620"/>
                  <a:pt x="3667125" y="7620"/>
                </a:cubicBezTo>
                <a:lnTo>
                  <a:pt x="7620" y="7620"/>
                </a:lnTo>
                <a:cubicBezTo>
                  <a:pt x="3414" y="7620"/>
                  <a:pt x="0" y="420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58270" y="1771650"/>
            <a:ext cx="7620" cy="3242310"/>
          </a:xfrm>
          <a:custGeom>
            <a:avLst/>
            <a:gdLst/>
            <a:ahLst/>
            <a:cxnLst/>
            <a:rect l="l" t="t" r="r" b="b"/>
            <a:pathLst>
              <a:path w="7620" h="3242310">
                <a:moveTo>
                  <a:pt x="0" y="0"/>
                </a:moveTo>
                <a:lnTo>
                  <a:pt x="7620" y="0"/>
                </a:lnTo>
                <a:lnTo>
                  <a:pt x="7620" y="3242310"/>
                </a:lnTo>
                <a:lnTo>
                  <a:pt x="7620" y="3242310"/>
                </a:lnTo>
                <a:cubicBezTo>
                  <a:pt x="3412" y="3242310"/>
                  <a:pt x="0" y="3238898"/>
                  <a:pt x="0" y="3234690"/>
                </a:cubicBez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33530" y="19240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4" name="Text 32"/>
          <p:cNvSpPr/>
          <p:nvPr/>
        </p:nvSpPr>
        <p:spPr>
          <a:xfrm>
            <a:off x="4566880" y="19240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Financial Analysis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66880" y="21907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 analysis, trend analysis, performance metrics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33530" y="24955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7" name="Text 35"/>
          <p:cNvSpPr/>
          <p:nvPr/>
        </p:nvSpPr>
        <p:spPr>
          <a:xfrm>
            <a:off x="4566880" y="24955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Budgeting &amp; Forecasting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66880" y="27622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budgets, variance analysis, cash flow projection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33530" y="30670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0" name="Text 38"/>
          <p:cNvSpPr/>
          <p:nvPr/>
        </p:nvSpPr>
        <p:spPr>
          <a:xfrm>
            <a:off x="4566880" y="30670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Cost Analysis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66880" y="333375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centers, break-even analysis, marginal costing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14480" y="367665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571500"/>
                </a:lnTo>
                <a:cubicBezTo>
                  <a:pt x="3362325" y="592528"/>
                  <a:pt x="3345253" y="609600"/>
                  <a:pt x="33242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64499" y="3813809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4757380" y="379095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skills enable data-driven decision making and strategic financial planning.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7921" y="1200150"/>
            <a:ext cx="3686175" cy="571500"/>
          </a:xfrm>
          <a:custGeom>
            <a:avLst/>
            <a:gdLst/>
            <a:ahLst/>
            <a:cxnLst/>
            <a:rect l="l" t="t" r="r" b="b"/>
            <a:pathLst>
              <a:path w="3686175" h="571500">
                <a:moveTo>
                  <a:pt x="38102" y="0"/>
                </a:moveTo>
                <a:lnTo>
                  <a:pt x="3648073" y="0"/>
                </a:lnTo>
                <a:cubicBezTo>
                  <a:pt x="3669116" y="0"/>
                  <a:pt x="3686175" y="17059"/>
                  <a:pt x="3686175" y="38102"/>
                </a:cubicBezTo>
                <a:lnTo>
                  <a:pt x="3686175" y="571500"/>
                </a:lnTo>
                <a:lnTo>
                  <a:pt x="0" y="571500"/>
                </a:ln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6" name="Shape 44"/>
          <p:cNvSpPr/>
          <p:nvPr/>
        </p:nvSpPr>
        <p:spPr>
          <a:xfrm>
            <a:off x="8280321" y="1371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7" name="Text 45"/>
          <p:cNvSpPr/>
          <p:nvPr/>
        </p:nvSpPr>
        <p:spPr>
          <a:xfrm>
            <a:off x="8680371" y="135255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31731" y="1771650"/>
            <a:ext cx="3674745" cy="3242310"/>
          </a:xfrm>
          <a:custGeom>
            <a:avLst/>
            <a:gdLst/>
            <a:ahLst/>
            <a:cxnLst/>
            <a:rect l="l" t="t" r="r" b="b"/>
            <a:pathLst>
              <a:path w="3674745" h="3242310">
                <a:moveTo>
                  <a:pt x="0" y="0"/>
                </a:moveTo>
                <a:lnTo>
                  <a:pt x="3674745" y="0"/>
                </a:lnTo>
                <a:lnTo>
                  <a:pt x="3674745" y="3234690"/>
                </a:lnTo>
                <a:cubicBezTo>
                  <a:pt x="3674745" y="3238898"/>
                  <a:pt x="3671333" y="3242310"/>
                  <a:pt x="3667125" y="3242310"/>
                </a:cubicBezTo>
                <a:lnTo>
                  <a:pt x="7620" y="3242310"/>
                </a:lnTo>
                <a:cubicBezTo>
                  <a:pt x="3412" y="3242310"/>
                  <a:pt x="0" y="3238898"/>
                  <a:pt x="0" y="323469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9" name="Shape 47"/>
          <p:cNvSpPr/>
          <p:nvPr/>
        </p:nvSpPr>
        <p:spPr>
          <a:xfrm>
            <a:off x="11806476" y="1771650"/>
            <a:ext cx="7620" cy="3242310"/>
          </a:xfrm>
          <a:custGeom>
            <a:avLst/>
            <a:gdLst/>
            <a:ahLst/>
            <a:cxnLst/>
            <a:rect l="l" t="t" r="r" b="b"/>
            <a:pathLst>
              <a:path w="7620" h="3242310">
                <a:moveTo>
                  <a:pt x="0" y="0"/>
                </a:moveTo>
                <a:lnTo>
                  <a:pt x="7620" y="0"/>
                </a:lnTo>
                <a:lnTo>
                  <a:pt x="7620" y="3234690"/>
                </a:lnTo>
                <a:cubicBezTo>
                  <a:pt x="7620" y="3238898"/>
                  <a:pt x="4208" y="3242310"/>
                  <a:pt x="0" y="3242310"/>
                </a:cubicBezTo>
                <a:lnTo>
                  <a:pt x="0" y="3242310"/>
                </a:ln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131731" y="5013960"/>
            <a:ext cx="3674745" cy="7620"/>
          </a:xfrm>
          <a:custGeom>
            <a:avLst/>
            <a:gdLst/>
            <a:ahLst/>
            <a:cxnLst/>
            <a:rect l="l" t="t" r="r" b="b"/>
            <a:pathLst>
              <a:path w="3674745" h="7620">
                <a:moveTo>
                  <a:pt x="0" y="0"/>
                </a:moveTo>
                <a:lnTo>
                  <a:pt x="3674745" y="0"/>
                </a:lnTo>
                <a:lnTo>
                  <a:pt x="3674745" y="0"/>
                </a:lnTo>
                <a:cubicBezTo>
                  <a:pt x="3674745" y="4208"/>
                  <a:pt x="3671333" y="7620"/>
                  <a:pt x="3667125" y="7620"/>
                </a:cubicBezTo>
                <a:lnTo>
                  <a:pt x="7620" y="7620"/>
                </a:lnTo>
                <a:cubicBezTo>
                  <a:pt x="3414" y="7620"/>
                  <a:pt x="0" y="420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31731" y="1771650"/>
            <a:ext cx="7620" cy="3242310"/>
          </a:xfrm>
          <a:custGeom>
            <a:avLst/>
            <a:gdLst/>
            <a:ahLst/>
            <a:cxnLst/>
            <a:rect l="l" t="t" r="r" b="b"/>
            <a:pathLst>
              <a:path w="7620" h="3242310">
                <a:moveTo>
                  <a:pt x="0" y="0"/>
                </a:moveTo>
                <a:lnTo>
                  <a:pt x="7620" y="0"/>
                </a:lnTo>
                <a:lnTo>
                  <a:pt x="7620" y="3242310"/>
                </a:lnTo>
                <a:lnTo>
                  <a:pt x="7620" y="3242310"/>
                </a:lnTo>
                <a:cubicBezTo>
                  <a:pt x="3412" y="3242310"/>
                  <a:pt x="0" y="3238898"/>
                  <a:pt x="0" y="3234690"/>
                </a:cubicBezTo>
                <a:lnTo>
                  <a:pt x="0" y="0"/>
                </a:lnTo>
                <a:close/>
              </a:path>
            </a:pathLst>
          </a:custGeom>
          <a:solidFill>
            <a:srgbClr val="6B7280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06991" y="19240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3" name="Text 51"/>
          <p:cNvSpPr/>
          <p:nvPr/>
        </p:nvSpPr>
        <p:spPr>
          <a:xfrm>
            <a:off x="8440341" y="19240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Communication &amp; Reporting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40341" y="219075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Presenting financial data, report writing, stakeholder communication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06991" y="26860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6" name="Text 54"/>
          <p:cNvSpPr/>
          <p:nvPr/>
        </p:nvSpPr>
        <p:spPr>
          <a:xfrm>
            <a:off x="8440341" y="26860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40341" y="295275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discrepancies, reconciling accounts, process improvement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06991" y="344805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9" name="Text 57"/>
          <p:cNvSpPr/>
          <p:nvPr/>
        </p:nvSpPr>
        <p:spPr>
          <a:xfrm>
            <a:off x="8440341" y="34480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Attention to Detail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40341" y="3714750"/>
            <a:ext cx="327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in data entry, error detection, compliance verification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87941" y="4248150"/>
            <a:ext cx="3362325" cy="609600"/>
          </a:xfrm>
          <a:custGeom>
            <a:avLst/>
            <a:gdLst/>
            <a:ahLst/>
            <a:cxnLst/>
            <a:rect l="l" t="t" r="r" b="b"/>
            <a:pathLst>
              <a:path w="3362325" h="609600">
                <a:moveTo>
                  <a:pt x="38100" y="0"/>
                </a:moveTo>
                <a:lnTo>
                  <a:pt x="3324225" y="0"/>
                </a:lnTo>
                <a:cubicBezTo>
                  <a:pt x="3345253" y="0"/>
                  <a:pt x="3362325" y="17072"/>
                  <a:pt x="3362325" y="38100"/>
                </a:cubicBezTo>
                <a:lnTo>
                  <a:pt x="3362325" y="571500"/>
                </a:lnTo>
                <a:cubicBezTo>
                  <a:pt x="3362325" y="592528"/>
                  <a:pt x="3345253" y="609600"/>
                  <a:pt x="332422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412956" y="438530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3" name="Text 61"/>
          <p:cNvSpPr/>
          <p:nvPr/>
        </p:nvSpPr>
        <p:spPr>
          <a:xfrm>
            <a:off x="8630841" y="436245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 skills differentiate candidates and accelerate career growth.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1000" y="5170173"/>
            <a:ext cx="11430000" cy="1181100"/>
          </a:xfrm>
          <a:custGeom>
            <a:avLst/>
            <a:gdLst/>
            <a:ahLst/>
            <a:cxnLst/>
            <a:rect l="l" t="t" r="r" b="b"/>
            <a:pathLst>
              <a:path w="11430000" h="1181100">
                <a:moveTo>
                  <a:pt x="38102" y="0"/>
                </a:moveTo>
                <a:lnTo>
                  <a:pt x="11391898" y="0"/>
                </a:lnTo>
                <a:cubicBezTo>
                  <a:pt x="11412927" y="0"/>
                  <a:pt x="11430000" y="17073"/>
                  <a:pt x="11430000" y="38102"/>
                </a:cubicBezTo>
                <a:lnTo>
                  <a:pt x="11430000" y="1142998"/>
                </a:lnTo>
                <a:cubicBezTo>
                  <a:pt x="11430000" y="1164041"/>
                  <a:pt x="11412941" y="1181100"/>
                  <a:pt x="11391898" y="1181100"/>
                </a:cubicBezTo>
                <a:lnTo>
                  <a:pt x="38102" y="1181100"/>
                </a:lnTo>
                <a:cubicBezTo>
                  <a:pt x="17073" y="1181100"/>
                  <a:pt x="0" y="1164027"/>
                  <a:pt x="0" y="11429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547688" y="56178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6" name="Text 64"/>
          <p:cNvSpPr/>
          <p:nvPr/>
        </p:nvSpPr>
        <p:spPr>
          <a:xfrm>
            <a:off x="1002625" y="5398773"/>
            <a:ext cx="912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Salary Benchmark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02625" y="5665473"/>
            <a:ext cx="911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Entry-level accountant roles in Thiruvallur region typically start from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₹10,000 – ₹25,000 per month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depending on company size and candidate experience.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900167" y="5322573"/>
            <a:ext cx="1762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₹1.2 – ₹3.0 LPA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976367" y="6008373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9FAFB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Monthly Range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381000" y="6465573"/>
            <a:ext cx="413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Skills analysis based on job market research and industry requirements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838004" y="6465573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Figure 2: Core Competency Framework for Entry-Level Finance Roles</a:t>
            </a:r>
            <a:endParaRPr lang="en-US" sz="1600" dirty="0"/>
          </a:p>
        </p:txBody>
      </p:sp>
      <p:pic>
        <p:nvPicPr>
          <p:cNvPr id="72" name="Image 0" descr="https://kimi-img.moonshot.cn/pub/slides/26-03-07-12:41:11-d6lqoppg6i8g9d6g0cv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9291"/>
            <a:ext cx="2402530" cy="9501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rilliantfs.com/4798e5c8e9854e41fec8864ecde12a73ca128035.jpg">    </p:cNvPr>
          <p:cNvPicPr>
            <a:picLocks noChangeAspect="1"/>
          </p:cNvPicPr>
          <p:nvPr/>
        </p:nvPicPr>
        <p:blipFill>
          <a:blip r:embed="rId1"/>
          <a:srcRect l="0" r="0" t="7918" b="791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F2937">
                  <a:alpha val="95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8B0000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781050"/>
            <a:ext cx="1362075" cy="381000"/>
          </a:xfrm>
          <a:custGeom>
            <a:avLst/>
            <a:gdLst/>
            <a:ahLst/>
            <a:cxnLst/>
            <a:rect l="l" t="t" r="r" b="b"/>
            <a:pathLst>
              <a:path w="1362075" h="381000">
                <a:moveTo>
                  <a:pt x="38100" y="0"/>
                </a:moveTo>
                <a:lnTo>
                  <a:pt x="1323975" y="0"/>
                </a:lnTo>
                <a:cubicBezTo>
                  <a:pt x="1345003" y="0"/>
                  <a:pt x="1362075" y="17072"/>
                  <a:pt x="1362075" y="38100"/>
                </a:cubicBezTo>
                <a:lnTo>
                  <a:pt x="1362075" y="342900"/>
                </a:lnTo>
                <a:cubicBezTo>
                  <a:pt x="1362075" y="363928"/>
                  <a:pt x="1345003" y="381000"/>
                  <a:pt x="132397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14902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857250"/>
            <a:ext cx="105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1.3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144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038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230505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094" y="0"/>
                </a:moveTo>
                <a:lnTo>
                  <a:pt x="5562606" y="0"/>
                </a:lnTo>
                <a:cubicBezTo>
                  <a:pt x="5583645" y="0"/>
                  <a:pt x="5600700" y="17055"/>
                  <a:pt x="5600700" y="38094"/>
                </a:cubicBezTo>
                <a:lnTo>
                  <a:pt x="5600700" y="1428756"/>
                </a:lnTo>
                <a:cubicBezTo>
                  <a:pt x="5600700" y="1449795"/>
                  <a:pt x="5583645" y="1466850"/>
                  <a:pt x="5562606" y="1466850"/>
                </a:cubicBezTo>
                <a:lnTo>
                  <a:pt x="38094" y="1466850"/>
                </a:lnTo>
                <a:cubicBezTo>
                  <a:pt x="17055" y="1466850"/>
                  <a:pt x="0" y="1449795"/>
                  <a:pt x="0" y="1428756"/>
                </a:cubicBezTo>
                <a:lnTo>
                  <a:pt x="0" y="38094"/>
                </a:lnTo>
                <a:cubicBezTo>
                  <a:pt x="0" y="17069"/>
                  <a:pt x="17069" y="0"/>
                  <a:pt x="38094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23050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7"/>
          <p:cNvSpPr/>
          <p:nvPr/>
        </p:nvSpPr>
        <p:spPr>
          <a:xfrm>
            <a:off x="609600" y="2495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62000" y="2647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Text 9"/>
          <p:cNvSpPr/>
          <p:nvPr/>
        </p:nvSpPr>
        <p:spPr>
          <a:xfrm>
            <a:off x="1295400" y="249555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Growing Opportunities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95400" y="2838450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Thiruvallur district offers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 opportunities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MBA Finance graduates due to strong industrial presence and expanding manufacturing base.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0300" y="2305050"/>
            <a:ext cx="5600700" cy="1466850"/>
          </a:xfrm>
          <a:custGeom>
            <a:avLst/>
            <a:gdLst/>
            <a:ahLst/>
            <a:cxnLst/>
            <a:rect l="l" t="t" r="r" b="b"/>
            <a:pathLst>
              <a:path w="5600700" h="1466850">
                <a:moveTo>
                  <a:pt x="38094" y="0"/>
                </a:moveTo>
                <a:lnTo>
                  <a:pt x="5562606" y="0"/>
                </a:lnTo>
                <a:cubicBezTo>
                  <a:pt x="5583645" y="0"/>
                  <a:pt x="5600700" y="17055"/>
                  <a:pt x="5600700" y="38094"/>
                </a:cubicBezTo>
                <a:lnTo>
                  <a:pt x="5600700" y="1428756"/>
                </a:lnTo>
                <a:cubicBezTo>
                  <a:pt x="5600700" y="1449795"/>
                  <a:pt x="5583645" y="1466850"/>
                  <a:pt x="5562606" y="1466850"/>
                </a:cubicBezTo>
                <a:lnTo>
                  <a:pt x="38094" y="1466850"/>
                </a:lnTo>
                <a:cubicBezTo>
                  <a:pt x="17055" y="1466850"/>
                  <a:pt x="0" y="1449795"/>
                  <a:pt x="0" y="1428756"/>
                </a:cubicBezTo>
                <a:lnTo>
                  <a:pt x="0" y="38094"/>
                </a:lnTo>
                <a:cubicBezTo>
                  <a:pt x="0" y="17069"/>
                  <a:pt x="17069" y="0"/>
                  <a:pt x="38094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210300" y="23050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850" y="2495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600825" y="2647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Text 15"/>
          <p:cNvSpPr/>
          <p:nvPr/>
        </p:nvSpPr>
        <p:spPr>
          <a:xfrm>
            <a:off x="7105650" y="249555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Active Recruitment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05650" y="283845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Manufacturing, food processing and engineering companies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frequently recruit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accounts and finance roles at entry level.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39624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181100"/>
                </a:lnTo>
                <a:cubicBezTo>
                  <a:pt x="5600700" y="1202128"/>
                  <a:pt x="5583628" y="1219200"/>
                  <a:pt x="55626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00050" y="3962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600" y="4152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62000" y="430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87345"/>
                </a:moveTo>
                <a:lnTo>
                  <a:pt x="0" y="48890"/>
                </a:lnTo>
                <a:cubicBezTo>
                  <a:pt x="0" y="38532"/>
                  <a:pt x="10760" y="31656"/>
                  <a:pt x="20672" y="34603"/>
                </a:cubicBezTo>
                <a:cubicBezTo>
                  <a:pt x="59829" y="46300"/>
                  <a:pt x="87511" y="37058"/>
                  <a:pt x="115372" y="27771"/>
                </a:cubicBezTo>
                <a:cubicBezTo>
                  <a:pt x="144170" y="18172"/>
                  <a:pt x="173147" y="8528"/>
                  <a:pt x="215072" y="21922"/>
                </a:cubicBezTo>
                <a:cubicBezTo>
                  <a:pt x="223331" y="24557"/>
                  <a:pt x="228600" y="32549"/>
                  <a:pt x="228600" y="41255"/>
                </a:cubicBezTo>
                <a:lnTo>
                  <a:pt x="228600" y="179710"/>
                </a:lnTo>
                <a:cubicBezTo>
                  <a:pt x="228600" y="190068"/>
                  <a:pt x="217840" y="196944"/>
                  <a:pt x="207972" y="193997"/>
                </a:cubicBezTo>
                <a:cubicBezTo>
                  <a:pt x="168816" y="182300"/>
                  <a:pt x="141089" y="191542"/>
                  <a:pt x="113273" y="200829"/>
                </a:cubicBezTo>
                <a:cubicBezTo>
                  <a:pt x="84475" y="210428"/>
                  <a:pt x="55498" y="220072"/>
                  <a:pt x="13573" y="206678"/>
                </a:cubicBezTo>
                <a:cubicBezTo>
                  <a:pt x="5313" y="204043"/>
                  <a:pt x="45" y="196051"/>
                  <a:pt x="45" y="187345"/>
                </a:cubicBezTo>
                <a:close/>
                <a:moveTo>
                  <a:pt x="150019" y="114300"/>
                </a:moveTo>
                <a:cubicBezTo>
                  <a:pt x="150019" y="90636"/>
                  <a:pt x="134035" y="71438"/>
                  <a:pt x="114300" y="71438"/>
                </a:cubicBezTo>
                <a:cubicBezTo>
                  <a:pt x="94565" y="71438"/>
                  <a:pt x="78581" y="90636"/>
                  <a:pt x="78581" y="114300"/>
                </a:cubicBezTo>
                <a:cubicBezTo>
                  <a:pt x="78581" y="137964"/>
                  <a:pt x="94565" y="157163"/>
                  <a:pt x="114300" y="157163"/>
                </a:cubicBezTo>
                <a:cubicBezTo>
                  <a:pt x="134035" y="157163"/>
                  <a:pt x="150019" y="137964"/>
                  <a:pt x="150019" y="114300"/>
                </a:cubicBezTo>
                <a:close/>
                <a:moveTo>
                  <a:pt x="53578" y="184666"/>
                </a:moveTo>
                <a:cubicBezTo>
                  <a:pt x="55543" y="184666"/>
                  <a:pt x="57105" y="182969"/>
                  <a:pt x="56793" y="181049"/>
                </a:cubicBezTo>
                <a:cubicBezTo>
                  <a:pt x="54739" y="168637"/>
                  <a:pt x="44738" y="158948"/>
                  <a:pt x="32147" y="157386"/>
                </a:cubicBezTo>
                <a:cubicBezTo>
                  <a:pt x="30182" y="157163"/>
                  <a:pt x="28575" y="158770"/>
                  <a:pt x="28575" y="160734"/>
                </a:cubicBezTo>
                <a:lnTo>
                  <a:pt x="28575" y="178549"/>
                </a:lnTo>
                <a:cubicBezTo>
                  <a:pt x="28575" y="180156"/>
                  <a:pt x="29647" y="181585"/>
                  <a:pt x="31254" y="181987"/>
                </a:cubicBezTo>
                <a:cubicBezTo>
                  <a:pt x="39246" y="183862"/>
                  <a:pt x="46568" y="184711"/>
                  <a:pt x="53578" y="184711"/>
                </a:cubicBezTo>
                <a:close/>
                <a:moveTo>
                  <a:pt x="195783" y="161851"/>
                </a:moveTo>
                <a:cubicBezTo>
                  <a:pt x="198016" y="162208"/>
                  <a:pt x="200025" y="160511"/>
                  <a:pt x="200025" y="158279"/>
                </a:cubicBezTo>
                <a:lnTo>
                  <a:pt x="200025" y="139258"/>
                </a:lnTo>
                <a:cubicBezTo>
                  <a:pt x="200025" y="137294"/>
                  <a:pt x="198418" y="135642"/>
                  <a:pt x="196453" y="135910"/>
                </a:cubicBezTo>
                <a:cubicBezTo>
                  <a:pt x="185202" y="137294"/>
                  <a:pt x="175959" y="145241"/>
                  <a:pt x="172700" y="155823"/>
                </a:cubicBezTo>
                <a:cubicBezTo>
                  <a:pt x="172075" y="157922"/>
                  <a:pt x="173727" y="159886"/>
                  <a:pt x="175915" y="159931"/>
                </a:cubicBezTo>
                <a:cubicBezTo>
                  <a:pt x="182255" y="160109"/>
                  <a:pt x="188863" y="160690"/>
                  <a:pt x="195739" y="161851"/>
                </a:cubicBezTo>
                <a:close/>
                <a:moveTo>
                  <a:pt x="200025" y="67866"/>
                </a:moveTo>
                <a:lnTo>
                  <a:pt x="200025" y="50051"/>
                </a:lnTo>
                <a:cubicBezTo>
                  <a:pt x="200025" y="48444"/>
                  <a:pt x="198909" y="47015"/>
                  <a:pt x="197346" y="46613"/>
                </a:cubicBezTo>
                <a:cubicBezTo>
                  <a:pt x="189354" y="44738"/>
                  <a:pt x="182032" y="43889"/>
                  <a:pt x="175022" y="43889"/>
                </a:cubicBezTo>
                <a:cubicBezTo>
                  <a:pt x="173057" y="43889"/>
                  <a:pt x="171495" y="45586"/>
                  <a:pt x="171807" y="47506"/>
                </a:cubicBezTo>
                <a:cubicBezTo>
                  <a:pt x="173861" y="59918"/>
                  <a:pt x="183862" y="69607"/>
                  <a:pt x="196453" y="71170"/>
                </a:cubicBezTo>
                <a:cubicBezTo>
                  <a:pt x="198418" y="71393"/>
                  <a:pt x="200025" y="69786"/>
                  <a:pt x="200025" y="67821"/>
                </a:cubicBezTo>
                <a:close/>
                <a:moveTo>
                  <a:pt x="55900" y="72732"/>
                </a:moveTo>
                <a:cubicBezTo>
                  <a:pt x="56525" y="70634"/>
                  <a:pt x="54873" y="68669"/>
                  <a:pt x="52685" y="68625"/>
                </a:cubicBezTo>
                <a:cubicBezTo>
                  <a:pt x="46345" y="68446"/>
                  <a:pt x="39737" y="67866"/>
                  <a:pt x="32861" y="66705"/>
                </a:cubicBezTo>
                <a:cubicBezTo>
                  <a:pt x="30629" y="66348"/>
                  <a:pt x="28620" y="68044"/>
                  <a:pt x="28620" y="70277"/>
                </a:cubicBezTo>
                <a:lnTo>
                  <a:pt x="28575" y="89297"/>
                </a:lnTo>
                <a:cubicBezTo>
                  <a:pt x="28575" y="91261"/>
                  <a:pt x="30182" y="92913"/>
                  <a:pt x="32147" y="92646"/>
                </a:cubicBezTo>
                <a:cubicBezTo>
                  <a:pt x="43398" y="91261"/>
                  <a:pt x="52641" y="83314"/>
                  <a:pt x="55900" y="72732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Text 21"/>
          <p:cNvSpPr/>
          <p:nvPr/>
        </p:nvSpPr>
        <p:spPr>
          <a:xfrm>
            <a:off x="1295400" y="41529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Competitive Salaries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95400" y="44958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Entry-level salaries typically range between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 LPA – ₹4 LPA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depending on skills, experience, and company size.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10300" y="3962400"/>
            <a:ext cx="5600700" cy="1219200"/>
          </a:xfrm>
          <a:custGeom>
            <a:avLst/>
            <a:gdLst/>
            <a:ahLst/>
            <a:cxnLst/>
            <a:rect l="l" t="t" r="r" b="b"/>
            <a:pathLst>
              <a:path w="5600700" h="12192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181100"/>
                </a:lnTo>
                <a:cubicBezTo>
                  <a:pt x="5600700" y="1202128"/>
                  <a:pt x="5583628" y="1219200"/>
                  <a:pt x="55626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>
              <a:alpha val="1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210300" y="3962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5"/>
          <p:cNvSpPr/>
          <p:nvPr/>
        </p:nvSpPr>
        <p:spPr>
          <a:xfrm>
            <a:off x="6419850" y="4152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495299"/>
                </a:lnTo>
                <a:cubicBezTo>
                  <a:pt x="533400" y="516342"/>
                  <a:pt x="516342" y="533400"/>
                  <a:pt x="4952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9FAFB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557963" y="4305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Text 27"/>
          <p:cNvSpPr/>
          <p:nvPr/>
        </p:nvSpPr>
        <p:spPr>
          <a:xfrm>
            <a:off x="7105650" y="41529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Skill Development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05650" y="44958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Developing skills such as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Excel, GST, Tally and financial analysis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9FAFB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significantly improve job opportunities and career growth.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1000" y="5410200"/>
            <a:ext cx="11430000" cy="666750"/>
          </a:xfrm>
          <a:custGeom>
            <a:avLst/>
            <a:gdLst/>
            <a:ahLst/>
            <a:cxnLst/>
            <a:rect l="l" t="t" r="r" b="b"/>
            <a:pathLst>
              <a:path w="11430000" h="666750">
                <a:moveTo>
                  <a:pt x="38098" y="0"/>
                </a:moveTo>
                <a:lnTo>
                  <a:pt x="11391902" y="0"/>
                </a:lnTo>
                <a:cubicBezTo>
                  <a:pt x="11412943" y="0"/>
                  <a:pt x="11430000" y="17057"/>
                  <a:pt x="11430000" y="38098"/>
                </a:cubicBezTo>
                <a:lnTo>
                  <a:pt x="11430000" y="628652"/>
                </a:lnTo>
                <a:cubicBezTo>
                  <a:pt x="11430000" y="649693"/>
                  <a:pt x="11412943" y="666750"/>
                  <a:pt x="11391902" y="666750"/>
                </a:cubicBezTo>
                <a:lnTo>
                  <a:pt x="38098" y="666750"/>
                </a:lnTo>
                <a:cubicBezTo>
                  <a:pt x="17057" y="666750"/>
                  <a:pt x="0" y="649693"/>
                  <a:pt x="0" y="6286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9FAFB">
              <a:alpha val="14902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45319" y="56007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Text 31"/>
          <p:cNvSpPr/>
          <p:nvPr/>
        </p:nvSpPr>
        <p:spPr>
          <a:xfrm>
            <a:off x="1081088" y="5606416"/>
            <a:ext cx="10563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Takeaway: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Thiruvallur's industrial ecosystem provides a solid foundation for MBA Finance graduates to launch their careers.</a:t>
            </a:r>
            <a:endParaRPr lang="en-US" sz="1600" dirty="0"/>
          </a:p>
        </p:txBody>
      </p:sp>
      <p:pic>
        <p:nvPicPr>
          <p:cNvPr id="35" name="Image 1" descr="https://kimi-img.moonshot.cn/pub/slides/26-03-07-12:41:11-d6lqoppg6i8g9d6g0cv0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9829800" y="39291"/>
            <a:ext cx="2402530" cy="95011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Opportunities for MBA Finance Graduates</dc:title>
  <dc:subject>Job Opportunities for MBA Finance Graduates</dc:subject>
  <dc:creator>Kimi</dc:creator>
  <cp:lastModifiedBy>Kimi</cp:lastModifiedBy>
  <cp:revision>1</cp:revision>
  <dcterms:created xsi:type="dcterms:W3CDTF">2026-03-07T04:50:44Z</dcterms:created>
  <dcterms:modified xsi:type="dcterms:W3CDTF">2026-03-07T04:50:44Z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{"Label":"Job Opportunities for MBA Finance Graduates","ContentProducer":"001191110108MACG2KBH8F10000","ProduceID":"19cc6931-8cd2-8bee-8000-00009507d0a9","ReservedCode1":"","ContentPropagator":"001191110108MACG2KBH8F20000","PropagateID":"19cc6931-8cd2-8bee-8000-00009507d0a9","ReservedCode2":""}</vt:lpwstr>
  </property>
</Properties>
</file>