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a simple hook: everyone in this room used AI today - maps, spam filters, autocomplete, ChatGPT. This unit gives us the vocabulary for the rest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line: normal software follows rules we write. AI writes its own rules from data. That one difference explains everything else in this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Useful myth-buster. Films show general and super AI. Business reality is narrow AI - a tool that is excellent at one narrow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Analogy that lands well: it is very advanced autocomplete. Your phone suggests the next word; Gen AI suggests the next thousand words, and keeps them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Hallucination is the one to stress. The model is built to produce a fluent answer, not a true one. Fluency is not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8686800" y="-1463040"/>
            <a:ext cx="5120640" cy="5120640"/>
          </a:xfrm>
          <a:prstGeom prst="ellipse">
            <a:avLst/>
          </a:prstGeom>
          <a:solidFill>
            <a:srgbClr val="3B7AF7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058400" y="3108960"/>
            <a:ext cx="3840480" cy="3840480"/>
          </a:xfrm>
          <a:prstGeom prst="ellipse">
            <a:avLst/>
          </a:prstGeom>
          <a:solidFill>
            <a:srgbClr val="00B3A4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bleed"/>
          <p:cNvSpPr/>
          <p:nvPr/>
        </p:nvSpPr>
        <p:spPr>
          <a:xfrm>
            <a:off x="7315200" y="1005840"/>
            <a:ext cx="2743200" cy="2743200"/>
          </a:xfrm>
          <a:prstGeom prst="ellipse">
            <a:avLst/>
          </a:prstGeom>
          <a:solidFill>
            <a:srgbClr val="FFFFFF">
              <a:alpha val="3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logo-plate"/>
          <p:cNvSpPr/>
          <p:nvPr/>
        </p:nvSpPr>
        <p:spPr>
          <a:xfrm>
            <a:off x="9126735" y="539496"/>
            <a:ext cx="2379159" cy="115214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607" y="658368"/>
            <a:ext cx="2141415" cy="914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2688" y="1572768"/>
            <a:ext cx="1481328" cy="384048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3B7A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UNIT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04288"/>
            <a:ext cx="7406640" cy="1578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Introduction to AI and Generative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3901383"/>
            <a:ext cx="658368" cy="4572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4212279"/>
            <a:ext cx="67665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5D2E8"/>
                </a:solidFill>
                <a:latin typeface="Segoe UI"/>
                <a:ea typeface="Segoe UI"/>
                <a:cs typeface="Segoe UI"/>
              </a:rPr>
              <a:t>What artificial intelligence really is, the different types, how it learns, and where generative AI fits 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992624"/>
            <a:ext cx="966784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FB4D8"/>
                </a:solidFill>
                <a:latin typeface="Segoe UI"/>
                <a:ea typeface="Segoe UI"/>
                <a:cs typeface="Segoe UI"/>
              </a:rPr>
              <a:t>What is 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27488" y="4992624"/>
            <a:ext cx="1298522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FB4D8"/>
                </a:solidFill>
                <a:latin typeface="Segoe UI"/>
                <a:ea typeface="Segoe UI"/>
                <a:cs typeface="Segoe UI"/>
              </a:rPr>
              <a:t>Types &amp; Models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4026" y="4992624"/>
            <a:ext cx="1672081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FB4D8"/>
                </a:solidFill>
                <a:latin typeface="Segoe UI"/>
                <a:ea typeface="Segoe UI"/>
                <a:cs typeface="Segoe UI"/>
              </a:rPr>
              <a:t>Gen AI vs Predictive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4123" y="4992624"/>
            <a:ext cx="1301250" cy="329184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34B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FB4D8"/>
                </a:solidFill>
                <a:latin typeface="Segoe UI"/>
                <a:ea typeface="Segoe UI"/>
                <a:cs typeface="Segoe UI"/>
              </a:rPr>
              <a:t>Risks &amp; Benefits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2688" y="5614416"/>
            <a:ext cx="3840480" cy="12700"/>
          </a:xfrm>
          <a:prstGeom prst="rect">
            <a:avLst/>
          </a:prstGeom>
          <a:solidFill>
            <a:srgbClr val="2A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5797296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6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PRESENTED BY</a:t>
            </a:r>
          </a:p>
          <a:p>
            <a:pPr algn="l">
              <a:lnSpc>
                <a:spcPct val="122000"/>
              </a:lnSpc>
              <a:spcBef>
                <a:spcPts val="40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Lingesh K</a:t>
            </a:r>
            <a:r>
              <a:rPr sz="1050" b="0" i="0">
                <a:solidFill>
                  <a:srgbClr val="7E91B4"/>
                </a:solidFill>
                <a:latin typeface="Segoe UI"/>
                <a:ea typeface="Segoe UI"/>
                <a:cs typeface="Segoe UI"/>
              </a:rPr>
              <a:t>      Register No. </a:t>
            </a:r>
            <a:r>
              <a:rPr sz="1050" b="1" i="0">
                <a:solidFill>
                  <a:srgbClr val="C5D2E8"/>
                </a:solidFill>
                <a:latin typeface="Segoe UI"/>
                <a:ea typeface="Segoe UI"/>
                <a:cs typeface="Segoe UI"/>
              </a:rPr>
              <a:t>OSI2509030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What we will 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Eight short stops. By the end you should be able to explain AI to someone with no technical background.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212848"/>
            <a:ext cx="32004" cy="786384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31136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267712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What is AI?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 plain-English definition and everyday examples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3145536"/>
            <a:ext cx="32004" cy="786384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63824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3200400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Types of AI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By capability and by the way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078224"/>
            <a:ext cx="32004" cy="78638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96511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5A623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9616" y="4133087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How AI models learn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The four learning styles, minus the maths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010912"/>
            <a:ext cx="32004" cy="786384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745CE0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5065776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What is Generative AI?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Machines that create, not just decide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4719" y="2212848"/>
            <a:ext cx="32004" cy="786384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5887" y="2231136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7A06A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01103" y="2267712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Gen AI vs Predictive AI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The single most useful comparison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4719" y="3145536"/>
            <a:ext cx="32004" cy="786384"/>
          </a:xfrm>
          <a:prstGeom prst="rect">
            <a:avLst/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5887" y="3163824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E05151"/>
                </a:solidFill>
                <a:latin typeface="Segoe UI"/>
                <a:ea typeface="Segoe UI"/>
                <a:cs typeface="Segoe UI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01103" y="3200400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Advantages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Why every business is investing in 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4719" y="4078224"/>
            <a:ext cx="32004" cy="786384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5887" y="4096511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01103" y="4133087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Risks and limitations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Where it goes wrong, and why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4719" y="5010912"/>
            <a:ext cx="32004" cy="786384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5887" y="5029200"/>
            <a:ext cx="56692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01103" y="5065776"/>
            <a:ext cx="4349343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Using it well</a:t>
            </a:r>
          </a:p>
          <a:p>
            <a:pPr algn="l">
              <a:lnSpc>
                <a:spcPct val="122000"/>
              </a:lnSpc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 simple rule for safe, sensible 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9326880" y="914400"/>
            <a:ext cx="4206240" cy="4206240"/>
          </a:xfrm>
          <a:prstGeom prst="ellipse">
            <a:avLst/>
          </a:prstGeom>
          <a:solidFill>
            <a:srgbClr val="3B7AF7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972800" y="4023360"/>
            <a:ext cx="2743200" cy="2743200"/>
          </a:xfrm>
          <a:prstGeom prst="ellipse">
            <a:avLst/>
          </a:prstGeom>
          <a:solidFill>
            <a:srgbClr val="00B3A4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95728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3346704"/>
            <a:ext cx="60350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2487168"/>
            <a:ext cx="7680960" cy="70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What Is Artificial Intelligence?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3266703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FC1DE"/>
                </a:solidFill>
                <a:latin typeface="Segoe UI"/>
                <a:ea typeface="Segoe UI"/>
                <a:cs typeface="Segoe UI"/>
              </a:rPr>
              <a:t>Starting with the basics - in normal language.</a:t>
            </a:r>
          </a:p>
        </p:txBody>
      </p:sp>
      <p:sp>
        <p:nvSpPr>
          <p:cNvPr id="10" name="logo-plate"/>
          <p:cNvSpPr/>
          <p:nvPr/>
        </p:nvSpPr>
        <p:spPr>
          <a:xfrm>
            <a:off x="9512190" y="539496"/>
            <a:ext cx="1993704" cy="987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62" y="658368"/>
            <a:ext cx="1755961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Artificial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19728"/>
            <a:ext cx="4521397" cy="719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Software that learns from data to do jobs that used to need a human brain.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630378"/>
            <a:ext cx="457200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301442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04698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It looks at large amounts of past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391351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81623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It finds patterns in that data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76827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8548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It uses those patterns on something new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45201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035473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It gets better as it sees more examples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522126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412398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No one writes step-by-step rules for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00389" y="1783152"/>
            <a:ext cx="5878074" cy="131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00389" y="1783152"/>
            <a:ext cx="45720" cy="1313663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4709" y="2164634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Traditional software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4709" y="2490813"/>
            <a:ext cx="5366010" cy="315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 person writes the rules. Same input always gives the same output.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00389" y="3261408"/>
            <a:ext cx="5878074" cy="131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00389" y="3261408"/>
            <a:ext cx="45720" cy="1313663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74709" y="3642890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Artificial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4709" y="3969069"/>
            <a:ext cx="5366010" cy="315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The machine works out the rules from examples it has been shown.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00389" y="4739664"/>
            <a:ext cx="5878074" cy="131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00389" y="4739664"/>
            <a:ext cx="45720" cy="1313663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4709" y="5121146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Why it matters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4709" y="5447325"/>
            <a:ext cx="5366010" cy="315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You can now automate judgement, not just repetitive clicking.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EVERYDAY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You already use AI several times a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AI is not new or futuristic. It is already normal.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504009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4146" y="2504923"/>
            <a:ext cx="3414304" cy="6400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851481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Maps and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49912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Predicts traffic and picks the fastest route using live and historic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6986" y="2504009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7900" y="2504923"/>
            <a:ext cx="3414304" cy="6400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1306" y="2851481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Streaming and shopping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1306" y="3249912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Suggests the next show or product based on what people like you chose.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0740" y="2504009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61655" y="2504923"/>
            <a:ext cx="3414304" cy="6400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5060" y="2851481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Bank fraud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5060" y="3249912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Spots a payment that does not match your normal spending and blocks 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4243336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4146" y="4244250"/>
            <a:ext cx="3414304" cy="6400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590808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Email spam 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4989239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Learns from millions of flagged emails what junk looks like.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6986" y="4243336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7900" y="4244250"/>
            <a:ext cx="3414304" cy="6400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1306" y="4590808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Face unlock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1306" y="4989239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Matches the camera image to the stored pattern of your face.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0740" y="4243336"/>
            <a:ext cx="3417722" cy="15015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1655" y="4244250"/>
            <a:ext cx="3414304" cy="6400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5060" y="4590808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Chat assistants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5060" y="4989239"/>
            <a:ext cx="2869082" cy="5910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Understands your question in plain language and writes an answer.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9326880" y="914400"/>
            <a:ext cx="4206240" cy="4206240"/>
          </a:xfrm>
          <a:prstGeom prst="ellipse">
            <a:avLst/>
          </a:prstGeom>
          <a:solidFill>
            <a:srgbClr val="3B7AF7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972800" y="4023360"/>
            <a:ext cx="2743200" cy="2743200"/>
          </a:xfrm>
          <a:prstGeom prst="ellipse">
            <a:avLst/>
          </a:prstGeom>
          <a:solidFill>
            <a:srgbClr val="00B3A4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95728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3346704"/>
            <a:ext cx="60350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2487168"/>
            <a:ext cx="7680960" cy="70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Types of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3266703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FC1DE"/>
                </a:solidFill>
                <a:latin typeface="Segoe UI"/>
                <a:ea typeface="Segoe UI"/>
                <a:cs typeface="Segoe UI"/>
              </a:rPr>
              <a:t>Two useful ways to sort it.</a:t>
            </a:r>
          </a:p>
        </p:txBody>
      </p:sp>
      <p:sp>
        <p:nvSpPr>
          <p:cNvPr id="10" name="logo-plate"/>
          <p:cNvSpPr/>
          <p:nvPr/>
        </p:nvSpPr>
        <p:spPr>
          <a:xfrm>
            <a:off x="9512190" y="539496"/>
            <a:ext cx="1993704" cy="987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62" y="658368"/>
            <a:ext cx="1755961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TYPE 1 — BY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How smart is 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Almost every product marketed as 'AI' today is narrow AI.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886104"/>
            <a:ext cx="3417722" cy="2476719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4146" y="2887019"/>
            <a:ext cx="3414304" cy="6400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87552" y="3233576"/>
            <a:ext cx="347472" cy="347472"/>
          </a:xfrm>
          <a:prstGeom prst="ellipse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3274724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745640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Narrow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144071"/>
            <a:ext cx="2869082" cy="1054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Very good at one job only. A chess engine cannot drive a car.</a:t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/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Status: this is everything we use today.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6986" y="2886104"/>
            <a:ext cx="3417722" cy="2476719"/>
          </a:xfrm>
          <a:prstGeom prst="roundRect">
            <a:avLst>
              <a:gd name="adj" fmla="val 6000"/>
            </a:avLst>
          </a:prstGeom>
          <a:solidFill>
            <a:srgbClr val="E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7900" y="2887019"/>
            <a:ext cx="3414304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61306" y="3233576"/>
            <a:ext cx="347472" cy="347472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1306" y="3274724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1306" y="3745640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General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1306" y="4144071"/>
            <a:ext cx="2869082" cy="1054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Would handle any task a human can, and switch between them.</a:t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/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Status: does not exist yet.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0740" y="2886104"/>
            <a:ext cx="3417722" cy="2476719"/>
          </a:xfrm>
          <a:prstGeom prst="roundRect">
            <a:avLst>
              <a:gd name="adj" fmla="val 6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61655" y="2887019"/>
            <a:ext cx="3414304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335060" y="3233576"/>
            <a:ext cx="347472" cy="347472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5060" y="3274724"/>
            <a:ext cx="347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5060" y="3745640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Super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5060" y="4144071"/>
            <a:ext cx="2869082" cy="1054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Would beat humans at everything, including creativity.</a:t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/>
            </a:r>
            <a:br/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Status: theory and debate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TYPE 2 — BY 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Four families you will hear named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They overlap - deep learning is a branch of machine learning.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095764"/>
            <a:ext cx="2499283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4146" y="3096678"/>
            <a:ext cx="2496784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489608"/>
            <a:ext cx="1950643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888039"/>
            <a:ext cx="1950643" cy="11005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Learns patterns from structured data. Used for scores, forecasts and risk ratings.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8547" y="3095764"/>
            <a:ext cx="2499283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69462" y="3096678"/>
            <a:ext cx="2496784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2867" y="3605376"/>
            <a:ext cx="1950643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Deep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2867" y="4003807"/>
            <a:ext cx="1950643" cy="984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Uses layered neural networks. Handles images, audio and language well.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863" y="3095764"/>
            <a:ext cx="2499283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4778" y="3096678"/>
            <a:ext cx="2496784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8183" y="3479313"/>
            <a:ext cx="1950643" cy="595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Natural Language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8183" y="4129871"/>
            <a:ext cx="1950643" cy="85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Reads and writes human language. Powers chatbots and translation.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179" y="3095764"/>
            <a:ext cx="2499283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80093" y="3096678"/>
            <a:ext cx="2496784" cy="6400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499" y="3605376"/>
            <a:ext cx="1950643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Computer Vision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499" y="4003807"/>
            <a:ext cx="1950643" cy="9847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Understands pictures and video. Used in quality checks and security.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HOW MODELS LEARN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Four ways to train a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 'model' is simply the trained result - the file that holds everything the system learned.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990305" y="3054711"/>
            <a:ext cx="8211083" cy="2540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52561" y="2827939"/>
            <a:ext cx="475488" cy="475488"/>
          </a:xfrm>
          <a:prstGeom prst="ellipse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933095"/>
            <a:ext cx="2554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468019"/>
            <a:ext cx="2554147" cy="1222489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3669187"/>
            <a:ext cx="2224963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Supervised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023249"/>
            <a:ext cx="2224963" cy="5209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Learn from labelled examples. 'This email is spam.'</a:t>
            </a:r>
          </a:p>
        </p:txBody>
      </p:sp>
      <p:sp>
        <p:nvSpPr>
          <p:cNvPr id="15" name="Oval 14"/>
          <p:cNvSpPr/>
          <p:nvPr/>
        </p:nvSpPr>
        <p:spPr>
          <a:xfrm>
            <a:off x="4489589" y="2827939"/>
            <a:ext cx="475488" cy="475488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0259" y="2933095"/>
            <a:ext cx="2554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50259" y="3468019"/>
            <a:ext cx="2554147" cy="1222489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14851" y="3669187"/>
            <a:ext cx="2224963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Unsupervised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4851" y="4023249"/>
            <a:ext cx="2224963" cy="5209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No labels. Find natural groups in the data.</a:t>
            </a:r>
          </a:p>
        </p:txBody>
      </p:sp>
      <p:sp>
        <p:nvSpPr>
          <p:cNvPr id="20" name="Oval 19"/>
          <p:cNvSpPr/>
          <p:nvPr/>
        </p:nvSpPr>
        <p:spPr>
          <a:xfrm>
            <a:off x="7226617" y="2827939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7287" y="2933095"/>
            <a:ext cx="2554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7287" y="3468019"/>
            <a:ext cx="2554147" cy="1222489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1879" y="3669187"/>
            <a:ext cx="2224963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Reinforcement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1879" y="4023249"/>
            <a:ext cx="2224963" cy="5209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Learn by trial, reward and penalty.</a:t>
            </a:r>
          </a:p>
        </p:txBody>
      </p:sp>
      <p:sp>
        <p:nvSpPr>
          <p:cNvPr id="25" name="Oval 24"/>
          <p:cNvSpPr/>
          <p:nvPr/>
        </p:nvSpPr>
        <p:spPr>
          <a:xfrm>
            <a:off x="9963645" y="2827939"/>
            <a:ext cx="475488" cy="475488"/>
          </a:xfrm>
          <a:prstGeom prst="ellipse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24315" y="2933095"/>
            <a:ext cx="2554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24315" y="3468019"/>
            <a:ext cx="2554147" cy="1222489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88907" y="3669187"/>
            <a:ext cx="2224963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Self-supervised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88907" y="4023249"/>
            <a:ext cx="2224963" cy="5209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Hide part of the data and predict it. Powers Gen AI.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3232" y="5449824"/>
            <a:ext cx="10765231" cy="603504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19456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Self-supervised learning is the reason Gen AI arrived so quickly - it can learn from raw internet text without humans labelling 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" y="5449824"/>
            <a:ext cx="32004" cy="603504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9326880" y="914400"/>
            <a:ext cx="4206240" cy="4206240"/>
          </a:xfrm>
          <a:prstGeom prst="ellipse">
            <a:avLst/>
          </a:prstGeom>
          <a:solidFill>
            <a:srgbClr val="3B7AF7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972800" y="4023360"/>
            <a:ext cx="2743200" cy="2743200"/>
          </a:xfrm>
          <a:prstGeom prst="ellipse">
            <a:avLst/>
          </a:prstGeom>
          <a:solidFill>
            <a:srgbClr val="00B3A4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95728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745CE0"/>
                </a:solidFill>
                <a:latin typeface="Segoe UI"/>
                <a:ea typeface="Segoe UI"/>
                <a:cs typeface="Segoe UI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3346704"/>
            <a:ext cx="60350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2487168"/>
            <a:ext cx="7680960" cy="70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What Is Generative AI?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3266703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FC1DE"/>
                </a:solidFill>
                <a:latin typeface="Segoe UI"/>
                <a:ea typeface="Segoe UI"/>
                <a:cs typeface="Segoe UI"/>
              </a:rPr>
              <a:t>From machines that decide to machines that create.</a:t>
            </a:r>
          </a:p>
        </p:txBody>
      </p:sp>
      <p:sp>
        <p:nvSpPr>
          <p:cNvPr id="10" name="logo-plate"/>
          <p:cNvSpPr/>
          <p:nvPr/>
        </p:nvSpPr>
        <p:spPr>
          <a:xfrm>
            <a:off x="9512190" y="539496"/>
            <a:ext cx="1993704" cy="987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62" y="658368"/>
            <a:ext cx="1755961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745CE0"/>
                </a:solidFill>
                <a:latin typeface="Segoe UI"/>
                <a:ea typeface="Segoe UI"/>
                <a:cs typeface="Segoe UI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Generative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819728"/>
            <a:ext cx="4521397" cy="10148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AI that creates new content - text, images, audio, video or code - from a simple instruction.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925976"/>
            <a:ext cx="457200" cy="4114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331002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00296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You give it an instruction, called a prompt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686948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77220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It predicts the most likely next word, pixel or note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063873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54145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It repeats that prediction until the output is complete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440798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331070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The result is new, not copied from a database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817723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07995"/>
            <a:ext cx="4228789" cy="303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Ask twice and you get two different answers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00389" y="1783152"/>
            <a:ext cx="5878074" cy="131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00389" y="1783152"/>
            <a:ext cx="45720" cy="1313663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74709" y="2164634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4709" y="2490813"/>
            <a:ext cx="5366010" cy="315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Emails, summaries, reports, code - ChatGPT, Claude, Gemini.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00389" y="3261408"/>
            <a:ext cx="5878074" cy="131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00389" y="3261408"/>
            <a:ext cx="45720" cy="1313663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74709" y="3642890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Images and video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74709" y="3969069"/>
            <a:ext cx="5366010" cy="315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Posters, mockups, ads - Midjourney, VEO.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00389" y="4739664"/>
            <a:ext cx="5878074" cy="13136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00389" y="4739664"/>
            <a:ext cx="45720" cy="1313663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4709" y="5121146"/>
            <a:ext cx="5366010" cy="307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Audio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4709" y="5447325"/>
            <a:ext cx="5366010" cy="315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Voiceovers, music, dubbing in many languages.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745CE0"/>
                </a:solidFill>
                <a:latin typeface="Segoe UI"/>
                <a:ea typeface="Segoe UI"/>
                <a:cs typeface="Segoe UI"/>
              </a:rPr>
              <a:t>MODEL FAMILIES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The main kinds of Gen AI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You do not need to build these. You need to know which one to pick.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016073"/>
            <a:ext cx="2499283" cy="221678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4146" y="3016987"/>
            <a:ext cx="249678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363545"/>
            <a:ext cx="1950643" cy="595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Large Language Models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014103"/>
            <a:ext cx="1950643" cy="1054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Trained on huge amounts of text. Understand and write language. GPT, Claude, Gemini, Llama.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8547" y="3016073"/>
            <a:ext cx="2499283" cy="221678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69462" y="3016987"/>
            <a:ext cx="249678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2867" y="3489608"/>
            <a:ext cx="1950643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Diffusion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2867" y="3888039"/>
            <a:ext cx="1950643" cy="11802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Start from visual noise and clean it up step by step into an image. Midjourney, Stable Diffusion.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863" y="3016073"/>
            <a:ext cx="2499283" cy="221678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4778" y="3016987"/>
            <a:ext cx="249678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8183" y="3605376"/>
            <a:ext cx="1950643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Multimodal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8183" y="4003807"/>
            <a:ext cx="1950643" cy="1064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Accept and produce more than one format - read a chart, answer in words.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179" y="3016073"/>
            <a:ext cx="2499283" cy="221678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80093" y="3016987"/>
            <a:ext cx="2496784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499" y="3605376"/>
            <a:ext cx="1950643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Foundation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499" y="4003807"/>
            <a:ext cx="1950643" cy="10644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Large general models trained once, then adapted cheaply to many specific tasks.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9326880" y="914400"/>
            <a:ext cx="4206240" cy="4206240"/>
          </a:xfrm>
          <a:prstGeom prst="ellipse">
            <a:avLst/>
          </a:prstGeom>
          <a:solidFill>
            <a:srgbClr val="3B7AF7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972800" y="4023360"/>
            <a:ext cx="2743200" cy="2743200"/>
          </a:xfrm>
          <a:prstGeom prst="ellipse">
            <a:avLst/>
          </a:prstGeom>
          <a:solidFill>
            <a:srgbClr val="00B3A4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95728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F5A623"/>
                </a:solidFill>
                <a:latin typeface="Segoe UI"/>
                <a:ea typeface="Segoe UI"/>
                <a:cs typeface="Segoe UI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3346704"/>
            <a:ext cx="60350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2487168"/>
            <a:ext cx="7680960" cy="70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Gen AI vs Predictive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3266703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FC1DE"/>
                </a:solidFill>
                <a:latin typeface="Segoe UI"/>
                <a:ea typeface="Segoe UI"/>
                <a:cs typeface="Segoe UI"/>
              </a:rPr>
              <a:t>The comparison that clears up most confusion.</a:t>
            </a:r>
          </a:p>
        </p:txBody>
      </p:sp>
      <p:sp>
        <p:nvSpPr>
          <p:cNvPr id="10" name="logo-plate"/>
          <p:cNvSpPr/>
          <p:nvPr/>
        </p:nvSpPr>
        <p:spPr>
          <a:xfrm>
            <a:off x="9512190" y="539496"/>
            <a:ext cx="1993704" cy="987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62" y="658368"/>
            <a:ext cx="1755961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CORE DIFFERENCE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Two different jobs, not two competitors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They work best together, not instead of each other.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195600"/>
            <a:ext cx="5227167" cy="314449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4146" y="2196514"/>
            <a:ext cx="5221940" cy="6400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24128" y="2506496"/>
            <a:ext cx="1297975" cy="310896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PREDICTIVE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981984"/>
            <a:ext cx="4605375" cy="352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Answers: what is likely to happen?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3443973"/>
            <a:ext cx="4605375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24128" y="3768585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6736" y="3663429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Output is a number, score or category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056370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16736" y="3951214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Trained on your own historic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" y="434415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16736" y="4238998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Answer is stable and repeatable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4631939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16736" y="4526783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Accuracy can be measured exactly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4919723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16736" y="4814567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Example: which customers will leave next month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1295" y="2195600"/>
            <a:ext cx="5227167" cy="314449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2210" y="2196514"/>
            <a:ext cx="5221940" cy="64008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62191" y="2506496"/>
            <a:ext cx="1348701" cy="310896"/>
          </a:xfrm>
          <a:prstGeom prst="roundRect">
            <a:avLst>
              <a:gd name="adj" fmla="val 50000"/>
            </a:avLst>
          </a:prstGeom>
          <a:solidFill>
            <a:srgbClr val="EEE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745CE0"/>
                </a:solidFill>
                <a:latin typeface="Segoe UI"/>
                <a:ea typeface="Segoe UI"/>
                <a:cs typeface="Segoe UI"/>
              </a:rPr>
              <a:t>GENERATIVE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2191" y="2981984"/>
            <a:ext cx="4605375" cy="352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Answers: can you create this for me?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62191" y="3443973"/>
            <a:ext cx="4605375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62191" y="3768585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4799" y="3663429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Output is new content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62191" y="4056370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4799" y="3951214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Trained on very large public datasets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62191" y="4344154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4799" y="4238998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Answer varies each time you ask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62191" y="4631939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4799" y="4526783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Quality is judged by a human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62191" y="4919723"/>
            <a:ext cx="100584" cy="100584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4799" y="4814567"/>
            <a:ext cx="4312767" cy="287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Example: write the offer email to keep them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5486400"/>
            <a:ext cx="10765231" cy="566928"/>
          </a:xfrm>
          <a:prstGeom prst="roundRect">
            <a:avLst>
              <a:gd name="adj" fmla="val 6000"/>
            </a:avLst>
          </a:prstGeom>
          <a:solidFill>
            <a:srgbClr val="0E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 cap="all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In short   </a:t>
            </a:r>
            <a:r>
              <a:rPr sz="12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Predictive AI tells you what to expect. Generative AI helps you act on it.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F5A623"/>
                </a:solidFill>
                <a:latin typeface="Segoe UI"/>
                <a:ea typeface="Segoe UI"/>
                <a:cs typeface="Segoe UI"/>
              </a:rPr>
              <a:t>SIDE BY 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Quick reference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" y="1819728"/>
          <a:ext cx="10765230" cy="3447215"/>
        </p:xfrm>
        <a:graphic>
          <a:graphicData uri="http://schemas.openxmlformats.org/drawingml/2006/table">
            <a:tbl>
              <a:tblPr firstRow="1" bandRow="0" bandCol="0" firstCol="0" lastRow="0" lastCol="0">
                <a:tableStyleId>{5C22544A-7EE6-4342-B048-85BDC9FD1C3A}</a:tableStyleId>
              </a:tblPr>
              <a:tblGrid>
                <a:gridCol w="2563150"/>
                <a:gridCol w="4101040"/>
                <a:gridCol w="4101040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164592" marR="164592" marT="91440" marB="91440" anchor="ctr">
                    <a:solidFill>
                      <a:srgbClr val="0E1E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Predictive AI</a:t>
                      </a:r>
                    </a:p>
                  </a:txBody>
                  <a:tcPr marL="164592" marR="164592" marT="91440" marB="91440" anchor="ctr">
                    <a:solidFill>
                      <a:srgbClr val="0E1E3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Generative AI</a:t>
                      </a:r>
                    </a:p>
                  </a:txBody>
                  <a:tcPr marL="164592" marR="164592" marT="91440" marB="91440" anchor="ctr">
                    <a:solidFill>
                      <a:srgbClr val="0E1E3C"/>
                    </a:solidFill>
                  </a:tcPr>
                </a:tc>
              </a:tr>
              <a:tr h="427145"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E1E3C"/>
                          </a:solidFill>
                          <a:latin typeface="Segoe UI"/>
                          <a:ea typeface="Segoe UI"/>
                          <a:cs typeface="Segoe UI"/>
                        </a:rPr>
                        <a:t>Main question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What will happen?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What can be made?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</a:tr>
              <a:tr h="427145"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E1E3C"/>
                          </a:solidFill>
                          <a:latin typeface="Segoe UI"/>
                          <a:ea typeface="Segoe UI"/>
                          <a:cs typeface="Segoe UI"/>
                        </a:rPr>
                        <a:t>Output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Score, number, label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Text, image, audio, code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</a:tr>
              <a:tr h="427145"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E1E3C"/>
                          </a:solidFill>
                          <a:latin typeface="Segoe UI"/>
                          <a:ea typeface="Segoe UI"/>
                          <a:cs typeface="Segoe UI"/>
                        </a:rPr>
                        <a:t>Data used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Company's own history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Very large public datasets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</a:tr>
              <a:tr h="427145"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E1E3C"/>
                          </a:solidFill>
                          <a:latin typeface="Segoe UI"/>
                          <a:ea typeface="Segoe UI"/>
                          <a:cs typeface="Segoe UI"/>
                        </a:rPr>
                        <a:t>Same input twice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Same answer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Different answer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</a:tr>
              <a:tr h="427145"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E1E3C"/>
                          </a:solidFill>
                          <a:latin typeface="Segoe UI"/>
                          <a:ea typeface="Segoe UI"/>
                          <a:cs typeface="Segoe UI"/>
                        </a:rPr>
                        <a:t>Judged by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Accuracy against reality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Human review of quality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</a:tr>
              <a:tr h="427145"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E1E3C"/>
                          </a:solidFill>
                          <a:latin typeface="Segoe UI"/>
                          <a:ea typeface="Segoe UI"/>
                          <a:cs typeface="Segoe UI"/>
                        </a:rPr>
                        <a:t>Business use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Forecast demand, score credit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Draft content, summarise, assist</a:t>
                      </a:r>
                    </a:p>
                  </a:txBody>
                  <a:tcPr marL="164592" marR="164592" marT="82296" marB="82296" anchor="ctr">
                    <a:solidFill>
                      <a:srgbClr val="F6F8FB"/>
                    </a:solidFill>
                  </a:tcPr>
                </a:tc>
              </a:tr>
              <a:tr h="427145"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0E1E3C"/>
                          </a:solidFill>
                          <a:latin typeface="Segoe UI"/>
                          <a:ea typeface="Segoe UI"/>
                          <a:cs typeface="Segoe UI"/>
                        </a:rPr>
                        <a:t>Main weakness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Fails when the future changes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24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41C2E"/>
                          </a:solidFill>
                          <a:latin typeface="Segoe UI"/>
                          <a:ea typeface="Segoe UI"/>
                          <a:cs typeface="Segoe UI"/>
                        </a:rPr>
                        <a:t>Can state wrong things confidently</a:t>
                      </a:r>
                    </a:p>
                  </a:txBody>
                  <a:tcPr marL="164592" marR="164592" marT="82296" marB="8229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13232" y="5486400"/>
            <a:ext cx="10765231" cy="566928"/>
          </a:xfrm>
          <a:prstGeom prst="roundRect">
            <a:avLst>
              <a:gd name="adj" fmla="val 6000"/>
            </a:avLst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If you remember one row, remember the first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5486400"/>
            <a:ext cx="32004" cy="56692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9326880" y="914400"/>
            <a:ext cx="4206240" cy="4206240"/>
          </a:xfrm>
          <a:prstGeom prst="ellipse">
            <a:avLst/>
          </a:prstGeom>
          <a:solidFill>
            <a:srgbClr val="3B7AF7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972800" y="4023360"/>
            <a:ext cx="2743200" cy="2743200"/>
          </a:xfrm>
          <a:prstGeom prst="ellipse">
            <a:avLst/>
          </a:prstGeom>
          <a:solidFill>
            <a:srgbClr val="00B3A4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395728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7A06A"/>
                </a:solidFill>
                <a:latin typeface="Segoe UI"/>
                <a:ea typeface="Segoe UI"/>
                <a:cs typeface="Segoe UI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3346704"/>
            <a:ext cx="603504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99232" y="2487168"/>
            <a:ext cx="7680960" cy="70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Advantages, Risks and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9232" y="3266703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AFC1DE"/>
                </a:solidFill>
                <a:latin typeface="Segoe UI"/>
                <a:ea typeface="Segoe UI"/>
                <a:cs typeface="Segoe UI"/>
              </a:rPr>
              <a:t>An honest look at both sides.</a:t>
            </a:r>
          </a:p>
        </p:txBody>
      </p:sp>
      <p:sp>
        <p:nvSpPr>
          <p:cNvPr id="10" name="logo-plate"/>
          <p:cNvSpPr/>
          <p:nvPr/>
        </p:nvSpPr>
        <p:spPr>
          <a:xfrm>
            <a:off x="9512190" y="539496"/>
            <a:ext cx="1993704" cy="9875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1062" y="658368"/>
            <a:ext cx="1755961" cy="7498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27A06A"/>
                </a:solidFill>
                <a:latin typeface="Segoe UI"/>
                <a:ea typeface="Segoe UI"/>
                <a:cs typeface="Segoe UI"/>
              </a:rPr>
              <a:t>THE UPSIDE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Why organisations are investing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2066248"/>
            <a:ext cx="3417722" cy="17331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4146" y="2067163"/>
            <a:ext cx="3414304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2529488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27920"/>
            <a:ext cx="2869082" cy="706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First drafts, summaries and reports in minutes instead of days.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6986" y="2066248"/>
            <a:ext cx="3417722" cy="17331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7900" y="2067163"/>
            <a:ext cx="3414304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1306" y="2413720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Lower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1306" y="2812152"/>
            <a:ext cx="2869082" cy="822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Routine work is handled by software, so teams handle more with the same headcount.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0740" y="2066248"/>
            <a:ext cx="3417722" cy="17331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1655" y="2067163"/>
            <a:ext cx="3414304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5060" y="2529488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Always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5060" y="2927920"/>
            <a:ext cx="2869082" cy="706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No shifts, no holidays, no drop in quality at 11 pm.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037112"/>
            <a:ext cx="3417722" cy="17331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4146" y="4038026"/>
            <a:ext cx="3414304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4500352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4898783"/>
            <a:ext cx="2869082" cy="706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The same standard of output every single time.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6986" y="4037112"/>
            <a:ext cx="3417722" cy="17331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7900" y="4038026"/>
            <a:ext cx="3414304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1306" y="4500352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1306" y="4898783"/>
            <a:ext cx="2869082" cy="706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Serve ten customers or ten thousand with the same system.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0740" y="4037112"/>
            <a:ext cx="3417722" cy="17331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1655" y="4038026"/>
            <a:ext cx="3414304" cy="64008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5060" y="4500352"/>
            <a:ext cx="2869082" cy="3435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Better decisions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5060" y="4898783"/>
            <a:ext cx="2869082" cy="7068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Patterns in large data that a person would simply never spot.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E05151"/>
                </a:solidFill>
                <a:latin typeface="Segoe UI"/>
                <a:ea typeface="Segoe UI"/>
                <a:cs typeface="Segoe UI"/>
              </a:rPr>
              <a:t>THE DOWNSIDE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Risks you must plan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None of these are reasons to avoid AI. They are reasons to use it with a process.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195600"/>
            <a:ext cx="5254599" cy="18191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195600"/>
            <a:ext cx="45720" cy="1819135"/>
          </a:xfrm>
          <a:prstGeom prst="rect">
            <a:avLst/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433344"/>
            <a:ext cx="4705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Hallucination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4128" y="2963696"/>
            <a:ext cx="91440" cy="91440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863112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Invents facts, names and figures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271371"/>
            <a:ext cx="91440" cy="91440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170787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Sounds completely confident while wrong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3579045"/>
            <a:ext cx="91440" cy="91440"/>
          </a:xfrm>
          <a:prstGeom prst="roundRect">
            <a:avLst>
              <a:gd name="adj" fmla="val 30000"/>
            </a:avLst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478461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Always verify before you use 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3863" y="2195600"/>
            <a:ext cx="5254599" cy="18191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3863" y="2195600"/>
            <a:ext cx="45720" cy="1819135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4759" y="2433344"/>
            <a:ext cx="4705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Bias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4759" y="2963696"/>
            <a:ext cx="91440" cy="9144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0791" y="2863112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Learns the bias in its training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4759" y="3271371"/>
            <a:ext cx="91440" cy="9144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0791" y="3170787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Can quietly treat groups unfairly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4759" y="3579045"/>
            <a:ext cx="91440" cy="91440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0791" y="3478461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A real legal and reputation risk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234192"/>
            <a:ext cx="5254599" cy="18191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234192"/>
            <a:ext cx="45720" cy="1819135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4471936"/>
            <a:ext cx="4705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Data leakage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128" y="5002288"/>
            <a:ext cx="91440" cy="91440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4901704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Staff paste confidential data into public tools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4128" y="5309962"/>
            <a:ext cx="91440" cy="91440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5209378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That data may be stored or reused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" y="5617637"/>
            <a:ext cx="91440" cy="91440"/>
          </a:xfrm>
          <a:prstGeom prst="roundRect">
            <a:avLst>
              <a:gd name="adj" fmla="val 30000"/>
            </a:avLst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5517053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Needs a clear company policy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3863" y="4234192"/>
            <a:ext cx="5254599" cy="181913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23863" y="4234192"/>
            <a:ext cx="45720" cy="1819135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4759" y="4471936"/>
            <a:ext cx="470595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Over-reliance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34759" y="5002288"/>
            <a:ext cx="91440" cy="91440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90791" y="4901704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Skills fade when nobody checks the output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4759" y="5309962"/>
            <a:ext cx="91440" cy="91440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90791" y="5209378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Copy-paste answers with no thought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34759" y="5617637"/>
            <a:ext cx="91440" cy="91440"/>
          </a:xfrm>
          <a:prstGeom prst="roundRect">
            <a:avLst>
              <a:gd name="adj" fmla="val 30000"/>
            </a:avLst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90791" y="5517053"/>
            <a:ext cx="4376775" cy="307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Keep a human accountable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F5A623"/>
                </a:solidFill>
                <a:latin typeface="Segoe UI"/>
                <a:ea typeface="Segoe UI"/>
                <a:cs typeface="Segoe UI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What today's AI genuinely cannot do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Knowing the limits is what separates confident users from careless 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58604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862592"/>
            <a:ext cx="4696815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No real understanding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It matches patterns in language. It does not know what the words mean.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18140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3722128"/>
            <a:ext cx="4696815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No common sense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It can pass a professional exam and then fail a question a child would get right.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677676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4581664"/>
            <a:ext cx="4696815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Knowledge has a cut-off date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Unless it is connected to live search, it does not know recent events.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2735" y="2958604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0207" y="2862592"/>
            <a:ext cx="4696815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Weak at exact maths and logic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It predicts likely text, so it can get simple arithmetic wrong.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2735" y="3818140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0207" y="3722128"/>
            <a:ext cx="4696815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Cannot explain itself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It usually cannot show why it produced a particular answer.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2735" y="4677676"/>
            <a:ext cx="118872" cy="118872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0207" y="4581664"/>
            <a:ext cx="4696815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No accountability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 model cannot be responsible. A person always has to be.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USING IT WELL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 simple four-step habit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90305" y="2642262"/>
            <a:ext cx="8211083" cy="25400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52561" y="2415491"/>
            <a:ext cx="475488" cy="475488"/>
          </a:xfrm>
          <a:prstGeom prst="ellipse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520647"/>
            <a:ext cx="2554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055571"/>
            <a:ext cx="2554147" cy="1222489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3256739"/>
            <a:ext cx="2224963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Pick the right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610800"/>
            <a:ext cx="2224963" cy="5209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Drafting, summarising, explaining - not final decisions.</a:t>
            </a:r>
          </a:p>
        </p:txBody>
      </p:sp>
      <p:sp>
        <p:nvSpPr>
          <p:cNvPr id="14" name="Oval 13"/>
          <p:cNvSpPr/>
          <p:nvPr/>
        </p:nvSpPr>
        <p:spPr>
          <a:xfrm>
            <a:off x="4489589" y="2415491"/>
            <a:ext cx="475488" cy="475488"/>
          </a:xfrm>
          <a:prstGeom prst="ellipse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0259" y="2520647"/>
            <a:ext cx="2554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0259" y="3055571"/>
            <a:ext cx="2554147" cy="1222489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14851" y="3256739"/>
            <a:ext cx="2224963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Give clear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4851" y="3610800"/>
            <a:ext cx="2224963" cy="5209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Say the role, the goal, the audience and the format.</a:t>
            </a:r>
          </a:p>
        </p:txBody>
      </p:sp>
      <p:sp>
        <p:nvSpPr>
          <p:cNvPr id="19" name="Oval 18"/>
          <p:cNvSpPr/>
          <p:nvPr/>
        </p:nvSpPr>
        <p:spPr>
          <a:xfrm>
            <a:off x="7226617" y="2415491"/>
            <a:ext cx="475488" cy="47548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87287" y="2520647"/>
            <a:ext cx="2554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7287" y="3055571"/>
            <a:ext cx="2554147" cy="1222489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1879" y="3256739"/>
            <a:ext cx="2224963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Check the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1879" y="3610800"/>
            <a:ext cx="2224963" cy="5209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Verify every fact, figure, name and quote.</a:t>
            </a:r>
          </a:p>
        </p:txBody>
      </p:sp>
      <p:sp>
        <p:nvSpPr>
          <p:cNvPr id="24" name="Oval 23"/>
          <p:cNvSpPr/>
          <p:nvPr/>
        </p:nvSpPr>
        <p:spPr>
          <a:xfrm>
            <a:off x="9963645" y="2415491"/>
            <a:ext cx="475488" cy="475488"/>
          </a:xfrm>
          <a:prstGeom prst="ellipse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24315" y="2520647"/>
            <a:ext cx="255414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24315" y="3055571"/>
            <a:ext cx="2554147" cy="1222489"/>
          </a:xfrm>
          <a:prstGeom prst="roundRect">
            <a:avLst>
              <a:gd name="adj" fmla="val 6000"/>
            </a:avLst>
          </a:prstGeom>
          <a:solidFill>
            <a:srgbClr val="F6F8FB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88907" y="3256739"/>
            <a:ext cx="2224963" cy="3174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Keep the human in charge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8907" y="3610800"/>
            <a:ext cx="2224963" cy="5209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A person signs off and owns the result.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5449824"/>
            <a:ext cx="10765231" cy="603504"/>
          </a:xfrm>
          <a:prstGeom prst="roundRect">
            <a:avLst>
              <a:gd name="adj" fmla="val 6000"/>
            </a:avLst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19456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Treat AI as a fast junior colleague: helpful, quick, and always reviewed before anything goes out.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5449824"/>
            <a:ext cx="32004" cy="603504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3B7AF7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9692640" y="-1097280"/>
            <a:ext cx="4572000" cy="4572000"/>
          </a:xfrm>
          <a:prstGeom prst="ellipse">
            <a:avLst/>
          </a:prstGeom>
          <a:solidFill>
            <a:srgbClr val="00B3A4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o-plate"/>
          <p:cNvSpPr/>
          <p:nvPr/>
        </p:nvSpPr>
        <p:spPr>
          <a:xfrm>
            <a:off x="9769160" y="502920"/>
            <a:ext cx="1736734" cy="8778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8032" y="621792"/>
            <a:ext cx="1498991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78992" y="1737360"/>
            <a:ext cx="1003371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20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SOMETHING TO REMEMBER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9082735" cy="2194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AI will not replace you. A person using AI well might.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775807" y="4553712"/>
            <a:ext cx="640080" cy="4572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0" y="4791456"/>
            <a:ext cx="8168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9BBDA"/>
                </a:solidFill>
                <a:latin typeface="Segoe UI"/>
                <a:ea typeface="Segoe UI"/>
                <a:cs typeface="Segoe UI"/>
              </a:rPr>
              <a:t>The skill is no longer doing the task. It is directing the tool and judging the result.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6126480"/>
            <a:ext cx="10765231" cy="9525"/>
          </a:xfrm>
          <a:prstGeom prst="rect">
            <a:avLst/>
          </a:prstGeom>
          <a:solidFill>
            <a:srgbClr val="DD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college-logo" descr="logo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3333" y="6199632"/>
            <a:ext cx="275129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40677" y="627278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Lingesh K  ·  OSI2509030</a:t>
            </a:r>
            <a:r>
              <a:rPr sz="900" b="0" i="0">
                <a:solidFill>
                  <a:srgbClr val="141C2E"/>
                </a:solidFill>
                <a:latin typeface="Segoe UI"/>
                <a:ea typeface="Segoe UI"/>
                <a:cs typeface="Segoe UI"/>
              </a:rPr>
              <a:t>     </a:t>
            </a:r>
            <a:r>
              <a:rPr sz="9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566928"/>
            <a:ext cx="107652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16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68680"/>
            <a:ext cx="10765231" cy="5624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Key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412820"/>
            <a:ext cx="475488" cy="41148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618560"/>
            <a:ext cx="925809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Unit 1 in six lines.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32176"/>
            <a:ext cx="5245455" cy="11517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232176"/>
            <a:ext cx="45720" cy="1151797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4984" y="2616051"/>
            <a:ext cx="384048" cy="384048"/>
          </a:xfrm>
          <a:prstGeom prst="ellipse">
            <a:avLst/>
          </a:prstGeom>
          <a:solidFill>
            <a:srgbClr val="E8F0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2702919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B7AF7"/>
                </a:solidFill>
                <a:latin typeface="Segoe UI"/>
                <a:ea typeface="Segoe UI"/>
                <a:cs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9344" y="2435851"/>
            <a:ext cx="4111599" cy="8358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AI learns from data instead of following written rules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That is the one difference that explains everything else.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566853"/>
            <a:ext cx="5245455" cy="11517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" y="3566853"/>
            <a:ext cx="45720" cy="1151797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14984" y="3950728"/>
            <a:ext cx="384048" cy="384048"/>
          </a:xfrm>
          <a:prstGeom prst="ellipse">
            <a:avLst/>
          </a:prstGeom>
          <a:solidFill>
            <a:srgbClr val="E0F7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4037596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9344" y="3889957"/>
            <a:ext cx="4111599" cy="597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Everything in use today is narrow AI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Excellent at one job, useless outside it.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901530"/>
            <a:ext cx="5245455" cy="11517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4901530"/>
            <a:ext cx="45720" cy="1151797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4984" y="5285405"/>
            <a:ext cx="384048" cy="384048"/>
          </a:xfrm>
          <a:prstGeom prst="ellipse">
            <a:avLst/>
          </a:prstGeom>
          <a:solidFill>
            <a:srgbClr val="FE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" y="5372273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5A623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344" y="5224634"/>
            <a:ext cx="4111599" cy="597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Predictive AI forecasts, Generative AI creates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Different jobs. Strongest when used together.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7" y="2232176"/>
            <a:ext cx="5245455" cy="11517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3007" y="2232176"/>
            <a:ext cx="45720" cy="1151797"/>
          </a:xfrm>
          <a:prstGeom prst="rect">
            <a:avLst/>
          </a:prstGeom>
          <a:solidFill>
            <a:srgbClr val="74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34759" y="2616051"/>
            <a:ext cx="384048" cy="384048"/>
          </a:xfrm>
          <a:prstGeom prst="ellipse">
            <a:avLst/>
          </a:prstGeom>
          <a:solidFill>
            <a:srgbClr val="EEE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4759" y="2702919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45CE0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9119" y="2555280"/>
            <a:ext cx="4111599" cy="597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The benefits are speed, cost, scale and consistency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Which is why adoption is moving so fast.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3007" y="3566853"/>
            <a:ext cx="5245455" cy="11517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33007" y="3566853"/>
            <a:ext cx="45720" cy="1151797"/>
          </a:xfrm>
          <a:prstGeom prst="rect">
            <a:avLst/>
          </a:prstGeom>
          <a:solidFill>
            <a:srgbClr val="27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34759" y="3950728"/>
            <a:ext cx="384048" cy="384048"/>
          </a:xfrm>
          <a:prstGeom prst="ellipse">
            <a:avLst/>
          </a:prstGeom>
          <a:solidFill>
            <a:srgbClr val="E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4759" y="4037596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7A06A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29119" y="3889957"/>
            <a:ext cx="4111599" cy="597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The risks are real but manageable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Hallucination, bias, data leakage and over-reliance.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3007" y="4901530"/>
            <a:ext cx="5245455" cy="115179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C"/>
            </a:solidFill>
          </a:ln>
          <a:effectLst>
            <a:outerShdw blurRad="203200" dist="38100" dir="5400000" rotWithShape="0">
              <a:srgbClr val="0E1E3C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3007" y="4901530"/>
            <a:ext cx="45720" cy="1151797"/>
          </a:xfrm>
          <a:prstGeom prst="rect">
            <a:avLst/>
          </a:prstGeom>
          <a:solidFill>
            <a:srgbClr val="E051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534759" y="5285405"/>
            <a:ext cx="384048" cy="384048"/>
          </a:xfrm>
          <a:prstGeom prst="ellipse">
            <a:avLst/>
          </a:prstGeom>
          <a:solidFill>
            <a:srgbClr val="F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4759" y="5372273"/>
            <a:ext cx="38404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5151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29119" y="5224634"/>
            <a:ext cx="4111599" cy="5970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E3C"/>
                </a:solidFill>
                <a:latin typeface="Segoe UI"/>
                <a:ea typeface="Segoe UI"/>
                <a:cs typeface="Segoe UI"/>
              </a:rPr>
              <a:t>A human stays accountable for the output</a:t>
            </a:r>
          </a:p>
          <a:p>
            <a:pPr algn="l">
              <a:lnSpc>
                <a:spcPct val="126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 i="0">
                <a:solidFill>
                  <a:srgbClr val="636E85"/>
                </a:solidFill>
                <a:latin typeface="Segoe UI"/>
                <a:ea typeface="Segoe UI"/>
                <a:cs typeface="Segoe UI"/>
              </a:rPr>
              <a:t>Verify, then approve. Always.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E1E3C"/>
              </a:gs>
              <a:gs pos="100000">
                <a:srgbClr val="071228"/>
              </a:gs>
            </a:gsLst>
            <a:lin scaled="0" ang="27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eco-bleed"/>
          <p:cNvSpPr/>
          <p:nvPr/>
        </p:nvSpPr>
        <p:spPr>
          <a:xfrm>
            <a:off x="8961120" y="-1280160"/>
            <a:ext cx="4937760" cy="4937760"/>
          </a:xfrm>
          <a:prstGeom prst="ellipse">
            <a:avLst/>
          </a:prstGeom>
          <a:solidFill>
            <a:srgbClr val="3B7AF7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bleed"/>
          <p:cNvSpPr/>
          <p:nvPr/>
        </p:nvSpPr>
        <p:spPr>
          <a:xfrm>
            <a:off x="10424160" y="3474720"/>
            <a:ext cx="3291840" cy="3291840"/>
          </a:xfrm>
          <a:prstGeom prst="ellipse">
            <a:avLst/>
          </a:prstGeom>
          <a:solidFill>
            <a:srgbClr val="00B3A4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B3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2542032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3675887"/>
            <a:ext cx="658368" cy="45720"/>
          </a:xfrm>
          <a:prstGeom prst="rect">
            <a:avLst/>
          </a:prstGeom>
          <a:solidFill>
            <a:srgbClr val="3B7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3950208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B8C8E4"/>
                </a:solidFill>
                <a:latin typeface="Segoe UI"/>
                <a:ea typeface="Segoe UI"/>
                <a:cs typeface="Segoe UI"/>
              </a:rPr>
              <a:t>Next up — Unit 2: the platforms, tools and prompt-writing skills that turn these ideas into daily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718304"/>
            <a:ext cx="731520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spc="140" cap="all">
                <a:solidFill>
                  <a:srgbClr val="00B3A4"/>
                </a:solidFill>
                <a:latin typeface="Segoe UI"/>
                <a:ea typeface="Segoe UI"/>
                <a:cs typeface="Segoe UI"/>
              </a:rPr>
              <a:t>Questions to think about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93A6C6"/>
                </a:solidFill>
                <a:latin typeface="Segoe UI"/>
                <a:ea typeface="Segoe UI"/>
                <a:cs typeface="Segoe UI"/>
              </a:rPr>
              <a:t>— Which tasks in your own work are drafting rather than deciding?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93A6C6"/>
                </a:solidFill>
                <a:latin typeface="Segoe UI"/>
                <a:ea typeface="Segoe UI"/>
                <a:cs typeface="Segoe UI"/>
              </a:rPr>
              <a:t>— Where would a wrong AI answer cost you the most?</a:t>
            </a:r>
          </a:p>
          <a:p>
            <a:pPr algn="l">
              <a:lnSpc>
                <a:spcPct val="128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 i="0">
                <a:solidFill>
                  <a:srgbClr val="93A6C6"/>
                </a:solidFill>
                <a:latin typeface="Segoe UI"/>
                <a:ea typeface="Segoe UI"/>
                <a:cs typeface="Segoe UI"/>
              </a:rPr>
              <a:t>— What should your team never paste into a public AI tool?</a:t>
            </a:r>
          </a:p>
        </p:txBody>
      </p:sp>
      <p:sp>
        <p:nvSpPr>
          <p:cNvPr id="10" name="logo-plate"/>
          <p:cNvSpPr/>
          <p:nvPr/>
        </p:nvSpPr>
        <p:spPr>
          <a:xfrm>
            <a:off x="9233806" y="539496"/>
            <a:ext cx="2272088" cy="1106424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college-logo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678" y="658368"/>
            <a:ext cx="2034345" cy="8686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87552" y="6035040"/>
            <a:ext cx="3291840" cy="12700"/>
          </a:xfrm>
          <a:prstGeom prst="rect">
            <a:avLst/>
          </a:prstGeom>
          <a:solidFill>
            <a:srgbClr val="2A3E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6163056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Lingesh K</a:t>
            </a:r>
            <a:r>
              <a:rPr sz="1000" b="0" i="0">
                <a:solidFill>
                  <a:srgbClr val="7E91B4"/>
                </a:solidFill>
                <a:latin typeface="Segoe UI"/>
                <a:ea typeface="Segoe UI"/>
                <a:cs typeface="Segoe UI"/>
              </a:rPr>
              <a:t>   ·   Register No. </a:t>
            </a:r>
            <a:r>
              <a:rPr sz="1000" b="1" i="0">
                <a:solidFill>
                  <a:srgbClr val="C5D2E8"/>
                </a:solidFill>
                <a:latin typeface="Segoe UI"/>
                <a:ea typeface="Segoe UI"/>
                <a:cs typeface="Segoe UI"/>
              </a:rPr>
              <a:t>OSI2509030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 — Introduction of AI and Gen AI</dc:title>
  <dc:subject>Artificial Intelligence &amp; Generative AI</dc:subject>
  <dc:creator>Lingesh K (OSI2509030)</dc:creator>
  <cp:keywords/>
  <dc:description>PGPM · Systems Specialisation · Unit 1 of 5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