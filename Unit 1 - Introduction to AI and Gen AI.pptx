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a simple hook: everyone in this room used AI today - maps, spam filters, autocomplete, ChatGPT. This unit gives us the vocabulary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line: normal software follows rules we write. AI writes its own rules from data. That one difference explains everything else in this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Useful myth-buster. Films show general and super AI. Business reality is narrow AI - a tool that is excellent at one narrow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Analogy that lands well: it is very advanced autocomplete. Your phone suggests the next word; Gen AI suggests the next thousand words, and keeps them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Hallucination is the one to stress. The model is built to produce a fluent answer, not a true one. Fluency is not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logo-plate"/>
          <p:cNvSpPr/>
          <p:nvPr/>
        </p:nvSpPr>
        <p:spPr>
          <a:xfrm>
            <a:off x="9126735" y="539496"/>
            <a:ext cx="2379159" cy="11521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5607" y="658368"/>
            <a:ext cx="2141415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04288"/>
            <a:ext cx="7406640" cy="1578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Introduction to AI and Generative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901383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212279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What artificial intelligence really is, the different types, how it learns, and where generative AI fits 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4992624"/>
            <a:ext cx="96678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What is 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27488" y="4992624"/>
            <a:ext cx="129852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Types &amp;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54026" y="4992624"/>
            <a:ext cx="1672081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4123" y="4992624"/>
            <a:ext cx="130125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Risks &amp; Benefits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5614416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79729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PRESENTED BY</a:t>
            </a:r>
          </a:p>
          <a:p>
            <a:pPr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5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   Register No. </a:t>
            </a:r>
            <a:r>
              <a:rPr sz="105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0783" y="587044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Unit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Eight short stops. By the end you should be able to explain AI to someone with no technical background.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AI?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plain-English definition and everyday examples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AI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By capability and by the way it works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AI models learn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four learning styles, minus the maths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Generative AI?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Machines that create, not just decide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single most useful comparison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Advantages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Why every business is investing in 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Risks and limitations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Where it goes wrong, and why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Using it well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simple rule for safe, sensible use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Is Artificial Intelligence?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Starting with the basics - in normal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Artificial Intelligence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Software that learns from data to do jobs that used to need a human brain.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looks at large amounts of past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finds patterns in that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uses those patterns on something new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gets better as it sees more examples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No one writes step-by-step rules for 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Traditional software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writes the rules. Same input always gives the same output.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Artificial intelligence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machine works out the rules from examples it has been shown.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it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can now automate judgement, not just repetitive clicking.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EVERYDAY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already use AI several times a 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is not new or futuristic. It is already normal.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Maps and navigation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traffic and picks the fastest route using live and historic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Streaming and shopping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Suggests the next show or product based on what people like you chose.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Bank fraud alerts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Spots a payment that does not match your normal spending and blocks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Email spam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Learns from millions of flagged emails what junk looks like.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Face unlock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Matches the camera image to the stored pattern of your face.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Chat assistants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Understands your question in plain language and writes an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Types of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Two useful ways to sort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TYPE 1 — BY 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smart is it?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Almost every product marketed as 'AI' today is narrow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887019"/>
            <a:ext cx="341430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3233576"/>
            <a:ext cx="347472" cy="347472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Narrow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Very good at one job only. A chess engine cannot drive a car.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this is everything we use today.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6986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7900" y="288701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61306" y="3233576"/>
            <a:ext cx="347472" cy="347472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1306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1306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General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1306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Would handle any task a human can, and switch between them.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does not exist yet.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0740" y="2886104"/>
            <a:ext cx="3417722" cy="2476719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1655" y="288701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35060" y="3233576"/>
            <a:ext cx="347472" cy="347472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5060" y="3274724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5060" y="374564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Super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5060" y="4144071"/>
            <a:ext cx="2869082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Would beat humans at everything, including creativity.</a:t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/>
            </a:r>
            <a:br/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Status: theory and debate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TYPE 2 — BY 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families you will hear named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They overlap - deep learning is a branch of machine learning.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Machine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888039"/>
            <a:ext cx="1950643" cy="1100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Learns patterns from structured data. Used for scores, forecasts and risk ratings.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Deep 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Uses layered neural networks. Handles images, audio and language well.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183" y="3479313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Natural Language 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183" y="4129871"/>
            <a:ext cx="1950643" cy="85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Reads and writes human language. Powers chatbots and translation.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Computer 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499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Understands pictures and video. Used in quality checks and security.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HOW MODELS 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ways to train a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'model' is simply the trained result - the file that holds everything the system learned.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90305" y="3054711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2561" y="2827939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Supervised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 from labelled examples. 'This email is spam.'</a:t>
            </a:r>
          </a:p>
        </p:txBody>
      </p:sp>
      <p:sp>
        <p:nvSpPr>
          <p:cNvPr id="16" name="Oval 15"/>
          <p:cNvSpPr/>
          <p:nvPr/>
        </p:nvSpPr>
        <p:spPr>
          <a:xfrm>
            <a:off x="4489589" y="2827939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259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0259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4851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Unsupervised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4851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labels. Find natural groups in the data.</a:t>
            </a:r>
          </a:p>
        </p:txBody>
      </p:sp>
      <p:sp>
        <p:nvSpPr>
          <p:cNvPr id="21" name="Oval 20"/>
          <p:cNvSpPr/>
          <p:nvPr/>
        </p:nvSpPr>
        <p:spPr>
          <a:xfrm>
            <a:off x="7226617" y="2827939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7287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1879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Reinforcement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1879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Learn by trial, reward and penalty.</a:t>
            </a:r>
          </a:p>
        </p:txBody>
      </p:sp>
      <p:sp>
        <p:nvSpPr>
          <p:cNvPr id="26" name="Oval 25"/>
          <p:cNvSpPr/>
          <p:nvPr/>
        </p:nvSpPr>
        <p:spPr>
          <a:xfrm>
            <a:off x="9963645" y="2827939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24315" y="2933095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24315" y="3468019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8907" y="3669187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Self-supervised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8907" y="4023249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Hide part of the data and predict it. Powers Gen AI.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Self-supervised learning is the reason Gen AI arrived so quickly - it can learn from raw internet text without humans labelling 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Is Generative AI?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From machines that decide to machines that create.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Generative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819728"/>
            <a:ext cx="4521397" cy="1014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that creates new content - text, images, audio, video or code - from a simple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2925976"/>
            <a:ext cx="457200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3232" y="331002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00296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give it an instruction, called a prompt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686948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577220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predicts the most likely next word, pixel or note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06387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954145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It repeats that prediction until the output is complete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440798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331070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The result is new, not copied from a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817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707995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Ask twice and you get two different answers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Emails, summaries, reports, code - ChatGPT, Claude, Gemini.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Images and video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Posters, mockups, ads - Midjourney, VEO.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Voiceovers, music, dubbing in many languages.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MODEL FAMILIES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main kinds of Gen AI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You do not need to build these. You need to know which one to pick.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363545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Large Language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014103"/>
            <a:ext cx="1950643" cy="1054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Trained on huge amounts of text. Understand and write language. GPT, Claude, Gemini, Llama.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8547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69462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2867" y="3489608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Diffusion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2867" y="3888039"/>
            <a:ext cx="1950643" cy="1180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Start from visual noise and clean it up step by step into an image. Midjourney, Stable Diffusion.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4778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Multimodal 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183" y="4003807"/>
            <a:ext cx="1950643" cy="1064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Accept and produce more than one format - read a chart, answer in words.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9179" y="3016073"/>
            <a:ext cx="2499283" cy="221678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0093" y="3016987"/>
            <a:ext cx="249678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3499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Foundation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499" y="4003807"/>
            <a:ext cx="1950643" cy="1064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Large general models trained once, then adapted cheaply to many specific tasks.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Gen AI vs Predictive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comparison that clears up most confusion.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CORE DIFFERENCE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Two different jobs, not two competitors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They work best together, not instead of each other.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4128" y="2506496"/>
            <a:ext cx="1297975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PREDICTIVE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Answers: what is likely to happen?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Output is a number, score or category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Trained on your own historic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is stable and repeatable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Accuracy can be measured exactly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Example: which customers will leave next month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62191" y="2506496"/>
            <a:ext cx="1348701" cy="310896"/>
          </a:xfrm>
          <a:prstGeom prst="roundRect">
            <a:avLst>
              <a:gd name="adj" fmla="val 50000"/>
            </a:avLst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GENERATIVE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Answers: can you create this for me?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Output is new content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Trained on very large public datasets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Answer varies each time you ask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Quality is judged by a human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Example: write the offer email to keep them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Predictive AI tells you what to expect. Generative AI helps you act on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SIDE BY 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Quick reference table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19728"/>
          <a:ext cx="10765230" cy="3447215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2563150"/>
                <a:gridCol w="4101040"/>
                <a:gridCol w="41010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Predictive AI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Generative AI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Main question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What will happen?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What can be made?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Output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Score, number, label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Text, image, audio, code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Data used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Company's own history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Very large public datasets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Same input twice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Same answer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Different answer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Judged by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Accuracy against reality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Human review of quality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Business use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Forecast demand, score credit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Draft content, summarise, assist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427145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Main weakness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Fails when the future changes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Can state wrong things confidently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If you remember one row, remember the first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5486400"/>
            <a:ext cx="32004" cy="56692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Advantages, Risks and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An honest look at both sides.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1  ·  INTRODUCTION OF AI AND GEN AI</a:t>
            </a:r>
          </a:p>
        </p:txBody>
      </p:sp>
      <p:sp>
        <p:nvSpPr>
          <p:cNvPr id="11" name="logo-plate"/>
          <p:cNvSpPr/>
          <p:nvPr/>
        </p:nvSpPr>
        <p:spPr>
          <a:xfrm>
            <a:off x="9512190" y="539496"/>
            <a:ext cx="1993704" cy="98755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062" y="658368"/>
            <a:ext cx="1755961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THE UPSIDE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Why organisations are investing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52948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927920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First drafts, summaries and reports in minutes instead of days.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413720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Lower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2812152"/>
            <a:ext cx="2869082" cy="822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Routine work is handled by software, so teams handle more with the same headcount.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066248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06716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52948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Always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2927920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 shifts, no holidays, no drop in quality at 11 pm.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Consistency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same standard of output every single 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Serve ten customers or ten thousand with the same system.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037112"/>
            <a:ext cx="3417722" cy="1733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00352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Better decisions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898783"/>
            <a:ext cx="2869082" cy="706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Patterns in large data that a person would simply never spot.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THE DOWNSIDE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Risks you must plan for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None of these are reasons to avoid AI. They are reasons to use it with a 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Hallucination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Invents facts, names and figures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Sounds completely confident while wrong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Always verify before you use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Learns the bias in its training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Can quietly treat groups unfairly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real legal and reputation risk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leakage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Staff paste confidential data into public tools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That data may be stored or reused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Needs a clear company policy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Over-reliance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Skills fade when nobody checks the output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Copy-paste answers with no thought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Keep a human accountable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today's AI genuinely cannot do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Knowing the limits is what separates confident users from careless 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real understanding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matches patterns in language. It does not know what the words mean.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common sense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can pass a professional exam and then fail a question a child would get right.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Knowledge has a cut-off date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Unless it is connected to live search, it does not know recent events.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Weak at exact maths and logic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predicts likely text, so it can get simple arithmetic wrong.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Cannot explain itself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usually cannot show why it produced a particular answer.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No accountability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cannot be responsible. A person always has to be.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USING IT WELL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simple four-step habit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90305" y="2642262"/>
            <a:ext cx="8211083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52561" y="2415491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Pick the right 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Drafting, summarising, explaining - not final decisions.</a:t>
            </a:r>
          </a:p>
        </p:txBody>
      </p:sp>
      <p:sp>
        <p:nvSpPr>
          <p:cNvPr id="15" name="Oval 14"/>
          <p:cNvSpPr/>
          <p:nvPr/>
        </p:nvSpPr>
        <p:spPr>
          <a:xfrm>
            <a:off x="4489589" y="2415491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0259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50259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4851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Give clear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4851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Say the role, the goal, the audience and the format.</a:t>
            </a:r>
          </a:p>
        </p:txBody>
      </p:sp>
      <p:sp>
        <p:nvSpPr>
          <p:cNvPr id="20" name="Oval 19"/>
          <p:cNvSpPr/>
          <p:nvPr/>
        </p:nvSpPr>
        <p:spPr>
          <a:xfrm>
            <a:off x="7226617" y="2415491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7287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Check the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Verify every fact, figure, name and quote.</a:t>
            </a:r>
          </a:p>
        </p:txBody>
      </p:sp>
      <p:sp>
        <p:nvSpPr>
          <p:cNvPr id="25" name="Oval 24"/>
          <p:cNvSpPr/>
          <p:nvPr/>
        </p:nvSpPr>
        <p:spPr>
          <a:xfrm>
            <a:off x="9963645" y="2415491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315" y="2520647"/>
            <a:ext cx="25541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24315" y="3055571"/>
            <a:ext cx="2554147" cy="1222489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8907" y="3256739"/>
            <a:ext cx="2224963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Keep the human in charge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8907" y="3610800"/>
            <a:ext cx="2224963" cy="520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signs off and owns the result.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Treat AI as a fast junior colleague: helpful, quick, and always reviewed before anything goes out.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-1280160" y="3657600"/>
            <a:ext cx="4572000" cy="457200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9692640" y="-1097280"/>
            <a:ext cx="4572000" cy="45720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-plate"/>
          <p:cNvSpPr/>
          <p:nvPr/>
        </p:nvSpPr>
        <p:spPr>
          <a:xfrm>
            <a:off x="9769160" y="502920"/>
            <a:ext cx="1736734" cy="8778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032" y="621792"/>
            <a:ext cx="1498991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1737360"/>
            <a:ext cx="1003371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SOMETHING TO REMEMBER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082735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will not replace you. A person using AI well might.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75807" y="4553712"/>
            <a:ext cx="640080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791456"/>
            <a:ext cx="8168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A9BBDA"/>
                </a:solidFill>
                <a:latin typeface="Segoe UI"/>
                <a:ea typeface="Segoe UI"/>
                <a:cs typeface="Segoe UI"/>
              </a:rPr>
              <a:t>The skill is no longer doing the task. It is directing the tool and judging the result.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llege-logo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3333" y="6199632"/>
            <a:ext cx="275129" cy="3108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" y="6272784"/>
            <a:ext cx="5597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1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Introduction of AI and Gen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40677" y="6272784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Lingesh K  ·  OSI2509030</a:t>
            </a:r>
            <a:r>
              <a:rPr sz="9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     </a:t>
            </a: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1 in six lines.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435851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learns from data instead of following written rules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That is the one difference that explains everything else.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9344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Everything in use today is narrow AI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Excellent at one job, useless outside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Predictive AI forecasts, Generative AI creates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Different jobs. Strongest when used together.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benefits are speed, cost, scale and consistency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Which is why adoption is moving so fast.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risks are real but manageable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Hallucination, bias, data leakage and over-reliance.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human stays accountable for the output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Verify, then approve. Always.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01  ·  INTRODUCTION OF AI AND GEN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2: the platforms, tools and prompt-writing skills that turn these ideas into daily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18304"/>
            <a:ext cx="731520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tasks in your own work are drafting rather than deciding?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Where would a wrong AI answer cost you the most?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should your team never paste into a public AI tool?</a:t>
            </a:r>
          </a:p>
        </p:txBody>
      </p:sp>
      <p:sp>
        <p:nvSpPr>
          <p:cNvPr id="11" name="logo-plate"/>
          <p:cNvSpPr/>
          <p:nvPr/>
        </p:nvSpPr>
        <p:spPr>
          <a:xfrm>
            <a:off x="9233806" y="539496"/>
            <a:ext cx="2272088" cy="11064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college-logo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678" y="658368"/>
            <a:ext cx="2034345" cy="8686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87552" y="6035040"/>
            <a:ext cx="329184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6163056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Lingesh K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   ·   Register No. </a:t>
            </a:r>
            <a:r>
              <a:rPr sz="1000" b="1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OSI2509030</a:t>
            </a:r>
            <a:r>
              <a:rPr sz="1000" b="0" i="0">
                <a:solidFill>
                  <a:srgbClr val="4A5E86"/>
                </a:solidFill>
                <a:latin typeface="Segoe UI"/>
                <a:ea typeface="Segoe UI"/>
                <a:cs typeface="Segoe UI"/>
              </a:rPr>
              <a:t>   ·   </a:t>
            </a:r>
            <a:r>
              <a:rPr sz="1000" b="0" i="0">
                <a:solidFill>
                  <a:srgbClr val="7E91B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1 — Introduction of AI and Gen AI</dc:title>
  <dc:subject>Artificial Intelligence &amp; Generative AI</dc:subject>
  <dc:creator>Lingesh K (OSI2509030)</dc:creator>
  <cp:keywords/>
  <dc:description>PGPM · Systems Specialisation · Unit 1 of 5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