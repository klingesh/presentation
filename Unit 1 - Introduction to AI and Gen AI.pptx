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a simple hook: everyone in this room used AI today - maps, spam filters, autocomplete, ChatGPT. This unit gives us the vocabulary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line: normal software follows rules we write. AI writes its own rules from data. That one difference explains everything else in this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Useful myth-buster. Films show general and super AI. Business reality is narrow AI - a tool that is excellent at one narrow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 that lands well: it is very advanced autocomplete. Your phone suggests the next word; Gen AI suggests the next thousand words, and keeps them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Hallucination is the one to stress. The model is built to produce a fluent answer, not a true one. Fluency is not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04288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Introduction to AI and Generative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901383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212279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What artificial intelligence really is, the different types, how it learns, and where generative AI fits 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4992624"/>
            <a:ext cx="9667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What is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27488" y="4992624"/>
            <a:ext cx="129852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Types &amp; Models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4026" y="4992624"/>
            <a:ext cx="1672081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Gen AI vs Predictive 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4123" y="4992624"/>
            <a:ext cx="130125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Risks &amp; Benefits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80783" y="587044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Unit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Eight short stops. By the end you should be able to explain AI to someone with no technical background.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AI?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plain-English definition and everyday examples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AI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By capability and by the way it works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AI models learn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four learning styles, minus the maths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Generative AI?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Machines that create, not just decide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Gen AI vs Predictive AI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single most useful comparison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Advantages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Why every business is investing in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Risks and limitations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Where it goes wrong, and why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Using it well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simple rule for safe, sensible use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Is Artificial Intelligence?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Starting with the basics - in normal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Artificial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Software that learns from data to do jobs that used to need a human brain.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looks at large amounts of past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finds patterns in that data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uses those patterns on something new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gets better as it sees more examples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one writes step-by-step rules for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Traditional software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writes the rules. Same input always gives the same output.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Artificial 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machine works out the rules from examples it has been shown.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it matters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can now automate judgement, not just repetitive clicking.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EVERYDAY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You already use AI several times a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is not new or futuristic. It is already normal.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Maps and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traffic and picks the fastest route using live and historic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Streaming and 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Suggests the next show or product based on what people like you chose.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Bank fraud alerts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Spots a payment that does not match your normal spending and blocks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Email spam filter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Learns from millions of flagged emails what junk looks like.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Face unlock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Matches the camera image to the stored pattern of your face.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Chat assistants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Understands your question in plain language and writes an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Types of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Two useful ways to sort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TYPE 1 — BY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smart is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Almost every product marketed as 'AI' today is narrow AI.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86104"/>
            <a:ext cx="3417722" cy="2476719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88701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7552" y="3233576"/>
            <a:ext cx="347472" cy="347472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274724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74564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Narrow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44071"/>
            <a:ext cx="2869082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Very good at one job only. A chess engine cannot drive a car.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Status: this is everything we use today.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6986" y="2886104"/>
            <a:ext cx="3417722" cy="2476719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7900" y="288701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61306" y="3233576"/>
            <a:ext cx="347472" cy="347472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1306" y="3274724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1306" y="374564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General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1306" y="4144071"/>
            <a:ext cx="2869082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Would handle any task a human can, and switch between them.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Status: does not exist yet.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0740" y="2886104"/>
            <a:ext cx="3417722" cy="2476719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655" y="288701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35060" y="3233576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5060" y="3274724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5060" y="374564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Super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5060" y="4144071"/>
            <a:ext cx="2869082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Would beat humans at everything, including creativity.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Status: theory and debate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TYPE 2 — BY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families you will hear named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They overlap - deep learning is a branch of machine learning.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88039"/>
            <a:ext cx="1950643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Learns patterns from structured data. Used for scores, forecasts and risk ratings.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Deep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Uses layered neural networks. Handles images, audio and language well.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479313"/>
            <a:ext cx="1950643" cy="595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Natural Language Processing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129871"/>
            <a:ext cx="1950643" cy="85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Reads and writes human language. Powers chatbots and translation.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Computer Vision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Understands pictures and video. Used in quality checks and security.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HOW MODELS 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ways to train a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'model' is simply the trained result - the file that holds everything the system learned.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Supervised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 from labelled examples. 'This email is spam.'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Unsupervised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labels. Find natural groups in the data.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Reinforcement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 by trial, reward and penalty.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Self-supervised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Hide part of the data and predict it. Powers Gen AI.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Self-supervised learning is the reason Gen AI arrived so quickly - it can learn from raw internet text without humans labelling 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Is Generative AI?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From machines that decide to machines that create.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Generative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1014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that creates new content - text, images, audio, video or code - from a simple instruction.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925976"/>
            <a:ext cx="457200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31002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00296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give it an instruction, called a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686948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77220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predicts the most likely next word, pixel or note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6387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54145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repeats that prediction until the output is complete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440798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31070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result is new, not copied from a database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17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707995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twice and you get two different answers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Emails, summaries, reports, code - ChatGPT, Claude, Gemini.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Images and video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Posters, mockups, ads - Midjourney, VEO.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Voiceovers, music, dubbing in many languages.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MODEL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main kinds of Gen AI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do not need to build these. You need to know which one to pick.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363545"/>
            <a:ext cx="1950643" cy="595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Large Language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014103"/>
            <a:ext cx="1950643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Trained on huge amounts of text. Understand and write language. GPT, Claude, Gemini, Llama.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Diffusion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3888039"/>
            <a:ext cx="1950643" cy="1180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Start from visual noise and clean it up step by step into an image. Midjourney, Stable Diffusion.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Multimodal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003807"/>
            <a:ext cx="1950643" cy="1064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Accept and produce more than one format - read a chart, answer in words.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Foundation 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003807"/>
            <a:ext cx="1950643" cy="1064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Large general models trained once, then adapted cheaply to many specific tasks.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Gen AI vs Predictive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comparison that clears up most confusion.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CORE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Two different jobs, not two competitors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They work best together, not instead of each other.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297975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PREDICTIVE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Answers: what is likely to happen?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Output is a number, score or category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Trained on your own historic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is stable and repeatable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Accuracy can be measured exactly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Example: which customers will leave next month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1348701" cy="310896"/>
          </a:xfrm>
          <a:prstGeom prst="roundRect">
            <a:avLst>
              <a:gd name="adj" fmla="val 50000"/>
            </a:avLst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GENERATIVE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Answers: can you create this for me?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Output is new content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Trained on very large public datasets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varies each time you ask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Quality is judged by a human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Example: write the offer email to keep them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Predictive AI tells you what to expect. Generative AI helps you act on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SIDE BY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Quick reference 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30" cy="3447215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2563150"/>
                <a:gridCol w="4101040"/>
                <a:gridCol w="410104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Predictive AI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Generative AI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Main question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What will happen?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What can be made?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Output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Score, number, label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Text, image, audio, code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Data used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Company's own history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Very large public datasets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Same input twice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Same answer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Different answer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Judged by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Accuracy against reality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Human review of quality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Business use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Forecast demand, score credit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Draft content, summarise, assist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Main weakness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Fails when the future changes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Can state wrong things confidently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If you remember one row, remember the first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86400"/>
            <a:ext cx="32004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Advantages, Risks and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An honest look at both sides.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UPSIDE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organisations are investing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066248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06716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2948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Speed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27920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First drafts, summaries and reports in minutes instead of days.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066248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06716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41372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Lower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2812152"/>
            <a:ext cx="2869082" cy="82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Routine work is handled by software, so teams handle more with the same headcount.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066248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06716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52948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Always available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2927920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shifts, no holidays, no drop in quality at 11 pm.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500352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898783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standard of output every single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500352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898783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Serve ten customers or ten thousand with the same system.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500352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Better decisions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898783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Patterns in large data that a person would simply never spot.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THE DOWNSIDE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Risks you must plan 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None of these are reasons to avoid AI. They are reasons to use it with a process.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Hallucination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Invents facts, names and figures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Sounds completely confident while wrong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Always verify before you use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Learns the bias in its training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Can quietly treat groups unfairly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real legal and reputation risk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leakage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Staff paste confidential data into public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That data may be stored or reused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Needs a clear company policy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Over-reliance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Skills fade when nobody checks the output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Copy-paste answers with no thought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Keep a human accountable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today's AI genuinely cannot do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Knowing the limits is what separates confident users from careless 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real understanding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matches patterns in language. It does not know what the words mean.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common sense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can pass a professional exam and then fail a question a child would get right.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Knowledge has a cut-off date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Unless it is connected to live search, it does not know recent events.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Weak at exact maths and logic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predicts likely text, so it can get simple arithmetic wrong.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Cannot explain itself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usually cannot show why it produced a particular answer.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accountability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cannot be responsible. A person always has to be.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USING IT WELL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simple four-step habit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90305" y="2642262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52561" y="2415491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Pick the right 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Drafting, summarising, explaining - not final decisions.</a:t>
            </a:r>
          </a:p>
        </p:txBody>
      </p:sp>
      <p:sp>
        <p:nvSpPr>
          <p:cNvPr id="14" name="Oval 13"/>
          <p:cNvSpPr/>
          <p:nvPr/>
        </p:nvSpPr>
        <p:spPr>
          <a:xfrm>
            <a:off x="4489589" y="2415491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0259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0259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4851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Give clear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4851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Say the role, the goal, the audience and the format.</a:t>
            </a:r>
          </a:p>
        </p:txBody>
      </p:sp>
      <p:sp>
        <p:nvSpPr>
          <p:cNvPr id="19" name="Oval 18"/>
          <p:cNvSpPr/>
          <p:nvPr/>
        </p:nvSpPr>
        <p:spPr>
          <a:xfrm>
            <a:off x="7226617" y="2415491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1879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Check the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1879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Verify every fact, figure, name and quote.</a:t>
            </a:r>
          </a:p>
        </p:txBody>
      </p:sp>
      <p:sp>
        <p:nvSpPr>
          <p:cNvPr id="24" name="Oval 23"/>
          <p:cNvSpPr/>
          <p:nvPr/>
        </p:nvSpPr>
        <p:spPr>
          <a:xfrm>
            <a:off x="9963645" y="2415491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315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24315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88907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the human in charge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8907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signs off and owns the result.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Treat AI as a fast junior colleague: helpful, quick, and always reviewed before anything goes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737360"/>
            <a:ext cx="100337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SOMETHING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9082735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will not replace you. A person using AI well might.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75807" y="4553712"/>
            <a:ext cx="640080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791456"/>
            <a:ext cx="8168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9BBDA"/>
                </a:solidFill>
                <a:latin typeface="Segoe UI"/>
                <a:ea typeface="Segoe UI"/>
                <a:cs typeface="Segoe UI"/>
              </a:rPr>
              <a:t>The skill is no longer doing the task. It is directing the tool and judging the result.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1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435851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learns from data instead of following written rules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That is the one difference that explains everything else.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Everything in use today is narrow AI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Excellent at one job, useless outside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Predictive AI forecasts, Generative AI creates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Different jobs. Strongest when used together.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benefits are speed, cost, scale and consistency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Which is why adoption is moving so fast.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risks are real but manageable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Hallucination, bias, data leakage and over-reliance.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human stays accountable for the output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Verify, then approve. Always.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01  ·  INTRODUCTION OF AI AND GEN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2: the platforms, tools and prompt-writing skills that turn these ideas into daily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tasks in your own work are drafting rather than deciding?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Where would a wrong AI answer cost you the most?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should your team never paste into a public AI tool?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  <a:r>
              <a:rPr sz="1000" b="0" i="0">
                <a:solidFill>
                  <a:srgbClr val="4A5E86"/>
                </a:solidFill>
                <a:latin typeface="Segoe UI"/>
                <a:ea typeface="Segoe UI"/>
                <a:cs typeface="Segoe UI"/>
              </a:rPr>
              <a:t>   ·   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1 — Introduction of AI and Gen AI</dc:title>
  <dc:subject>Artificial Intelligence &amp; Generative AI</dc:subject>
  <dc:creator>Lingesh K (OSI2509030)</dc:creator>
  <cp:keywords/>
  <dc:description>PGPM · Systems Specialisation · Unit 1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