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a simple hook: everyone in this room used AI today - maps, spam filters, autocomplete, ChatGPT. This unit gives us the vocabulary for the rest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line: normal software follows rules we write. AI writes its own rules from data. That one difference explains everything else in this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Useful myth-buster. Films show general and super AI. Business reality is narrow AI - a tool that is excellent at one narrow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Analogy that lands well: it is very advanced autocomplete. Your phone suggests the next word; Gen AI suggests the next thousand words, and keeps them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Hallucination is the one to stress. The model is built to produce a fluent answer, not a true one. Fluency is not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686800" y="-1463040"/>
            <a:ext cx="5120640" cy="512064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058400" y="3108960"/>
            <a:ext cx="3840480" cy="384048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o-bleed"/>
          <p:cNvSpPr/>
          <p:nvPr/>
        </p:nvSpPr>
        <p:spPr>
          <a:xfrm>
            <a:off x="7315200" y="1005840"/>
            <a:ext cx="2743200" cy="2743200"/>
          </a:xfrm>
          <a:prstGeom prst="ellipse">
            <a:avLst/>
          </a:prstGeom>
          <a:solidFill>
            <a:srgbClr val="FFFFFF">
              <a:alpha val="35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17043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PGPM · SYSTEMS SPECIALISATION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1627632"/>
            <a:ext cx="1481328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B7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UNIT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304288"/>
            <a:ext cx="7406640" cy="1578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Introduction to AI and Generative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3901383"/>
            <a:ext cx="658368" cy="457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4212279"/>
            <a:ext cx="6766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What artificial intelligence really is, the different types, how it learns, and where generative AI fits 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" y="5159197"/>
            <a:ext cx="966784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What is 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27488" y="5159197"/>
            <a:ext cx="129852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Types &amp; Models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4026" y="5159197"/>
            <a:ext cx="1672081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Gen AI vs Predictive 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54123" y="5159197"/>
            <a:ext cx="130125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Risks &amp; Benefits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5742432"/>
            <a:ext cx="384048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925312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PGPM · Systems Specialisation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9DBE"/>
                </a:solidFill>
                <a:latin typeface="Segoe UI"/>
                <a:ea typeface="Segoe UI"/>
                <a:cs typeface="Segoe UI"/>
              </a:rPr>
              <a:t>Unit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we will cover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Eight short stops. By the end you should be able to explain AI to someone with no technical background.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212848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is AI?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plain-English definition and everyday examples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3145536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Types of AI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By capability and by the way it works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4078224"/>
            <a:ext cx="32004" cy="78638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9616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How AI models learn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four learning styles, minus the maths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5010912"/>
            <a:ext cx="32004" cy="786384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is Generative AI?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Machines that create, not just decide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4719" y="2212848"/>
            <a:ext cx="32004" cy="786384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5887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1103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Gen AI vs Predictive AI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single most useful comparison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4719" y="3145536"/>
            <a:ext cx="32004" cy="786384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5887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1103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Advantages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Why every business is investing in 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4719" y="4078224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5887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1103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Risks and limitations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Where it goes wrong, and why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4719" y="5010912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5887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1103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Using it well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simple rule for safe, sensible use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 Is Artificial Intelligence?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Starting with the basics - in normal language.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1  ·  INTRODUCTION OF AI AND GEN 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Artificial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9728"/>
            <a:ext cx="4521397" cy="71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Software that learns from data to do jobs that used to need a human brain.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630378"/>
            <a:ext cx="457200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30144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046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looks at large amounts of past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9135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8162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finds patterns in that data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76827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5854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uses those patterns on something new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520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03547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gets better as it sees more examples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5221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123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one writes step-by-step rules for 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4709" y="216463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Traditional software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4709" y="249081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person writes the rules. Same input always gives the same output.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74709" y="364289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Artificial intelligence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4709" y="3969069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machine works out the rules from examples it has been shown.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74709" y="512114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Why it matters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4709" y="544732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You can now automate judgement, not just repetitive clicking.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EVERYDAY EXAMPLES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You already use AI several times a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is not new or futuristic. It is already normal.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Maps and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Predicts traffic and picks the fastest route using live and historic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Streaming and shopping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Suggests the next show or product based on what people like you chose.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Bank fraud alerts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Spots a payment that does not match your normal spending and blocks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Email spam filter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Learns from millions of flagged emails what junk looks like.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Face unlock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Matches the camera image to the stored pattern of your face.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Chat assistants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Understands your question in plain language and writes an answer.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Types of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Two useful ways to sort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1  ·  INTRODUCTION OF AI AND GEN AI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TYPE 1 — BY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How smart is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Almost every product marketed as 'AI' today is narrow AI.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86104"/>
            <a:ext cx="3417722" cy="2476719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887019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7552" y="3233576"/>
            <a:ext cx="347472" cy="347472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274724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74564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Narrow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44071"/>
            <a:ext cx="2869082" cy="1054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Very good at one job only. A chess engine cannot drive a car.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Status: this is everything we use today.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6986" y="2886104"/>
            <a:ext cx="3417722" cy="2476719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7900" y="2887019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61306" y="3233576"/>
            <a:ext cx="347472" cy="347472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1306" y="3274724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1306" y="374564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General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1306" y="4144071"/>
            <a:ext cx="2869082" cy="1054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Would handle any task a human can, and switch between them.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Status: does not exist yet.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0740" y="2886104"/>
            <a:ext cx="3417722" cy="2476719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61655" y="2887019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35060" y="3233576"/>
            <a:ext cx="347472" cy="347472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5060" y="3274724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5060" y="374564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Super 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5060" y="4144071"/>
            <a:ext cx="2869082" cy="1054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Would beat humans at everything, including creativity.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Status: theory and debate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TYPE 2 — BY 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families you will hear named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They overlap - deep learning is a branch of machine learning.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3096678"/>
            <a:ext cx="249678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3489608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Machine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88039"/>
            <a:ext cx="1950643" cy="11005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Learns patterns from structured data. Used for scores, forecasts and risk ratings.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8547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69462" y="3096678"/>
            <a:ext cx="249678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2867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Deep 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2867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Uses layered neural networks. Handles images, audio and language well.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3863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4778" y="3096678"/>
            <a:ext cx="249678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183" y="3479313"/>
            <a:ext cx="1950643" cy="595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Natural Language Processing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4129871"/>
            <a:ext cx="1950643" cy="85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Reads and writes human language. Powers chatbots and translation.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9179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80093" y="3096678"/>
            <a:ext cx="249678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499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Computer Vision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499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Understands pictures and video. Used in quality checks and security.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HOW MODELS 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ways to train a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'model' is simply the trained result - the file that holds everything the system learned.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1990305" y="3054711"/>
            <a:ext cx="8211083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52561" y="2827939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Supervised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Learn from labelled examples. 'This email is spam.'</a:t>
            </a:r>
          </a:p>
        </p:txBody>
      </p:sp>
      <p:sp>
        <p:nvSpPr>
          <p:cNvPr id="15" name="Oval 14"/>
          <p:cNvSpPr/>
          <p:nvPr/>
        </p:nvSpPr>
        <p:spPr>
          <a:xfrm>
            <a:off x="4489589" y="2827939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0259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50259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4851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Unsupervised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4851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No labels. Find natural groups in the data.</a:t>
            </a:r>
          </a:p>
        </p:txBody>
      </p:sp>
      <p:sp>
        <p:nvSpPr>
          <p:cNvPr id="20" name="Oval 19"/>
          <p:cNvSpPr/>
          <p:nvPr/>
        </p:nvSpPr>
        <p:spPr>
          <a:xfrm>
            <a:off x="7226617" y="2827939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7287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Reinforcement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Learn by trial, reward and penalty.</a:t>
            </a:r>
          </a:p>
        </p:txBody>
      </p:sp>
      <p:sp>
        <p:nvSpPr>
          <p:cNvPr id="25" name="Oval 24"/>
          <p:cNvSpPr/>
          <p:nvPr/>
        </p:nvSpPr>
        <p:spPr>
          <a:xfrm>
            <a:off x="9963645" y="2827939"/>
            <a:ext cx="475488" cy="475488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24315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24315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8907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Self-supervised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88907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Hide part of the data and predict it. Powers Gen AI.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Self-supervised learning is the reason Gen AI arrived so quickly - it can learn from raw internet text without humans labelling it.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 Is Generative AI?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From machines that decide to machines that create.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1  ·  INTRODUCTION OF AI AND GEN 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Generative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9728"/>
            <a:ext cx="4521397" cy="1014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that creates new content - text, images, audio, video or code - from a simple instruction.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925976"/>
            <a:ext cx="457200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331002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200296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You give it an instruction, called a prompt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686948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77220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predicts the most likely next word, pixel or note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6387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954145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repeats that prediction until the output is complete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440798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31070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The result is new, not copied from a database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817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707995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Ask twice and you get two different answers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4709" y="216463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4709" y="249081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Emails, summaries, reports, code - ChatGPT, Claude, Gemini.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74709" y="364289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Images and video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4709" y="3969069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Posters, mockups, ads - Midjourney, VEO.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74709" y="512114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Audio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4709" y="544732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Voiceovers, music, dubbing in many languages.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MODEL FAMILIES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main kinds of Gen AI models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You do not need to build these. You need to know which one to pick.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016073"/>
            <a:ext cx="2499283" cy="221678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3016987"/>
            <a:ext cx="249678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3363545"/>
            <a:ext cx="1950643" cy="595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Large Language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014103"/>
            <a:ext cx="1950643" cy="1054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Trained on huge amounts of text. Understand and write language. GPT, Claude, Gemini, Llama.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8547" y="3016073"/>
            <a:ext cx="2499283" cy="221678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69462" y="3016987"/>
            <a:ext cx="249678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2867" y="3489608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Diffusion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2867" y="3888039"/>
            <a:ext cx="1950643" cy="1180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Start from visual noise and clean it up step by step into an image. Midjourney, Stable Diffusion.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3863" y="3016073"/>
            <a:ext cx="2499283" cy="221678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4778" y="3016987"/>
            <a:ext cx="249678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183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Multimodal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4003807"/>
            <a:ext cx="1950643" cy="1064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Accept and produce more than one format - read a chart, answer in words.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9179" y="3016073"/>
            <a:ext cx="2499283" cy="221678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80093" y="3016987"/>
            <a:ext cx="249678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499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Foundation models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499" y="4003807"/>
            <a:ext cx="1950643" cy="1064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Large general models trained once, then adapted cheaply to many specific tasks.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Gen AI vs Predictive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The comparison that clears up most confusion.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1  ·  INTRODUCTION OF AI AND GEN 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CORE DIFFERENCE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Two different jobs, not two competitors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They work best together, not instead of each other.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196514"/>
            <a:ext cx="5221940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2506496"/>
            <a:ext cx="1297975" cy="31089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PREDICTIVE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Answers: what is likely to happen?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24128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6736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Output is a number, score or category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16736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Trained on your own historic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6736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Answer is stable and repeatable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16736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Accuracy can be measured exactly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16736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Example: which customers will leave next month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1295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2210" y="2196514"/>
            <a:ext cx="5221940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62191" y="2506496"/>
            <a:ext cx="1348701" cy="310896"/>
          </a:xfrm>
          <a:prstGeom prst="roundRect">
            <a:avLst>
              <a:gd name="adj" fmla="val 50000"/>
            </a:avLst>
          </a:prstGeom>
          <a:solidFill>
            <a:srgbClr val="EE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GENERATIVE 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2191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Answers: can you create this for me?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62191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62191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4799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Output is new content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62191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4799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Trained on very large public datasets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62191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4799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Answer varies each time you ask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2191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4799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Quality is judged by a human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62191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4799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Example: write the offer email to keep them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Predictive AI tells you what to expect. Generative AI helps you act on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SIDE BY 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Quick reference table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1819728"/>
          <a:ext cx="10765230" cy="3447215"/>
        </p:xfrm>
        <a:graphic>
          <a:graphicData uri="http://schemas.openxmlformats.org/drawingml/2006/table">
            <a:tbl>
              <a:tblPr firstRow="1" bandRow="0" bandCol="0" firstCol="0" lastRow="0" lastCol="0">
                <a:tableStyleId>{5C22544A-7EE6-4342-B048-85BDC9FD1C3A}</a:tableStyleId>
              </a:tblPr>
              <a:tblGrid>
                <a:gridCol w="2563150"/>
                <a:gridCol w="4101040"/>
                <a:gridCol w="4101040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/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Predictive AI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Generative AI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Main question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What will happen?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What can be made?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Output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Score, number, label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Text, image, audio, code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Data used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Company's own history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Very large public datasets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Same input twice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Same answer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Different answer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Judged by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Accuracy against reality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Human review of quality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Business use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Forecast demand, score credit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Draft content, summarise, assist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Main weakness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Fails when the future changes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Can state wrong things confidently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If you remember one row, remember the first 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5486400"/>
            <a:ext cx="32004" cy="56692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Advantages, Risks and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An honest look at both sides.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1  ·  INTRODUCTION OF AI AND GEN AI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THE UPSIDE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Why organisations are investing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066248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2067163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52948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Speed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927920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First drafts, summaries and reports in minutes instead of days.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6986" y="2066248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7900" y="2067163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1306" y="241372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Lower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1306" y="2812152"/>
            <a:ext cx="2869082" cy="822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Routine work is handled by software, so teams handle more with the same headcount.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0740" y="2066248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1655" y="2067163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5060" y="252948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Always available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5060" y="2927920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No shifts, no holidays, no drop in quality at 11 pm.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37112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4146" y="4038026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4500352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Consistency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4898783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same standard of output every single time.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6986" y="4037112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7900" y="4038026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1306" y="4500352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Scale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1306" y="4898783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Serve ten customers or ten thousand with the same system.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0740" y="4037112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61655" y="4038026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5060" y="4500352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Better decisions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5060" y="4898783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Patterns in large data that a person would simply never spot.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THE DOWNSIDE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Risks you must plan for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None of these are reasons to avoid AI. They are reasons to use it with a process.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195600"/>
            <a:ext cx="45720" cy="1819135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Hallucination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Invents facts, names and figures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Sounds completely confident while wrong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Always verify before you use 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3863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3863" y="2195600"/>
            <a:ext cx="45720" cy="1819135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4759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Bias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4759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90791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Learns the bias in its training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4759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90791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Can quietly treat groups unfairly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34759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0791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 real legal and reputation risk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234192"/>
            <a:ext cx="45720" cy="1819135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Data leakage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0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Staff paste confidential data into public tools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4128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80160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That data may be stored or reused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4128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0160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Needs a clear company policy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3863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23863" y="4234192"/>
            <a:ext cx="45720" cy="1819135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4759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Over-reliance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34759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90791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Skills fade when nobody checks the output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34759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90791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Copy-paste answers with no thought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34759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90791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Keep a human accountable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today's AI genuinely cannot do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Knowing the limits is what separates confident users from careless 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5860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862592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 real understanding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matches patterns in language. It does not know what the words mean.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18140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722128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 common sense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can pass a professional exam and then fail a question a child would get right.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7767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58166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Knowledge has a cut-off date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Unless it is connected to live search, it does not know recent events.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42735" y="295860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0207" y="2862592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Weak at exact maths and logic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predicts likely text, so it can get simple arithmetic wrong.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2735" y="3818140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0207" y="3722128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Cannot explain itself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usually cannot show why it produced a particular answer.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42735" y="467767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90207" y="458166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 accountability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model cannot be responsible. A person always has to be.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USING IT WELL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simple four-step habit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90305" y="2642262"/>
            <a:ext cx="8211083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52561" y="2415491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Pick the right task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Drafting, summarising, explaining - not final decisions.</a:t>
            </a:r>
          </a:p>
        </p:txBody>
      </p:sp>
      <p:sp>
        <p:nvSpPr>
          <p:cNvPr id="14" name="Oval 13"/>
          <p:cNvSpPr/>
          <p:nvPr/>
        </p:nvSpPr>
        <p:spPr>
          <a:xfrm>
            <a:off x="4489589" y="2415491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0259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50259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4851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Give clear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4851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Say the role, the goal, the audience and the format.</a:t>
            </a:r>
          </a:p>
        </p:txBody>
      </p:sp>
      <p:sp>
        <p:nvSpPr>
          <p:cNvPr id="19" name="Oval 18"/>
          <p:cNvSpPr/>
          <p:nvPr/>
        </p:nvSpPr>
        <p:spPr>
          <a:xfrm>
            <a:off x="7226617" y="2415491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1879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Check the 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1879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Verify every fact, figure, name and quote.</a:t>
            </a:r>
          </a:p>
        </p:txBody>
      </p:sp>
      <p:sp>
        <p:nvSpPr>
          <p:cNvPr id="24" name="Oval 23"/>
          <p:cNvSpPr/>
          <p:nvPr/>
        </p:nvSpPr>
        <p:spPr>
          <a:xfrm>
            <a:off x="9963645" y="2415491"/>
            <a:ext cx="475488" cy="475488"/>
          </a:xfrm>
          <a:prstGeom prst="ellipse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24315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24315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88907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Keep the human in charge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88907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person signs off and owns the result.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Treat AI as a fast junior colleague: helpful, quick, and always reviewed before anything goes out.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-1280160" y="3657600"/>
            <a:ext cx="4572000" cy="457200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9692640" y="-1097280"/>
            <a:ext cx="4572000" cy="45720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737360"/>
            <a:ext cx="100337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SOMETHING TO REMEMBER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286000"/>
            <a:ext cx="9082735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will not replace you. A person using AI well might.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775807" y="4553712"/>
            <a:ext cx="640080" cy="457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791456"/>
            <a:ext cx="8168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9BBDA"/>
                </a:solidFill>
                <a:latin typeface="Segoe UI"/>
                <a:ea typeface="Segoe UI"/>
                <a:cs typeface="Segoe UI"/>
              </a:rPr>
              <a:t>The skill is no longer doing the task. It is directing the tool and judging the result.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Key takeaways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Unit 1 in six 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232176"/>
            <a:ext cx="45720" cy="1151797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4984" y="2616051"/>
            <a:ext cx="384048" cy="384048"/>
          </a:xfrm>
          <a:prstGeom prst="ellipse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2435851"/>
            <a:ext cx="4111599" cy="835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learns from data instead of following written rules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That is the one difference that explains everything else.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3566853"/>
            <a:ext cx="45720" cy="1151797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4984" y="3950728"/>
            <a:ext cx="384048" cy="384048"/>
          </a:xfrm>
          <a:prstGeom prst="ellipse">
            <a:avLst/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3889957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Everything in use today is narrow AI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Excellent at one job, useless outside 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4901530"/>
            <a:ext cx="45720" cy="115179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4984" y="5285405"/>
            <a:ext cx="384048" cy="384048"/>
          </a:xfrm>
          <a:prstGeom prst="ellipse">
            <a:avLst/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9344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Predictive AI forecasts, Generative AI creates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Different jobs. Strongest when used together.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3007" y="2232176"/>
            <a:ext cx="45720" cy="1151797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34759" y="2616051"/>
            <a:ext cx="384048" cy="384048"/>
          </a:xfrm>
          <a:prstGeom prst="ellipse">
            <a:avLst/>
          </a:prstGeom>
          <a:solidFill>
            <a:srgbClr val="EE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4759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9119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benefits are speed, cost, scale and consistency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Which is why adoption is moving so fast.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33007" y="3566853"/>
            <a:ext cx="45720" cy="1151797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34759" y="3950728"/>
            <a:ext cx="384048" cy="384048"/>
          </a:xfrm>
          <a:prstGeom prst="ellipse">
            <a:avLst/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4759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29119" y="3889957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risks are real but manageable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Hallucination, bias, data leakage and over-reliance.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3007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33007" y="4901530"/>
            <a:ext cx="45720" cy="1151797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534759" y="5285405"/>
            <a:ext cx="384048" cy="384048"/>
          </a:xfrm>
          <a:prstGeom prst="ellipse">
            <a:avLst/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4759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29119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human stays accountable for the output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Verify, then approve. Always.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961120" y="-1280160"/>
            <a:ext cx="4937760" cy="493776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424160" y="3474720"/>
            <a:ext cx="3291840" cy="329184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57984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UNIT 01  ·  INTRODUCTION OF AI AND GEN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42032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Thank 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" y="3675887"/>
            <a:ext cx="658368" cy="4572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950208"/>
            <a:ext cx="6583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B8C8E4"/>
                </a:solidFill>
                <a:latin typeface="Segoe UI"/>
                <a:ea typeface="Segoe UI"/>
                <a:cs typeface="Segoe UI"/>
              </a:rPr>
              <a:t>Next up — Unit 2: the platforms, tools and prompt-writing skills that turn these ideas into daily work.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882896"/>
            <a:ext cx="7315200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Questions to think about</a:t>
            </a:r>
          </a:p>
          <a:p>
            <a:pPr algn="l">
              <a:lnSpc>
                <a:spcPct val="13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Which tasks in your own work are drafting rather than deciding?</a:t>
            </a:r>
          </a:p>
          <a:p>
            <a:pPr algn="l">
              <a:lnSpc>
                <a:spcPct val="13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Where would a wrong AI answer cost you the most?</a:t>
            </a:r>
          </a:p>
          <a:p>
            <a:pPr algn="l">
              <a:lnSpc>
                <a:spcPct val="13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What should your team never paste into a public AI tool?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