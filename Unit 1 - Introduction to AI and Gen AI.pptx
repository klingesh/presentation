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embeddedFontLst>
    <p:embeddedFont>
      <p:font typeface="Quattrocento Sans" charset="-122" pitchFamily="34"/>
      <p:regular r:id="rId31"/>
      <p:bold r:id="rId32"/>
      <p:italic r:id="rId33"/>
    </p:embeddedFont>
    <p:embeddedFont>
      <p:font typeface="Sorts Mill Goudy" charset="-122" pitchFamily="34"/>
      <p:regular r:id="rId34"/>
      <p:italic r:id="rId3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font" Target="fonts/font1.fntdata"/><Relationship Id="rId32" Type="http://schemas.openxmlformats.org/officeDocument/2006/relationships/font" Target="fonts/font2.fntdata"/><Relationship Id="rId33" Type="http://schemas.openxmlformats.org/officeDocument/2006/relationships/font" Target="fonts/font3.fntdata"/><Relationship Id="rId34" Type="http://schemas.openxmlformats.org/officeDocument/2006/relationships/font" Target="fonts/font4.fntdata"/><Relationship Id="rId35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a simple hook: everyone in this room used AI today - maps, spam filters, autocomplete, ChatGPT. This unit gives us the vocabulary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line: normal software follows rules we write. AI writes its own rules from data. That one difference explains everything else in this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Useful myth-buster. Films show general and super AI. Business reality is narrow AI - a tool that is excellent at one narrow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 that lands well: it is very advanced autocomplete. Your phone suggests the next word; Gen AI suggests the next thousand words, and keeps them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is the one to stress. The model is built to produce a fluent answer, not a true one. Fluency is not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8B0000"/>
              </a:gs>
              <a:gs pos="100000">
                <a:srgbClr val="630000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412480" y="-1737360"/>
            <a:ext cx="5852160" cy="5852160"/>
          </a:xfrm>
          <a:prstGeom prst="ellipse">
            <a:avLst/>
          </a:prstGeom>
          <a:solidFill>
            <a:srgbClr val="FFFFFF">
              <a:alpha val="3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291840"/>
            <a:ext cx="4206240" cy="4206240"/>
          </a:xfrm>
          <a:prstGeom prst="ellipse">
            <a:avLst/>
          </a:prstGeom>
          <a:solidFill>
            <a:srgbClr val="FFFFFF">
              <a:alpha val="2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-1371600" y="4023360"/>
            <a:ext cx="4389120" cy="4389120"/>
          </a:xfrm>
          <a:prstGeom prst="ellipse">
            <a:avLst/>
          </a:prstGeom>
          <a:solidFill>
            <a:srgbClr val="000000">
              <a:alpha val="2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-plate"/>
          <p:cNvSpPr/>
          <p:nvPr/>
        </p:nvSpPr>
        <p:spPr>
          <a:xfrm>
            <a:off x="9695070" y="448056"/>
            <a:ext cx="1993704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3942" y="566928"/>
            <a:ext cx="1755961" cy="7498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" y="1517904"/>
            <a:ext cx="3110630" cy="29260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ARTIFICIAL INTELLIGENCE &amp; GENERATIVE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80566"/>
            <a:ext cx="8549640" cy="891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Introduction to AI and 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581712"/>
            <a:ext cx="7955279" cy="39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What artificial intelligence really is, the different types, how it learns, and where generative AI fits 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" y="4213425"/>
            <a:ext cx="1030833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WHAT IS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9241" y="4213425"/>
            <a:ext cx="1368236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TYPES &amp;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6349" y="4213425"/>
            <a:ext cx="1850945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GEN AI VS PREDICTIVE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66167" y="4213425"/>
            <a:ext cx="1416362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RISKS &amp; BENEFITS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" y="5376672"/>
            <a:ext cx="20320" cy="65836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54315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PRESENTED 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565099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Lingesh 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07791" y="5376672"/>
            <a:ext cx="20320" cy="65836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54315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REGISTER NO.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65099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OSI2509030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we will cover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Eight short stops. By the end you should be able to explain AI to someone with no technical background.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99425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33920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2262849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What is AI?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plain-English definition and everyday examples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7" y="3140673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18044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104097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Types of AI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By capability and by the way it works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7" y="3981921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02169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3945345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How AI models learn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four learning styles, minus the maths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7" y="4823169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86294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786593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What is Generative AI?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Machines that create, not just decide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9311" y="2299425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11" y="233920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4799" y="2262849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Gen AI vs Predictive AI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single most useful comparison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9311" y="3140673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9311" y="318044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4799" y="3104097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Advantages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Why every business is investing in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9311" y="3981921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9311" y="402169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4799" y="3945345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Risks and limitations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Where it goes wrong, and why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79311" y="4823169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9311" y="486294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4799" y="4786593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Using it well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simple rule for safe, sensible 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10222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What Is Artificial Intelligence?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Starting with the basics - in normal language.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04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Artificial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535556"/>
            <a:ext cx="4313407" cy="794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Software that learns from data to do jobs that used to need a human brain.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2421232"/>
            <a:ext cx="566928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7250" y="2748130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5" y="2677264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It looks at large amounts of past data</a:t>
            </a:r>
          </a:p>
        </p:txBody>
      </p:sp>
      <p:sp>
        <p:nvSpPr>
          <p:cNvPr id="16" name="Oval 15"/>
          <p:cNvSpPr/>
          <p:nvPr/>
        </p:nvSpPr>
        <p:spPr>
          <a:xfrm>
            <a:off x="857250" y="308651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3015645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It finds patterns in that data</a:t>
            </a:r>
          </a:p>
        </p:txBody>
      </p:sp>
      <p:sp>
        <p:nvSpPr>
          <p:cNvPr id="18" name="Oval 17"/>
          <p:cNvSpPr/>
          <p:nvPr/>
        </p:nvSpPr>
        <p:spPr>
          <a:xfrm>
            <a:off x="857250" y="342489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3354027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It uses those patterns on something new</a:t>
            </a:r>
          </a:p>
        </p:txBody>
      </p:sp>
      <p:sp>
        <p:nvSpPr>
          <p:cNvPr id="20" name="Oval 19"/>
          <p:cNvSpPr/>
          <p:nvPr/>
        </p:nvSpPr>
        <p:spPr>
          <a:xfrm>
            <a:off x="857250" y="3763274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5" y="3692408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It gets better as it sees more examples</a:t>
            </a:r>
          </a:p>
        </p:txBody>
      </p:sp>
      <p:sp>
        <p:nvSpPr>
          <p:cNvPr id="22" name="Oval 21"/>
          <p:cNvSpPr/>
          <p:nvPr/>
        </p:nvSpPr>
        <p:spPr>
          <a:xfrm>
            <a:off x="857250" y="4101656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030790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one writes step-by-step rules for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0415" y="1517268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0415" y="1517268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76447" y="201251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0183" y="1930222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Traditional software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76447" y="2318480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person writes the rules. Same input always gives the same output.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0415" y="3096344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0415" y="3096344"/>
            <a:ext cx="20320" cy="141448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76447" y="359159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50183" y="3509298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Artificial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6447" y="3897556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machine works out the rules from examples it has been shown.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0415" y="4675420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0415" y="4675420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76447" y="5170670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50183" y="5088374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Why it matters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6447" y="5476632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You can now automate judgement, not just repetitive clicking.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05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EVERYDAY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You already use AI several times a 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AI is not new or futuristic. It is already normal.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2212266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641451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Maps and navigation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Predicts traffic and picks the fastest route using live and historic data.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5002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15002" y="2212266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2746" y="2641451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6482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Streaming and shopping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2746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Suggests the next show or product based on what people like you chose.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8756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8756" y="2212266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26500" y="2641451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00236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Bank fraud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500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Spots a payment that does not match your normal spending and blocks 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7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7" y="3913050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992" y="4342235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2728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Email spam filter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Learns from millions of flagged emails what junk looks like.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5002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15002" y="3913050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2746" y="4342235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6482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Face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2746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Matches the camera image to the stored pattern of your face.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8756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8756" y="3913050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26500" y="4342235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0236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Chat assistants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26500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Understands your question in plain language and writes an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0934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Types of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Two useful ways to sort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07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TYPE 1 — BY CAPABILITY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How smart is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Almost every product marketed as 'AI' today is narrow AI.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343601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8992" y="2740127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6573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142463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Narrow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551292"/>
            <a:ext cx="2960522" cy="1138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Very good at one job only. A chess engine cannot drive a car.</a:t>
            </a:r>
            <a:br/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Status: this is everything we use today.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5002" y="2212266"/>
            <a:ext cx="343601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2746" y="2740127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2746" y="276573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2746" y="3142463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General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2746" y="3551292"/>
            <a:ext cx="2960522" cy="1138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Would handle any task a human can, and switch between them.</a:t>
            </a:r>
            <a:br/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Status: does not exist yet.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8756" y="2212266"/>
            <a:ext cx="343601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26500" y="2832521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26500" y="28581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6500" y="3234857"/>
            <a:ext cx="2960522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Super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500" y="3643686"/>
            <a:ext cx="2960522" cy="1046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Would beat humans at everything, including creativity.</a:t>
            </a:r>
            <a:br/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/>
            </a:r>
            <a:br/>
            <a:r>
              <a:rPr sz="98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Status: theory and debate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08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TYPE 2 — BY 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Four families you will hear named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They overlap - deep learning is a branch of machine learning.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2517571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2212266"/>
            <a:ext cx="2032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3111413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3024545"/>
            <a:ext cx="1868347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Machine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433374"/>
            <a:ext cx="2042083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Learns patterns from structured data. Used for scores, forecasts and risk ratings.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96563" y="2212266"/>
            <a:ext cx="2517571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96563" y="2212266"/>
            <a:ext cx="2032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34307" y="3111413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8043" y="3024545"/>
            <a:ext cx="1868347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Deep 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4307" y="3433374"/>
            <a:ext cx="2042083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Uses layered neural networks. Handles images, audio and language well.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1879" y="2212266"/>
            <a:ext cx="2517571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1879" y="2212266"/>
            <a:ext cx="2032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9623" y="3072545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3359" y="2985677"/>
            <a:ext cx="1868347" cy="616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Natural Language Processing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9623" y="3657030"/>
            <a:ext cx="2042083" cy="1033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Reads and writes human language. Powers chatbots and translation.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07195" y="2212266"/>
            <a:ext cx="2517571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07195" y="2212266"/>
            <a:ext cx="20320" cy="26060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44939" y="3203807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18675" y="3116939"/>
            <a:ext cx="1868347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Computer Vision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4939" y="3525768"/>
            <a:ext cx="2042083" cy="1164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Understands pictures and video. Used in quality checks and security.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09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HOW MODELS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Four ways to train a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'model' is simply the trained result - the file that holds everything the system learned.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20607" y="2561567"/>
            <a:ext cx="8224799" cy="190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46871" y="2395146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68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7" y="2916354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7" y="2916354"/>
            <a:ext cx="255871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3099234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Supervised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5" y="3399913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Learn from labelled examples. 'This email is spam.'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8471" y="2395146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84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2847" y="2916354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82847" y="2916354"/>
            <a:ext cx="2558719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8295" y="3099234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Unsupervised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38295" y="3399913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No labels. Find natural groups in the data.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0071" y="2395146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00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4447" y="2916354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4447" y="2916354"/>
            <a:ext cx="255871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9895" y="3099234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Reinforcement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9895" y="3399913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Learn by trial, reward and penalty.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71671" y="2395146"/>
            <a:ext cx="347472" cy="347472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71671" y="243812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66047" y="2916354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66047" y="2916354"/>
            <a:ext cx="2558719" cy="1778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21495" y="3099234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Self-supervised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21495" y="3399913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Hide part of the data and predict it. Powers Gen AI.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Self-supervised learning is the reason Gen AI arrived so quickly - it can learn from raw internet text without humans labelling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3736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What Is Generative AI?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From machines that decide to machines that create.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11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Generative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535556"/>
            <a:ext cx="4313407" cy="794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AI that creates new content - text, images, audio, video or code - from a simple instruction.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2421232"/>
            <a:ext cx="566928" cy="2032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7250" y="2748130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5" y="2677264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You give it an instruction, called a prompt</a:t>
            </a:r>
          </a:p>
        </p:txBody>
      </p:sp>
      <p:sp>
        <p:nvSpPr>
          <p:cNvPr id="16" name="Oval 15"/>
          <p:cNvSpPr/>
          <p:nvPr/>
        </p:nvSpPr>
        <p:spPr>
          <a:xfrm>
            <a:off x="857250" y="3086511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3015645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It predicts the most likely next word, pixel or note</a:t>
            </a:r>
          </a:p>
        </p:txBody>
      </p:sp>
      <p:sp>
        <p:nvSpPr>
          <p:cNvPr id="18" name="Oval 17"/>
          <p:cNvSpPr/>
          <p:nvPr/>
        </p:nvSpPr>
        <p:spPr>
          <a:xfrm>
            <a:off x="857250" y="3424893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3354027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It repeats that prediction until the output is complete</a:t>
            </a:r>
          </a:p>
        </p:txBody>
      </p:sp>
      <p:sp>
        <p:nvSpPr>
          <p:cNvPr id="20" name="Oval 19"/>
          <p:cNvSpPr/>
          <p:nvPr/>
        </p:nvSpPr>
        <p:spPr>
          <a:xfrm>
            <a:off x="857250" y="3763274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5" y="3692408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The result is new, not copied from a database</a:t>
            </a:r>
          </a:p>
        </p:txBody>
      </p:sp>
      <p:sp>
        <p:nvSpPr>
          <p:cNvPr id="22" name="Oval 21"/>
          <p:cNvSpPr/>
          <p:nvPr/>
        </p:nvSpPr>
        <p:spPr>
          <a:xfrm>
            <a:off x="857250" y="4101656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030790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Ask twice and you get two different answers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0415" y="1517268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0415" y="1517268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76447" y="201251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0183" y="1930222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76447" y="2318480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Emails, summaries, reports, code - ChatGPT, Claude, Gemini.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0415" y="3096344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0415" y="3096344"/>
            <a:ext cx="20320" cy="141448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76447" y="359159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50183" y="3509298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Images and video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6447" y="3897556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Posters, mockups, ads - Midjourney, VEO.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0415" y="4675420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0415" y="4675420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76447" y="5170670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50183" y="5088374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6447" y="5476632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Voiceovers, music, dubbing in many languages.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12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MODEL FAMILIES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The main kinds of Gen AI 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You do not need to build these. You need to know which one to pick.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2517571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2212266"/>
            <a:ext cx="20320" cy="260604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3111413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3024545"/>
            <a:ext cx="1868347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433374"/>
            <a:ext cx="2042083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Trained on huge amounts of text. Understand and write language. GPT, Claude, Gemini, Llama.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96563" y="2212266"/>
            <a:ext cx="2517571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96563" y="2212266"/>
            <a:ext cx="20320" cy="260604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34307" y="3111413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8043" y="3024545"/>
            <a:ext cx="1868347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Diffusion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4307" y="3433374"/>
            <a:ext cx="2042083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Start from visual noise and clean it up step by step into an image. Midjourney, Stable Diffusion.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1879" y="2212266"/>
            <a:ext cx="2517571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1879" y="2212266"/>
            <a:ext cx="20320" cy="260604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9623" y="3111413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3359" y="3024545"/>
            <a:ext cx="1868347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Multimodal models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9623" y="3433374"/>
            <a:ext cx="2042083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Accept and produce more than one format - read a chart, answer in words.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07195" y="2212266"/>
            <a:ext cx="2517571" cy="260604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07195" y="2212266"/>
            <a:ext cx="20320" cy="260604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44939" y="3111413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18675" y="3024545"/>
            <a:ext cx="1868347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Foundation 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4939" y="3433374"/>
            <a:ext cx="2042083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Large general models trained once, then adapted cheaply to many specific tasks.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0834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Gen AI vs Predictive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The comparison that clears up most confusion.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14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CORE DIFFERENCE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Two different jobs, not two competitors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They work best together, not instead of each other.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54599" cy="3502733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5254599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1800786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PREDICTIVE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276274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Answers: what is likely to happen?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2745511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3281" y="301297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2923819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Output is a number, score or category</a:t>
            </a:r>
          </a:p>
        </p:txBody>
      </p:sp>
      <p:sp>
        <p:nvSpPr>
          <p:cNvPr id="20" name="Oval 19"/>
          <p:cNvSpPr/>
          <p:nvPr/>
        </p:nvSpPr>
        <p:spPr>
          <a:xfrm>
            <a:off x="1113281" y="3447765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3358611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Trained on your own historic data</a:t>
            </a:r>
          </a:p>
        </p:txBody>
      </p:sp>
      <p:sp>
        <p:nvSpPr>
          <p:cNvPr id="22" name="Oval 21"/>
          <p:cNvSpPr/>
          <p:nvPr/>
        </p:nvSpPr>
        <p:spPr>
          <a:xfrm>
            <a:off x="1113281" y="388255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3793403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Answer is stable and repeatable</a:t>
            </a:r>
          </a:p>
        </p:txBody>
      </p:sp>
      <p:sp>
        <p:nvSpPr>
          <p:cNvPr id="24" name="Oval 23"/>
          <p:cNvSpPr/>
          <p:nvPr/>
        </p:nvSpPr>
        <p:spPr>
          <a:xfrm>
            <a:off x="1113281" y="431734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8448" y="4228195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Accuracy can be measured exactly</a:t>
            </a:r>
          </a:p>
        </p:txBody>
      </p:sp>
      <p:sp>
        <p:nvSpPr>
          <p:cNvPr id="26" name="Oval 25"/>
          <p:cNvSpPr/>
          <p:nvPr/>
        </p:nvSpPr>
        <p:spPr>
          <a:xfrm>
            <a:off x="1113281" y="475214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4662987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Example: which customers will leave next month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0167" y="1800786"/>
            <a:ext cx="5254599" cy="3502733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0167" y="1800786"/>
            <a:ext cx="5254599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9623" y="1800786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GENERATIVE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6199" y="2276274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Answers: can you create this for me?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6199" y="2745511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2201" y="3012973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2923819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Output is new content</a:t>
            </a:r>
          </a:p>
        </p:txBody>
      </p:sp>
      <p:sp>
        <p:nvSpPr>
          <p:cNvPr id="35" name="Oval 34"/>
          <p:cNvSpPr/>
          <p:nvPr/>
        </p:nvSpPr>
        <p:spPr>
          <a:xfrm>
            <a:off x="6642201" y="3447765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7367" y="3358611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Trained on very large public datasets</a:t>
            </a:r>
          </a:p>
        </p:txBody>
      </p:sp>
      <p:sp>
        <p:nvSpPr>
          <p:cNvPr id="37" name="Oval 36"/>
          <p:cNvSpPr/>
          <p:nvPr/>
        </p:nvSpPr>
        <p:spPr>
          <a:xfrm>
            <a:off x="6642201" y="3882557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7367" y="3793403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Answer varies each time you ask</a:t>
            </a:r>
          </a:p>
        </p:txBody>
      </p:sp>
      <p:sp>
        <p:nvSpPr>
          <p:cNvPr id="39" name="Oval 38"/>
          <p:cNvSpPr/>
          <p:nvPr/>
        </p:nvSpPr>
        <p:spPr>
          <a:xfrm>
            <a:off x="6642201" y="4317349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7367" y="4228195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Quality is judged by a human</a:t>
            </a:r>
          </a:p>
        </p:txBody>
      </p:sp>
      <p:sp>
        <p:nvSpPr>
          <p:cNvPr id="41" name="Oval 40"/>
          <p:cNvSpPr/>
          <p:nvPr/>
        </p:nvSpPr>
        <p:spPr>
          <a:xfrm>
            <a:off x="6642201" y="4752141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27367" y="4662987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Example: write the offer email to keep them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IN SHORT   </a:t>
            </a: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Predictive AI tells you what to expect. Generative AI helps you act on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15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SIDE BY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Quick reference 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1247" y="1517268"/>
          <a:ext cx="10783518" cy="378624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2567504"/>
                <a:gridCol w="4108007"/>
                <a:gridCol w="4108007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/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PREDICTIVE AI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GENERATIVE AI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</a:tr>
              <a:tr h="480803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Main question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What will happen?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What can be made?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480803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Output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Score, number, label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Text, image, audio, code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</a:tr>
              <a:tr h="480803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Data used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Company's own history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Very large public datasets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480803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Same input twice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Same answer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Different answer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</a:tr>
              <a:tr h="480803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Judged by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Accuracy against reality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Human review of quality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480803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Business use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Forecast demand, score credit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Draft content, summarise, assist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</a:tr>
              <a:tr h="480803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Main weakness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Fails when the future changes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Can state wrong things confidently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If you remember one row, remember the first 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4059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Advantages, Risks and 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An honest look at both sides.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17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UPSIDE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Why organisations are investing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928748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8992" y="235793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Speed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First drafts, summaries and reports in minutes instead of days.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15002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5002" y="1928748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2746" y="235793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6482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Lower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2746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Routine work is handled by software, so teams handle more with the same headcount.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8756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8756" y="1928748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26500" y="2450328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0236" y="236346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Always 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6500" y="2772289"/>
            <a:ext cx="2960522" cy="509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No shifts, no holidays, no drop in quality at 11 pm.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7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1247" y="3629533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78992" y="4151112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52728" y="4064244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Consistency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473073"/>
            <a:ext cx="2960522" cy="509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same standard of output every single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15002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15002" y="3629533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52746" y="4058718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26482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2746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Serve ten customers or ten thousand with the same system.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8756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8756" y="3629533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26500" y="4058718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0236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Better decisions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26500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Patterns in large data that a person would simply never spot.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18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DOWNSIDE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Risks you must plan for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None of these are reasons to avoid AI. They are reasons to use it with a process.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20320" cy="204397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2052246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71016" y="1974522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Hallucination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2417657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3281" y="261196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2522813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Invents facts, names and figures</a:t>
            </a:r>
          </a:p>
        </p:txBody>
      </p:sp>
      <p:sp>
        <p:nvSpPr>
          <p:cNvPr id="20" name="Oval 19"/>
          <p:cNvSpPr/>
          <p:nvPr/>
        </p:nvSpPr>
        <p:spPr>
          <a:xfrm>
            <a:off x="1113281" y="2996228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2907074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Sounds completely confident while wrong</a:t>
            </a:r>
          </a:p>
        </p:txBody>
      </p:sp>
      <p:sp>
        <p:nvSpPr>
          <p:cNvPr id="22" name="Oval 21"/>
          <p:cNvSpPr/>
          <p:nvPr/>
        </p:nvSpPr>
        <p:spPr>
          <a:xfrm>
            <a:off x="1113281" y="338048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329133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Always verify before you use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1879" y="1800786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1879" y="1800786"/>
            <a:ext cx="20320" cy="204397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07911" y="2052246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1647" y="1974522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Bias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7911" y="2417657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23913" y="261196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09079" y="2522813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Learns the bias in its training data</a:t>
            </a:r>
          </a:p>
        </p:txBody>
      </p:sp>
      <p:sp>
        <p:nvSpPr>
          <p:cNvPr id="31" name="Oval 30"/>
          <p:cNvSpPr/>
          <p:nvPr/>
        </p:nvSpPr>
        <p:spPr>
          <a:xfrm>
            <a:off x="6623913" y="2996228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09079" y="2907074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Can quietly treat groups unfairly</a:t>
            </a:r>
          </a:p>
        </p:txBody>
      </p:sp>
      <p:sp>
        <p:nvSpPr>
          <p:cNvPr id="33" name="Oval 32"/>
          <p:cNvSpPr/>
          <p:nvPr/>
        </p:nvSpPr>
        <p:spPr>
          <a:xfrm>
            <a:off x="6623913" y="338048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09079" y="329133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 real legal and reputation risk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7" y="4045929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1247" y="4045929"/>
            <a:ext cx="20320" cy="204397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7280" y="4297389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4219665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Data leakage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7280" y="4662799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3281" y="4857109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98448" y="476795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Staff paste confidential data into public tools</a:t>
            </a:r>
          </a:p>
        </p:txBody>
      </p:sp>
      <p:sp>
        <p:nvSpPr>
          <p:cNvPr id="42" name="Oval 41"/>
          <p:cNvSpPr/>
          <p:nvPr/>
        </p:nvSpPr>
        <p:spPr>
          <a:xfrm>
            <a:off x="1113281" y="5241371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8448" y="5152217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That data may be stored or reused</a:t>
            </a:r>
          </a:p>
        </p:txBody>
      </p:sp>
      <p:sp>
        <p:nvSpPr>
          <p:cNvPr id="44" name="Oval 43"/>
          <p:cNvSpPr/>
          <p:nvPr/>
        </p:nvSpPr>
        <p:spPr>
          <a:xfrm>
            <a:off x="1113281" y="5625632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98448" y="5536478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Needs a clear company policy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1879" y="4045929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51879" y="4045929"/>
            <a:ext cx="20320" cy="204397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07911" y="4297389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81647" y="4219665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Over-reliance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07911" y="4662799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23913" y="485710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09079" y="476795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Skills fade when nobody checks the output</a:t>
            </a:r>
          </a:p>
        </p:txBody>
      </p:sp>
      <p:sp>
        <p:nvSpPr>
          <p:cNvPr id="53" name="Oval 52"/>
          <p:cNvSpPr/>
          <p:nvPr/>
        </p:nvSpPr>
        <p:spPr>
          <a:xfrm>
            <a:off x="6623913" y="524137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09079" y="5152217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Copy-paste answers with no thought</a:t>
            </a:r>
          </a:p>
        </p:txBody>
      </p:sp>
      <p:sp>
        <p:nvSpPr>
          <p:cNvPr id="55" name="Oval 54"/>
          <p:cNvSpPr/>
          <p:nvPr/>
        </p:nvSpPr>
        <p:spPr>
          <a:xfrm>
            <a:off x="6623913" y="5625632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09079" y="5536478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Keep a human accountable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19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today's AI genuinely cannot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Knowing the limits is what separates confident users from careless 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7250" y="2708619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2628609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real understanding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matches patterns in language. It does not know what the words mean.</a:t>
            </a:r>
          </a:p>
        </p:txBody>
      </p:sp>
      <p:sp>
        <p:nvSpPr>
          <p:cNvPr id="15" name="Oval 14"/>
          <p:cNvSpPr/>
          <p:nvPr/>
        </p:nvSpPr>
        <p:spPr>
          <a:xfrm>
            <a:off x="857250" y="3586443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506433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common sense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can pass a professional exam and then fail a question a child would get right.</a:t>
            </a:r>
          </a:p>
        </p:txBody>
      </p:sp>
      <p:sp>
        <p:nvSpPr>
          <p:cNvPr id="17" name="Oval 16"/>
          <p:cNvSpPr/>
          <p:nvPr/>
        </p:nvSpPr>
        <p:spPr>
          <a:xfrm>
            <a:off x="857250" y="4464267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384257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Knowledge has a cut-off date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Unless it is connected to live search, it does not know recent events.</a:t>
            </a:r>
          </a:p>
        </p:txBody>
      </p:sp>
      <p:sp>
        <p:nvSpPr>
          <p:cNvPr id="19" name="Oval 18"/>
          <p:cNvSpPr/>
          <p:nvPr/>
        </p:nvSpPr>
        <p:spPr>
          <a:xfrm>
            <a:off x="6477609" y="2708619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81063" y="2628609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Weak at exact maths and logic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predicts likely text, so it can get simple arithmetic wrong.</a:t>
            </a:r>
          </a:p>
        </p:txBody>
      </p:sp>
      <p:sp>
        <p:nvSpPr>
          <p:cNvPr id="21" name="Oval 20"/>
          <p:cNvSpPr/>
          <p:nvPr/>
        </p:nvSpPr>
        <p:spPr>
          <a:xfrm>
            <a:off x="6477609" y="3586443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81063" y="3506433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Cannot explain itself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usually cannot show why it produced a particular answer.</a:t>
            </a:r>
          </a:p>
        </p:txBody>
      </p:sp>
      <p:sp>
        <p:nvSpPr>
          <p:cNvPr id="23" name="Oval 22"/>
          <p:cNvSpPr/>
          <p:nvPr/>
        </p:nvSpPr>
        <p:spPr>
          <a:xfrm>
            <a:off x="6477609" y="4464267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1063" y="4384257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No accountability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model cannot be responsible. A person always has to be.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20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USING IT 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 simple four-step habit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20607" y="2278049"/>
            <a:ext cx="8224799" cy="190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46871" y="2111629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68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" y="2632837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7" y="2632837"/>
            <a:ext cx="255871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5" y="2815717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Pick the right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" y="3116396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Drafting, summarising, explaining - not final decisions.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8471" y="2111629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4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82847" y="2632837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82847" y="2632837"/>
            <a:ext cx="2558719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8295" y="2815717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Give clear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8295" y="3116396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Say the role, the goal, the audience and the format.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30071" y="2111629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300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4447" y="2632837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4447" y="2632837"/>
            <a:ext cx="2558719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895" y="2815717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Check the 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9895" y="3116396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Verify every fact, figure, name and quote.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71671" y="2111629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716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66047" y="2632837"/>
            <a:ext cx="2558719" cy="107421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66047" y="2632837"/>
            <a:ext cx="2558719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21495" y="2815717"/>
            <a:ext cx="2247823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Keep the human in charge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1495" y="3116396"/>
            <a:ext cx="2247823" cy="554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person signs off and owns the result.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Treat AI as a fast junior colleague: helpful, quick, and always reviewed before anything goes out.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8B0000"/>
              </a:gs>
              <a:gs pos="100000">
                <a:srgbClr val="630000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645920" y="3474720"/>
            <a:ext cx="5120640" cy="5120640"/>
          </a:xfrm>
          <a:prstGeom prst="ellipse">
            <a:avLst/>
          </a:prstGeom>
          <a:solidFill>
            <a:srgbClr val="000000">
              <a:alpha val="2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509760" y="-1463040"/>
            <a:ext cx="5120640" cy="5120640"/>
          </a:xfrm>
          <a:prstGeom prst="ellipse">
            <a:avLst/>
          </a:prstGeom>
          <a:solidFill>
            <a:srgbClr val="FFFFFF">
              <a:alpha val="2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952040" y="448056"/>
            <a:ext cx="1736734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912" y="566928"/>
            <a:ext cx="1498991" cy="640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66314" y="2103120"/>
            <a:ext cx="2059065" cy="274320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SOMETHING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80071"/>
            <a:ext cx="9082735" cy="829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AI will not replace you. A person using AI well might.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1799" y="4882896"/>
            <a:ext cx="768096" cy="17780"/>
          </a:xfrm>
          <a:prstGeom prst="rect">
            <a:avLst/>
          </a:prstGeom>
          <a:solidFill>
            <a:srgbClr val="E3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5138928"/>
            <a:ext cx="79854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The skill is no longer doing the task. It is directing the tool and judging the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22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RECAP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Key takeaways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Unit 1 in six lines.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308375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33397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7904" y="2245749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AI learns from data instead of following written rules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That is the one difference that explains everything else.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7" y="3291452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7" y="3291452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78992" y="3799041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8246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3736415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Everything in use today is narrow AI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Excellent at one job, useless outside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7" y="4782118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7" y="4782118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8992" y="5289707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531531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7904" y="5227081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Predictive AI forecasts, Generative AI creates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Different jobs. Strongest when used together.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1023" y="1800786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1023" y="1800786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98767" y="2308375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8767" y="233397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7679" y="2245749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The benefits are speed, cost, scale and consistency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Which is why adoption is moving so fast.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61023" y="3291452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61023" y="3291452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98767" y="3799041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8767" y="38246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7679" y="3736415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The risks are real but manageable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Hallucination, bias, data leakage and over-reliance.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1023" y="4782118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61023" y="4782118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98767" y="5289707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98767" y="531531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37679" y="5227081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 human stays accountable for the output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Verify, then approve. Always.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657600" cy="365760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37898" y="448056"/>
            <a:ext cx="1950876" cy="9692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6770" y="566928"/>
            <a:ext cx="1713132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9536" y="1591056"/>
            <a:ext cx="1218048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029968"/>
            <a:ext cx="7863840" cy="891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Thank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2994538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250570"/>
            <a:ext cx="7680960" cy="334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Next up — Unit 2: the platforms, tools and prompt-writing skills that turn these ideas into daily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Which tasks in your own work are drafting rather than deciding?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6026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6026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5482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5482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Where would a wrong AI answer cost you the most?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5124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5124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4580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4580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What should your team never paste into a public AI tool?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760720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5760720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 cap="all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Presented by   </a:t>
            </a: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Lingesh K</a:t>
            </a:r>
            <a:r>
              <a:rPr sz="800" b="0" i="0" spc="130" cap="all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      Register No.   </a:t>
            </a: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OSI2509030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1 — Introduction of AI and Gen AI</dc:title>
  <dc:subject>Artificial Intelligence &amp; Generative AI</dc:subject>
  <dc:creator>Lingesh K (OSI2509030)</dc:creator>
  <cp:keywords/>
  <dc:description>PGPM · Systems Specialisation · Unit 1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