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Unit 1 was the theory. This unit is the hands-on one. Tell the class the goal: by the end they should be able to pick the right tool and write a prompt that works first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out the last card deliberately. The first five are tools you open to make something. A business system like Odoo is where the work is actually recorded and run - AI sits inside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Odoo is the odd one out and worth flagging to the class. The other five are content tools. Odoo is the system of record - the AI is embedded in the workflow rather than being the product itself. The next slide covers it properly.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asked for a one-line answer: Odoo is an AI-enabled open-source ERP used to manage finance, HR, sales, inventory, CRM and projects from a single platform. Modular - install only what you need.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demo idea: run the same request with and without role and format. The difference is obvious and the class remembers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Analogy: ordering food. In the chat window you walk to the counter yourself. With an API your system places the order automatically, every time it is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8686800" y="-1463040"/>
            <a:ext cx="5120640" cy="5120640"/>
          </a:xfrm>
          <a:prstGeom prst="ellipse">
            <a:avLst/>
          </a:prstGeom>
          <a:solidFill>
            <a:srgbClr val="3B7AF7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058400" y="3108960"/>
            <a:ext cx="3840480" cy="3840480"/>
          </a:xfrm>
          <a:prstGeom prst="ellipse">
            <a:avLst/>
          </a:prstGeom>
          <a:solidFill>
            <a:srgbClr val="00B3A4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o-bleed"/>
          <p:cNvSpPr/>
          <p:nvPr/>
        </p:nvSpPr>
        <p:spPr>
          <a:xfrm>
            <a:off x="7315200" y="1005840"/>
            <a:ext cx="2743200" cy="2743200"/>
          </a:xfrm>
          <a:prstGeom prst="ellipse">
            <a:avLst/>
          </a:prstGeom>
          <a:solidFill>
            <a:srgbClr val="FFFFFF">
              <a:alpha val="35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logo-plate"/>
          <p:cNvSpPr/>
          <p:nvPr/>
        </p:nvSpPr>
        <p:spPr>
          <a:xfrm>
            <a:off x="9126735" y="539496"/>
            <a:ext cx="2379159" cy="115214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5607" y="658368"/>
            <a:ext cx="2141415" cy="914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32688" y="1170432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PGPM · SYSTEMS SPECIALISATION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" y="1627632"/>
            <a:ext cx="1481328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3B7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6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UNIT 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04288"/>
            <a:ext cx="7406640" cy="15788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Tools, Platforms and Prompt Engineering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901383"/>
            <a:ext cx="658368" cy="4572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4212279"/>
            <a:ext cx="6766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5D2E8"/>
                </a:solidFill>
                <a:latin typeface="Segoe UI"/>
                <a:ea typeface="Segoe UI"/>
                <a:cs typeface="Segoe UI"/>
              </a:rPr>
              <a:t>The Gen AI tools people actually use at work, how to write instructions that get good results, and how to connect AI to a process without writing code.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2688" y="4992624"/>
            <a:ext cx="1410639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Platforms &amp; Tools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71343" y="4992624"/>
            <a:ext cx="1525336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Prompt Engineering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24696" y="4992624"/>
            <a:ext cx="634302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APIs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87014" y="4992624"/>
            <a:ext cx="890981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No-Code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5614416"/>
            <a:ext cx="3840480" cy="12700"/>
          </a:xfrm>
          <a:prstGeom prst="rect">
            <a:avLst/>
          </a:prstGeom>
          <a:solidFill>
            <a:srgbClr val="2A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5797296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PRESENTED BY</a:t>
            </a:r>
          </a:p>
          <a:p>
            <a:pPr algn="l">
              <a:lnSpc>
                <a:spcPct val="122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Lingesh K</a:t>
            </a:r>
            <a:r>
              <a:rPr sz="1050" b="0" i="0">
                <a:solidFill>
                  <a:srgbClr val="7E91B4"/>
                </a:solidFill>
                <a:latin typeface="Segoe UI"/>
                <a:ea typeface="Segoe UI"/>
                <a:cs typeface="Segoe UI"/>
              </a:rPr>
              <a:t>      Register No. </a:t>
            </a:r>
            <a:r>
              <a:rPr sz="1050" b="1" i="0">
                <a:solidFill>
                  <a:srgbClr val="C5D2E8"/>
                </a:solidFill>
                <a:latin typeface="Segoe UI"/>
                <a:ea typeface="Segoe UI"/>
                <a:cs typeface="Segoe UI"/>
              </a:rPr>
              <a:t>OSI2509030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80783" y="5870448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5D2E8"/>
                </a:solidFill>
                <a:latin typeface="Segoe UI"/>
                <a:ea typeface="Segoe UI"/>
                <a:cs typeface="Segoe UI"/>
              </a:rPr>
              <a:t>Unit 2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AGENDA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we will cover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Half theory, half practical. The prompt section is the part you will use tomorrow.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2212848"/>
            <a:ext cx="32004" cy="78638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231136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99616" y="2267712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 tool landscape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How to sort dozens of tools into a simple map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3145536"/>
            <a:ext cx="32004" cy="786384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163824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9616" y="3200400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Six tools up close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Numerous AI, Jasper, Midjourney, VEO, Odoo, Canva AI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4078224"/>
            <a:ext cx="32004" cy="786384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096511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99616" y="4133087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Choosing a tool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Four questions before you buy anything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3232" y="5010912"/>
            <a:ext cx="32004" cy="786384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29200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99616" y="5065776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Prompt engineering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What it is and why the same tool gives some people better results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4719" y="2212848"/>
            <a:ext cx="32004" cy="786384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5887" y="2231136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01103" y="2267712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 prompt recipe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Five parts that turn a vague ask into a clear one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4719" y="3145536"/>
            <a:ext cx="32004" cy="786384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5887" y="3163824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01103" y="3200400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Types of prompts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Zero-shot, few-shot, role, chain-of-thought and more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4719" y="4078224"/>
            <a:ext cx="32004" cy="78638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15887" y="4096511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01103" y="4133087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APIs explained simply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How AI gets built into real products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4719" y="5010912"/>
            <a:ext cx="32004" cy="786384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5887" y="5029200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08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01103" y="5065776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No-code automation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Building useful things with zero programming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Platforms and Tools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There are thousands. You only need a map.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59436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FA6"/>
                </a:solidFill>
                <a:latin typeface="Segoe UI"/>
                <a:ea typeface="Segoe UI"/>
                <a:cs typeface="Segoe UI"/>
              </a:rPr>
              <a:t>UNIT 2  ·  TOOLS AND TECHNOLOGIES</a:t>
            </a:r>
          </a:p>
        </p:txBody>
      </p:sp>
      <p:sp>
        <p:nvSpPr>
          <p:cNvPr id="11" name="logo-plate"/>
          <p:cNvSpPr/>
          <p:nvPr/>
        </p:nvSpPr>
        <p:spPr>
          <a:xfrm>
            <a:off x="9512190" y="539496"/>
            <a:ext cx="1993704" cy="98755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062" y="658368"/>
            <a:ext cx="1755961" cy="74980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THE 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Sort AI tools by the job they do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Five of these create content. The last one runs the business - and that difference matters.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4146" y="2504923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Text and writing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Emails, blogs, reports, summaries.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ChatGPT, Claude, Jasper, Copilot.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6986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E0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7900" y="2504923"/>
            <a:ext cx="341430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1306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Images and 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1306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Posters, mockups, social posts.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Midjourney, Canva AI, Firefly.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0740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E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1655" y="2504923"/>
            <a:ext cx="3414304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5060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Video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5060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Clips, ads, explainers, edits.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VEO, Runway, Synthesia.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4146" y="4244250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Audio and voice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Voiceovers, music, dubbing.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ElevenLabs, Suno, Descript.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86986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E0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7900" y="4244250"/>
            <a:ext cx="341430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61306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Data and spreadsheets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1306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Clean, classify, analyse rows.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Numerous AI, Copilot in Excel.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60740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E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61655" y="4244250"/>
            <a:ext cx="3414304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35060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Business systems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5060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Run operations with AI built in.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Odoo, Salesforce, SAP.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TOOLS UP CLOSE — PART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Writing, data and images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3232" y="2588608"/>
            <a:ext cx="3417722" cy="26592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2589522"/>
            <a:ext cx="341430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305184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Numerous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450279"/>
            <a:ext cx="2869082" cy="1632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Brings AI into Excel and Google Sheets. Drag a formula down and it categorises products, cleans messy text or writes descriptions for every row.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/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Best for: bulk work on lists and data.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6986" y="2588608"/>
            <a:ext cx="3417722" cy="26592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7900" y="2589522"/>
            <a:ext cx="341430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1306" y="2936080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Jasper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1306" y="3334511"/>
            <a:ext cx="2869082" cy="1748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writing platform built for marketing teams. Keeps a brand voice, uses templates for ads and emails, and works across a whole campaign.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/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Best for: consistent marketing copy at volume.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0740" y="2588608"/>
            <a:ext cx="3417722" cy="26592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61655" y="2589522"/>
            <a:ext cx="341430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5060" y="305184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Midjourney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5060" y="3450279"/>
            <a:ext cx="2869082" cy="1632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Turns a written description into high-quality images. Strong on style, mood and art direction.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/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Best for: concepts, moodboards and visuals without a photoshoot.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TOOLS UP CLOSE — PART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Video, business systems and everyday design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3232" y="2588608"/>
            <a:ext cx="3417722" cy="26592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2589522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936080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VEO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334511"/>
            <a:ext cx="2869082" cy="1748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Google's video generation model. Describe a scene and it produces short video with motion, camera movement and matching sound.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/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Best for: quick concept videos and social clips.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6986" y="2588608"/>
            <a:ext cx="3417722" cy="26592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7900" y="2589522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1306" y="2936080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Odoo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1306" y="3334511"/>
            <a:ext cx="2869082" cy="1748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An open-source ERP that runs finance, sales, HR, inventory and projects in one place - now with AI features built into those modules.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/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Best for: running the business, not making content.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0740" y="2588608"/>
            <a:ext cx="3417722" cy="26592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61655" y="2589522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5060" y="2936080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Canva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5060" y="3334511"/>
            <a:ext cx="2869082" cy="1748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AI built into a design tool everyone can already use. Generates layouts, rewrites text, removes backgrounds and resizes for every channel.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/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Best for: non-designers who need presentable output fast.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ODOO IN DETAIL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is Odoo?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819728"/>
            <a:ext cx="4521397" cy="1310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An open-source ERP platform that manages business operations - finance, HR, sales, inventory, CRM and projects - from one system, with AI features built in.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3221573"/>
            <a:ext cx="457200" cy="4114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13232" y="360562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49589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ERP means Enterprise Resource Planning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398254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87281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One shared system instead of separate tools per team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435947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24974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Modules: accounting, sales and CRM, HR, inventory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473639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626667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Also manufacturing, projects, e-commerce and point of sale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5113320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003592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You install only the modules you need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549024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380517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Used by startups, SMEs and large enterprises alike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00389" y="1783152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00389" y="1783152"/>
            <a:ext cx="45720" cy="1313663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74709" y="2052374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Why it is in this syllabus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74709" y="2378553"/>
            <a:ext cx="5366010" cy="540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Recent versions add AI: generated emails and documents, chat assistants and automatic document classification.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00389" y="3261408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00389" y="3261408"/>
            <a:ext cx="45720" cy="1313663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74709" y="3530630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AI inside the workflow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74709" y="3856809"/>
            <a:ext cx="5366010" cy="540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AI-powered reports and business insights, plus workflow automation and AI agents.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00389" y="4739664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00389" y="4739664"/>
            <a:ext cx="45720" cy="1313663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74709" y="5008886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 wider lesson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74709" y="5335065"/>
            <a:ext cx="5366010" cy="540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This is where AI is heading - not a separate tool you visit, but a feature inside the system you already use.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QUICK REFERENCE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One table, six tools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13232" y="1819728"/>
          <a:ext cx="10765229" cy="3447210"/>
        </p:xfrm>
        <a:graphic>
          <a:graphicData uri="http://schemas.openxmlformats.org/drawingml/2006/table">
            <a:tbl>
              <a:tblPr firstRow="1" bandRow="0" bandCol="0" firstCol="0" lastRow="0" lastCol="0">
                <a:tableStyleId>{5C22544A-7EE6-4342-B048-85BDC9FD1C3A}</a:tableStyleId>
              </a:tblPr>
              <a:tblGrid>
                <a:gridCol w="1964458"/>
                <a:gridCol w="2357349"/>
                <a:gridCol w="3457446"/>
                <a:gridCol w="2985976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Tool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What it makes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Use it for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Watch out for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</a:tr>
              <a:tr h="49833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Numerous AI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Spreadsheet output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Sorting and cleaning thousands of rows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Sending private data to the cloud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</a:tr>
              <a:tr h="49833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Jasper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Marketing text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Campaigns that must sound the same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Generic copy if the brief is thin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</a:tr>
              <a:tr h="49833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Midjourney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Images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Concepts, moodboards, visuals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Rights and usage for commercial work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</a:tr>
              <a:tr h="49833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VEO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Short video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Ideas, pitches, social clips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Small errors in faces and text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</a:tr>
              <a:tr h="49833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Odoo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Business records and workflows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Running finance, HR, sales and inventory with AI help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Setup effort and clean data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</a:tr>
              <a:tr h="49833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Canva AI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Ready-made designs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Fast, presentable everyday design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Everything can start to look alike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13232" y="5486400"/>
            <a:ext cx="10765231" cy="566928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Five of these help you produce something. Odoo is where the business actually runs.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5486400"/>
            <a:ext cx="32004" cy="56692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CHOOSING WELL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Four questions before you buy any AI tool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990305" y="2642262"/>
            <a:ext cx="8211083" cy="25400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52561" y="2415491"/>
            <a:ext cx="475488" cy="475488"/>
          </a:xfrm>
          <a:prstGeom prst="ellipse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520647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055571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256739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is the job?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610800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Name the task and how often it happens. No task, no tool.</a:t>
            </a:r>
          </a:p>
        </p:txBody>
      </p:sp>
      <p:sp>
        <p:nvSpPr>
          <p:cNvPr id="15" name="Oval 14"/>
          <p:cNvSpPr/>
          <p:nvPr/>
        </p:nvSpPr>
        <p:spPr>
          <a:xfrm>
            <a:off x="4489589" y="2415491"/>
            <a:ext cx="475488" cy="475488"/>
          </a:xfrm>
          <a:prstGeom prst="ellipse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50259" y="2520647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50259" y="3055571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4851" y="3256739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Where does data go?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4851" y="3610800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Is company data stored, or used for training? Read the terms.</a:t>
            </a:r>
          </a:p>
        </p:txBody>
      </p:sp>
      <p:sp>
        <p:nvSpPr>
          <p:cNvPr id="20" name="Oval 19"/>
          <p:cNvSpPr/>
          <p:nvPr/>
        </p:nvSpPr>
        <p:spPr>
          <a:xfrm>
            <a:off x="7226617" y="2415491"/>
            <a:ext cx="475488" cy="475488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87287" y="2520647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7287" y="3055571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3256739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Does it fit our tools?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3610800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It must work inside email, Office or the CRM you already use.</a:t>
            </a:r>
          </a:p>
        </p:txBody>
      </p:sp>
      <p:sp>
        <p:nvSpPr>
          <p:cNvPr id="25" name="Oval 24"/>
          <p:cNvSpPr/>
          <p:nvPr/>
        </p:nvSpPr>
        <p:spPr>
          <a:xfrm>
            <a:off x="9963645" y="2415491"/>
            <a:ext cx="475488" cy="475488"/>
          </a:xfrm>
          <a:prstGeom prst="ellipse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24315" y="2520647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24315" y="3055571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88907" y="3256739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does it save?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88907" y="3610800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Hours saved per month against the licence cost.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" y="5449824"/>
            <a:ext cx="10765231" cy="603504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19456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 tool nobody opens after week two is not a saving. Adoption is the real test.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" y="5449824"/>
            <a:ext cx="32004" cy="60350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Prompt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Same tool, very different results. Here is why.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59436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FA6"/>
                </a:solidFill>
                <a:latin typeface="Segoe UI"/>
                <a:ea typeface="Segoe UI"/>
                <a:cs typeface="Segoe UI"/>
              </a:rPr>
              <a:t>UNIT 2  ·  TOOLS AND TECHNOLOGIES</a:t>
            </a:r>
          </a:p>
        </p:txBody>
      </p:sp>
      <p:sp>
        <p:nvSpPr>
          <p:cNvPr id="11" name="logo-plate"/>
          <p:cNvSpPr/>
          <p:nvPr/>
        </p:nvSpPr>
        <p:spPr>
          <a:xfrm>
            <a:off x="9512190" y="539496"/>
            <a:ext cx="1993704" cy="98755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062" y="658368"/>
            <a:ext cx="1755961" cy="74980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DEFINITION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Prompt engineering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819728"/>
            <a:ext cx="4521397" cy="719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 skill of writing instructions that get the output you actually wanted, first time.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2630378"/>
            <a:ext cx="457200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13232" y="301442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90469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 prompt is simply the instruction you give the 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339135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28162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The model cannot read your mind or your context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376827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65854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Vague in, vague out - every single time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414520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03547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Small changes in wording change the result a lot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452212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41239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It is a communication skill, not a coding skill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00389" y="1783152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00389" y="1783152"/>
            <a:ext cx="45720" cy="1313663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74709" y="2164634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Not a technical job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74709" y="2490813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If you can brief a new intern clearly, you can write a good prompt.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00389" y="3261408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00389" y="3261408"/>
            <a:ext cx="45720" cy="1313663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74709" y="3642890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It is now a work skill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74709" y="3969069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Job ads list it. It saves hours every week in any role.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00389" y="4739664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00389" y="4739664"/>
            <a:ext cx="45720" cy="1313663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74709" y="5121146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It is trial and error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74709" y="5447325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Nobody gets it perfect first time. Good prompts get edited.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WHY IT MATTERS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 same tool, two very different results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model did not get smarter. The instruction did.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195600"/>
            <a:ext cx="5227167" cy="314449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4146" y="2196514"/>
            <a:ext cx="5221940" cy="6400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24128" y="2506496"/>
            <a:ext cx="1321445" cy="310896"/>
          </a:xfrm>
          <a:prstGeom prst="roundRect">
            <a:avLst>
              <a:gd name="adj" fmla="val 50000"/>
            </a:avLst>
          </a:prstGeom>
          <a:solidFill>
            <a:srgbClr val="F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WEAK PROMPT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2981984"/>
            <a:ext cx="4605375" cy="352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"Write about our new product."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24128" y="3443973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24128" y="376858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6736" y="3663429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No audience, so it guesses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4056370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16736" y="3951214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No length, so it rambles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4128" y="4344154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16736" y="4238998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No tone, so it sounds generic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24128" y="4631939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16736" y="4526783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No facts, so it may invent them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24128" y="491972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6736" y="4814567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Result: you rewrite the whole thing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51295" y="2195600"/>
            <a:ext cx="5227167" cy="314449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52210" y="2196514"/>
            <a:ext cx="5221940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562191" y="2506496"/>
            <a:ext cx="1485573" cy="310896"/>
          </a:xfrm>
          <a:prstGeom prst="roundRect">
            <a:avLst>
              <a:gd name="adj" fmla="val 50000"/>
            </a:avLst>
          </a:prstGeom>
          <a:solidFill>
            <a:srgbClr val="E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STRONG PROMPT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62191" y="2981984"/>
            <a:ext cx="4605375" cy="6130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"You are a B2B copywriter. Write a 120-word LinkedIn post..."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62191" y="3704794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562191" y="402940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4799" y="3924250"/>
            <a:ext cx="4312767" cy="235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Audience named: operations managers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62191" y="4265027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4799" y="4159871"/>
            <a:ext cx="4312767" cy="235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Length fixed: 120 words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62191" y="4500647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4799" y="4395491"/>
            <a:ext cx="4312767" cy="235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Tone set: clear, no hype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62191" y="4736267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4799" y="4631111"/>
            <a:ext cx="4312767" cy="235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Facts supplied: three key features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62191" y="4971887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4799" y="4866731"/>
            <a:ext cx="4312767" cy="235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Result: usable after a light edit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13232" y="5486400"/>
            <a:ext cx="10765231" cy="566928"/>
          </a:xfrm>
          <a:prstGeom prst="roundRect">
            <a:avLst>
              <a:gd name="adj" fmla="val 6000"/>
            </a:avLst>
          </a:prstGeom>
          <a:solidFill>
            <a:srgbClr val="0E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 cap="all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In short   </a:t>
            </a:r>
            <a:r>
              <a:rPr sz="12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Every minute spent on the prompt saves ten minutes of rewriting.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THE RECIPE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Five parts of a good prompt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Miss a part and the model fills the gap with a guess.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3095764"/>
            <a:ext cx="1948220" cy="2057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4146" y="3096678"/>
            <a:ext cx="1946272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605376"/>
            <a:ext cx="1399580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1. Role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4003807"/>
            <a:ext cx="1399580" cy="984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Tell it who to be.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"You are a financial analyst."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17484" y="3095764"/>
            <a:ext cx="1948220" cy="2057400"/>
          </a:xfrm>
          <a:prstGeom prst="roundRect">
            <a:avLst>
              <a:gd name="adj" fmla="val 6000"/>
            </a:avLst>
          </a:prstGeom>
          <a:solidFill>
            <a:srgbClr val="E0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18399" y="3096678"/>
            <a:ext cx="1946272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91804" y="3489608"/>
            <a:ext cx="1399580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2. Task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91804" y="3888039"/>
            <a:ext cx="1399580" cy="11005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Say exactly what to do.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"Summarise this report."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21737" y="3095764"/>
            <a:ext cx="1948220" cy="2057400"/>
          </a:xfrm>
          <a:prstGeom prst="roundRect">
            <a:avLst>
              <a:gd name="adj" fmla="val 6000"/>
            </a:avLst>
          </a:prstGeom>
          <a:solidFill>
            <a:srgbClr val="FE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22651" y="3096678"/>
            <a:ext cx="1946272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96057" y="3605376"/>
            <a:ext cx="1399580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3.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6057" y="4003807"/>
            <a:ext cx="1399580" cy="984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Give the background.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"For the board, who are non-technical."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5989" y="3095764"/>
            <a:ext cx="1948220" cy="2057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6904" y="3096678"/>
            <a:ext cx="1946272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0309" y="3605376"/>
            <a:ext cx="1399580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4. Format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00309" y="4003807"/>
            <a:ext cx="1399580" cy="984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Describe the shape.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"Five bullets, under 15 words each."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30242" y="3095764"/>
            <a:ext cx="1948220" cy="2057400"/>
          </a:xfrm>
          <a:prstGeom prst="roundRect">
            <a:avLst>
              <a:gd name="adj" fmla="val 6000"/>
            </a:avLst>
          </a:prstGeom>
          <a:solidFill>
            <a:srgbClr val="E0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531156" y="3096678"/>
            <a:ext cx="1946272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04562" y="3605376"/>
            <a:ext cx="1399580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5. Constraints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04562" y="4003807"/>
            <a:ext cx="1399580" cy="984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Set the limits.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"No jargon. Use only the data given."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THE PROCESS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How prompting actually works in practice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Prompting is a short loop, not a single shot.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16603" y="2947332"/>
            <a:ext cx="8758488" cy="25400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78859" y="2720560"/>
            <a:ext cx="475488" cy="475488"/>
          </a:xfrm>
          <a:prstGeom prst="ellipse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2825716"/>
            <a:ext cx="20067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3360640"/>
            <a:ext cx="2006742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3561808"/>
            <a:ext cx="1677558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915869"/>
            <a:ext cx="1677558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Be clear on what a good answer looks like before you type.</a:t>
            </a:r>
          </a:p>
        </p:txBody>
      </p:sp>
      <p:sp>
        <p:nvSpPr>
          <p:cNvPr id="16" name="Oval 15"/>
          <p:cNvSpPr/>
          <p:nvPr/>
        </p:nvSpPr>
        <p:spPr>
          <a:xfrm>
            <a:off x="3668481" y="2720560"/>
            <a:ext cx="475488" cy="475488"/>
          </a:xfrm>
          <a:prstGeom prst="ellipse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02854" y="2825716"/>
            <a:ext cx="20067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02854" y="3360640"/>
            <a:ext cx="2006742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67446" y="3561808"/>
            <a:ext cx="1677558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Draft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7446" y="3915869"/>
            <a:ext cx="1677558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Write the first prompt using the five-part recipe.</a:t>
            </a:r>
          </a:p>
        </p:txBody>
      </p:sp>
      <p:sp>
        <p:nvSpPr>
          <p:cNvPr id="21" name="Oval 20"/>
          <p:cNvSpPr/>
          <p:nvPr/>
        </p:nvSpPr>
        <p:spPr>
          <a:xfrm>
            <a:off x="5858103" y="2720560"/>
            <a:ext cx="475488" cy="475488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92476" y="2825716"/>
            <a:ext cx="20067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92476" y="3360640"/>
            <a:ext cx="2006742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57068" y="3561808"/>
            <a:ext cx="1677558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068" y="3915869"/>
            <a:ext cx="1677558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Run it. Compare the output against what you wanted.</a:t>
            </a:r>
          </a:p>
        </p:txBody>
      </p:sp>
      <p:sp>
        <p:nvSpPr>
          <p:cNvPr id="26" name="Oval 25"/>
          <p:cNvSpPr/>
          <p:nvPr/>
        </p:nvSpPr>
        <p:spPr>
          <a:xfrm>
            <a:off x="8047725" y="2720560"/>
            <a:ext cx="475488" cy="475488"/>
          </a:xfrm>
          <a:prstGeom prst="ellipse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82098" y="2825716"/>
            <a:ext cx="20067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82098" y="3360640"/>
            <a:ext cx="2006742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46690" y="3561808"/>
            <a:ext cx="1677558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Refine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6690" y="3915869"/>
            <a:ext cx="1677558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Fix the weakest part. Change one thing at a time.</a:t>
            </a:r>
          </a:p>
        </p:txBody>
      </p:sp>
      <p:sp>
        <p:nvSpPr>
          <p:cNvPr id="31" name="Oval 30"/>
          <p:cNvSpPr/>
          <p:nvPr/>
        </p:nvSpPr>
        <p:spPr>
          <a:xfrm>
            <a:off x="10237348" y="2720560"/>
            <a:ext cx="475488" cy="475488"/>
          </a:xfrm>
          <a:prstGeom prst="ellipse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71720" y="2825716"/>
            <a:ext cx="20067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471720" y="3360640"/>
            <a:ext cx="2006742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36312" y="3561808"/>
            <a:ext cx="1677558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Reuse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6312" y="3915869"/>
            <a:ext cx="1677558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Save the winning prompt so the whole team can use it.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3232" y="5449824"/>
            <a:ext cx="10765231" cy="603504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19456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 last step is the one companies skip. A shared prompt library is where the real time saving comes from.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13232" y="5449824"/>
            <a:ext cx="32004" cy="60350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TYPES OF PROMPTS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Six patterns worth knowing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Match the pattern to the difficulty of the task.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4146" y="2504923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Zero-shot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Just ask, no examples. Fast, fine for simple tasks.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6986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7900" y="2504923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1306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Few-shot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1306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Give two or three examples first. Best way to lock a format or style.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0740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1655" y="2504923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5060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Role prompting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5060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Assign an expert identity so the tone and depth match the job.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4146" y="4244250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Chain of thought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Ask it to work through the steps. Better for reasoning and analysis.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86986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7900" y="4244250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61306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Iterative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1306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Start broad, then refine over several turns like a real conversation.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60740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61655" y="4244250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35060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Template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5060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fill-in-the-blank prompt saved for a repeated task.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WHERE IT IS USED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Prompting at work, by function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same skill pays off in every department.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195600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2195600"/>
            <a:ext cx="45720" cy="1819135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2433344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Everyday office work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24128" y="2963696"/>
            <a:ext cx="91440" cy="91440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2863112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Summarise long email threads and reports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8" y="3271371"/>
            <a:ext cx="91440" cy="91440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170787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Turn rough notes into clean minutes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3579045"/>
            <a:ext cx="91440" cy="91440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3478461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Draft replies you only need to check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3863" y="2195600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23863" y="2195600"/>
            <a:ext cx="45720" cy="1819135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4759" y="2433344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Marketing and sales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34759" y="2963696"/>
            <a:ext cx="91440" cy="91440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90791" y="2863112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Campaign copy in one consistent voice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34759" y="3271371"/>
            <a:ext cx="91440" cy="91440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90791" y="3170787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Personalised outreach at scale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34759" y="3579045"/>
            <a:ext cx="91440" cy="91440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90791" y="3478461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Product descriptions for whole catalogues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4234192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3232" y="4234192"/>
            <a:ext cx="45720" cy="1819135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4128" y="4471936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Analysis and reporting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24128" y="5002288"/>
            <a:ext cx="91440" cy="91440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80160" y="4901704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Explain what a dataset is showing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24128" y="5309962"/>
            <a:ext cx="91440" cy="91440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80160" y="5209378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Draft the commentary around the numbers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24128" y="5617637"/>
            <a:ext cx="91440" cy="91440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80160" y="5517053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Convert findings into a board summary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23863" y="4234192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223863" y="4234192"/>
            <a:ext cx="45720" cy="1819135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34759" y="4471936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Learning and support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34759" y="5002288"/>
            <a:ext cx="91440" cy="91440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90791" y="4901704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Explain a hard topic at a simpler level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34759" y="5309962"/>
            <a:ext cx="91440" cy="91440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90791" y="5209378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Build training material and quizzes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34759" y="5617637"/>
            <a:ext cx="91440" cy="91440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90791" y="5517053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Answer routine internal questions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HABITS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Do this, not that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3232" y="1783152"/>
            <a:ext cx="5227167" cy="355694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1784066"/>
            <a:ext cx="5221940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24128" y="2094048"/>
            <a:ext cx="515377" cy="310896"/>
          </a:xfrm>
          <a:prstGeom prst="roundRect">
            <a:avLst>
              <a:gd name="adj" fmla="val 50000"/>
            </a:avLst>
          </a:prstGeom>
          <a:solidFill>
            <a:srgbClr val="E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2569536"/>
            <a:ext cx="4605375" cy="352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Habits of people who get good output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24128" y="3031525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24128" y="3356137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16736" y="3250981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Say who the audience 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" y="372641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16736" y="3621255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Give the facts it should use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4128" y="409668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16736" y="3991529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Ask for a specific format and length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4466959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16736" y="4361803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Show an example of good work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" y="483723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16736" y="4732077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Ask for two options and pick one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51295" y="1783152"/>
            <a:ext cx="5227167" cy="355694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52210" y="1784066"/>
            <a:ext cx="5221940" cy="6400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62191" y="2094048"/>
            <a:ext cx="753929" cy="310896"/>
          </a:xfrm>
          <a:prstGeom prst="roundRect">
            <a:avLst>
              <a:gd name="adj" fmla="val 50000"/>
            </a:avLst>
          </a:prstGeom>
          <a:solidFill>
            <a:srgbClr val="F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AVOID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62191" y="2569536"/>
            <a:ext cx="4605375" cy="352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Habits that waste your time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62191" y="3031525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62191" y="3356137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4799" y="3250981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One-line prompts with no context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62191" y="372641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4799" y="3621255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Pasting confidential data into public tools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62191" y="409668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4799" y="3991529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Changing five things at once when refining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62191" y="4466959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4799" y="4361803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Trusting names, numbers and quotes blindly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62191" y="483723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4799" y="4732077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Sending output out without reading it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13232" y="5486400"/>
            <a:ext cx="10765231" cy="566928"/>
          </a:xfrm>
          <a:prstGeom prst="roundRect">
            <a:avLst>
              <a:gd name="adj" fmla="val 6000"/>
            </a:avLst>
          </a:prstGeom>
          <a:solidFill>
            <a:srgbClr val="0E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 cap="all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In short   </a:t>
            </a:r>
            <a:r>
              <a:rPr sz="12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Brief it like a colleague, then review it like an editor.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APIs and No-Code Tools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Moving from chatting with AI to building with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59436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FA6"/>
                </a:solidFill>
                <a:latin typeface="Segoe UI"/>
                <a:ea typeface="Segoe UI"/>
                <a:cs typeface="Segoe UI"/>
              </a:rPr>
              <a:t>UNIT 2  ·  TOOLS AND TECHNOLOGIES</a:t>
            </a:r>
          </a:p>
        </p:txBody>
      </p:sp>
      <p:sp>
        <p:nvSpPr>
          <p:cNvPr id="11" name="logo-plate"/>
          <p:cNvSpPr/>
          <p:nvPr/>
        </p:nvSpPr>
        <p:spPr>
          <a:xfrm>
            <a:off x="9512190" y="539496"/>
            <a:ext cx="1993704" cy="98755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062" y="658368"/>
            <a:ext cx="1755961" cy="74980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PLAIN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is an API?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819728"/>
            <a:ext cx="4521397" cy="719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 doorway that lets one piece of software ask another to do a job.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2630378"/>
            <a:ext cx="457200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13232" y="301442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90469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Your app sends a request: here is the text, summarise 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339135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28162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The AI service sends an answer back in seconds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376827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65854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No screen, no chat window - software talking to software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414520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03547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You pay for what you use, usually per volume of text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452212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41239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This is how AI gets built into real products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00389" y="1783152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00389" y="1783152"/>
            <a:ext cx="45720" cy="1313663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74709" y="2164634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Chat window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74709" y="2490813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One person, one question, one answer. Manual.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00389" y="3261408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00389" y="3261408"/>
            <a:ext cx="45720" cy="1313663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74709" y="3642890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74709" y="3969069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Thousands of requests a day, automatically, inside your own system.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00389" y="4739664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00389" y="4739664"/>
            <a:ext cx="45720" cy="1313663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74709" y="5121146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Why care?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74709" y="5447325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Chat helps a person. An API changes a whole process.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TWO ROUTES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Build with code, or build with no code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Most organisations use both: no-code to prove the idea, API to scale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195600"/>
            <a:ext cx="5227167" cy="314449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4146" y="2196514"/>
            <a:ext cx="5221940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24128" y="2506496"/>
            <a:ext cx="1041182" cy="310896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API ROUTE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2981984"/>
            <a:ext cx="4605375" cy="352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 developer connects AI to your system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24128" y="3443973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24128" y="376858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6736" y="3663429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Full control over behaviour and data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4056370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16736" y="3951214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Fits neatly into existing products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4128" y="4344154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16736" y="4238998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Handles very large volumes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24128" y="4631939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16736" y="4526783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Needs developers and testing time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24128" y="491972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6736" y="4814567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Best for customer-facing features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51295" y="2195600"/>
            <a:ext cx="5227167" cy="314449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52210" y="2196514"/>
            <a:ext cx="5221940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562191" y="2506496"/>
            <a:ext cx="1441669" cy="310896"/>
          </a:xfrm>
          <a:prstGeom prst="roundRect">
            <a:avLst>
              <a:gd name="adj" fmla="val 50000"/>
            </a:avLst>
          </a:prstGeom>
          <a:solidFill>
            <a:srgbClr val="E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NO-CODE ROUTE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62191" y="2981984"/>
            <a:ext cx="4605375" cy="352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 business user assembles it visually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62191" y="3443973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562191" y="376858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4799" y="3663429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Drag, drop and connect - no programming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62191" y="4056370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4799" y="3951214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Working version in hours, not months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62191" y="4344154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4799" y="4238998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Anyone in the team can maintain it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62191" y="4631939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4799" y="4526783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Less flexible for unusual cases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62191" y="491972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4799" y="4814567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Best for internal workflows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13232" y="5486400"/>
            <a:ext cx="10765231" cy="566928"/>
          </a:xfrm>
          <a:prstGeom prst="roundRect">
            <a:avLst>
              <a:gd name="adj" fmla="val 6000"/>
            </a:avLst>
          </a:prstGeom>
          <a:solidFill>
            <a:srgbClr val="0E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 cap="all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In short   </a:t>
            </a:r>
            <a:r>
              <a:rPr sz="12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Start no-code to prove it works. Move to an API when it matters.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NO-CODE TOOLKIT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people build with, without programming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These are the tools behind most 'we automated it' stories.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72473"/>
            <a:ext cx="3417722" cy="1733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4146" y="2273387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619945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Zapier / Make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3018376"/>
            <a:ext cx="2869082" cy="822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Connect apps with triggers. 'When a form is submitted, summarise it and post to the team chat.'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6986" y="2272473"/>
            <a:ext cx="3417722" cy="1733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7900" y="2273387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1306" y="2735713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Custom GPTs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1306" y="3134144"/>
            <a:ext cx="2869082" cy="706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Upload your own documents and get an assistant that answers only from them.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0740" y="2272473"/>
            <a:ext cx="3417722" cy="1733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1655" y="2273387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5060" y="2735713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Microsoft Copilot Studio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5060" y="3134144"/>
            <a:ext cx="2869082" cy="706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Build assistants inside Teams and Office using company data.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4243336"/>
            <a:ext cx="3417722" cy="1733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4146" y="4244250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" y="470657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Power Automate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" y="5105007"/>
            <a:ext cx="2869082" cy="706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Automate approvals and document flows across Microsoft tools.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86986" y="4243336"/>
            <a:ext cx="3417722" cy="1733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7900" y="4244250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61306" y="470657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n8n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1306" y="5105007"/>
            <a:ext cx="2869082" cy="706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Visual workflow builder for more complex, multi-step automations.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60740" y="4243336"/>
            <a:ext cx="3417722" cy="1733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61655" y="4244250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35060" y="470657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Notion / Airtable AI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5060" y="5105007"/>
            <a:ext cx="2869082" cy="706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AI columns and summaries directly inside the database your team already uses.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A WORKED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Automating customer feedback in four steps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Built in an afternoon with a form, a no-code tool and one good prompt.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90305" y="3054711"/>
            <a:ext cx="8211083" cy="25400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52561" y="2827939"/>
            <a:ext cx="475488" cy="475488"/>
          </a:xfrm>
          <a:prstGeom prst="ellipse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2933095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3468019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3669187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Trigger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4023249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customer submits the feedback form.</a:t>
            </a:r>
          </a:p>
        </p:txBody>
      </p:sp>
      <p:sp>
        <p:nvSpPr>
          <p:cNvPr id="16" name="Oval 15"/>
          <p:cNvSpPr/>
          <p:nvPr/>
        </p:nvSpPr>
        <p:spPr>
          <a:xfrm>
            <a:off x="4489589" y="2827939"/>
            <a:ext cx="475488" cy="475488"/>
          </a:xfrm>
          <a:prstGeom prst="ellipse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50259" y="2933095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50259" y="3468019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14851" y="3669187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Send to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4851" y="4023249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saved prompt asks for topic, sentiment and urgency.</a:t>
            </a:r>
          </a:p>
        </p:txBody>
      </p:sp>
      <p:sp>
        <p:nvSpPr>
          <p:cNvPr id="21" name="Oval 20"/>
          <p:cNvSpPr/>
          <p:nvPr/>
        </p:nvSpPr>
        <p:spPr>
          <a:xfrm>
            <a:off x="7226617" y="2827939"/>
            <a:ext cx="475488" cy="475488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87287" y="2933095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87287" y="3468019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1879" y="3669187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Route 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1879" y="4023249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Angry and urgent goes straight to a manager.</a:t>
            </a:r>
          </a:p>
        </p:txBody>
      </p:sp>
      <p:sp>
        <p:nvSpPr>
          <p:cNvPr id="26" name="Oval 25"/>
          <p:cNvSpPr/>
          <p:nvPr/>
        </p:nvSpPr>
        <p:spPr>
          <a:xfrm>
            <a:off x="9963645" y="2827939"/>
            <a:ext cx="475488" cy="475488"/>
          </a:xfrm>
          <a:prstGeom prst="ellipse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24315" y="2933095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24315" y="3468019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88907" y="3669187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Log and report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88907" y="4023249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Everything lands in a sheet, summarised weekly.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3232" y="5449824"/>
            <a:ext cx="10765231" cy="603504"/>
          </a:xfrm>
          <a:prstGeom prst="roundRect">
            <a:avLst>
              <a:gd name="adj" fmla="val 6000"/>
            </a:avLst>
          </a:prstGeom>
          <a:solidFill>
            <a:srgbClr val="E0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19456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Note the pattern: a trigger, a prompt, a decision, a record. Most useful automations look exactly like this.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3232" y="5449824"/>
            <a:ext cx="32004" cy="603504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2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Tools and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RECAP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Key takeaways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Unit 2 in six lines.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32176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2232176"/>
            <a:ext cx="45720" cy="1151797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14984" y="2616051"/>
            <a:ext cx="384048" cy="384048"/>
          </a:xfrm>
          <a:prstGeom prst="ellipse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" y="2702919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9344" y="2555280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Choose the tool by the output you need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Text, image, video, audio, data or code. Start there.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3566853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3566853"/>
            <a:ext cx="45720" cy="1151797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14984" y="3950728"/>
            <a:ext cx="384048" cy="384048"/>
          </a:xfrm>
          <a:prstGeom prst="ellipse">
            <a:avLst/>
          </a:prstGeom>
          <a:solidFill>
            <a:srgbClr val="E0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4" y="4037596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9344" y="3789061"/>
            <a:ext cx="4111599" cy="7988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Six tools, six different jobs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Numerous AI for data, Jasper for copy, Midjourney for images, VEO for video, Odoo for business operations, Canva AI for design.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901530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4901530"/>
            <a:ext cx="45720" cy="115179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14984" y="5285405"/>
            <a:ext cx="384048" cy="384048"/>
          </a:xfrm>
          <a:prstGeom prst="ellipse">
            <a:avLst/>
          </a:prstGeom>
          <a:solidFill>
            <a:srgbClr val="FE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4" y="5372273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9344" y="5224634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Prompting is briefing, not coding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Role, task, context, format, constraints.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3007" y="2232176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3007" y="2232176"/>
            <a:ext cx="45720" cy="1151797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534759" y="2616051"/>
            <a:ext cx="384048" cy="384048"/>
          </a:xfrm>
          <a:prstGeom prst="ellipse">
            <a:avLst/>
          </a:prstGeom>
          <a:solidFill>
            <a:srgbClr val="EEE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4759" y="2702919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29119" y="2555280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Refine one thing at a time, then save the prompt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shared prompt library is where teams gain real hours.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33007" y="3566853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33007" y="3566853"/>
            <a:ext cx="45720" cy="1151797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534759" y="3950728"/>
            <a:ext cx="384048" cy="384048"/>
          </a:xfrm>
          <a:prstGeom prst="ellipse">
            <a:avLst/>
          </a:prstGeom>
          <a:solidFill>
            <a:srgbClr val="E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34759" y="4037596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29119" y="3889957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APIs put AI inside your systems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Chat helps one person; an API changes a whole process.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33007" y="4901530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33007" y="4901530"/>
            <a:ext cx="45720" cy="1151797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534759" y="5285405"/>
            <a:ext cx="384048" cy="384048"/>
          </a:xfrm>
          <a:prstGeom prst="ellipse">
            <a:avLst/>
          </a:prstGeom>
          <a:solidFill>
            <a:srgbClr val="F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4759" y="5372273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29119" y="5224634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No-code lets you prove the idea this week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Build small, show value, then scale it properly.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8961120" y="-1280160"/>
            <a:ext cx="4937760" cy="4937760"/>
          </a:xfrm>
          <a:prstGeom prst="ellipse">
            <a:avLst/>
          </a:prstGeom>
          <a:solidFill>
            <a:srgbClr val="3B7AF7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424160" y="3474720"/>
            <a:ext cx="3291840" cy="3291840"/>
          </a:xfrm>
          <a:prstGeom prst="ellipse">
            <a:avLst/>
          </a:prstGeom>
          <a:solidFill>
            <a:srgbClr val="00B3A4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57984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20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UNIT 02  ·  TOOLS AND TECHNOLOGIES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542032"/>
            <a:ext cx="7315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Thank you</a:t>
            </a:r>
          </a:p>
        </p:txBody>
      </p:sp>
      <p:sp>
        <p:nvSpPr>
          <p:cNvPr id="8" name="Rectangle 7"/>
          <p:cNvSpPr/>
          <p:nvPr/>
        </p:nvSpPr>
        <p:spPr>
          <a:xfrm>
            <a:off x="987552" y="3675887"/>
            <a:ext cx="658368" cy="45720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950208"/>
            <a:ext cx="6583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B8C8E4"/>
                </a:solidFill>
                <a:latin typeface="Segoe UI"/>
                <a:ea typeface="Segoe UI"/>
                <a:cs typeface="Segoe UI"/>
              </a:rPr>
              <a:t>Next up — Unit 3: putting these tools to work in marketing, finance, HR and operations, and meeting AI agents.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4718304"/>
            <a:ext cx="7315200" cy="1207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 cap="all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Questions to think about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 i="0">
                <a:solidFill>
                  <a:srgbClr val="93A6C6"/>
                </a:solidFill>
                <a:latin typeface="Segoe UI"/>
                <a:ea typeface="Segoe UI"/>
                <a:cs typeface="Segoe UI"/>
              </a:rPr>
              <a:t>— Which repeated task in your week could a saved prompt handle?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 i="0">
                <a:solidFill>
                  <a:srgbClr val="93A6C6"/>
                </a:solidFill>
                <a:latin typeface="Segoe UI"/>
                <a:ea typeface="Segoe UI"/>
                <a:cs typeface="Segoe UI"/>
              </a:rPr>
              <a:t>— Which tool would you trial first, and how would you measure it?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 i="0">
                <a:solidFill>
                  <a:srgbClr val="93A6C6"/>
                </a:solidFill>
                <a:latin typeface="Segoe UI"/>
                <a:ea typeface="Segoe UI"/>
                <a:cs typeface="Segoe UI"/>
              </a:rPr>
              <a:t>— What is the one workflow you would automate with no-code?</a:t>
            </a:r>
          </a:p>
        </p:txBody>
      </p:sp>
      <p:sp>
        <p:nvSpPr>
          <p:cNvPr id="11" name="logo-plate"/>
          <p:cNvSpPr/>
          <p:nvPr/>
        </p:nvSpPr>
        <p:spPr>
          <a:xfrm>
            <a:off x="9233806" y="539496"/>
            <a:ext cx="2272088" cy="110642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2678" y="658368"/>
            <a:ext cx="2034345" cy="86868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987552" y="6035040"/>
            <a:ext cx="3291840" cy="12700"/>
          </a:xfrm>
          <a:prstGeom prst="rect">
            <a:avLst/>
          </a:prstGeom>
          <a:solidFill>
            <a:srgbClr val="2A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6163056"/>
            <a:ext cx="5852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Lingesh K</a:t>
            </a:r>
            <a:r>
              <a:rPr sz="1000" b="0" i="0">
                <a:solidFill>
                  <a:srgbClr val="7E91B4"/>
                </a:solidFill>
                <a:latin typeface="Segoe UI"/>
                <a:ea typeface="Segoe UI"/>
                <a:cs typeface="Segoe UI"/>
              </a:rPr>
              <a:t>   ·   Register No. </a:t>
            </a:r>
            <a:r>
              <a:rPr sz="1000" b="1" i="0">
                <a:solidFill>
                  <a:srgbClr val="C5D2E8"/>
                </a:solidFill>
                <a:latin typeface="Segoe UI"/>
                <a:ea typeface="Segoe UI"/>
                <a:cs typeface="Segoe UI"/>
              </a:rPr>
              <a:t>OSI2509030</a:t>
            </a:r>
            <a:r>
              <a:rPr sz="1000" b="0" i="0">
                <a:solidFill>
                  <a:srgbClr val="4A5E86"/>
                </a:solidFill>
                <a:latin typeface="Segoe UI"/>
                <a:ea typeface="Segoe UI"/>
                <a:cs typeface="Segoe UI"/>
              </a:rPr>
              <a:t>   ·   </a:t>
            </a:r>
            <a:r>
              <a:rPr sz="1000" b="0" i="0">
                <a:solidFill>
                  <a:srgbClr val="7E91B4"/>
                </a:solidFill>
                <a:latin typeface="Segoe UI"/>
                <a:ea typeface="Segoe UI"/>
                <a:cs typeface="Segoe UI"/>
              </a:rPr>
              <a:t>PGPM · Systems Specialisation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2 — Tools and Technologies</dc:title>
  <dc:subject>Artificial Intelligence &amp; Generative AI</dc:subject>
  <dc:creator>Lingesh K (OSI2509030)</dc:creator>
  <cp:keywords/>
  <dc:description>PGPM · Systems Specialisation · Unit 2 of 5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