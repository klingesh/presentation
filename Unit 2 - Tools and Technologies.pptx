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embeddedFontLst>
    <p:embeddedFont>
      <p:font typeface="Quattrocento Sans" charset="-122" pitchFamily="34"/>
      <p:regular r:id="rId32"/>
      <p:bold r:id="rId33"/>
      <p:italic r:id="rId34"/>
    </p:embeddedFont>
    <p:embeddedFont>
      <p:font typeface="Sorts Mill Goudy" charset="-122" pitchFamily="34"/>
      <p:regular r:id="rId35"/>
      <p:italic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font" Target="fonts/font1.fntdata"/><Relationship Id="rId33" Type="http://schemas.openxmlformats.org/officeDocument/2006/relationships/font" Target="fonts/font2.fntdata"/><Relationship Id="rId34" Type="http://schemas.openxmlformats.org/officeDocument/2006/relationships/font" Target="fonts/font3.fntdata"/><Relationship Id="rId35" Type="http://schemas.openxmlformats.org/officeDocument/2006/relationships/font" Target="fonts/font4.fntdata"/><Relationship Id="rId36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1 was the theory. This unit is the hands-on one. Tell the class the goal: by the end they should be able to pick the right tool and write a prompt that works first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last card deliberately. The first five are tools you open to make something. A business system like Odoo is where the work is actually recorded and run - AI sits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Odoo is the odd one out and worth flagging to the class. The other five are content tools. Odoo is the system of record - the AI is embedded in the workflow rather than being the product itself. The next slide covers it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a one-line answer: Odoo is an AI-enabled open-source ERP used to manage finance, HR, sales, inventory, CRM and projects from a single platform. Modular - install only what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idea: run the same request with and without role and format. The difference is obvious and the class remembers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ordering food. In the chat window you walk to the counter yourself. With an API your system places the order automatically, every time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8B0000"/>
              </a:gs>
              <a:gs pos="100000">
                <a:srgbClr val="630000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412480" y="-1737360"/>
            <a:ext cx="5852160" cy="5852160"/>
          </a:xfrm>
          <a:prstGeom prst="ellipse">
            <a:avLst/>
          </a:prstGeom>
          <a:solidFill>
            <a:srgbClr val="FFFFFF">
              <a:alpha val="3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291840"/>
            <a:ext cx="4206240" cy="4206240"/>
          </a:xfrm>
          <a:prstGeom prst="ellipse">
            <a:avLst/>
          </a:prstGeom>
          <a:solidFill>
            <a:srgbClr val="FFFFFF">
              <a:alpha val="2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-1371600" y="4023360"/>
            <a:ext cx="4389120" cy="4389120"/>
          </a:xfrm>
          <a:prstGeom prst="ellipse">
            <a:avLst/>
          </a:prstGeom>
          <a:solidFill>
            <a:srgbClr val="000000">
              <a:alpha val="2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-plate"/>
          <p:cNvSpPr/>
          <p:nvPr/>
        </p:nvSpPr>
        <p:spPr>
          <a:xfrm>
            <a:off x="9695070" y="448056"/>
            <a:ext cx="1993704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3942" y="566928"/>
            <a:ext cx="1755961" cy="7498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" y="1517904"/>
            <a:ext cx="3110630" cy="29260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ARTIFICIAL INTELLIGENCE &amp; GENERATIVE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103120"/>
            <a:ext cx="8549640" cy="1636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Tools, Platforms and Prompt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9380"/>
            <a:ext cx="7955279" cy="659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The Gen AI tools people actually use at work, how to write instructions that get good results, and how to connect AI to a process without writing code.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" y="4747046"/>
            <a:ext cx="1604248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PLATFORMS &amp;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82656" y="4747046"/>
            <a:ext cx="1678553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PROMPT ENGINEERING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0081" y="4747046"/>
            <a:ext cx="617993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APIS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16947" y="4747046"/>
            <a:ext cx="927873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NO-CODE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" y="5376672"/>
            <a:ext cx="20320" cy="65836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54315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PRESENTED 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565099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Lingesh 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7791" y="5376672"/>
            <a:ext cx="20320" cy="65836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54315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REGISTER NO.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65099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we will cover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Half theory, half practical. The prompt section is the part you will use tomorrow.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99425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33920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2262849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The tool landscape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How to sort dozens of tools into a simple map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7" y="3140673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18044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104097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Six tools up close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Numerous AI, Jasper, Midjourney, VEO, Odoo, Canva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" y="3981921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02169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3945345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Choosing a tool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Four questions before you buy anything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7" y="4823169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86294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786593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Prompt engineering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What it is and why the same tool gives some people better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9311" y="2299425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11" y="233920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4799" y="2262849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The prompt recipe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Five parts that turn a vague ask into a clear 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9311" y="3140673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9311" y="318044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4799" y="3104097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Types of prompts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Zero-shot, few-shot, role, chain-of-thought and more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9311" y="3981921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9311" y="402169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4799" y="3945345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APIs explained simply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How AI gets built into real products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79311" y="4823169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9311" y="486294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4799" y="4786593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No-code automation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Building useful things with zero programming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10222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Platforms and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There are thousands. You only need a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Sort AI tools by the job they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Five of these create content. The last one runs the business - and that difference matters.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343601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554583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Text and 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Emails, blogs, reports, summaries.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ChatGPT, Claude, Jasper, Copilot.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15002" y="2212266"/>
            <a:ext cx="343601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2746" y="2554583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Images and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2746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Posters, mockups, social posts.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Midjourney, Canva AI, Firefly.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8756" y="2212266"/>
            <a:ext cx="343601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6500" y="2554583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Video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6500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Clips, ads, explainers, edits.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VEO, Runway, Synthesia.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7" y="3913050"/>
            <a:ext cx="343601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255367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Audio and voice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Voiceovers, music, dubbing.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ElevenLabs, Suno, Descript.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5002" y="3913050"/>
            <a:ext cx="343601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2746" y="4255367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Data and spreadsheets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2746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Clean, classify, analyse rows.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Numerous AI, Copilot in Excel.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8756" y="3913050"/>
            <a:ext cx="343601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6500" y="4255367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Business 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6500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Run operations with AI built in.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Odoo, Salesforce, SAP.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TOOLS UP CLOSE — PART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Writing, data and images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928748"/>
            <a:ext cx="3436010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928748"/>
            <a:ext cx="2032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2643107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556239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Numerous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965068"/>
            <a:ext cx="2960522" cy="1441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Brings AI into Excel and Google Sheets. Drag a formula down and it categorises products, cleans messy text or writes descriptions for every row.</a:t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Best for: bulk work on lists and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5002" y="1928748"/>
            <a:ext cx="3436010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5002" y="1928748"/>
            <a:ext cx="2032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2746" y="2643107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6482" y="2556239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Jasper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2746" y="2965068"/>
            <a:ext cx="2960522" cy="1441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writing platform built for marketing teams. Keeps a brand voice, uses templates for ads and emails, and works across a whole campaign.</a:t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Best for: consistent marketing copy at volume.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8756" y="1928748"/>
            <a:ext cx="3436010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1928748"/>
            <a:ext cx="2032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26500" y="2643107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0236" y="2556239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Midjourney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500" y="2965068"/>
            <a:ext cx="2960522" cy="1441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Turns a written description into high-quality images. Strong on style, mood and art direction.</a:t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Best for: concepts, moodboards and visuals without a photoshoot.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06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TOOLS UP CLOSE — PART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Video, business systems and everyday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928748"/>
            <a:ext cx="3436010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928748"/>
            <a:ext cx="20320" cy="260604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2643107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556239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VEO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965068"/>
            <a:ext cx="2960522" cy="1441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Google's video generation model. Describe a scene and it produces short video with motion, camera movement and matching sound.</a:t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Best for: quick concept videos and social clips.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5002" y="1928748"/>
            <a:ext cx="3436010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5002" y="1928748"/>
            <a:ext cx="20320" cy="260604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2746" y="2643107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6482" y="2556239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Odoo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2746" y="2965068"/>
            <a:ext cx="2960522" cy="1441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An open-source ERP that runs finance, sales, HR, inventory and projects in one place - now with AI features built into those modules.</a:t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Best for: running the business, not making content.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8756" y="1928748"/>
            <a:ext cx="3436010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1928748"/>
            <a:ext cx="20320" cy="260604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26500" y="2550713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0236" y="2463845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Canva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500" y="2872674"/>
            <a:ext cx="2960522" cy="15340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AI built into a design tool everyone can already use. Generates layouts, rewrites text, removes backgrounds and resizes for every channel.</a:t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Best for: non-designers who need presentable output fast.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07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ODOO IN DETAIL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is Odoo?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35556"/>
            <a:ext cx="4313407" cy="1460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An open-source ERP platform that manages business operations - finance, HR, sales, inventory, CRM and projects - from one system, with AI features built 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3087452"/>
            <a:ext cx="566928" cy="2032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7250" y="3414350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3343484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ERP means Enterprise Resource Planning</a:t>
            </a:r>
          </a:p>
        </p:txBody>
      </p:sp>
      <p:sp>
        <p:nvSpPr>
          <p:cNvPr id="16" name="Oval 15"/>
          <p:cNvSpPr/>
          <p:nvPr/>
        </p:nvSpPr>
        <p:spPr>
          <a:xfrm>
            <a:off x="857250" y="3752731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3681865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One shared system instead of separate tools per team</a:t>
            </a:r>
          </a:p>
        </p:txBody>
      </p:sp>
      <p:sp>
        <p:nvSpPr>
          <p:cNvPr id="18" name="Oval 17"/>
          <p:cNvSpPr/>
          <p:nvPr/>
        </p:nvSpPr>
        <p:spPr>
          <a:xfrm>
            <a:off x="857250" y="4091112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4020246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Modules: accounting, sales and CRM, HR, inventory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" y="4429494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5" y="4358628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Also manufacturing, projects, e-commerce and point of sale</a:t>
            </a:r>
          </a:p>
        </p:txBody>
      </p:sp>
      <p:sp>
        <p:nvSpPr>
          <p:cNvPr id="22" name="Oval 21"/>
          <p:cNvSpPr/>
          <p:nvPr/>
        </p:nvSpPr>
        <p:spPr>
          <a:xfrm>
            <a:off x="857250" y="4767875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697009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You install only the modules you need</a:t>
            </a:r>
          </a:p>
        </p:txBody>
      </p:sp>
      <p:sp>
        <p:nvSpPr>
          <p:cNvPr id="24" name="Oval 23"/>
          <p:cNvSpPr/>
          <p:nvPr/>
        </p:nvSpPr>
        <p:spPr>
          <a:xfrm>
            <a:off x="857250" y="5106256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035390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Used by startups, SMEs and large enterprises alike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0415" y="1517268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0415" y="1517268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76447" y="1921503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50183" y="1839207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Why it is in this syllabus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6447" y="2227465"/>
            <a:ext cx="5610575" cy="45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Recent versions add AI: generated emails and documents, chat assistants and automatic document classification.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20415" y="3096344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20415" y="3096344"/>
            <a:ext cx="20320" cy="141448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76447" y="359159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0183" y="350929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AI inside the workflow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6447" y="389755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AI-powered reports and business insights, plus workflow automation and AI agents.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0415" y="4675420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20415" y="4675420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76447" y="5170670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50183" y="5088374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The wider lesson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6447" y="5476632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This is where AI is heading - not a separate tool you visit, but a feature inside the system you already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08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QUICK 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One table, six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7" y="1663890"/>
          <a:ext cx="10783517" cy="3493008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67795"/>
                <a:gridCol w="2361354"/>
                <a:gridCol w="3463319"/>
                <a:gridCol w="2991049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TOOL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WHAT IT MAKES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USE IT FOR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WATCH OUT FOR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Numerous AI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Spreadsheet output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Sorting and cleaning thousands of rows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Sending private data to the cloud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Jasper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Marketing text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Campaigns that must sound the same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Generic copy if the brief is thin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Midjourney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Images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Concepts, moodboards, visuals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Rights and usage for commercial work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VEO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Short video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Ideas, pitches, social clips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Small errors in faces and text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Odoo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Business records and workflows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Running finance, HR, sales and inventory with AI help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Setup effort and clean data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Canva AI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Ready-made designs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Fast, presentable everyday design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Everything can start to look alike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Five of these help you produce something. Odoo is where the business actually runs.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09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CHOOSING 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Four questions before you buy any AI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20607" y="2278049"/>
            <a:ext cx="8224799" cy="19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46871" y="2111629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68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7" y="2632837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What is the job?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Name the task and how often it happens. No task, no tool.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8471" y="2111629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4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828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82847" y="2632837"/>
            <a:ext cx="255871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82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Where does data go?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82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Is company data stored, or used for training? Read the terms.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0071" y="2111629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00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44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4447" y="2632837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8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Does it fit our tools?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98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must work inside email, Office or the CRM you already use.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71671" y="2111629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716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660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66047" y="2632837"/>
            <a:ext cx="255871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214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What does it save?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14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Hours saved per month against the licence cost.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 tool nobody opens after week two is not a saving. Adoption is the real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0934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Prompt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Same tool, very different results. Here is why.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11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Prompt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35556"/>
            <a:ext cx="4313407" cy="794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The skill of writing instructions that get the output you actually wanted, first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2421232"/>
            <a:ext cx="566928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7250" y="2748130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2677264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 prompt is simply the instruction you give the AI</a:t>
            </a:r>
          </a:p>
        </p:txBody>
      </p:sp>
      <p:sp>
        <p:nvSpPr>
          <p:cNvPr id="16" name="Oval 15"/>
          <p:cNvSpPr/>
          <p:nvPr/>
        </p:nvSpPr>
        <p:spPr>
          <a:xfrm>
            <a:off x="857250" y="308651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3015645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The model cannot read your mind or your context</a:t>
            </a:r>
          </a:p>
        </p:txBody>
      </p:sp>
      <p:sp>
        <p:nvSpPr>
          <p:cNvPr id="18" name="Oval 17"/>
          <p:cNvSpPr/>
          <p:nvPr/>
        </p:nvSpPr>
        <p:spPr>
          <a:xfrm>
            <a:off x="857250" y="342489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354027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Vague in, vague out - every single time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" y="3763274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5" y="3692408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Small changes in wording change the result a lot</a:t>
            </a:r>
          </a:p>
        </p:txBody>
      </p:sp>
      <p:sp>
        <p:nvSpPr>
          <p:cNvPr id="22" name="Oval 21"/>
          <p:cNvSpPr/>
          <p:nvPr/>
        </p:nvSpPr>
        <p:spPr>
          <a:xfrm>
            <a:off x="857250" y="4101656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030790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It is a communication skill, not a coding skill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0415" y="1517268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0415" y="1517268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6447" y="20125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0183" y="1930222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Not a technical job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76447" y="2318480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If you can brief a new intern clearly, you can write a good prompt.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0415" y="3096344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0415" y="3096344"/>
            <a:ext cx="20320" cy="141448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76447" y="359159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50183" y="350929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It is now a work skill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6447" y="389755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Job ads list it. It saves hours every week in any role.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0415" y="4675420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0415" y="4675420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76447" y="5170670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50183" y="5088374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It is trial and error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6447" y="5476632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Nobody gets it perfect first time. Good prompts get edited.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The same tool, two very different 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model did not get smarter. The instruction did.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5254599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WEAK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"Write about our new product."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281" y="301297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audience, so it guesses</a:t>
            </a:r>
          </a:p>
        </p:txBody>
      </p:sp>
      <p:sp>
        <p:nvSpPr>
          <p:cNvPr id="20" name="Oval 19"/>
          <p:cNvSpPr/>
          <p:nvPr/>
        </p:nvSpPr>
        <p:spPr>
          <a:xfrm>
            <a:off x="1113281" y="3447765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length, so it rambles</a:t>
            </a:r>
          </a:p>
        </p:txBody>
      </p:sp>
      <p:sp>
        <p:nvSpPr>
          <p:cNvPr id="22" name="Oval 21"/>
          <p:cNvSpPr/>
          <p:nvPr/>
        </p:nvSpPr>
        <p:spPr>
          <a:xfrm>
            <a:off x="1113281" y="388255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tone, so it sounds generic</a:t>
            </a:r>
          </a:p>
        </p:txBody>
      </p:sp>
      <p:sp>
        <p:nvSpPr>
          <p:cNvPr id="24" name="Oval 23"/>
          <p:cNvSpPr/>
          <p:nvPr/>
        </p:nvSpPr>
        <p:spPr>
          <a:xfrm>
            <a:off x="1113281" y="431734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facts, so it may invent them</a:t>
            </a:r>
          </a:p>
        </p:txBody>
      </p:sp>
      <p:sp>
        <p:nvSpPr>
          <p:cNvPr id="26" name="Oval 25"/>
          <p:cNvSpPr/>
          <p:nvPr/>
        </p:nvSpPr>
        <p:spPr>
          <a:xfrm>
            <a:off x="1113281" y="475214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Result: you rewrite the whole thing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016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0167" y="1800786"/>
            <a:ext cx="5254599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9623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STRONG PROMPT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6199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"You are a B2B copywriter. Write a 120-word LinkedIn post..."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6199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2201" y="3012973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Audience named: operations managers</a:t>
            </a:r>
          </a:p>
        </p:txBody>
      </p:sp>
      <p:sp>
        <p:nvSpPr>
          <p:cNvPr id="35" name="Oval 34"/>
          <p:cNvSpPr/>
          <p:nvPr/>
        </p:nvSpPr>
        <p:spPr>
          <a:xfrm>
            <a:off x="6642201" y="3447765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7367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Length fixed: 120 words</a:t>
            </a:r>
          </a:p>
        </p:txBody>
      </p:sp>
      <p:sp>
        <p:nvSpPr>
          <p:cNvPr id="37" name="Oval 36"/>
          <p:cNvSpPr/>
          <p:nvPr/>
        </p:nvSpPr>
        <p:spPr>
          <a:xfrm>
            <a:off x="6642201" y="3882557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7367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Tone set: clear, no hype</a:t>
            </a:r>
          </a:p>
        </p:txBody>
      </p:sp>
      <p:sp>
        <p:nvSpPr>
          <p:cNvPr id="39" name="Oval 38"/>
          <p:cNvSpPr/>
          <p:nvPr/>
        </p:nvSpPr>
        <p:spPr>
          <a:xfrm>
            <a:off x="6642201" y="4317349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7367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Facts supplied: three key features</a:t>
            </a:r>
          </a:p>
        </p:txBody>
      </p:sp>
      <p:sp>
        <p:nvSpPr>
          <p:cNvPr id="41" name="Oval 40"/>
          <p:cNvSpPr/>
          <p:nvPr/>
        </p:nvSpPr>
        <p:spPr>
          <a:xfrm>
            <a:off x="6642201" y="4752141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27367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Result: usable after a light edit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IN SHORT   </a:t>
            </a: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Every minute spent on the prompt saves ten minutes of rewriting.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13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RECIPE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Five parts of a good prompt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Miss a part and the model fills the gap with a guess.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1966508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116939"/>
            <a:ext cx="1491020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1.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525768"/>
            <a:ext cx="1491020" cy="1164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Tell it who to be.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"You are a financial analyst."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45500" y="2212266"/>
            <a:ext cx="1966508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3244" y="3116939"/>
            <a:ext cx="1491020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2.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3244" y="3525768"/>
            <a:ext cx="1491020" cy="1164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Say exactly what to do.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"Summarise this report."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9753" y="2212266"/>
            <a:ext cx="1966508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7497" y="3024545"/>
            <a:ext cx="1491020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3.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7497" y="3433374"/>
            <a:ext cx="1491020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Give the background.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"For the board, who are non-technical."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4005" y="2212266"/>
            <a:ext cx="1966508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1749" y="3024545"/>
            <a:ext cx="1491020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4. 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1749" y="3433374"/>
            <a:ext cx="1491020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Describe the shape.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"Five bullets, under 15 words each."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58258" y="2212266"/>
            <a:ext cx="1966508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6002" y="3024545"/>
            <a:ext cx="1491020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5. Constraints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6002" y="3433374"/>
            <a:ext cx="1491020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Set the limits.</a:t>
            </a:r>
            <a:br/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"No jargon. Use only the data given."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14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How prompting actually works in practice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Prompting is a short loop, not a single shot.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6447" y="2561567"/>
            <a:ext cx="8773119" cy="19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72711" y="2395146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7271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7" y="2916354"/>
            <a:ext cx="201039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7" y="2916354"/>
            <a:ext cx="201039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3099234"/>
            <a:ext cx="169950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Define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5" y="3399913"/>
            <a:ext cx="169950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 clear on what a good answer looks like before you type.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65991" y="2395146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599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34527" y="2916354"/>
            <a:ext cx="201039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34527" y="2916354"/>
            <a:ext cx="201039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9975" y="3099234"/>
            <a:ext cx="169950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9975" y="3399913"/>
            <a:ext cx="169950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Write the first prompt using the five-part recipe.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9271" y="2395146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92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7807" y="2916354"/>
            <a:ext cx="201039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27807" y="2916354"/>
            <a:ext cx="201039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83255" y="3099234"/>
            <a:ext cx="169950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3255" y="3399913"/>
            <a:ext cx="169950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Run it. Compare the output against what you wanted.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2551" y="2395146"/>
            <a:ext cx="347472" cy="347472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255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21087" y="2916354"/>
            <a:ext cx="201039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21087" y="2916354"/>
            <a:ext cx="2010399" cy="1778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76535" y="3099234"/>
            <a:ext cx="169950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Refine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6535" y="3399913"/>
            <a:ext cx="169950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Fix the weakest part. Change one thing at a time.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45831" y="2395146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83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14367" y="2916354"/>
            <a:ext cx="201039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14367" y="2916354"/>
            <a:ext cx="201039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9815" y="3099234"/>
            <a:ext cx="169950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Reuse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9815" y="3399913"/>
            <a:ext cx="169950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Save the winning prompt so the whole team can use it.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The last step is the one companies skip. A shared prompt library is where the real time saving comes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15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TYPES OF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Six patterns worth knowing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Match the pattern to the difficulty of the task.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212266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733845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264697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Zero-shot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55806"/>
            <a:ext cx="2960522" cy="509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Just ask, no examples. Fast, fine for simple tasks.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5002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15002" y="2212266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2746" y="2641451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6482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Few-shot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2746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Give two or three examples first. Best way to lock a format or style.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8756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8756" y="2212266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26500" y="2641451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00236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Role prompting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500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Assign an expert identity so the tone and depth match the job.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7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7" y="3913050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992" y="4342235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2728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Chain of thought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Ask it to work through the steps. Better for reasoning and analysis.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5002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5002" y="3913050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2746" y="4342235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6482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Iterative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2746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Start broad, then refine over several turns like a real conversation.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8756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8756" y="3913050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26500" y="4434629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0236" y="4347761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Template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26500" y="4756590"/>
            <a:ext cx="2960522" cy="509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fill-in-the-blank prompt saved for a repeated task.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16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WHERE IT IS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Prompting at work, by function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same skill pays off in every department.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2052246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71016" y="1974522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Everyday office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2417657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281" y="261196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522813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Summarise long email threads and reports</a:t>
            </a:r>
          </a:p>
        </p:txBody>
      </p:sp>
      <p:sp>
        <p:nvSpPr>
          <p:cNvPr id="20" name="Oval 19"/>
          <p:cNvSpPr/>
          <p:nvPr/>
        </p:nvSpPr>
        <p:spPr>
          <a:xfrm>
            <a:off x="1113281" y="2996228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2907074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Turn rough notes into clean minutes</a:t>
            </a:r>
          </a:p>
        </p:txBody>
      </p:sp>
      <p:sp>
        <p:nvSpPr>
          <p:cNvPr id="22" name="Oval 21"/>
          <p:cNvSpPr/>
          <p:nvPr/>
        </p:nvSpPr>
        <p:spPr>
          <a:xfrm>
            <a:off x="1113281" y="338048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329133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Draft replies you only need to check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1879" y="1800786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1879" y="1800786"/>
            <a:ext cx="20320" cy="204397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07911" y="2052246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1647" y="1974522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Marketing and sales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7911" y="2417657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23913" y="2611967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09079" y="2522813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Campaign copy in one consistent voice</a:t>
            </a:r>
          </a:p>
        </p:txBody>
      </p:sp>
      <p:sp>
        <p:nvSpPr>
          <p:cNvPr id="31" name="Oval 30"/>
          <p:cNvSpPr/>
          <p:nvPr/>
        </p:nvSpPr>
        <p:spPr>
          <a:xfrm>
            <a:off x="6623913" y="2996228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09079" y="2907074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Personalised outreach at scale</a:t>
            </a:r>
          </a:p>
        </p:txBody>
      </p:sp>
      <p:sp>
        <p:nvSpPr>
          <p:cNvPr id="33" name="Oval 32"/>
          <p:cNvSpPr/>
          <p:nvPr/>
        </p:nvSpPr>
        <p:spPr>
          <a:xfrm>
            <a:off x="6623913" y="3380489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9079" y="329133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Product descriptions for whole catalogues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7" y="4045929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1247" y="4045929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7280" y="4297389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4219665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Analysis and reporting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7280" y="4662799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3281" y="485710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98448" y="476795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Explain what a dataset is showing</a:t>
            </a:r>
          </a:p>
        </p:txBody>
      </p:sp>
      <p:sp>
        <p:nvSpPr>
          <p:cNvPr id="42" name="Oval 41"/>
          <p:cNvSpPr/>
          <p:nvPr/>
        </p:nvSpPr>
        <p:spPr>
          <a:xfrm>
            <a:off x="1113281" y="524137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8448" y="5152217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Draft the commentary around the numbers</a:t>
            </a:r>
          </a:p>
        </p:txBody>
      </p:sp>
      <p:sp>
        <p:nvSpPr>
          <p:cNvPr id="44" name="Oval 43"/>
          <p:cNvSpPr/>
          <p:nvPr/>
        </p:nvSpPr>
        <p:spPr>
          <a:xfrm>
            <a:off x="1113281" y="5625632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98448" y="5536478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Convert findings into a board summary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1879" y="4045929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51879" y="4045929"/>
            <a:ext cx="20320" cy="204397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07911" y="4297389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81647" y="4219665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Learning and support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07911" y="4662799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23913" y="4857109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09079" y="476795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Explain a hard topic at a simpler level</a:t>
            </a:r>
          </a:p>
        </p:txBody>
      </p:sp>
      <p:sp>
        <p:nvSpPr>
          <p:cNvPr id="53" name="Oval 52"/>
          <p:cNvSpPr/>
          <p:nvPr/>
        </p:nvSpPr>
        <p:spPr>
          <a:xfrm>
            <a:off x="6623913" y="5241371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09079" y="5152217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Build training material and quizzes</a:t>
            </a:r>
          </a:p>
        </p:txBody>
      </p:sp>
      <p:sp>
        <p:nvSpPr>
          <p:cNvPr id="55" name="Oval 54"/>
          <p:cNvSpPr/>
          <p:nvPr/>
        </p:nvSpPr>
        <p:spPr>
          <a:xfrm>
            <a:off x="6623913" y="5625632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9079" y="5536478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Answer routine internal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17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Do this, not that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517268"/>
            <a:ext cx="5254599" cy="3786251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517268"/>
            <a:ext cx="5254599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517268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992757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Habits of people who get good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461994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3281" y="2729456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2640302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Say who the audience is</a:t>
            </a:r>
          </a:p>
        </p:txBody>
      </p:sp>
      <p:sp>
        <p:nvSpPr>
          <p:cNvPr id="19" name="Oval 18"/>
          <p:cNvSpPr/>
          <p:nvPr/>
        </p:nvSpPr>
        <p:spPr>
          <a:xfrm>
            <a:off x="1113281" y="3220952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3131798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Give the facts it should use</a:t>
            </a:r>
          </a:p>
        </p:txBody>
      </p:sp>
      <p:sp>
        <p:nvSpPr>
          <p:cNvPr id="21" name="Oval 20"/>
          <p:cNvSpPr/>
          <p:nvPr/>
        </p:nvSpPr>
        <p:spPr>
          <a:xfrm>
            <a:off x="1113281" y="3712447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3623293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Ask for a specific format and length</a:t>
            </a:r>
          </a:p>
        </p:txBody>
      </p:sp>
      <p:sp>
        <p:nvSpPr>
          <p:cNvPr id="23" name="Oval 22"/>
          <p:cNvSpPr/>
          <p:nvPr/>
        </p:nvSpPr>
        <p:spPr>
          <a:xfrm>
            <a:off x="1113281" y="4203943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98448" y="4114789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Show an example of good work</a:t>
            </a:r>
          </a:p>
        </p:txBody>
      </p:sp>
      <p:sp>
        <p:nvSpPr>
          <p:cNvPr id="25" name="Oval 24"/>
          <p:cNvSpPr/>
          <p:nvPr/>
        </p:nvSpPr>
        <p:spPr>
          <a:xfrm>
            <a:off x="1113281" y="4695438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606284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Ask for two options and pick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0167" y="1517268"/>
            <a:ext cx="5254599" cy="3786251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0167" y="1517268"/>
            <a:ext cx="5254599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9623" y="1517268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AVOID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6199" y="1992757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Habits that waste your 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6199" y="2461994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42201" y="2729456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2640302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One-line prompts with no context</a:t>
            </a:r>
          </a:p>
        </p:txBody>
      </p:sp>
      <p:sp>
        <p:nvSpPr>
          <p:cNvPr id="34" name="Oval 33"/>
          <p:cNvSpPr/>
          <p:nvPr/>
        </p:nvSpPr>
        <p:spPr>
          <a:xfrm>
            <a:off x="6642201" y="3220952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7367" y="3131798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Pasting confidential data into public tools</a:t>
            </a:r>
          </a:p>
        </p:txBody>
      </p:sp>
      <p:sp>
        <p:nvSpPr>
          <p:cNvPr id="36" name="Oval 35"/>
          <p:cNvSpPr/>
          <p:nvPr/>
        </p:nvSpPr>
        <p:spPr>
          <a:xfrm>
            <a:off x="6642201" y="371244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7367" y="3623293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Changing five things at once when refining</a:t>
            </a:r>
          </a:p>
        </p:txBody>
      </p:sp>
      <p:sp>
        <p:nvSpPr>
          <p:cNvPr id="38" name="Oval 37"/>
          <p:cNvSpPr/>
          <p:nvPr/>
        </p:nvSpPr>
        <p:spPr>
          <a:xfrm>
            <a:off x="6642201" y="420394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27367" y="4114789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Trusting names, numbers and quotes blindly</a:t>
            </a:r>
          </a:p>
        </p:txBody>
      </p:sp>
      <p:sp>
        <p:nvSpPr>
          <p:cNvPr id="40" name="Oval 39"/>
          <p:cNvSpPr/>
          <p:nvPr/>
        </p:nvSpPr>
        <p:spPr>
          <a:xfrm>
            <a:off x="6642201" y="4695438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7367" y="4606284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Sending output out without reading 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IN SHORT   </a:t>
            </a: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Brief it like a colleague, then review it like an editor.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3736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APIs and No-Code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Moving from chatting with AI to building with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19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is an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35556"/>
            <a:ext cx="4313407" cy="794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 doorway that lets one piece of software ask another to do a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2421232"/>
            <a:ext cx="566928" cy="20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7250" y="2748130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2677264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Your app sends a request: here is the text, summarise it</a:t>
            </a:r>
          </a:p>
        </p:txBody>
      </p:sp>
      <p:sp>
        <p:nvSpPr>
          <p:cNvPr id="16" name="Oval 15"/>
          <p:cNvSpPr/>
          <p:nvPr/>
        </p:nvSpPr>
        <p:spPr>
          <a:xfrm>
            <a:off x="857250" y="3086511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3015645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The AI service sends an answer back in seconds</a:t>
            </a:r>
          </a:p>
        </p:txBody>
      </p:sp>
      <p:sp>
        <p:nvSpPr>
          <p:cNvPr id="18" name="Oval 17"/>
          <p:cNvSpPr/>
          <p:nvPr/>
        </p:nvSpPr>
        <p:spPr>
          <a:xfrm>
            <a:off x="857250" y="3424893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354027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screen, no chat window - software talking to software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" y="3763274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5" y="3692408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You pay for what you use, usually per volume of text</a:t>
            </a:r>
          </a:p>
        </p:txBody>
      </p:sp>
      <p:sp>
        <p:nvSpPr>
          <p:cNvPr id="22" name="Oval 21"/>
          <p:cNvSpPr/>
          <p:nvPr/>
        </p:nvSpPr>
        <p:spPr>
          <a:xfrm>
            <a:off x="857250" y="4101656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030790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This is how AI gets built into real products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0415" y="1517268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0415" y="1517268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6447" y="20125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0183" y="1930222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Chat window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76447" y="2318480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One person, one question, one answer. Manual.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0415" y="3096344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0415" y="3096344"/>
            <a:ext cx="20320" cy="141448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76447" y="359159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50183" y="350929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6447" y="389755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Thousands of requests a day, automatically, inside your own system.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0415" y="4675420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0415" y="4675420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76447" y="5170670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50183" y="5088374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Why care?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6447" y="5476632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Chat helps a person. An API changes a whole process.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20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TWO ROUTES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Build with code, or build with no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Most organisations use both: no-code to prove the idea, API to scale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5254599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API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 developer connects AI to your 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281" y="301297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Full control over behaviour and data</a:t>
            </a:r>
          </a:p>
        </p:txBody>
      </p:sp>
      <p:sp>
        <p:nvSpPr>
          <p:cNvPr id="20" name="Oval 19"/>
          <p:cNvSpPr/>
          <p:nvPr/>
        </p:nvSpPr>
        <p:spPr>
          <a:xfrm>
            <a:off x="1113281" y="3447765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Fits neatly into existing products</a:t>
            </a:r>
          </a:p>
        </p:txBody>
      </p:sp>
      <p:sp>
        <p:nvSpPr>
          <p:cNvPr id="22" name="Oval 21"/>
          <p:cNvSpPr/>
          <p:nvPr/>
        </p:nvSpPr>
        <p:spPr>
          <a:xfrm>
            <a:off x="1113281" y="388255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Handles very large volumes</a:t>
            </a:r>
          </a:p>
        </p:txBody>
      </p:sp>
      <p:sp>
        <p:nvSpPr>
          <p:cNvPr id="24" name="Oval 23"/>
          <p:cNvSpPr/>
          <p:nvPr/>
        </p:nvSpPr>
        <p:spPr>
          <a:xfrm>
            <a:off x="1113281" y="431734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Needs developers and testing time</a:t>
            </a:r>
          </a:p>
        </p:txBody>
      </p:sp>
      <p:sp>
        <p:nvSpPr>
          <p:cNvPr id="26" name="Oval 25"/>
          <p:cNvSpPr/>
          <p:nvPr/>
        </p:nvSpPr>
        <p:spPr>
          <a:xfrm>
            <a:off x="1113281" y="475214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Best for customer-facing features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016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0167" y="1800786"/>
            <a:ext cx="5254599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9623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NO-CODE ROUTE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6199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 business user assembles it visually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6199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2201" y="3012973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Drag, drop and connect - no programming</a:t>
            </a:r>
          </a:p>
        </p:txBody>
      </p:sp>
      <p:sp>
        <p:nvSpPr>
          <p:cNvPr id="35" name="Oval 34"/>
          <p:cNvSpPr/>
          <p:nvPr/>
        </p:nvSpPr>
        <p:spPr>
          <a:xfrm>
            <a:off x="6642201" y="3447765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7367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Working version in hours, not months</a:t>
            </a:r>
          </a:p>
        </p:txBody>
      </p:sp>
      <p:sp>
        <p:nvSpPr>
          <p:cNvPr id="37" name="Oval 36"/>
          <p:cNvSpPr/>
          <p:nvPr/>
        </p:nvSpPr>
        <p:spPr>
          <a:xfrm>
            <a:off x="6642201" y="3882557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7367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Anyone in the team can maintain it</a:t>
            </a:r>
          </a:p>
        </p:txBody>
      </p:sp>
      <p:sp>
        <p:nvSpPr>
          <p:cNvPr id="39" name="Oval 38"/>
          <p:cNvSpPr/>
          <p:nvPr/>
        </p:nvSpPr>
        <p:spPr>
          <a:xfrm>
            <a:off x="6642201" y="4317349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7367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Less flexible for unusual cases</a:t>
            </a:r>
          </a:p>
        </p:txBody>
      </p:sp>
      <p:sp>
        <p:nvSpPr>
          <p:cNvPr id="41" name="Oval 40"/>
          <p:cNvSpPr/>
          <p:nvPr/>
        </p:nvSpPr>
        <p:spPr>
          <a:xfrm>
            <a:off x="6642201" y="4752141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27367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Best for internal workflows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IN SHORT   </a:t>
            </a: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Start no-code to prove it works. Move to an API when it matters.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21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NO-CODE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people build with, without programming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These are the tools behind most 'we automated it' stories.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212266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641451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Zapier / Make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Connect apps with triggers. 'When a form is submitted, summarise it and post to the team chat.'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5002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15002" y="2212266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2746" y="2641451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6482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Custom GPTs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2746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Upload your own documents and get an assistant that answers only from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8756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8756" y="2212266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26500" y="2641451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00236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Microsoft Copilot Studio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500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Build assistants inside Teams and Office using company data.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7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7" y="3913050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992" y="4342235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2728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Power Automate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Automate approvals and document flows across Microsoft tools.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5002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5002" y="3913050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2746" y="4342235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6482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n8n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2746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Visual workflow builder for more complex, multi-step automations.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8756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8756" y="3913050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26500" y="4342235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0236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Notion / Airtable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26500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AI columns and summaries directly inside the database your team already uses.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WORKED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Automating customer feedback in four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Built in an afternoon with a form, a no-code tool and one good prompt.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20607" y="2561567"/>
            <a:ext cx="8224799" cy="19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46871" y="2395146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68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7" y="2916354"/>
            <a:ext cx="255871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customer submits the feedback form.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8471" y="2395146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84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28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82847" y="2916354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82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Send to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382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saved prompt asks for topic, sentiment and urgency.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0071" y="2395146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00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44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4447" y="2916354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98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Route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98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Angry and urgent goes straight to a manager.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71671" y="2395146"/>
            <a:ext cx="347472" cy="347472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716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660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66047" y="2916354"/>
            <a:ext cx="2558719" cy="1778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214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Log and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214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Everything lands in a sheet, summarised weekly.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Note the pattern: a trigger, a prompt, a decision, a record. Most useful automations look exactly like this.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23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RECAP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Key takeaways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Unit 2 in six lines.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308375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33397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7904" y="2245749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Choose the tool by the output you need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Text, image, video, audio, data or code. Start there.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7" y="3291452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7" y="3291452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8992" y="3799041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246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3645400"/>
            <a:ext cx="4294479" cy="691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Six tools, six different jobs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Numerous AI for data, Jasper for copy, Midjourney for images, VEO for video, Odoo for business operations, Canva AI for design.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7" y="4782118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7" y="4782118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8992" y="5289707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531531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7904" y="5227081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Prompting is briefing, not coding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Role, task, context, format, constraints.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1023" y="1800786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1023" y="1800786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98767" y="2308375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8767" y="233397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7679" y="2245749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Refine one thing at a time, then save the prompt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shared prompt library is where teams gain real hours.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61023" y="3291452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61023" y="3291452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98767" y="3799041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8767" y="38246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7679" y="3736415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APIs put AI inside your systems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Chat helps one person; an API changes a whole process.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1023" y="4782118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61023" y="4782118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98767" y="5289707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98767" y="531531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37679" y="5227081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No-code lets you prove the idea this week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Build small, show value, then scale it properly.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657600" cy="365760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37898" y="448056"/>
            <a:ext cx="1950876" cy="9692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6770" y="566928"/>
            <a:ext cx="1713132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9536" y="1591056"/>
            <a:ext cx="1218048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029968"/>
            <a:ext cx="7863840" cy="891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2994538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250570"/>
            <a:ext cx="7680960" cy="334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Next up — Unit 3: putting these tools to work in marketing, finance, HR and operations, and meeting AI agents.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Which repeated task in your week could a saved prompt handle?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6026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6026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5482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5482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Which tool would you trial first, and how would you measure it?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5124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5124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4580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4580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What is the one workflow you would automate with no-code?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760720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5760720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 cap="all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Presented by   </a:t>
            </a: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Lingesh K</a:t>
            </a:r>
            <a:r>
              <a:rPr sz="800" b="0" i="0" spc="130" cap="all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      Register No.   </a:t>
            </a: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2 — Tools and Technologies</dc:title>
  <dc:subject>Artificial Intelligence &amp; Generative AI</dc:subject>
  <dc:creator>Lingesh K (OSI2509030)</dc:creator>
  <cp:keywords/>
  <dc:description>PGPM · Systems Specialisation · Unit 2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