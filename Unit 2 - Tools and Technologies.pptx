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 1 was the theory. This unit is the hands-on one. Tell the class the goal: by the end they should be able to pick the right tool and write a prompt that works first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last card deliberately. The first five are tools you open to make something. A business system like Odoo is where the work is actually recorded and run - AI sits inside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Odoo is the odd one out and worth flagging to the class. The other five are content tools. Odoo is the system of record - the AI is embedded in the workflow rather than being the product itself. The next slide covers it properly.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for a one-line answer: Odoo is an AI-enabled open-source ERP used to manage finance, HR, sales, inventory, CRM and projects from a single platform. Modular - install only what you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idea: run the same request with and without role and format. The difference is obvious and the class remembers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Analogy: ordering food. In the chat window you walk to the counter yourself. With an API your system places the order automatically, every time it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686800" y="-1463040"/>
            <a:ext cx="5120640" cy="5120640"/>
          </a:xfrm>
          <a:prstGeom prst="ellipse">
            <a:avLst/>
          </a:prstGeom>
          <a:solidFill>
            <a:srgbClr val="3B7AF7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058400" y="3108960"/>
            <a:ext cx="3840480" cy="3840480"/>
          </a:xfrm>
          <a:prstGeom prst="ellipse">
            <a:avLst/>
          </a:prstGeom>
          <a:solidFill>
            <a:srgbClr val="00B3A4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bleed"/>
          <p:cNvSpPr/>
          <p:nvPr/>
        </p:nvSpPr>
        <p:spPr>
          <a:xfrm>
            <a:off x="7315200" y="1005840"/>
            <a:ext cx="2743200" cy="2743200"/>
          </a:xfrm>
          <a:prstGeom prst="ellipse">
            <a:avLst/>
          </a:prstGeom>
          <a:solidFill>
            <a:srgbClr val="FFFFFF">
              <a:alpha val="3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logo-plate"/>
          <p:cNvSpPr/>
          <p:nvPr/>
        </p:nvSpPr>
        <p:spPr>
          <a:xfrm>
            <a:off x="9126735" y="539496"/>
            <a:ext cx="2379159" cy="11521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607" y="658368"/>
            <a:ext cx="2141415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2065553"/>
            <a:ext cx="7406640" cy="1578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Tools, Platforms and Prompt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3662648"/>
            <a:ext cx="658368" cy="4572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973544"/>
            <a:ext cx="6766560" cy="74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5D2E8"/>
                </a:solidFill>
                <a:latin typeface="Segoe UI"/>
                <a:ea typeface="Segoe UI"/>
                <a:cs typeface="Segoe UI"/>
              </a:rPr>
              <a:t>The Gen AI tools people actually use at work, how to write instructions that get good results, and how to connect AI to a process without writing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4993614"/>
            <a:ext cx="1410639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FB4D8"/>
                </a:solidFill>
                <a:latin typeface="Segoe UI"/>
                <a:ea typeface="Segoe UI"/>
                <a:cs typeface="Segoe UI"/>
              </a:rPr>
              <a:t>Platforms &amp;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71343" y="4993614"/>
            <a:ext cx="152533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FB4D8"/>
                </a:solidFill>
                <a:latin typeface="Segoe UI"/>
                <a:ea typeface="Segoe UI"/>
                <a:cs typeface="Segoe UI"/>
              </a:rPr>
              <a:t>Prompt 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24696" y="4993614"/>
            <a:ext cx="63430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FB4D8"/>
                </a:solidFill>
                <a:latin typeface="Segoe UI"/>
                <a:ea typeface="Segoe UI"/>
                <a:cs typeface="Segoe UI"/>
              </a:rPr>
              <a:t>APIs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87014" y="4993614"/>
            <a:ext cx="890981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FB4D8"/>
                </a:solidFill>
                <a:latin typeface="Segoe UI"/>
                <a:ea typeface="Segoe UI"/>
                <a:cs typeface="Segoe UI"/>
              </a:rPr>
              <a:t>No-Code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5614416"/>
            <a:ext cx="3840480" cy="12700"/>
          </a:xfrm>
          <a:prstGeom prst="rect">
            <a:avLst/>
          </a:prstGeom>
          <a:solidFill>
            <a:srgbClr val="2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797296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6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PRESENTED BY</a:t>
            </a:r>
          </a:p>
          <a:p>
            <a:pPr algn="l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Lingesh K</a:t>
            </a:r>
            <a:r>
              <a:rPr sz="1050" b="0" i="0">
                <a:solidFill>
                  <a:srgbClr val="7E91B4"/>
                </a:solidFill>
                <a:latin typeface="Segoe UI"/>
                <a:ea typeface="Segoe UI"/>
                <a:cs typeface="Segoe UI"/>
              </a:rPr>
              <a:t>      Register No. </a:t>
            </a:r>
            <a:r>
              <a:rPr sz="1050" b="1" i="0">
                <a:solidFill>
                  <a:srgbClr val="C5D2E8"/>
                </a:solidFill>
                <a:latin typeface="Segoe UI"/>
                <a:ea typeface="Segoe UI"/>
                <a:cs typeface="Segoe UI"/>
              </a:rPr>
              <a:t>OSI2509030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What we will 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Half theory, half practical. The prompt section is the part you will use tomorrow.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212848"/>
            <a:ext cx="32004" cy="786384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31136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267712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The tool landscape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How to sort dozens of tools into a simple 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45536"/>
            <a:ext cx="32004" cy="786384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63824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200400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Six tools up close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Numerous AI, Jasper, Midjourney, VEO, Odoo, Canva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078224"/>
            <a:ext cx="32004" cy="78638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96511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4133087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Choosing a tool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Four questions before you buy anything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010912"/>
            <a:ext cx="32004" cy="786384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5065776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Prompt engineering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What it is and why the same tool gives some people better 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4719" y="2212848"/>
            <a:ext cx="32004" cy="786384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5887" y="2231136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7A06A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1103" y="2267712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The prompt recipe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Five parts that turn a vague ask into a clear 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4719" y="3145536"/>
            <a:ext cx="32004" cy="786384"/>
          </a:xfrm>
          <a:prstGeom prst="rect">
            <a:avLst/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5887" y="3163824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05151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1103" y="3200400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Types of prompts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Zero-shot, few-shot, role, chain-of-thought and more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4719" y="4078224"/>
            <a:ext cx="32004" cy="786384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5887" y="4096511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1103" y="4133087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APIs explained simply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How AI gets built into real products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4719" y="5010912"/>
            <a:ext cx="32004" cy="786384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5887" y="5029200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01103" y="5065776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No-code automation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Building useful things with zero programming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9326880" y="914400"/>
            <a:ext cx="4206240" cy="4206240"/>
          </a:xfrm>
          <a:prstGeom prst="ellipse">
            <a:avLst/>
          </a:prstGeom>
          <a:solidFill>
            <a:srgbClr val="3B7AF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972800" y="4023360"/>
            <a:ext cx="2743200" cy="2743200"/>
          </a:xfrm>
          <a:prstGeom prst="ellipse">
            <a:avLst/>
          </a:prstGeom>
          <a:solidFill>
            <a:srgbClr val="00B3A4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346704"/>
            <a:ext cx="60350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487168"/>
            <a:ext cx="7680960" cy="70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Platforms and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3266703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FC1DE"/>
                </a:solidFill>
                <a:latin typeface="Segoe UI"/>
                <a:ea typeface="Segoe UI"/>
                <a:cs typeface="Segoe UI"/>
              </a:rPr>
              <a:t>There are thousands. You only need a map.</a:t>
            </a:r>
          </a:p>
        </p:txBody>
      </p:sp>
      <p:sp>
        <p:nvSpPr>
          <p:cNvPr id="10" name="logo-plate"/>
          <p:cNvSpPr/>
          <p:nvPr/>
        </p:nvSpPr>
        <p:spPr>
          <a:xfrm>
            <a:off x="9512190" y="539496"/>
            <a:ext cx="1993704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62" y="658368"/>
            <a:ext cx="175596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THE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Sort AI tools by the job they do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Five of these create content. The last one runs the business - and that difference matters.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04009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4146" y="2504923"/>
            <a:ext cx="3414304" cy="6400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851481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Text and writing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49912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Emails, blogs, reports, summaries.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ChatGPT, Claude, Jasper, Copilot.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6986" y="2504009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E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7900" y="2504923"/>
            <a:ext cx="341430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1306" y="2851481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Images and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1306" y="3249912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Posters, mockups, social posts.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Midjourney, Canva AI, Firefly.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0740" y="2504009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1655" y="2504923"/>
            <a:ext cx="3414304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5060" y="2851481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Video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5060" y="3249912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Clips, ads, explainers, edits.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VEO, Runway, Synthesia.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43336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4146" y="4244250"/>
            <a:ext cx="3414304" cy="6400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59080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Audio and voice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989239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Voiceovers, music, dubbing.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ElevenLabs, Suno, Descript.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6986" y="4243336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E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7900" y="4244250"/>
            <a:ext cx="341430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1306" y="459080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Data and spreadsheets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1306" y="4989239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Clean, classify, analyse rows.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Numerous AI, Copilot in Excel.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0740" y="4243336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1655" y="4244250"/>
            <a:ext cx="3414304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5060" y="459080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Business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5060" y="4989239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Run operations with AI built in.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Odoo, Salesforce, SAP.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TOOLS UP CLOSE —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Writing, data and images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588608"/>
            <a:ext cx="3417722" cy="2659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4146" y="2589522"/>
            <a:ext cx="341430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05184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Numerous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450279"/>
            <a:ext cx="2869082" cy="163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Brings AI into Excel and Google Sheets. Drag a formula down and it categorises products, cleans messy text or writes descriptions for every row.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/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Best for: bulk work on lists and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6986" y="2588608"/>
            <a:ext cx="3417722" cy="2659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7900" y="2589522"/>
            <a:ext cx="341430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1306" y="2936080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Jasper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1306" y="3334511"/>
            <a:ext cx="2869082" cy="1748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 writing platform built for marketing teams. Keeps a brand voice, uses templates for ads and emails, and works across a whole campaign.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/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Best for: consistent marketing copy at volume.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0740" y="2588608"/>
            <a:ext cx="3417722" cy="2659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655" y="2589522"/>
            <a:ext cx="341430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5060" y="305184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Midjourney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5060" y="3450279"/>
            <a:ext cx="2869082" cy="163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Turns a written description into high-quality images. Strong on style, mood and art direction.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/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Best for: concepts, moodboards and visuals without a photoshoot.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TOOLS UP CLOSE —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Video, business systems and everyday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588608"/>
            <a:ext cx="3417722" cy="2659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4146" y="2589522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936080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VEO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334511"/>
            <a:ext cx="2869082" cy="1748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Google's video generation model. Describe a scene and it produces short video with motion, camera movement and matching sound.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/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Best for: quick concept videos and social clips.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6986" y="2588608"/>
            <a:ext cx="3417722" cy="2659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7900" y="2589522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1306" y="2936080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Odoo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1306" y="3334511"/>
            <a:ext cx="2869082" cy="1748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An open-source ERP that runs finance, sales, HR, inventory and projects in one place - now with AI features built into those modules.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/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Best for: running the business, not making content.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0740" y="2588608"/>
            <a:ext cx="3417722" cy="2659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655" y="2589522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5060" y="2936080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Canva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5060" y="3334511"/>
            <a:ext cx="2869082" cy="1748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AI built into a design tool everyone can already use. Generates layouts, rewrites text, removes backgrounds and resizes for every channel.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/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Best for: non-designers who need presentable output fast.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ODOO IN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What is Odoo?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9728"/>
            <a:ext cx="4521397" cy="1310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An open-source ERP platform that manages business operations - finance, HR, sales, inventory, CRM and projects - from one system, with AI features built 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221573"/>
            <a:ext cx="457200" cy="4114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3605621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95893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ERP means Enterprise Resource Planning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98254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72818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One shared system instead of separate tools per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359471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49743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Modules: accounting, sales and CRM, HR, inventory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36395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667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Also manufacturing, projects, e-commerce and point of sale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113320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03592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You install only the modules you need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490245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80517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Used by startups, SMEs and large enterprises alike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0389" y="1783152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00389" y="1783152"/>
            <a:ext cx="45720" cy="1313663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4709" y="2052374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Why it is in this syllabus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4709" y="2378553"/>
            <a:ext cx="5366010" cy="540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Recent versions add AI: generated emails and documents, chat assistants and automatic document classification.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00389" y="3261408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00389" y="3261408"/>
            <a:ext cx="45720" cy="1313663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4709" y="3530630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AI inside the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4709" y="3856809"/>
            <a:ext cx="5366010" cy="540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AI-powered reports and business insights, plus workflow automation and AI agents.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00389" y="4739664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00389" y="4739664"/>
            <a:ext cx="45720" cy="1313663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74709" y="5008886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The wider lesson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4709" y="5335065"/>
            <a:ext cx="5366010" cy="540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This is where AI is heading - not a separate tool you visit, but a feature inside the system you already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QUICK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One table, six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819728"/>
          <a:ext cx="10765229" cy="3447210"/>
        </p:xfrm>
        <a:graphic>
          <a:graphicData uri="http://schemas.openxmlformats.org/drawingml/2006/table">
            <a:tbl>
              <a:tblPr firstRow="1" bandRow="0" bandCol="0" firstCol="0" lastRow="0" lastCol="0">
                <a:tableStyleId>{5C22544A-7EE6-4342-B048-85BDC9FD1C3A}</a:tableStyleId>
              </a:tblPr>
              <a:tblGrid>
                <a:gridCol w="1964458"/>
                <a:gridCol w="2357349"/>
                <a:gridCol w="3457446"/>
                <a:gridCol w="2985976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Tool</a:t>
                      </a:r>
                    </a:p>
                  </a:txBody>
                  <a:tcPr marL="164592" marR="164592" marT="91440" marB="91440" anchor="ctr">
                    <a:solidFill>
                      <a:srgbClr val="0E1E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What it makes</a:t>
                      </a:r>
                    </a:p>
                  </a:txBody>
                  <a:tcPr marL="164592" marR="164592" marT="91440" marB="91440" anchor="ctr">
                    <a:solidFill>
                      <a:srgbClr val="0E1E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Use it for</a:t>
                      </a:r>
                    </a:p>
                  </a:txBody>
                  <a:tcPr marL="164592" marR="164592" marT="91440" marB="91440" anchor="ctr">
                    <a:solidFill>
                      <a:srgbClr val="0E1E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Watch out for</a:t>
                      </a:r>
                    </a:p>
                  </a:txBody>
                  <a:tcPr marL="164592" marR="164592" marT="91440" marB="91440" anchor="ctr">
                    <a:solidFill>
                      <a:srgbClr val="0E1E3C"/>
                    </a:solidFill>
                  </a:tcPr>
                </a:tc>
              </a:tr>
              <a:tr h="498335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Numerous AI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Spreadsheet output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Sorting and cleaning thousands of rows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Sending private data to the cloud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</a:tr>
              <a:tr h="498335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Jasper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Marketing text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Campaigns that must sound the same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Generic copy if the brief is thin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</a:tr>
              <a:tr h="498335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Midjourney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Images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Concepts, moodboards, visuals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Rights and usage for commercial work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</a:tr>
              <a:tr h="498335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VEO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Short video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Ideas, pitches, social clips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Small errors in faces and text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</a:tr>
              <a:tr h="498335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Odoo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Business records and workflows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Running finance, HR, sales and inventory with AI help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Setup effort and clean data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</a:tr>
              <a:tr h="498335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Canva AI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Ready-made designs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Fast, presentable everyday design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Everything can start to look alike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" y="5486400"/>
            <a:ext cx="10765231" cy="566928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Five of these help you produce something. Odoo is where the business actually runs.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5486400"/>
            <a:ext cx="32004" cy="56692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CHOOSING 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Four questions before you buy any AI tool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90305" y="2642262"/>
            <a:ext cx="8211083" cy="2540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2561" y="2415491"/>
            <a:ext cx="475488" cy="475488"/>
          </a:xfrm>
          <a:prstGeom prst="ellipse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20647"/>
            <a:ext cx="2554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055571"/>
            <a:ext cx="2554147" cy="1222489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256739"/>
            <a:ext cx="2224963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What is the job?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610800"/>
            <a:ext cx="2224963" cy="520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Name the task and how often it happens. No task, no tool.</a:t>
            </a:r>
          </a:p>
        </p:txBody>
      </p:sp>
      <p:sp>
        <p:nvSpPr>
          <p:cNvPr id="14" name="Oval 13"/>
          <p:cNvSpPr/>
          <p:nvPr/>
        </p:nvSpPr>
        <p:spPr>
          <a:xfrm>
            <a:off x="4489589" y="2415491"/>
            <a:ext cx="475488" cy="475488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0259" y="2520647"/>
            <a:ext cx="2554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0259" y="3055571"/>
            <a:ext cx="2554147" cy="1222489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4851" y="3256739"/>
            <a:ext cx="2224963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Where does data go?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4851" y="3610800"/>
            <a:ext cx="2224963" cy="520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Is company data stored, or used for training? Read the terms.</a:t>
            </a:r>
          </a:p>
        </p:txBody>
      </p:sp>
      <p:sp>
        <p:nvSpPr>
          <p:cNvPr id="19" name="Oval 18"/>
          <p:cNvSpPr/>
          <p:nvPr/>
        </p:nvSpPr>
        <p:spPr>
          <a:xfrm>
            <a:off x="7226617" y="2415491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7287" y="2520647"/>
            <a:ext cx="2554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7" y="3055571"/>
            <a:ext cx="2554147" cy="1222489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1879" y="3256739"/>
            <a:ext cx="2224963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Does it fit our tools?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879" y="3610800"/>
            <a:ext cx="2224963" cy="520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It must work inside email, Office or the CRM you already use.</a:t>
            </a:r>
          </a:p>
        </p:txBody>
      </p:sp>
      <p:sp>
        <p:nvSpPr>
          <p:cNvPr id="24" name="Oval 23"/>
          <p:cNvSpPr/>
          <p:nvPr/>
        </p:nvSpPr>
        <p:spPr>
          <a:xfrm>
            <a:off x="9963645" y="2415491"/>
            <a:ext cx="475488" cy="475488"/>
          </a:xfrm>
          <a:prstGeom prst="ellipse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24315" y="2520647"/>
            <a:ext cx="2554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24315" y="3055571"/>
            <a:ext cx="2554147" cy="1222489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8907" y="3256739"/>
            <a:ext cx="2224963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What does it save?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8907" y="3610800"/>
            <a:ext cx="2224963" cy="520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Hours saved per month against the licence cost.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5449824"/>
            <a:ext cx="10765231" cy="603504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 tool nobody opens after week two is not a saving. Adoption is the real test.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449824"/>
            <a:ext cx="32004" cy="603504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9326880" y="914400"/>
            <a:ext cx="4206240" cy="4206240"/>
          </a:xfrm>
          <a:prstGeom prst="ellipse">
            <a:avLst/>
          </a:prstGeom>
          <a:solidFill>
            <a:srgbClr val="3B7AF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972800" y="4023360"/>
            <a:ext cx="2743200" cy="2743200"/>
          </a:xfrm>
          <a:prstGeom prst="ellipse">
            <a:avLst/>
          </a:prstGeom>
          <a:solidFill>
            <a:srgbClr val="00B3A4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346704"/>
            <a:ext cx="60350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487168"/>
            <a:ext cx="7680960" cy="70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Prompt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3266703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FC1DE"/>
                </a:solidFill>
                <a:latin typeface="Segoe UI"/>
                <a:ea typeface="Segoe UI"/>
                <a:cs typeface="Segoe UI"/>
              </a:rPr>
              <a:t>Same tool, very different results. Here is why.</a:t>
            </a:r>
          </a:p>
        </p:txBody>
      </p:sp>
      <p:sp>
        <p:nvSpPr>
          <p:cNvPr id="10" name="logo-plate"/>
          <p:cNvSpPr/>
          <p:nvPr/>
        </p:nvSpPr>
        <p:spPr>
          <a:xfrm>
            <a:off x="9512190" y="539496"/>
            <a:ext cx="1993704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62" y="658368"/>
            <a:ext cx="175596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Prompt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9728"/>
            <a:ext cx="4521397" cy="719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The skill of writing instructions that get the output you actually wanted, first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630378"/>
            <a:ext cx="45720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301442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04698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 prompt is simply the instruction you give the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391351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81623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The model cannot read your mind or your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76827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8548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Vague in, vague out - every single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45201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35473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Small changes in wording change the result a lot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52212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12398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It is a communication skill, not a coding skill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0389" y="1783152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00389" y="1783152"/>
            <a:ext cx="45720" cy="1313663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4709" y="2164634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Not a technical job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4709" y="2490813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If you can brief a new intern clearly, you can write a good prompt.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0389" y="3261408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00389" y="3261408"/>
            <a:ext cx="45720" cy="1313663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4709" y="3642890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It is now a work skill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4709" y="3969069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Job ads list it. It saves hours every week in any role.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00389" y="4739664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00389" y="4739664"/>
            <a:ext cx="45720" cy="1313663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4709" y="5121146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It is trial and 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4709" y="5447325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Nobody gets it perfect first time. Good prompts get edited.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E05151"/>
                </a:solidFill>
                <a:latin typeface="Segoe UI"/>
                <a:ea typeface="Segoe UI"/>
                <a:cs typeface="Segoe UI"/>
              </a:rPr>
              <a:t>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The same tool, two very different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The model did not get smarter. The instruction did.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195600"/>
            <a:ext cx="5227167" cy="31444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4146" y="2196514"/>
            <a:ext cx="5221940" cy="64008"/>
          </a:xfrm>
          <a:prstGeom prst="rect">
            <a:avLst/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4128" y="2506496"/>
            <a:ext cx="1321445" cy="310896"/>
          </a:xfrm>
          <a:prstGeom prst="roundRect">
            <a:avLst>
              <a:gd name="adj" fmla="val 50000"/>
            </a:avLst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E05151"/>
                </a:solidFill>
                <a:latin typeface="Segoe UI"/>
                <a:ea typeface="Segoe UI"/>
                <a:cs typeface="Segoe UI"/>
              </a:rPr>
              <a:t>WEAK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981984"/>
            <a:ext cx="4605375" cy="352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"Write about our new product."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3443973"/>
            <a:ext cx="4605375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" y="3768585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6736" y="3663429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No audience, so it guesses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056370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16736" y="3951214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No length, so it rambles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434415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16736" y="4238998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No tone, so it sounds generic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631939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6736" y="4526783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No facts, so it may invent them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919723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16736" y="4814567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Result: you rewrite the whole thing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1295" y="2195600"/>
            <a:ext cx="5227167" cy="31444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2210" y="2196514"/>
            <a:ext cx="5221940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62191" y="2506496"/>
            <a:ext cx="1485573" cy="310896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27A06A"/>
                </a:solidFill>
                <a:latin typeface="Segoe UI"/>
                <a:ea typeface="Segoe UI"/>
                <a:cs typeface="Segoe UI"/>
              </a:rPr>
              <a:t>STRONG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2191" y="2981984"/>
            <a:ext cx="4605375" cy="61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"You are a B2B copywriter. Write a 120-word LinkedIn post..."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2191" y="3704794"/>
            <a:ext cx="4605375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62191" y="402940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4799" y="3924250"/>
            <a:ext cx="4312767" cy="235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Audience named: operations managers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2191" y="4265027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4799" y="4159871"/>
            <a:ext cx="4312767" cy="235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Length fixed: 120 words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62191" y="4500647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4799" y="4395491"/>
            <a:ext cx="4312767" cy="235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Tone set: clear, no hype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62191" y="4736267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4799" y="4631111"/>
            <a:ext cx="4312767" cy="235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Facts supplied: three key features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62191" y="4971887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4799" y="4866731"/>
            <a:ext cx="4312767" cy="235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Result: usable after a light edit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5486400"/>
            <a:ext cx="10765231" cy="566928"/>
          </a:xfrm>
          <a:prstGeom prst="roundRect">
            <a:avLst>
              <a:gd name="adj" fmla="val 6000"/>
            </a:avLst>
          </a:prstGeom>
          <a:solidFill>
            <a:srgbClr val="0E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 cap="all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In short   </a:t>
            </a:r>
            <a:r>
              <a:rPr sz="12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Every minute spent on the prompt saves ten minutes of rewriting.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THE RECIPE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Five parts of a good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Miss a part and the model fills the gap with a guess.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095764"/>
            <a:ext cx="1948220" cy="2057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4146" y="3096678"/>
            <a:ext cx="1946272" cy="6400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605376"/>
            <a:ext cx="1399580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1.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003807"/>
            <a:ext cx="1399580" cy="984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Tell it who to be.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"You are a financial analyst."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17484" y="3095764"/>
            <a:ext cx="1948220" cy="2057400"/>
          </a:xfrm>
          <a:prstGeom prst="roundRect">
            <a:avLst>
              <a:gd name="adj" fmla="val 6000"/>
            </a:avLst>
          </a:prstGeom>
          <a:solidFill>
            <a:srgbClr val="E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18399" y="3096678"/>
            <a:ext cx="1946272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91804" y="3489608"/>
            <a:ext cx="1399580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2.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1804" y="3888039"/>
            <a:ext cx="1399580" cy="11005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Say exactly what to do.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"Summarise this report."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1737" y="3095764"/>
            <a:ext cx="1948220" cy="2057400"/>
          </a:xfrm>
          <a:prstGeom prst="roundRect">
            <a:avLst>
              <a:gd name="adj" fmla="val 6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2651" y="3096678"/>
            <a:ext cx="1946272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6057" y="3605376"/>
            <a:ext cx="1399580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3.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6057" y="4003807"/>
            <a:ext cx="1399580" cy="984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Give the background.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"For the board, who are non-technical."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5989" y="3095764"/>
            <a:ext cx="1948220" cy="2057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26904" y="3096678"/>
            <a:ext cx="1946272" cy="6400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309" y="3605376"/>
            <a:ext cx="1399580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4. Format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0309" y="4003807"/>
            <a:ext cx="1399580" cy="984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Describe the shape.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"Five bullets, under 15 words each."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0242" y="3095764"/>
            <a:ext cx="1948220" cy="2057400"/>
          </a:xfrm>
          <a:prstGeom prst="roundRect">
            <a:avLst>
              <a:gd name="adj" fmla="val 6000"/>
            </a:avLst>
          </a:prstGeom>
          <a:solidFill>
            <a:srgbClr val="E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31156" y="3096678"/>
            <a:ext cx="1946272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04562" y="3605376"/>
            <a:ext cx="1399580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5. Constraints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4562" y="4003807"/>
            <a:ext cx="1399580" cy="984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Set the limits.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"No jargon. Use only the data given."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THE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How prompting actually works in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Prompting is a short loop, not a single shot.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6603" y="2947332"/>
            <a:ext cx="8758488" cy="2540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8859" y="2720560"/>
            <a:ext cx="475488" cy="475488"/>
          </a:xfrm>
          <a:prstGeom prst="ellipse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825716"/>
            <a:ext cx="20067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360640"/>
            <a:ext cx="2006742" cy="1437247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561808"/>
            <a:ext cx="1677558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Define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915869"/>
            <a:ext cx="1677558" cy="7357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Be clear on what a good answer looks like before you type.</a:t>
            </a:r>
          </a:p>
        </p:txBody>
      </p:sp>
      <p:sp>
        <p:nvSpPr>
          <p:cNvPr id="15" name="Oval 14"/>
          <p:cNvSpPr/>
          <p:nvPr/>
        </p:nvSpPr>
        <p:spPr>
          <a:xfrm>
            <a:off x="3668481" y="2720560"/>
            <a:ext cx="475488" cy="475488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2854" y="2825716"/>
            <a:ext cx="20067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2854" y="3360640"/>
            <a:ext cx="2006742" cy="1437247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7446" y="3561808"/>
            <a:ext cx="1677558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7446" y="3915869"/>
            <a:ext cx="1677558" cy="7357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Write the first prompt using the five-part recipe.</a:t>
            </a:r>
          </a:p>
        </p:txBody>
      </p:sp>
      <p:sp>
        <p:nvSpPr>
          <p:cNvPr id="20" name="Oval 19"/>
          <p:cNvSpPr/>
          <p:nvPr/>
        </p:nvSpPr>
        <p:spPr>
          <a:xfrm>
            <a:off x="5858103" y="272056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2476" y="2825716"/>
            <a:ext cx="20067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92476" y="3360640"/>
            <a:ext cx="2006742" cy="1437247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068" y="3561808"/>
            <a:ext cx="1677558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068" y="3915869"/>
            <a:ext cx="1677558" cy="7357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Run it. Compare the output against what you wanted.</a:t>
            </a:r>
          </a:p>
        </p:txBody>
      </p:sp>
      <p:sp>
        <p:nvSpPr>
          <p:cNvPr id="25" name="Oval 24"/>
          <p:cNvSpPr/>
          <p:nvPr/>
        </p:nvSpPr>
        <p:spPr>
          <a:xfrm>
            <a:off x="8047725" y="2720560"/>
            <a:ext cx="475488" cy="475488"/>
          </a:xfrm>
          <a:prstGeom prst="ellipse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2098" y="2825716"/>
            <a:ext cx="20067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82098" y="3360640"/>
            <a:ext cx="2006742" cy="1437247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46690" y="3561808"/>
            <a:ext cx="1677558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Refine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6690" y="3915869"/>
            <a:ext cx="1677558" cy="7357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Fix the weakest part. Change one thing at a time.</a:t>
            </a:r>
          </a:p>
        </p:txBody>
      </p:sp>
      <p:sp>
        <p:nvSpPr>
          <p:cNvPr id="30" name="Oval 29"/>
          <p:cNvSpPr/>
          <p:nvPr/>
        </p:nvSpPr>
        <p:spPr>
          <a:xfrm>
            <a:off x="10237348" y="2720560"/>
            <a:ext cx="475488" cy="475488"/>
          </a:xfrm>
          <a:prstGeom prst="ellipse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71720" y="2825716"/>
            <a:ext cx="200674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1720" y="3360640"/>
            <a:ext cx="2006742" cy="1437247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36312" y="3561808"/>
            <a:ext cx="1677558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Reuse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6312" y="3915869"/>
            <a:ext cx="1677558" cy="7357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Save the winning prompt so the whole team can use 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5449824"/>
            <a:ext cx="10765231" cy="603504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The last step is the one companies skip. A shared prompt library is where the real time saving comes from.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5449824"/>
            <a:ext cx="32004" cy="603504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TYPES OF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Six patterns worth knowing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Match the pattern to the difficulty of the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04009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4146" y="2504923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851481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Zero-shot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49912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Just ask, no examples. Fast, fine for simple tasks.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6986" y="2504009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7900" y="2504923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1306" y="2851481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Few-shot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1306" y="3249912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Give two or three examples first. Best way to lock a format or style.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0740" y="2504009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1655" y="2504923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5060" y="2851481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Role prompting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5060" y="3249912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Assign an expert identity so the tone and depth match the job.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43336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4146" y="4244250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59080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Chain of thought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989239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Ask it to work through the steps. Better for reasoning and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6986" y="4243336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7900" y="4244250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1306" y="459080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Iterative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1306" y="4989239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Start broad, then refine over several turns like a real conversation.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0740" y="4243336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1655" y="4244250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5060" y="459080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Template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5060" y="4989239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 fill-in-the-blank prompt saved for a repeated task.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WHERE IT IS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Prompting at work, by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The same skill pays off in every department.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195600"/>
            <a:ext cx="5254599" cy="18191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195600"/>
            <a:ext cx="45720" cy="1819135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33344"/>
            <a:ext cx="4705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Everyday office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2963696"/>
            <a:ext cx="91440" cy="91440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863112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Summarise long email threads and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271371"/>
            <a:ext cx="91440" cy="91440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170787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Turn rough notes into clean minutes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579045"/>
            <a:ext cx="91440" cy="91440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478461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Draft replies you only need to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863" y="2195600"/>
            <a:ext cx="5254599" cy="18191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2195600"/>
            <a:ext cx="45720" cy="1819135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4759" y="2433344"/>
            <a:ext cx="4705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Marketing and sales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4759" y="2963696"/>
            <a:ext cx="91440" cy="91440"/>
          </a:xfrm>
          <a:prstGeom prst="roundRect">
            <a:avLst>
              <a:gd name="adj" fmla="val 30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0791" y="2863112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Campaign copy in one consistent voice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4759" y="3271371"/>
            <a:ext cx="91440" cy="91440"/>
          </a:xfrm>
          <a:prstGeom prst="roundRect">
            <a:avLst>
              <a:gd name="adj" fmla="val 30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0791" y="3170787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Personalised outreach at scale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4759" y="3579045"/>
            <a:ext cx="91440" cy="91440"/>
          </a:xfrm>
          <a:prstGeom prst="roundRect">
            <a:avLst>
              <a:gd name="adj" fmla="val 30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0791" y="3478461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Product descriptions for whole catalogues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234192"/>
            <a:ext cx="5254599" cy="18191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234192"/>
            <a:ext cx="45720" cy="1819135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471936"/>
            <a:ext cx="4705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Analysis and reporting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5002288"/>
            <a:ext cx="91440" cy="9144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4901704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Explain what a dataset is showing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5309962"/>
            <a:ext cx="91440" cy="9144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5209378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Draft the commentary around the numbers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5617637"/>
            <a:ext cx="91440" cy="9144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5517053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Convert findings into a board summary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863" y="4234192"/>
            <a:ext cx="5254599" cy="18191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23863" y="4234192"/>
            <a:ext cx="45720" cy="1819135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4759" y="4471936"/>
            <a:ext cx="4705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Learning and support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4759" y="5002288"/>
            <a:ext cx="91440" cy="91440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90791" y="4901704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Explain a hard topic at a simpler level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4759" y="5309962"/>
            <a:ext cx="91440" cy="91440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90791" y="5209378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Build training material and quizzes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4759" y="5617637"/>
            <a:ext cx="91440" cy="91440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90791" y="5517053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Answer routine internal questions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27A06A"/>
                </a:solidFill>
                <a:latin typeface="Segoe UI"/>
                <a:ea typeface="Segoe UI"/>
                <a:cs typeface="Segoe UI"/>
              </a:rPr>
              <a:t>HABITS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Do this, not that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783152"/>
            <a:ext cx="5227167" cy="35569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4146" y="1784066"/>
            <a:ext cx="5221940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2094048"/>
            <a:ext cx="515377" cy="310896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27A06A"/>
                </a:solidFill>
                <a:latin typeface="Segoe UI"/>
                <a:ea typeface="Segoe UI"/>
                <a:cs typeface="Segoe UI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69536"/>
            <a:ext cx="4605375" cy="352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Habits of people who get good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3031525"/>
            <a:ext cx="4605375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" y="3356137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6736" y="3250981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Say who the audience 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726411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6736" y="3621255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Give the facts it should 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096685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16736" y="3991529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Ask for a specific format and length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466959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16736" y="4361803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Show an example of good 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4837233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16736" y="4732077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Ask for two options and pick 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1295" y="1783152"/>
            <a:ext cx="5227167" cy="35569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2210" y="1784066"/>
            <a:ext cx="5221940" cy="64008"/>
          </a:xfrm>
          <a:prstGeom prst="rect">
            <a:avLst/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62191" y="2094048"/>
            <a:ext cx="753929" cy="310896"/>
          </a:xfrm>
          <a:prstGeom prst="roundRect">
            <a:avLst>
              <a:gd name="adj" fmla="val 50000"/>
            </a:avLst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E05151"/>
                </a:solidFill>
                <a:latin typeface="Segoe UI"/>
                <a:ea typeface="Segoe UI"/>
                <a:cs typeface="Segoe UI"/>
              </a:rPr>
              <a:t>AVOID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2191" y="2569536"/>
            <a:ext cx="4605375" cy="352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Habits that waste your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62191" y="3031525"/>
            <a:ext cx="4605375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62191" y="3356137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4799" y="3250981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One-line prompts with no context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62191" y="3726411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4799" y="3621255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Pasting confidential data into public tools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62191" y="4096685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4799" y="3991529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Changing five things at once when refining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62191" y="4466959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4799" y="4361803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Trusting names, numbers and quotes blindly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62191" y="4837233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4799" y="4732077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Sending output out without reading 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5486400"/>
            <a:ext cx="10765231" cy="566928"/>
          </a:xfrm>
          <a:prstGeom prst="roundRect">
            <a:avLst>
              <a:gd name="adj" fmla="val 6000"/>
            </a:avLst>
          </a:prstGeom>
          <a:solidFill>
            <a:srgbClr val="0E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 cap="all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In short   </a:t>
            </a:r>
            <a:r>
              <a:rPr sz="12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Brief it like a colleague, then review it like an editor.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9326880" y="914400"/>
            <a:ext cx="4206240" cy="4206240"/>
          </a:xfrm>
          <a:prstGeom prst="ellipse">
            <a:avLst/>
          </a:prstGeom>
          <a:solidFill>
            <a:srgbClr val="3B7AF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972800" y="4023360"/>
            <a:ext cx="2743200" cy="2743200"/>
          </a:xfrm>
          <a:prstGeom prst="ellipse">
            <a:avLst/>
          </a:prstGeom>
          <a:solidFill>
            <a:srgbClr val="00B3A4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346704"/>
            <a:ext cx="60350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487168"/>
            <a:ext cx="7680960" cy="70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APIs and No-Code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3266703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FC1DE"/>
                </a:solidFill>
                <a:latin typeface="Segoe UI"/>
                <a:ea typeface="Segoe UI"/>
                <a:cs typeface="Segoe UI"/>
              </a:rPr>
              <a:t>Moving from chatting with AI to building with it.</a:t>
            </a:r>
          </a:p>
        </p:txBody>
      </p:sp>
      <p:sp>
        <p:nvSpPr>
          <p:cNvPr id="10" name="logo-plate"/>
          <p:cNvSpPr/>
          <p:nvPr/>
        </p:nvSpPr>
        <p:spPr>
          <a:xfrm>
            <a:off x="9512190" y="539496"/>
            <a:ext cx="1993704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62" y="658368"/>
            <a:ext cx="175596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PLAIN 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What is an API?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9728"/>
            <a:ext cx="4521397" cy="719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 doorway that lets one piece of software ask another to do a job.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630378"/>
            <a:ext cx="457200" cy="411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301442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04698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Your app sends a request: here is the text, summarise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391351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81623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The AI service sends an answer back in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76827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8548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No screen, no chat window - software talking to software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45201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35473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You pay for what you use, usually per volume of 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52212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12398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This is how AI gets built into real products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0389" y="1783152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00389" y="1783152"/>
            <a:ext cx="45720" cy="1313663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4709" y="2164634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Chat window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4709" y="2490813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One person, one question, one answer. Manual.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0389" y="3261408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00389" y="3261408"/>
            <a:ext cx="45720" cy="1313663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4709" y="3642890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4709" y="3969069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Thousands of requests a day, automatically, inside your own system.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00389" y="4739664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00389" y="4739664"/>
            <a:ext cx="45720" cy="1313663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4709" y="5121146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Why care?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4709" y="5447325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Chat helps a person. An API changes a whole process.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TWO ROUTES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Build with code, or build with no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Most organisations use both: no-code to prove the idea, API to scale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195600"/>
            <a:ext cx="5227167" cy="31444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4146" y="2196514"/>
            <a:ext cx="5221940" cy="6400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4128" y="2506496"/>
            <a:ext cx="1041182" cy="310896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API 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981984"/>
            <a:ext cx="4605375" cy="352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 developer connects AI to your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3443973"/>
            <a:ext cx="4605375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" y="3768585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6736" y="3663429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Full control over behaviour and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056370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16736" y="3951214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Fits neatly into existing products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434415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16736" y="4238998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Handles very large volumes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631939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6736" y="4526783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Needs developers and testing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919723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16736" y="4814567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Best for customer-facing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1295" y="2195600"/>
            <a:ext cx="5227167" cy="31444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2210" y="2196514"/>
            <a:ext cx="5221940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62191" y="2506496"/>
            <a:ext cx="1441669" cy="310896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27A06A"/>
                </a:solidFill>
                <a:latin typeface="Segoe UI"/>
                <a:ea typeface="Segoe UI"/>
                <a:cs typeface="Segoe UI"/>
              </a:rPr>
              <a:t>NO-CODE ROUTE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2191" y="2981984"/>
            <a:ext cx="4605375" cy="352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 business user assembles it visually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2191" y="3443973"/>
            <a:ext cx="4605375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62191" y="3768585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4799" y="3663429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Drag, drop and connect - no programming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2191" y="4056370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4799" y="3951214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Working version in hours, not months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62191" y="434415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4799" y="4238998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Anyone in the team can maintain 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62191" y="4631939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4799" y="4526783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Less flexible for unusual cases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62191" y="4919723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4799" y="4814567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Best for internal workflows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5486400"/>
            <a:ext cx="10765231" cy="566928"/>
          </a:xfrm>
          <a:prstGeom prst="roundRect">
            <a:avLst>
              <a:gd name="adj" fmla="val 6000"/>
            </a:avLst>
          </a:prstGeom>
          <a:solidFill>
            <a:srgbClr val="0E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 cap="all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In short   </a:t>
            </a:r>
            <a:r>
              <a:rPr sz="12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Start no-code to prove it works. Move to an API when it matters.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27A06A"/>
                </a:solidFill>
                <a:latin typeface="Segoe UI"/>
                <a:ea typeface="Segoe UI"/>
                <a:cs typeface="Segoe UI"/>
              </a:rPr>
              <a:t>NO-CODE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What people build with, without programming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These are the tools behind most 'we automated it' stories.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72473"/>
            <a:ext cx="3417722" cy="1733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4146" y="2273387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619945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Zapier / Make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018376"/>
            <a:ext cx="2869082" cy="822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Connect apps with triggers. 'When a form is submitted, summarise it and post to the team chat.'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6986" y="2272473"/>
            <a:ext cx="3417722" cy="1733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7900" y="2273387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1306" y="2735713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Custom GPTs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1306" y="3134144"/>
            <a:ext cx="2869082" cy="706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Upload your own documents and get an assistant that answers only from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0740" y="2272473"/>
            <a:ext cx="3417722" cy="1733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1655" y="2273387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5060" y="2735713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Microsoft Copilot Studio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5060" y="3134144"/>
            <a:ext cx="2869082" cy="706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Build assistants inside Teams and Office using company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43336"/>
            <a:ext cx="3417722" cy="1733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4146" y="4244250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706576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Power Automate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105007"/>
            <a:ext cx="2869082" cy="706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Automate approvals and document flows across Microsoft tools.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6986" y="4243336"/>
            <a:ext cx="3417722" cy="1733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7900" y="4244250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1306" y="4706576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n8n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1306" y="5105007"/>
            <a:ext cx="2869082" cy="706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Visual workflow builder for more complex, multi-step automations.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0740" y="4243336"/>
            <a:ext cx="3417722" cy="1733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1655" y="4244250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5060" y="4706576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Notion / Airtable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5060" y="5105007"/>
            <a:ext cx="2869082" cy="706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AI columns and summaries directly inside the database your team already uses.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A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Automating customer feedback in four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Built in an afternoon with a form, a no-code tool and one good prompt.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990305" y="3054711"/>
            <a:ext cx="8211083" cy="2540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52561" y="2827939"/>
            <a:ext cx="475488" cy="475488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933095"/>
            <a:ext cx="2554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468019"/>
            <a:ext cx="2554147" cy="1222489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669187"/>
            <a:ext cx="2224963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023249"/>
            <a:ext cx="2224963" cy="520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 customer submits the feedback form.</a:t>
            </a:r>
          </a:p>
        </p:txBody>
      </p:sp>
      <p:sp>
        <p:nvSpPr>
          <p:cNvPr id="15" name="Oval 14"/>
          <p:cNvSpPr/>
          <p:nvPr/>
        </p:nvSpPr>
        <p:spPr>
          <a:xfrm>
            <a:off x="4489589" y="2827939"/>
            <a:ext cx="475488" cy="475488"/>
          </a:xfrm>
          <a:prstGeom prst="ellipse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0259" y="2933095"/>
            <a:ext cx="2554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0259" y="3468019"/>
            <a:ext cx="2554147" cy="1222489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4851" y="3669187"/>
            <a:ext cx="2224963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Send to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4851" y="4023249"/>
            <a:ext cx="2224963" cy="520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 saved prompt asks for topic, sentiment and urgency.</a:t>
            </a:r>
          </a:p>
        </p:txBody>
      </p:sp>
      <p:sp>
        <p:nvSpPr>
          <p:cNvPr id="20" name="Oval 19"/>
          <p:cNvSpPr/>
          <p:nvPr/>
        </p:nvSpPr>
        <p:spPr>
          <a:xfrm>
            <a:off x="7226617" y="2827939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7287" y="2933095"/>
            <a:ext cx="2554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3468019"/>
            <a:ext cx="2554147" cy="1222489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3669187"/>
            <a:ext cx="2224963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Route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4023249"/>
            <a:ext cx="2224963" cy="520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Angry and urgent goes straight to a manager.</a:t>
            </a:r>
          </a:p>
        </p:txBody>
      </p:sp>
      <p:sp>
        <p:nvSpPr>
          <p:cNvPr id="25" name="Oval 24"/>
          <p:cNvSpPr/>
          <p:nvPr/>
        </p:nvSpPr>
        <p:spPr>
          <a:xfrm>
            <a:off x="9963645" y="2827939"/>
            <a:ext cx="475488" cy="475488"/>
          </a:xfrm>
          <a:prstGeom prst="ellipse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24315" y="2933095"/>
            <a:ext cx="2554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24315" y="3468019"/>
            <a:ext cx="2554147" cy="1222489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8907" y="3669187"/>
            <a:ext cx="2224963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Log and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8907" y="4023249"/>
            <a:ext cx="2224963" cy="520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Everything lands in a sheet, summarised weekly.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5449824"/>
            <a:ext cx="10765231" cy="603504"/>
          </a:xfrm>
          <a:prstGeom prst="roundRect">
            <a:avLst>
              <a:gd name="adj" fmla="val 6000"/>
            </a:avLst>
          </a:prstGeom>
          <a:solidFill>
            <a:srgbClr val="E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Note the pattern: a trigger, a prompt, a decision, a record. Most useful automations look exactly like this.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449824"/>
            <a:ext cx="32004" cy="603504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Unit 2 in six 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32176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232176"/>
            <a:ext cx="45720" cy="1151797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4984" y="2616051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2702919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44" y="2555280"/>
            <a:ext cx="4111599" cy="597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Choose the tool by the output you need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Text, image, video, audio, data or code. Start there.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566853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566853"/>
            <a:ext cx="45720" cy="1151797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4984" y="3950728"/>
            <a:ext cx="384048" cy="384048"/>
          </a:xfrm>
          <a:prstGeom prst="ellipse">
            <a:avLst/>
          </a:prstGeom>
          <a:solidFill>
            <a:srgbClr val="E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4037596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3789061"/>
            <a:ext cx="4111599" cy="7988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Six tools, six different jobs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Numerous AI for data, Jasper for copy, Midjourney for images, VEO for video, Odoo for business operations, Canva AI for design.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901530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901530"/>
            <a:ext cx="45720" cy="115179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984" y="5285405"/>
            <a:ext cx="384048" cy="384048"/>
          </a:xfrm>
          <a:prstGeom prst="ellipse">
            <a:avLst/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" y="5372273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5224634"/>
            <a:ext cx="4111599" cy="597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Prompting is briefing, not coding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Role, task, context, format, constraints.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2232176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3007" y="2232176"/>
            <a:ext cx="45720" cy="1151797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34759" y="2616051"/>
            <a:ext cx="384048" cy="384048"/>
          </a:xfrm>
          <a:prstGeom prst="ellipse">
            <a:avLst/>
          </a:prstGeom>
          <a:solidFill>
            <a:srgbClr val="EE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4759" y="2702919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9119" y="2555280"/>
            <a:ext cx="4111599" cy="597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Refine one thing at a time, then save the prompt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 shared prompt library is where teams gain real hours.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3566853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3007" y="3566853"/>
            <a:ext cx="45720" cy="1151797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34759" y="3950728"/>
            <a:ext cx="384048" cy="384048"/>
          </a:xfrm>
          <a:prstGeom prst="ellipse">
            <a:avLst/>
          </a:prstGeom>
          <a:solidFill>
            <a:srgbClr val="E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4759" y="4037596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7A06A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29119" y="3889957"/>
            <a:ext cx="4111599" cy="597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APIs put AI inside your systems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Chat helps one person; an API changes a whole process.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007" y="4901530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3007" y="4901530"/>
            <a:ext cx="45720" cy="1151797"/>
          </a:xfrm>
          <a:prstGeom prst="rect">
            <a:avLst/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34759" y="5285405"/>
            <a:ext cx="384048" cy="384048"/>
          </a:xfrm>
          <a:prstGeom prst="ellipse">
            <a:avLst/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4759" y="5372273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5151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9119" y="5224634"/>
            <a:ext cx="4111599" cy="597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No-code lets you prove the idea this week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Build small, show value, then scale it properly.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961120" y="-1280160"/>
            <a:ext cx="4937760" cy="4937760"/>
          </a:xfrm>
          <a:prstGeom prst="ellipse">
            <a:avLst/>
          </a:prstGeom>
          <a:solidFill>
            <a:srgbClr val="3B7AF7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424160" y="3474720"/>
            <a:ext cx="3291840" cy="3291840"/>
          </a:xfrm>
          <a:prstGeom prst="ellipse">
            <a:avLst/>
          </a:prstGeom>
          <a:solidFill>
            <a:srgbClr val="00B3A4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542032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675887"/>
            <a:ext cx="658368" cy="45720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950208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B8C8E4"/>
                </a:solidFill>
                <a:latin typeface="Segoe UI"/>
                <a:ea typeface="Segoe UI"/>
                <a:cs typeface="Segoe UI"/>
              </a:rPr>
              <a:t>Next up — Unit 3: putting these tools to work in marketing, finance, HR and operations, and meeting AI agents.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718304"/>
            <a:ext cx="731520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 cap="all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Questions to think about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93A6C6"/>
                </a:solidFill>
                <a:latin typeface="Segoe UI"/>
                <a:ea typeface="Segoe UI"/>
                <a:cs typeface="Segoe UI"/>
              </a:rPr>
              <a:t>— Which repeated task in your week could a saved prompt handle?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93A6C6"/>
                </a:solidFill>
                <a:latin typeface="Segoe UI"/>
                <a:ea typeface="Segoe UI"/>
                <a:cs typeface="Segoe UI"/>
              </a:rPr>
              <a:t>— Which tool would you trial first, and how would you measure it?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93A6C6"/>
                </a:solidFill>
                <a:latin typeface="Segoe UI"/>
                <a:ea typeface="Segoe UI"/>
                <a:cs typeface="Segoe UI"/>
              </a:rPr>
              <a:t>— What is the one workflow you would automate with no-code?</a:t>
            </a:r>
          </a:p>
        </p:txBody>
      </p:sp>
      <p:sp>
        <p:nvSpPr>
          <p:cNvPr id="10" name="logo-plate"/>
          <p:cNvSpPr/>
          <p:nvPr/>
        </p:nvSpPr>
        <p:spPr>
          <a:xfrm>
            <a:off x="9233806" y="539496"/>
            <a:ext cx="2272088" cy="11064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678" y="658368"/>
            <a:ext cx="2034345" cy="868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87552" y="6035040"/>
            <a:ext cx="3291840" cy="12700"/>
          </a:xfrm>
          <a:prstGeom prst="rect">
            <a:avLst/>
          </a:prstGeom>
          <a:solidFill>
            <a:srgbClr val="2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6163056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Lingesh K</a:t>
            </a:r>
            <a:r>
              <a:rPr sz="1000" b="0" i="0">
                <a:solidFill>
                  <a:srgbClr val="7E91B4"/>
                </a:solidFill>
                <a:latin typeface="Segoe UI"/>
                <a:ea typeface="Segoe UI"/>
                <a:cs typeface="Segoe UI"/>
              </a:rPr>
              <a:t>   ·   Register No. </a:t>
            </a:r>
            <a:r>
              <a:rPr sz="1000" b="1" i="0">
                <a:solidFill>
                  <a:srgbClr val="C5D2E8"/>
                </a:solidFill>
                <a:latin typeface="Segoe UI"/>
                <a:ea typeface="Segoe UI"/>
                <a:cs typeface="Segoe UI"/>
              </a:rPr>
              <a:t>OSI2509030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 — Tools and Technologies</dc:title>
  <dc:subject>Artificial Intelligence &amp; Generative AI</dc:subject>
  <dc:creator>Lingesh K (OSI2509030)</dc:creator>
  <cp:keywords/>
  <dc:description>PGPM · Systems Specialisation · Unit 2 of 5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