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 1 was the theory. This unit is the hands-on one. Tell the class the goal: by the end they should be able to pick the right tool and write a prompt that works first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the last card deliberately. The first five are tools you open to make something. A business system like Odoo is where the work is actually recorded and run - AI sits inside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Odoo is the odd one out and worth flagging to the class. The other five are content tools. Odoo is the system of record - the AI is embedded in the workflow rather than being the product itself. The next slide covers it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for a one-line answer: Odoo is an AI-enabled open-source ERP used to manage finance, HR, sales, inventory, CRM and projects from a single platform. Modular - install only what you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idea: run the same request with and without role and format. The difference is obvious and the class remembers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Analogy: ordering food. In the chat window you walk to the counter yourself. With an API your system places the order automatically, every time it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686800" y="-1463040"/>
            <a:ext cx="5120640" cy="512064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o-bleed"/>
          <p:cNvSpPr/>
          <p:nvPr/>
        </p:nvSpPr>
        <p:spPr>
          <a:xfrm>
            <a:off x="7315200" y="1005840"/>
            <a:ext cx="2743200" cy="2743200"/>
          </a:xfrm>
          <a:prstGeom prst="ellipse">
            <a:avLst/>
          </a:prstGeom>
          <a:solidFill>
            <a:srgbClr val="FFFFFF">
              <a:alpha val="35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1704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1627632"/>
            <a:ext cx="1481328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B7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UNIT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304288"/>
            <a:ext cx="7406640" cy="1578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Tools, Platforms and Prompt Engineering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3901383"/>
            <a:ext cx="658368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4212279"/>
            <a:ext cx="6766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The Gen AI tools people actually use at work, how to write instructions that get good results, and how to connect AI to a process without writing code.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" y="5159197"/>
            <a:ext cx="141063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Platforms &amp; Tools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71343" y="5159197"/>
            <a:ext cx="152533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Prompt Engineering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24696" y="5159197"/>
            <a:ext cx="63430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APIs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87014" y="5159197"/>
            <a:ext cx="890981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No-Code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5742432"/>
            <a:ext cx="384048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925312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9DBE"/>
                </a:solidFill>
                <a:latin typeface="Segoe UI"/>
                <a:ea typeface="Segoe UI"/>
                <a:cs typeface="Segoe UI"/>
              </a:rPr>
              <a:t>Unit 2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we will cover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Half theory, half practical. The prompt section is the part you will use tomorrow.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212848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tool landscape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How to sort dozens of tools into a simple map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3145536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tools up close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Numerous AI, Jasper, Midjourney, VEO, Odoo, Canva 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4078224"/>
            <a:ext cx="32004" cy="78638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9616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Choosing a tool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Four questions before you buy anything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5010912"/>
            <a:ext cx="32004" cy="786384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 engineering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What it is and why the same tool gives some people better results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4719" y="2212848"/>
            <a:ext cx="32004" cy="786384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5887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1103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prompt recipe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Five parts that turn a vague ask into a clear 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4719" y="3145536"/>
            <a:ext cx="32004" cy="786384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5887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1103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Types of prompts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Zero-shot, few-shot, role, chain-of-thought and more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4719" y="4078224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5887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1103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APIs explained simply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How AI gets built into real products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4719" y="5010912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5887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1103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No-code automation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Building useful things with zero programming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Platforms and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There are thousands. You only need a 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2  ·  TOOLS AND TECHNOLOGIES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Sort AI tools by the job they do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Five of these create content. The last one runs the business - and that difference matters.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Text and writing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Emails, blogs, reports, summaries.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ChatGPT, Claude, Jasper, Copilot.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Images and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Posters, mockups, social posts.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Midjourney, Canva AI, Firefly.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Video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Clips, ads, explainers, edits.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VEO, Runway, Synthesia.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Audio and voice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Voiceovers, music, dubbing.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ElevenLabs, Suno, Descript.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Data and spreadsheets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Clean, classify, analyse rows.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Numerous AI, Copilot in Excel.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Business systems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Run operations with AI built in.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Odoo, Salesforce, SAP.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TOOLS UP CLOSE — 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Writing, data and images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589522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051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Numerous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450279"/>
            <a:ext cx="2869082" cy="163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Brings AI into Excel and Google Sheets. Drag a formula down and it categorises products, cleans messy text or writes descriptions for every row.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bulk work on lists and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589522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93608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Jasper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334511"/>
            <a:ext cx="2869082" cy="1748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writing platform built for marketing teams. Keeps a brand voice, uses templates for ads and emails, and works across a whole campaign.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consistent marketing copy at volume.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589522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3051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Midjourney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3450279"/>
            <a:ext cx="2869082" cy="163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Turns a written description into high-quality images. Strong on style, mood and art direction.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concepts, moodboards and visuals without a photoshoot.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TOOLS UP CLOSE — 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Video, business systems and everyday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589522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93608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VEO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334511"/>
            <a:ext cx="2869082" cy="1748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Google's video generation model. Describe a scene and it produces short video with motion, camera movement and matching sound.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quick concept videos and social clips.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589522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93608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Odoo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334511"/>
            <a:ext cx="2869082" cy="1748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An open-source ERP that runs finance, sales, HR, inventory and projects in one place - now with AI features built into those modules.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running the business, not making content.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589522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293608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Canva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3334511"/>
            <a:ext cx="2869082" cy="1748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built into a design tool everyone can already use. Generates layouts, rewrites text, removes backgrounds and resizes for every channel.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non-designers who need presentable output fast.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ODOO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Odoo?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1310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An open-source ERP platform that manages business operations - finance, HR, sales, inventory, CRM and projects - from one system, with AI features built 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3221573"/>
            <a:ext cx="457200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60562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9589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ERP means Enterprise Resource Planning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98254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87281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One shared system instead of separate tools per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35947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4974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Modules: accounting, sales and CRM, HR, inventory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73639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626667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Also manufacturing, projects, e-commerce and point of sale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511332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03592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 install only the modules you need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549024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380517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Used by startups, SMEs and large enterprises alike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74709" y="205237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it is in this syllabus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4709" y="2378553"/>
            <a:ext cx="5366010" cy="540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Recent versions add AI: generated emails and documents, chat assistants and automatic document classification.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74709" y="353063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inside the workflow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74709" y="3856809"/>
            <a:ext cx="5366010" cy="540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AI-powered reports and business insights, plus workflow automation and AI agents.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74709" y="500888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wider lesson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74709" y="5335065"/>
            <a:ext cx="5366010" cy="540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This is where AI is heading - not a separate tool you visit, but a feature inside the system you already use.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QUICK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One table, six tools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819728"/>
          <a:ext cx="10765229" cy="3447210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1964458"/>
                <a:gridCol w="2357349"/>
                <a:gridCol w="3457446"/>
                <a:gridCol w="2985976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Tool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What it makes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Use it for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Watch out for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Numerous AI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Spreadsheet output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Sorting and cleaning thousands of rows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Sending private data to the cloud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Jasper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Marketing text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Campaigns that must sound the same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Generic copy if the brief is thin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Midjourney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Images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Concepts, moodboards, visuals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Rights and usage for commercial work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VEO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Short video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Ideas, pitches, social clips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Small errors in faces and text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Odoo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Business records and workflows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Running finance, HR, sales and inventory with AI help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Setup effort and clean data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Canva AI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Ready-made designs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Fast, presentable everyday design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Everything can start to look alike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Five of these help you produce something. Odoo is where the business actually runs.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486400"/>
            <a:ext cx="32004" cy="56692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CHOOSING WELL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questions before you buy any AI tool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90305" y="2642262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52561" y="2415491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the job?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Name the task and how often it happens. No task, no tool.</a:t>
            </a:r>
          </a:p>
        </p:txBody>
      </p:sp>
      <p:sp>
        <p:nvSpPr>
          <p:cNvPr id="14" name="Oval 13"/>
          <p:cNvSpPr/>
          <p:nvPr/>
        </p:nvSpPr>
        <p:spPr>
          <a:xfrm>
            <a:off x="4489589" y="2415491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0259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50259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4851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Where does data go?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4851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Is company data stored, or used for training? Read the terms.</a:t>
            </a:r>
          </a:p>
        </p:txBody>
      </p:sp>
      <p:sp>
        <p:nvSpPr>
          <p:cNvPr id="19" name="Oval 18"/>
          <p:cNvSpPr/>
          <p:nvPr/>
        </p:nvSpPr>
        <p:spPr>
          <a:xfrm>
            <a:off x="7226617" y="2415491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1879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Does it fit our tools?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1879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must work inside email, Office or the CRM you already use.</a:t>
            </a:r>
          </a:p>
        </p:txBody>
      </p:sp>
      <p:sp>
        <p:nvSpPr>
          <p:cNvPr id="24" name="Oval 23"/>
          <p:cNvSpPr/>
          <p:nvPr/>
        </p:nvSpPr>
        <p:spPr>
          <a:xfrm>
            <a:off x="9963645" y="2415491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24315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24315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88907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does it save?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88907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Hours saved per month against the licence cost.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tool nobody opens after week two is not a saving. Adoption is the real test.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Same tool, very different results. Here is why.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2  ·  TOOLS AND TECHNOLOGIES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 engineering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skill of writing instructions that get the output you actually wanted, first time.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 prompt is simply the instruction you give the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model cannot read your mind or your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Vague in, vague out - every single 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Small changes in wording change the result a 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is a communication skill, not a coding skill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Not a technical job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If you can brief a new intern clearly, you can write a good prompt.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It is now a work skill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Job ads list it. It saves hours every week in any role.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It is trial and error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Nobody gets it perfect first time. Good prompts get edited.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WHY IT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same tool, two very different 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model did not get smarter. The instruction did.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196514"/>
            <a:ext cx="5221940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2506496"/>
            <a:ext cx="1321445" cy="310896"/>
          </a:xfrm>
          <a:prstGeom prst="roundRect">
            <a:avLst>
              <a:gd name="adj" fmla="val 50000"/>
            </a:avLst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WEAK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"Write about our new product."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4128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6736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audience, so it guesses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16736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length, so it rambles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tone, so it sounds generic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6736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facts, so it may invent them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16736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Result: you rewrite the whole thing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1295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2210" y="2196514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62191" y="2506496"/>
            <a:ext cx="1485573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STRONG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2191" y="2981984"/>
            <a:ext cx="4605375" cy="613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"You are a B2B copywriter. Write a 120-word LinkedIn post..."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2191" y="3704794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62191" y="402940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4799" y="3924250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Audience named: operations managers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62191" y="426502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4799" y="4159871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Length fixed: 120 words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2191" y="450064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4799" y="4395491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Tone set: clear, no hype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2191" y="473626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4799" y="4631111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Facts supplied: three key features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2191" y="497188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4799" y="4866731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Result: usable after a light edit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Every minute spent on the prompt saves ten minutes of rewriting.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THE RECIPE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Five parts of a good 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Miss a part and the model fills the gap with a guess.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3096678"/>
            <a:ext cx="1946272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605376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1.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003807"/>
            <a:ext cx="1399580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Tell it who to be.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"You are a financial analyst."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17484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18399" y="3096678"/>
            <a:ext cx="1946272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91804" y="3489608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2. 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91804" y="3888039"/>
            <a:ext cx="1399580" cy="1100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Say exactly what to do.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"Summarise this report."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1737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2651" y="3096678"/>
            <a:ext cx="1946272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6057" y="3605376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3.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6057" y="4003807"/>
            <a:ext cx="1399580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Give the background.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"For the board, who are non-technical."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26904" y="3096678"/>
            <a:ext cx="1946272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309" y="3605376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4. Format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0309" y="4003807"/>
            <a:ext cx="1399580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Describe the shape.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"Five bullets, under 15 words each."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0242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31156" y="3096678"/>
            <a:ext cx="1946272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04562" y="3605376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5. Constraints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04562" y="4003807"/>
            <a:ext cx="1399580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Set the limits.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"No jargon. Use only the data given."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prompting actually works in practice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Prompting is a short loop, not a single shot.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716603" y="2947332"/>
            <a:ext cx="8758488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78859" y="2720560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 clear on what a good answer looks like before you type.</a:t>
            </a:r>
          </a:p>
        </p:txBody>
      </p:sp>
      <p:sp>
        <p:nvSpPr>
          <p:cNvPr id="15" name="Oval 14"/>
          <p:cNvSpPr/>
          <p:nvPr/>
        </p:nvSpPr>
        <p:spPr>
          <a:xfrm>
            <a:off x="3668481" y="2720560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02854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02854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67446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Draft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7446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Write the first prompt using the five-part recipe.</a:t>
            </a:r>
          </a:p>
        </p:txBody>
      </p:sp>
      <p:sp>
        <p:nvSpPr>
          <p:cNvPr id="20" name="Oval 19"/>
          <p:cNvSpPr/>
          <p:nvPr/>
        </p:nvSpPr>
        <p:spPr>
          <a:xfrm>
            <a:off x="5858103" y="2720560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92476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92476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57068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068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Run it. Compare the output against what you wanted.</a:t>
            </a:r>
          </a:p>
        </p:txBody>
      </p:sp>
      <p:sp>
        <p:nvSpPr>
          <p:cNvPr id="25" name="Oval 24"/>
          <p:cNvSpPr/>
          <p:nvPr/>
        </p:nvSpPr>
        <p:spPr>
          <a:xfrm>
            <a:off x="8047725" y="2720560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82098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82098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46690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Refine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6690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Fix the weakest part. Change one thing at a time.</a:t>
            </a:r>
          </a:p>
        </p:txBody>
      </p:sp>
      <p:sp>
        <p:nvSpPr>
          <p:cNvPr id="30" name="Oval 29"/>
          <p:cNvSpPr/>
          <p:nvPr/>
        </p:nvSpPr>
        <p:spPr>
          <a:xfrm>
            <a:off x="10237348" y="2720560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71720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71720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36312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Reuse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36312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Save the winning prompt so the whole team can use it.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last step is the one companies skip. A shared prompt library is where the real time saving comes from.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TYPES OF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patterns worth knowing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Match the pattern to the difficulty of the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Zero-shot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Just ask, no examples. Fast, fine for simple tasks.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Few-shot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Give two or three examples first. Best way to lock a format or style.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Role prompting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Assign an expert identity so the tone and depth match the job.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Chain of thought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Ask it to work through the steps. Better for reasoning and analysis.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Iterative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Start broad, then refine over several turns like a real conversation.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Template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fill-in-the-blank prompt saved for a repeated task.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WHERE IT IS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Prompting at work, by function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same skill pays off in every department.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195600"/>
            <a:ext cx="45720" cy="1819135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Everyday office 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Summarise long email threads and reports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Turn rough notes into clean minutes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Draft replies you only need to check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3863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3863" y="2195600"/>
            <a:ext cx="45720" cy="1819135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4759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Marketing and sales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4759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0791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Campaign copy in one consistent voice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4759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0791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Personalised outreach at scale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4759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0791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Product descriptions for whole catalogues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234192"/>
            <a:ext cx="45720" cy="181913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Analysis and reporting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Explain what a dataset is showing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4128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0160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Draft the commentary around the numbers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4128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Convert findings into a board summary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863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23863" y="4234192"/>
            <a:ext cx="45720" cy="1819135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4759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Learning and support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4759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90791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Explain a hard topic at a simpler level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759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90791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Build training material and quizzes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34759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90791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Answer routine internal questions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HABITS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Do this, not that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1784066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24128" y="2094048"/>
            <a:ext cx="515377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Habits of people who get good 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24128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Say who the audience 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Give the facts it should use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Ask for a specific format and length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16736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Show an example of good work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16736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Ask for two options and pick one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1295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2210" y="1784066"/>
            <a:ext cx="5221940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62191" y="2094048"/>
            <a:ext cx="753929" cy="310896"/>
          </a:xfrm>
          <a:prstGeom prst="roundRect">
            <a:avLst>
              <a:gd name="adj" fmla="val 50000"/>
            </a:avLst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AVOID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2191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Habits that waste your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62191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62191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4799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One-line prompts with no context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62191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4799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Pasting confidential data into public tools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2191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4799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Changing five things at once when refining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2191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4799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Trusting names, numbers and quotes blindly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2191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4799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Sending output out without reading it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Brief it like a colleague, then review it like an editor.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APIs and No-Code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Moving from chatting with AI to building with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2  ·  TOOLS AND TECHNOLOGIES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PLAIN ENGLISH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an API?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doorway that lets one piece of software ask another to do a job.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Your app sends a request: here is the text, summarise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AI service sends an answer back in seconds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screen, no chat window - software talking to software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 pay for what you use, usually per volume of text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This is how AI gets built into real products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Chat window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person, one question, one answer. Manual.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Thousands of requests a day, automatically, inside your own system.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care?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Chat helps a person. An API changes a whole process.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TWO ROUTES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Build with code, or build with no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Most organisations use both: no-code to prove the idea, API to scale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196514"/>
            <a:ext cx="5221940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2506496"/>
            <a:ext cx="1041182" cy="31089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API ROUTE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developer connects AI to your system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4128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6736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Full control over behaviour and 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16736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Fits neatly into existing products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Handles very large volumes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6736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Needs developers and testing time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16736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Best for customer-facing features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1295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2210" y="2196514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62191" y="2506496"/>
            <a:ext cx="1441669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NO-CODE ROUTE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2191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business user assembles it visually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2191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62191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4799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Drag, drop and connect - no programming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62191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4799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Working version in hours, not months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2191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4799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Anyone in the team can maintain it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2191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4799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Less flexible for unusual cases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2191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4799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Best for internal workflows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Start no-code to prove it works. Move to an API when it matters.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NO-CODE TOOLKIT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people build with, without programming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These are the tools behind most 'we automated it' stories.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72473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273387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619945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Zapier / Make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018376"/>
            <a:ext cx="2869082" cy="822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Connect apps with triggers. 'When a form is submitted, summarise it and post to the team chat.'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272473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273387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735713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Custom GPTs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134144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Upload your own documents and get an assistant that answers only from them.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272473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273387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735713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Microsoft Copilot Studio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134144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Build assistants inside Teams and Office using company data.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70657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Power Automate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5105007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Automate approvals and document flows across Microsoft tools.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70657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n8n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5105007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Visual workflow builder for more complex, multi-step automations.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70657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Notion / Airtable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5105007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columns and summaries directly inside the database your team already uses.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A WORKED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Automating customer feedback in four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Built in an afternoon with a form, a no-code tool and one good prompt.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990305" y="3054711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52561" y="2827939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Trigger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customer submits the feedback form.</a:t>
            </a:r>
          </a:p>
        </p:txBody>
      </p:sp>
      <p:sp>
        <p:nvSpPr>
          <p:cNvPr id="15" name="Oval 14"/>
          <p:cNvSpPr/>
          <p:nvPr/>
        </p:nvSpPr>
        <p:spPr>
          <a:xfrm>
            <a:off x="4489589" y="2827939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0259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0259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4851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Send to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4851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saved prompt asks for topic, sentiment and urgency.</a:t>
            </a:r>
          </a:p>
        </p:txBody>
      </p:sp>
      <p:sp>
        <p:nvSpPr>
          <p:cNvPr id="20" name="Oval 19"/>
          <p:cNvSpPr/>
          <p:nvPr/>
        </p:nvSpPr>
        <p:spPr>
          <a:xfrm>
            <a:off x="7226617" y="2827939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7287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Route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Angry and urgent goes straight to a manager.</a:t>
            </a:r>
          </a:p>
        </p:txBody>
      </p:sp>
      <p:sp>
        <p:nvSpPr>
          <p:cNvPr id="25" name="Oval 24"/>
          <p:cNvSpPr/>
          <p:nvPr/>
        </p:nvSpPr>
        <p:spPr>
          <a:xfrm>
            <a:off x="9963645" y="2827939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24315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24315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8907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Log and report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8907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Everything lands in a sheet, summarised weekly.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Note the pattern: a trigger, a prompt, a decision, a record. Most useful automations look exactly like this.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Key takeaways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Unit 2 in six 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232176"/>
            <a:ext cx="45720" cy="1151797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4984" y="2616051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Choose the tool by the output you need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Text, image, video, audio, data or code. Start there.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3566853"/>
            <a:ext cx="45720" cy="1151797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4984" y="3950728"/>
            <a:ext cx="384048" cy="384048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3789061"/>
            <a:ext cx="4111599" cy="7988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tools, six different jobs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Numerous AI for data, Jasper for copy, Midjourney for images, VEO for video, Odoo for business operations, Canva AI for design.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901530"/>
            <a:ext cx="45720" cy="115179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4984" y="5285405"/>
            <a:ext cx="384048" cy="384048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9344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Prompting is briefing, not coding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Role, task, context, format, constraints.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3007" y="2232176"/>
            <a:ext cx="45720" cy="1151797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4759" y="2616051"/>
            <a:ext cx="384048" cy="384048"/>
          </a:xfrm>
          <a:prstGeom prst="ellipse">
            <a:avLst/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4759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9119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Refine one thing at a time, then save the prompt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shared prompt library is where teams gain real hours.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3007" y="3566853"/>
            <a:ext cx="45720" cy="1151797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34759" y="3950728"/>
            <a:ext cx="384048" cy="384048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4759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29119" y="3889957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APIs put AI inside your systems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Chat helps one person; an API changes a whole process.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3007" y="4901530"/>
            <a:ext cx="45720" cy="1151797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534759" y="5285405"/>
            <a:ext cx="384048" cy="384048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4759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29119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No-code lets you prove the idea this week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Build small, show value, then scale it properly.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961120" y="-1280160"/>
            <a:ext cx="4937760" cy="493776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474720"/>
            <a:ext cx="3291840" cy="329184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57984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UNIT 02  ·  TOOLS AND 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4203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Thank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3675887"/>
            <a:ext cx="658368" cy="4572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950208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8C8E4"/>
                </a:solidFill>
                <a:latin typeface="Segoe UI"/>
                <a:ea typeface="Segoe UI"/>
                <a:cs typeface="Segoe UI"/>
              </a:rPr>
              <a:t>Next up — Unit 3: putting these tools to work in marketing, finance, HR and operations, and meeting AI agents.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882896"/>
            <a:ext cx="7315200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Questions to think about</a:t>
            </a:r>
          </a:p>
          <a:p>
            <a:pPr algn="l">
              <a:lnSpc>
                <a:spcPct val="13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repeated task in your week could a saved prompt handle?</a:t>
            </a:r>
          </a:p>
          <a:p>
            <a:pPr algn="l">
              <a:lnSpc>
                <a:spcPct val="13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tool would you trial first, and how would you measure it?</a:t>
            </a:r>
          </a:p>
          <a:p>
            <a:pPr algn="l">
              <a:lnSpc>
                <a:spcPct val="13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What is the one workflow you would automate with no-code?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