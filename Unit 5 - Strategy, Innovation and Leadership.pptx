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unit. Shift the framing from 'what is AI' to 'what do we do about it as managers'.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fear point is critical. If staff believe efficiency leads to job cuts, they will quietly not tell you what AI can do. Say out loud what the productivity gain will be used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1E3C"/>
              </a:gs>
              <a:gs pos="100000">
                <a:srgbClr val="071228"/>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deco-bleed"/>
          <p:cNvSpPr/>
          <p:nvPr/>
        </p:nvSpPr>
        <p:spPr>
          <a:xfrm>
            <a:off x="8686800" y="-1463040"/>
            <a:ext cx="5120640" cy="5120640"/>
          </a:xfrm>
          <a:prstGeom prst="ellipse">
            <a:avLst/>
          </a:prstGeom>
          <a:solidFill>
            <a:srgbClr val="3B7AF7">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bleed"/>
          <p:cNvSpPr/>
          <p:nvPr/>
        </p:nvSpPr>
        <p:spPr>
          <a:xfrm>
            <a:off x="10058400" y="3108960"/>
            <a:ext cx="3840480" cy="3840480"/>
          </a:xfrm>
          <a:prstGeom prst="ellipse">
            <a:avLst/>
          </a:prstGeom>
          <a:solidFill>
            <a:srgbClr val="00B3A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o-bleed"/>
          <p:cNvSpPr/>
          <p:nvPr/>
        </p:nvSpPr>
        <p:spPr>
          <a:xfrm>
            <a:off x="7315200" y="1005840"/>
            <a:ext cx="2743200" cy="2743200"/>
          </a:xfrm>
          <a:prstGeom prst="ellipse">
            <a:avLst/>
          </a:prstGeom>
          <a:solidFill>
            <a:srgbClr val="FFFFFF">
              <a:alpha val="3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46304" cy="6858000"/>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logo-plate"/>
          <p:cNvSpPr/>
          <p:nvPr/>
        </p:nvSpPr>
        <p:spPr>
          <a:xfrm>
            <a:off x="9126735" y="539496"/>
            <a:ext cx="2379159" cy="115214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 name="college-logo" descr="logo-full.png"/>
          <p:cNvPicPr>
            <a:picLocks noChangeAspect="1"/>
          </p:cNvPicPr>
          <p:nvPr/>
        </p:nvPicPr>
        <p:blipFill>
          <a:blip r:embed="rId2"/>
          <a:stretch>
            <a:fillRect/>
          </a:stretch>
        </p:blipFill>
        <p:spPr>
          <a:xfrm>
            <a:off x="9245607" y="658368"/>
            <a:ext cx="2141415" cy="914400"/>
          </a:xfrm>
          <a:prstGeom prst="rect">
            <a:avLst/>
          </a:prstGeom>
        </p:spPr>
      </p:pic>
      <p:sp>
        <p:nvSpPr>
          <p:cNvPr id="9" name="Rounded Rectangle 8"/>
          <p:cNvSpPr/>
          <p:nvPr/>
        </p:nvSpPr>
        <p:spPr>
          <a:xfrm>
            <a:off x="932688" y="1572768"/>
            <a:ext cx="1481328" cy="384048"/>
          </a:xfrm>
          <a:prstGeom prst="roundRect">
            <a:avLst>
              <a:gd name="adj" fmla="val 50000"/>
            </a:avLst>
          </a:prstGeom>
          <a:noFill/>
          <a:ln w="15875">
            <a:solidFill>
              <a:srgbClr val="3B7A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2000"/>
              </a:lnSpc>
              <a:spcBef>
                <a:spcPts val="0"/>
              </a:spcBef>
              <a:spcAft>
                <a:spcPts val="0"/>
              </a:spcAft>
            </a:pPr>
            <a:r>
              <a:rPr sz="1050" b="1" i="0" spc="160">
                <a:solidFill>
                  <a:srgbClr val="FFFFFF"/>
                </a:solidFill>
                <a:latin typeface="Segoe UI"/>
                <a:ea typeface="Segoe UI"/>
                <a:cs typeface="Segoe UI"/>
              </a:rPr>
              <a:t>UNIT 05</a:t>
            </a:r>
          </a:p>
        </p:txBody>
      </p:sp>
      <p:sp>
        <p:nvSpPr>
          <p:cNvPr id="10" name="TextBox 9"/>
          <p:cNvSpPr txBox="1"/>
          <p:nvPr/>
        </p:nvSpPr>
        <p:spPr>
          <a:xfrm>
            <a:off x="932688" y="2304288"/>
            <a:ext cx="7406640" cy="1578807"/>
          </a:xfrm>
          <a:prstGeom prst="rect">
            <a:avLst/>
          </a:prstGeom>
          <a:noFill/>
        </p:spPr>
        <p:txBody>
          <a:bodyPr wrap="square" lIns="0" rIns="0" tIns="0" bIns="0" anchor="t">
            <a:spAutoFit/>
          </a:bodyPr>
          <a:lstStyle/>
          <a:p>
            <a:pPr algn="l">
              <a:lnSpc>
                <a:spcPct val="104000"/>
              </a:lnSpc>
              <a:spcBef>
                <a:spcPts val="0"/>
              </a:spcBef>
              <a:spcAft>
                <a:spcPts val="0"/>
              </a:spcAft>
            </a:pPr>
            <a:r>
              <a:rPr sz="4400" b="1" i="0">
                <a:solidFill>
                  <a:srgbClr val="FFFFFF"/>
                </a:solidFill>
                <a:latin typeface="Segoe UI"/>
                <a:ea typeface="Segoe UI"/>
                <a:cs typeface="Segoe UI"/>
              </a:rPr>
              <a:t>Strategy, Innovation and Leadership</a:t>
            </a:r>
          </a:p>
        </p:txBody>
      </p:sp>
      <p:sp>
        <p:nvSpPr>
          <p:cNvPr id="11" name="Rectangle 10"/>
          <p:cNvSpPr/>
          <p:nvPr/>
        </p:nvSpPr>
        <p:spPr>
          <a:xfrm>
            <a:off x="932688" y="3901383"/>
            <a:ext cx="658368" cy="45720"/>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32688" y="4212279"/>
            <a:ext cx="6766560" cy="960120"/>
          </a:xfrm>
          <a:prstGeom prst="rect">
            <a:avLst/>
          </a:prstGeom>
          <a:noFill/>
        </p:spPr>
        <p:txBody>
          <a:bodyPr wrap="square" lIns="0" rIns="0" tIns="0" bIns="0" anchor="t">
            <a:spAutoFit/>
          </a:bodyPr>
          <a:lstStyle/>
          <a:p>
            <a:pPr algn="l">
              <a:lnSpc>
                <a:spcPct val="135000"/>
              </a:lnSpc>
              <a:spcBef>
                <a:spcPts val="0"/>
              </a:spcBef>
              <a:spcAft>
                <a:spcPts val="0"/>
              </a:spcAft>
            </a:pPr>
            <a:r>
              <a:rPr sz="1500" b="0" i="0">
                <a:solidFill>
                  <a:srgbClr val="C5D2E8"/>
                </a:solidFill>
                <a:latin typeface="Segoe UI"/>
                <a:ea typeface="Segoe UI"/>
                <a:cs typeface="Segoe UI"/>
              </a:rPr>
              <a:t>How Gen AI changes competition in a digital world, how to build real business solutions with it, and how leaders turn ordinary teams into highly effective ones.</a:t>
            </a:r>
          </a:p>
        </p:txBody>
      </p:sp>
      <p:sp>
        <p:nvSpPr>
          <p:cNvPr id="13" name="Rounded Rectangle 12"/>
          <p:cNvSpPr/>
          <p:nvPr/>
        </p:nvSpPr>
        <p:spPr>
          <a:xfrm>
            <a:off x="932688" y="4992624"/>
            <a:ext cx="1147734" cy="329184"/>
          </a:xfrm>
          <a:prstGeom prst="roundRect">
            <a:avLst>
              <a:gd name="adj" fmla="val 50000"/>
            </a:avLst>
          </a:prstGeom>
          <a:noFill/>
          <a:ln w="12700">
            <a:solidFill>
              <a:srgbClr val="334B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2000"/>
              </a:lnSpc>
              <a:spcBef>
                <a:spcPts val="0"/>
              </a:spcBef>
              <a:spcAft>
                <a:spcPts val="0"/>
              </a:spcAft>
            </a:pPr>
            <a:r>
              <a:rPr sz="950" b="1" i="0">
                <a:solidFill>
                  <a:srgbClr val="9FB4D8"/>
                </a:solidFill>
                <a:latin typeface="Segoe UI"/>
                <a:ea typeface="Segoe UI"/>
                <a:cs typeface="Segoe UI"/>
              </a:rPr>
              <a:t>Digital World</a:t>
            </a:r>
          </a:p>
        </p:txBody>
      </p:sp>
      <p:sp>
        <p:nvSpPr>
          <p:cNvPr id="14" name="Rounded Rectangle 13"/>
          <p:cNvSpPr/>
          <p:nvPr/>
        </p:nvSpPr>
        <p:spPr>
          <a:xfrm>
            <a:off x="2208438" y="4992624"/>
            <a:ext cx="1429267" cy="329184"/>
          </a:xfrm>
          <a:prstGeom prst="roundRect">
            <a:avLst>
              <a:gd name="adj" fmla="val 50000"/>
            </a:avLst>
          </a:prstGeom>
          <a:noFill/>
          <a:ln w="12700">
            <a:solidFill>
              <a:srgbClr val="334B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2000"/>
              </a:lnSpc>
              <a:spcBef>
                <a:spcPts val="0"/>
              </a:spcBef>
              <a:spcAft>
                <a:spcPts val="0"/>
              </a:spcAft>
            </a:pPr>
            <a:r>
              <a:rPr sz="950" b="1" i="0">
                <a:solidFill>
                  <a:srgbClr val="9FB4D8"/>
                </a:solidFill>
                <a:latin typeface="Segoe UI"/>
                <a:ea typeface="Segoe UI"/>
                <a:cs typeface="Segoe UI"/>
              </a:rPr>
              <a:t>Business Solutions</a:t>
            </a:r>
          </a:p>
        </p:txBody>
      </p:sp>
      <p:sp>
        <p:nvSpPr>
          <p:cNvPr id="15" name="Rounded Rectangle 14"/>
          <p:cNvSpPr/>
          <p:nvPr/>
        </p:nvSpPr>
        <p:spPr>
          <a:xfrm>
            <a:off x="3765722" y="4992624"/>
            <a:ext cx="998757" cy="329184"/>
          </a:xfrm>
          <a:prstGeom prst="roundRect">
            <a:avLst>
              <a:gd name="adj" fmla="val 50000"/>
            </a:avLst>
          </a:prstGeom>
          <a:noFill/>
          <a:ln w="12700">
            <a:solidFill>
              <a:srgbClr val="334B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2000"/>
              </a:lnSpc>
              <a:spcBef>
                <a:spcPts val="0"/>
              </a:spcBef>
              <a:spcAft>
                <a:spcPts val="0"/>
              </a:spcAft>
            </a:pPr>
            <a:r>
              <a:rPr sz="950" b="1" i="0">
                <a:solidFill>
                  <a:srgbClr val="9FB4D8"/>
                </a:solidFill>
                <a:latin typeface="Segoe UI"/>
                <a:ea typeface="Segoe UI"/>
                <a:cs typeface="Segoe UI"/>
              </a:rPr>
              <a:t>Leadership</a:t>
            </a:r>
          </a:p>
        </p:txBody>
      </p:sp>
      <p:sp>
        <p:nvSpPr>
          <p:cNvPr id="16" name="Rounded Rectangle 15"/>
          <p:cNvSpPr/>
          <p:nvPr/>
        </p:nvSpPr>
        <p:spPr>
          <a:xfrm>
            <a:off x="4892496" y="4992624"/>
            <a:ext cx="878554" cy="329184"/>
          </a:xfrm>
          <a:prstGeom prst="roundRect">
            <a:avLst>
              <a:gd name="adj" fmla="val 50000"/>
            </a:avLst>
          </a:prstGeom>
          <a:noFill/>
          <a:ln w="12700">
            <a:solidFill>
              <a:srgbClr val="334B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2000"/>
              </a:lnSpc>
              <a:spcBef>
                <a:spcPts val="0"/>
              </a:spcBef>
              <a:spcAft>
                <a:spcPts val="0"/>
              </a:spcAft>
            </a:pPr>
            <a:r>
              <a:rPr sz="950" b="1" i="0">
                <a:solidFill>
                  <a:srgbClr val="9FB4D8"/>
                </a:solidFill>
                <a:latin typeface="Segoe UI"/>
                <a:ea typeface="Segoe UI"/>
                <a:cs typeface="Segoe UI"/>
              </a:rPr>
              <a:t>Maturity</a:t>
            </a:r>
          </a:p>
        </p:txBody>
      </p:sp>
      <p:sp>
        <p:nvSpPr>
          <p:cNvPr id="17" name="Rectangle 16"/>
          <p:cNvSpPr/>
          <p:nvPr/>
        </p:nvSpPr>
        <p:spPr>
          <a:xfrm>
            <a:off x="932688" y="5614416"/>
            <a:ext cx="3840480" cy="12700"/>
          </a:xfrm>
          <a:prstGeom prst="rect">
            <a:avLst/>
          </a:prstGeom>
          <a:solidFill>
            <a:srgbClr val="2A3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5797296"/>
            <a:ext cx="4937760" cy="640080"/>
          </a:xfrm>
          <a:prstGeom prst="rect">
            <a:avLst/>
          </a:prstGeom>
          <a:noFill/>
        </p:spPr>
        <p:txBody>
          <a:bodyPr wrap="square" lIns="0" rIns="0" tIns="0" bIns="0" anchor="t">
            <a:spAutoFit/>
          </a:bodyPr>
          <a:lstStyle/>
          <a:p>
            <a:pPr algn="l">
              <a:lnSpc>
                <a:spcPct val="122000"/>
              </a:lnSpc>
              <a:spcBef>
                <a:spcPts val="0"/>
              </a:spcBef>
              <a:spcAft>
                <a:spcPts val="0"/>
              </a:spcAft>
            </a:pPr>
            <a:r>
              <a:rPr sz="850" b="1" i="0" spc="160">
                <a:solidFill>
                  <a:srgbClr val="00B3A4"/>
                </a:solidFill>
                <a:latin typeface="Segoe UI"/>
                <a:ea typeface="Segoe UI"/>
                <a:cs typeface="Segoe UI"/>
              </a:rPr>
              <a:t>PRESENTED BY</a:t>
            </a:r>
          </a:p>
          <a:p>
            <a:pPr algn="l">
              <a:lnSpc>
                <a:spcPct val="122000"/>
              </a:lnSpc>
              <a:spcBef>
                <a:spcPts val="400"/>
              </a:spcBef>
              <a:spcAft>
                <a:spcPts val="0"/>
              </a:spcAft>
            </a:pPr>
            <a:r>
              <a:rPr sz="1300" b="1" i="0">
                <a:solidFill>
                  <a:srgbClr val="FFFFFF"/>
                </a:solidFill>
                <a:latin typeface="Segoe UI"/>
                <a:ea typeface="Segoe UI"/>
                <a:cs typeface="Segoe UI"/>
              </a:rPr>
              <a:t>Lingesh K</a:t>
            </a:r>
            <a:r>
              <a:rPr sz="1050" b="0" i="0">
                <a:solidFill>
                  <a:srgbClr val="7E91B4"/>
                </a:solidFill>
                <a:latin typeface="Segoe UI"/>
                <a:ea typeface="Segoe UI"/>
                <a:cs typeface="Segoe UI"/>
              </a:rPr>
              <a:t>      Register No. </a:t>
            </a:r>
            <a:r>
              <a:rPr sz="1050" b="1" i="0">
                <a:solidFill>
                  <a:srgbClr val="C5D2E8"/>
                </a:solidFill>
                <a:latin typeface="Segoe UI"/>
                <a:ea typeface="Segoe UI"/>
                <a:cs typeface="Segoe UI"/>
              </a:rPr>
              <a:t>OSI2509030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02</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3B7AF7"/>
                </a:solidFill>
                <a:latin typeface="Segoe UI"/>
                <a:ea typeface="Segoe UI"/>
                <a:cs typeface="Segoe UI"/>
              </a:rPr>
              <a:t>AGENDA</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What we will cover</a:t>
            </a:r>
          </a:p>
        </p:txBody>
      </p:sp>
      <p:sp>
        <p:nvSpPr>
          <p:cNvPr id="7" name="Rectangle 6"/>
          <p:cNvSpPr/>
          <p:nvPr/>
        </p:nvSpPr>
        <p:spPr>
          <a:xfrm>
            <a:off x="713232" y="1412820"/>
            <a:ext cx="475488" cy="4114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Strategy first, then execution, then people. People is the part most organisations get wrong.</a:t>
            </a:r>
          </a:p>
        </p:txBody>
      </p:sp>
      <p:sp>
        <p:nvSpPr>
          <p:cNvPr id="9" name="Rectangle 8"/>
          <p:cNvSpPr/>
          <p:nvPr/>
        </p:nvSpPr>
        <p:spPr>
          <a:xfrm>
            <a:off x="713232" y="2212848"/>
            <a:ext cx="32004" cy="786384"/>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2231136"/>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3B7AF7"/>
                </a:solidFill>
                <a:latin typeface="Segoe UI"/>
                <a:ea typeface="Segoe UI"/>
                <a:cs typeface="Segoe UI"/>
              </a:rPr>
              <a:t>01</a:t>
            </a:r>
          </a:p>
        </p:txBody>
      </p:sp>
      <p:sp>
        <p:nvSpPr>
          <p:cNvPr id="11" name="TextBox 10"/>
          <p:cNvSpPr txBox="1"/>
          <p:nvPr/>
        </p:nvSpPr>
        <p:spPr>
          <a:xfrm>
            <a:off x="1499616" y="2267712"/>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Gen AI in the digital world</a:t>
            </a:r>
          </a:p>
          <a:p>
            <a:pPr algn="l">
              <a:lnSpc>
                <a:spcPct val="122000"/>
              </a:lnSpc>
              <a:spcBef>
                <a:spcPts val="300"/>
              </a:spcBef>
              <a:spcAft>
                <a:spcPts val="0"/>
              </a:spcAft>
            </a:pPr>
            <a:r>
              <a:rPr sz="1100" b="0" i="0">
                <a:solidFill>
                  <a:srgbClr val="636E85"/>
                </a:solidFill>
                <a:latin typeface="Segoe UI"/>
                <a:ea typeface="Segoe UI"/>
                <a:cs typeface="Segoe UI"/>
              </a:rPr>
              <a:t>What actually changed for business</a:t>
            </a:r>
          </a:p>
        </p:txBody>
      </p:sp>
      <p:sp>
        <p:nvSpPr>
          <p:cNvPr id="12" name="Rectangle 11"/>
          <p:cNvSpPr/>
          <p:nvPr/>
        </p:nvSpPr>
        <p:spPr>
          <a:xfrm>
            <a:off x="713232" y="3145536"/>
            <a:ext cx="32004" cy="786384"/>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3163824"/>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00B3A4"/>
                </a:solidFill>
                <a:latin typeface="Segoe UI"/>
                <a:ea typeface="Segoe UI"/>
                <a:cs typeface="Segoe UI"/>
              </a:rPr>
              <a:t>02</a:t>
            </a:r>
          </a:p>
        </p:txBody>
      </p:sp>
      <p:sp>
        <p:nvSpPr>
          <p:cNvPr id="14" name="TextBox 13"/>
          <p:cNvSpPr txBox="1"/>
          <p:nvPr/>
        </p:nvSpPr>
        <p:spPr>
          <a:xfrm>
            <a:off x="1499616" y="3200400"/>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Where advantage now comes from</a:t>
            </a:r>
          </a:p>
          <a:p>
            <a:pPr algn="l">
              <a:lnSpc>
                <a:spcPct val="122000"/>
              </a:lnSpc>
              <a:spcBef>
                <a:spcPts val="300"/>
              </a:spcBef>
              <a:spcAft>
                <a:spcPts val="0"/>
              </a:spcAft>
            </a:pPr>
            <a:r>
              <a:rPr sz="1100" b="0" i="0">
                <a:solidFill>
                  <a:srgbClr val="636E85"/>
                </a:solidFill>
                <a:latin typeface="Segoe UI"/>
                <a:ea typeface="Segoe UI"/>
                <a:cs typeface="Segoe UI"/>
              </a:rPr>
              <a:t>Why the model itself is not the moat</a:t>
            </a:r>
          </a:p>
        </p:txBody>
      </p:sp>
      <p:sp>
        <p:nvSpPr>
          <p:cNvPr id="15" name="Rectangle 14"/>
          <p:cNvSpPr/>
          <p:nvPr/>
        </p:nvSpPr>
        <p:spPr>
          <a:xfrm>
            <a:off x="713232" y="4078224"/>
            <a:ext cx="32004" cy="78638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14400" y="4096511"/>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F5A623"/>
                </a:solidFill>
                <a:latin typeface="Segoe UI"/>
                <a:ea typeface="Segoe UI"/>
                <a:cs typeface="Segoe UI"/>
              </a:rPr>
              <a:t>03</a:t>
            </a:r>
          </a:p>
        </p:txBody>
      </p:sp>
      <p:sp>
        <p:nvSpPr>
          <p:cNvPr id="17" name="TextBox 16"/>
          <p:cNvSpPr txBox="1"/>
          <p:nvPr/>
        </p:nvSpPr>
        <p:spPr>
          <a:xfrm>
            <a:off x="1499616" y="4133087"/>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Strategic choices</a:t>
            </a:r>
          </a:p>
          <a:p>
            <a:pPr algn="l">
              <a:lnSpc>
                <a:spcPct val="122000"/>
              </a:lnSpc>
              <a:spcBef>
                <a:spcPts val="300"/>
              </a:spcBef>
              <a:spcAft>
                <a:spcPts val="0"/>
              </a:spcAft>
            </a:pPr>
            <a:r>
              <a:rPr sz="1100" b="0" i="0">
                <a:solidFill>
                  <a:srgbClr val="636E85"/>
                </a:solidFill>
                <a:latin typeface="Segoe UI"/>
                <a:ea typeface="Segoe UI"/>
                <a:cs typeface="Segoe UI"/>
              </a:rPr>
              <a:t>Adopt, embed or transform</a:t>
            </a:r>
          </a:p>
        </p:txBody>
      </p:sp>
      <p:sp>
        <p:nvSpPr>
          <p:cNvPr id="18" name="Rectangle 17"/>
          <p:cNvSpPr/>
          <p:nvPr/>
        </p:nvSpPr>
        <p:spPr>
          <a:xfrm>
            <a:off x="713232" y="5010912"/>
            <a:ext cx="32004" cy="786384"/>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5029200"/>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745CE0"/>
                </a:solidFill>
                <a:latin typeface="Segoe UI"/>
                <a:ea typeface="Segoe UI"/>
                <a:cs typeface="Segoe UI"/>
              </a:rPr>
              <a:t>04</a:t>
            </a:r>
          </a:p>
        </p:txBody>
      </p:sp>
      <p:sp>
        <p:nvSpPr>
          <p:cNvPr id="20" name="TextBox 19"/>
          <p:cNvSpPr txBox="1"/>
          <p:nvPr/>
        </p:nvSpPr>
        <p:spPr>
          <a:xfrm>
            <a:off x="1499616" y="5065776"/>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Building a solution</a:t>
            </a:r>
          </a:p>
          <a:p>
            <a:pPr algn="l">
              <a:lnSpc>
                <a:spcPct val="122000"/>
              </a:lnSpc>
              <a:spcBef>
                <a:spcPts val="300"/>
              </a:spcBef>
              <a:spcAft>
                <a:spcPts val="0"/>
              </a:spcAft>
            </a:pPr>
            <a:r>
              <a:rPr sz="1100" b="0" i="0">
                <a:solidFill>
                  <a:srgbClr val="636E85"/>
                </a:solidFill>
                <a:latin typeface="Segoe UI"/>
                <a:ea typeface="Segoe UI"/>
                <a:cs typeface="Segoe UI"/>
              </a:rPr>
              <a:t>Six steps from idea to something in production</a:t>
            </a:r>
          </a:p>
        </p:txBody>
      </p:sp>
      <p:sp>
        <p:nvSpPr>
          <p:cNvPr id="21" name="Rectangle 20"/>
          <p:cNvSpPr/>
          <p:nvPr/>
        </p:nvSpPr>
        <p:spPr>
          <a:xfrm>
            <a:off x="6214719" y="2212848"/>
            <a:ext cx="32004" cy="786384"/>
          </a:xfrm>
          <a:prstGeom prst="rect">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15887" y="2231136"/>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27A06A"/>
                </a:solidFill>
                <a:latin typeface="Segoe UI"/>
                <a:ea typeface="Segoe UI"/>
                <a:cs typeface="Segoe UI"/>
              </a:rPr>
              <a:t>05</a:t>
            </a:r>
          </a:p>
        </p:txBody>
      </p:sp>
      <p:sp>
        <p:nvSpPr>
          <p:cNvPr id="23" name="TextBox 22"/>
          <p:cNvSpPr txBox="1"/>
          <p:nvPr/>
        </p:nvSpPr>
        <p:spPr>
          <a:xfrm>
            <a:off x="7001103" y="2267712"/>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Build, buy or blend</a:t>
            </a:r>
          </a:p>
          <a:p>
            <a:pPr algn="l">
              <a:lnSpc>
                <a:spcPct val="122000"/>
              </a:lnSpc>
              <a:spcBef>
                <a:spcPts val="300"/>
              </a:spcBef>
              <a:spcAft>
                <a:spcPts val="0"/>
              </a:spcAft>
            </a:pPr>
            <a:r>
              <a:rPr sz="1100" b="0" i="0">
                <a:solidFill>
                  <a:srgbClr val="636E85"/>
                </a:solidFill>
                <a:latin typeface="Segoe UI"/>
                <a:ea typeface="Segoe UI"/>
                <a:cs typeface="Segoe UI"/>
              </a:rPr>
              <a:t>Choosing the right route</a:t>
            </a:r>
          </a:p>
        </p:txBody>
      </p:sp>
      <p:sp>
        <p:nvSpPr>
          <p:cNvPr id="24" name="Rectangle 23"/>
          <p:cNvSpPr/>
          <p:nvPr/>
        </p:nvSpPr>
        <p:spPr>
          <a:xfrm>
            <a:off x="6214719" y="3145536"/>
            <a:ext cx="32004" cy="786384"/>
          </a:xfrm>
          <a:prstGeom prst="rect">
            <a:avLst/>
          </a:prstGeom>
          <a:solidFill>
            <a:srgbClr val="E051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15887" y="3163824"/>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E05151"/>
                </a:solidFill>
                <a:latin typeface="Segoe UI"/>
                <a:ea typeface="Segoe UI"/>
                <a:cs typeface="Segoe UI"/>
              </a:rPr>
              <a:t>06</a:t>
            </a:r>
          </a:p>
        </p:txBody>
      </p:sp>
      <p:sp>
        <p:nvSpPr>
          <p:cNvPr id="26" name="TextBox 25"/>
          <p:cNvSpPr txBox="1"/>
          <p:nvPr/>
        </p:nvSpPr>
        <p:spPr>
          <a:xfrm>
            <a:off x="7001103" y="3200400"/>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Measuring value</a:t>
            </a:r>
          </a:p>
          <a:p>
            <a:pPr algn="l">
              <a:lnSpc>
                <a:spcPct val="122000"/>
              </a:lnSpc>
              <a:spcBef>
                <a:spcPts val="300"/>
              </a:spcBef>
              <a:spcAft>
                <a:spcPts val="0"/>
              </a:spcAft>
            </a:pPr>
            <a:r>
              <a:rPr sz="1100" b="0" i="0">
                <a:solidFill>
                  <a:srgbClr val="636E85"/>
                </a:solidFill>
                <a:latin typeface="Segoe UI"/>
                <a:ea typeface="Segoe UI"/>
                <a:cs typeface="Segoe UI"/>
              </a:rPr>
              <a:t>Proving it worked, in business terms</a:t>
            </a:r>
          </a:p>
        </p:txBody>
      </p:sp>
      <p:sp>
        <p:nvSpPr>
          <p:cNvPr id="27" name="Rectangle 26"/>
          <p:cNvSpPr/>
          <p:nvPr/>
        </p:nvSpPr>
        <p:spPr>
          <a:xfrm>
            <a:off x="6214719" y="4078224"/>
            <a:ext cx="32004" cy="786384"/>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15887" y="4096511"/>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3B7AF7"/>
                </a:solidFill>
                <a:latin typeface="Segoe UI"/>
                <a:ea typeface="Segoe UI"/>
                <a:cs typeface="Segoe UI"/>
              </a:rPr>
              <a:t>07</a:t>
            </a:r>
          </a:p>
        </p:txBody>
      </p:sp>
      <p:sp>
        <p:nvSpPr>
          <p:cNvPr id="29" name="TextBox 28"/>
          <p:cNvSpPr txBox="1"/>
          <p:nvPr/>
        </p:nvSpPr>
        <p:spPr>
          <a:xfrm>
            <a:off x="7001103" y="4133087"/>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Leading the change</a:t>
            </a:r>
          </a:p>
          <a:p>
            <a:pPr algn="l">
              <a:lnSpc>
                <a:spcPct val="122000"/>
              </a:lnSpc>
              <a:spcBef>
                <a:spcPts val="300"/>
              </a:spcBef>
              <a:spcAft>
                <a:spcPts val="0"/>
              </a:spcAft>
            </a:pPr>
            <a:r>
              <a:rPr sz="1100" b="0" i="0">
                <a:solidFill>
                  <a:srgbClr val="636E85"/>
                </a:solidFill>
                <a:latin typeface="Segoe UI"/>
                <a:ea typeface="Segoe UI"/>
                <a:cs typeface="Segoe UI"/>
              </a:rPr>
              <a:t>Why most failures are cultural, not technical</a:t>
            </a:r>
          </a:p>
        </p:txBody>
      </p:sp>
      <p:sp>
        <p:nvSpPr>
          <p:cNvPr id="30" name="Rectangle 29"/>
          <p:cNvSpPr/>
          <p:nvPr/>
        </p:nvSpPr>
        <p:spPr>
          <a:xfrm>
            <a:off x="6214719" y="5010912"/>
            <a:ext cx="32004" cy="786384"/>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15887" y="5029200"/>
            <a:ext cx="566928" cy="786384"/>
          </a:xfrm>
          <a:prstGeom prst="rect">
            <a:avLst/>
          </a:prstGeom>
          <a:noFill/>
        </p:spPr>
        <p:txBody>
          <a:bodyPr wrap="square" lIns="0" rIns="0" tIns="0" bIns="0" anchor="t">
            <a:spAutoFit/>
          </a:bodyPr>
          <a:lstStyle/>
          <a:p>
            <a:pPr algn="l">
              <a:lnSpc>
                <a:spcPct val="122000"/>
              </a:lnSpc>
              <a:spcBef>
                <a:spcPts val="0"/>
              </a:spcBef>
              <a:spcAft>
                <a:spcPts val="0"/>
              </a:spcAft>
            </a:pPr>
            <a:r>
              <a:rPr sz="2100" b="1" i="0">
                <a:solidFill>
                  <a:srgbClr val="00B3A4"/>
                </a:solidFill>
                <a:latin typeface="Segoe UI"/>
                <a:ea typeface="Segoe UI"/>
                <a:cs typeface="Segoe UI"/>
              </a:rPr>
              <a:t>08</a:t>
            </a:r>
          </a:p>
        </p:txBody>
      </p:sp>
      <p:sp>
        <p:nvSpPr>
          <p:cNvPr id="32" name="TextBox 31"/>
          <p:cNvSpPr txBox="1"/>
          <p:nvPr/>
        </p:nvSpPr>
        <p:spPr>
          <a:xfrm>
            <a:off x="7001103" y="5065776"/>
            <a:ext cx="4349343" cy="78638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Five levels of an AI-enabled employee</a:t>
            </a:r>
          </a:p>
          <a:p>
            <a:pPr algn="l">
              <a:lnSpc>
                <a:spcPct val="122000"/>
              </a:lnSpc>
              <a:spcBef>
                <a:spcPts val="300"/>
              </a:spcBef>
              <a:spcAft>
                <a:spcPts val="0"/>
              </a:spcAft>
            </a:pPr>
            <a:r>
              <a:rPr sz="1100" b="0" i="0">
                <a:solidFill>
                  <a:srgbClr val="636E85"/>
                </a:solidFill>
                <a:latin typeface="Segoe UI"/>
                <a:ea typeface="Segoe UI"/>
                <a:cs typeface="Segoe UI"/>
              </a:rPr>
              <a:t>From curious to force multiplier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1E3C"/>
              </a:gs>
              <a:gs pos="100000">
                <a:srgbClr val="071228"/>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deco-bleed"/>
          <p:cNvSpPr/>
          <p:nvPr/>
        </p:nvSpPr>
        <p:spPr>
          <a:xfrm>
            <a:off x="9326880" y="914400"/>
            <a:ext cx="4206240" cy="4206240"/>
          </a:xfrm>
          <a:prstGeom prst="ellipse">
            <a:avLst/>
          </a:prstGeom>
          <a:solidFill>
            <a:srgbClr val="3B7AF7">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bleed"/>
          <p:cNvSpPr/>
          <p:nvPr/>
        </p:nvSpPr>
        <p:spPr>
          <a:xfrm>
            <a:off x="10972800" y="4023360"/>
            <a:ext cx="2743200" cy="2743200"/>
          </a:xfrm>
          <a:prstGeom prst="ellipse">
            <a:avLst/>
          </a:prstGeom>
          <a:solidFill>
            <a:srgbClr val="00B3A4">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87552" y="2395728"/>
            <a:ext cx="1737360" cy="914400"/>
          </a:xfrm>
          <a:prstGeom prst="rect">
            <a:avLst/>
          </a:prstGeom>
          <a:noFill/>
        </p:spPr>
        <p:txBody>
          <a:bodyPr wrap="square" lIns="0" rIns="0" tIns="0" bIns="0" anchor="t">
            <a:spAutoFit/>
          </a:bodyPr>
          <a:lstStyle/>
          <a:p>
            <a:pPr algn="l">
              <a:lnSpc>
                <a:spcPct val="92000"/>
              </a:lnSpc>
              <a:spcBef>
                <a:spcPts val="0"/>
              </a:spcBef>
              <a:spcAft>
                <a:spcPts val="0"/>
              </a:spcAft>
            </a:pPr>
            <a:r>
              <a:rPr sz="6400" b="1" i="0">
                <a:solidFill>
                  <a:srgbClr val="3B7AF7"/>
                </a:solidFill>
                <a:latin typeface="Segoe UI"/>
                <a:ea typeface="Segoe UI"/>
                <a:cs typeface="Segoe UI"/>
              </a:rPr>
              <a:t>01</a:t>
            </a:r>
          </a:p>
        </p:txBody>
      </p:sp>
      <p:sp>
        <p:nvSpPr>
          <p:cNvPr id="7" name="Rectangle 6"/>
          <p:cNvSpPr/>
          <p:nvPr/>
        </p:nvSpPr>
        <p:spPr>
          <a:xfrm>
            <a:off x="987552" y="3346704"/>
            <a:ext cx="603504"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999232" y="2487168"/>
            <a:ext cx="7680960" cy="706383"/>
          </a:xfrm>
          <a:prstGeom prst="rect">
            <a:avLst/>
          </a:prstGeom>
          <a:noFill/>
        </p:spPr>
        <p:txBody>
          <a:bodyPr wrap="square" lIns="0" rIns="0" tIns="0" bIns="0" anchor="t">
            <a:spAutoFit/>
          </a:bodyPr>
          <a:lstStyle/>
          <a:p>
            <a:pPr algn="l">
              <a:lnSpc>
                <a:spcPct val="108000"/>
              </a:lnSpc>
              <a:spcBef>
                <a:spcPts val="0"/>
              </a:spcBef>
              <a:spcAft>
                <a:spcPts val="0"/>
              </a:spcAft>
            </a:pPr>
            <a:r>
              <a:rPr sz="3400" b="1" i="0">
                <a:solidFill>
                  <a:srgbClr val="FFFFFF"/>
                </a:solidFill>
                <a:latin typeface="Segoe UI"/>
                <a:ea typeface="Segoe UI"/>
                <a:cs typeface="Segoe UI"/>
              </a:rPr>
              <a:t>Gen AI in the Digital World</a:t>
            </a:r>
          </a:p>
        </p:txBody>
      </p:sp>
      <p:sp>
        <p:nvSpPr>
          <p:cNvPr id="9" name="TextBox 8"/>
          <p:cNvSpPr txBox="1"/>
          <p:nvPr/>
        </p:nvSpPr>
        <p:spPr>
          <a:xfrm>
            <a:off x="2999232" y="3266703"/>
            <a:ext cx="6949440" cy="822960"/>
          </a:xfrm>
          <a:prstGeom prst="rect">
            <a:avLst/>
          </a:prstGeom>
          <a:noFill/>
        </p:spPr>
        <p:txBody>
          <a:bodyPr wrap="square" lIns="0" rIns="0" tIns="0" bIns="0" anchor="t">
            <a:spAutoFit/>
          </a:bodyPr>
          <a:lstStyle/>
          <a:p>
            <a:pPr algn="l">
              <a:lnSpc>
                <a:spcPct val="134000"/>
              </a:lnSpc>
              <a:spcBef>
                <a:spcPts val="0"/>
              </a:spcBef>
              <a:spcAft>
                <a:spcPts val="0"/>
              </a:spcAft>
            </a:pPr>
            <a:r>
              <a:rPr sz="1350" b="0" i="0">
                <a:solidFill>
                  <a:srgbClr val="AFC1DE"/>
                </a:solidFill>
                <a:latin typeface="Segoe UI"/>
                <a:ea typeface="Segoe UI"/>
                <a:cs typeface="Segoe UI"/>
              </a:rPr>
              <a:t>What genuinely changed, and what did not.</a:t>
            </a:r>
          </a:p>
        </p:txBody>
      </p:sp>
      <p:sp>
        <p:nvSpPr>
          <p:cNvPr id="10" name="logo-plate"/>
          <p:cNvSpPr/>
          <p:nvPr/>
        </p:nvSpPr>
        <p:spPr>
          <a:xfrm>
            <a:off x="9512190" y="539496"/>
            <a:ext cx="1993704" cy="98755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college-logo" descr="logo-full.png"/>
          <p:cNvPicPr>
            <a:picLocks noChangeAspect="1"/>
          </p:cNvPicPr>
          <p:nvPr/>
        </p:nvPicPr>
        <p:blipFill>
          <a:blip r:embed="rId2"/>
          <a:stretch>
            <a:fillRect/>
          </a:stretch>
        </p:blipFill>
        <p:spPr>
          <a:xfrm>
            <a:off x="9631062" y="658368"/>
            <a:ext cx="1755961" cy="74980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04</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3B7AF7"/>
                </a:solidFill>
                <a:latin typeface="Segoe UI"/>
                <a:ea typeface="Segoe UI"/>
                <a:cs typeface="Segoe UI"/>
              </a:rPr>
              <a:t>THE SHIFT</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Four things Gen AI changed for business</a:t>
            </a:r>
          </a:p>
        </p:txBody>
      </p:sp>
      <p:sp>
        <p:nvSpPr>
          <p:cNvPr id="7" name="Rectangle 6"/>
          <p:cNvSpPr/>
          <p:nvPr/>
        </p:nvSpPr>
        <p:spPr>
          <a:xfrm>
            <a:off x="713232" y="1412820"/>
            <a:ext cx="475488" cy="4114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The technology is impressive. The change in expectations is what matters.</a:t>
            </a:r>
          </a:p>
        </p:txBody>
      </p:sp>
      <p:sp>
        <p:nvSpPr>
          <p:cNvPr id="9" name="Rounded Rectangle 8"/>
          <p:cNvSpPr/>
          <p:nvPr/>
        </p:nvSpPr>
        <p:spPr>
          <a:xfrm>
            <a:off x="713232" y="3095764"/>
            <a:ext cx="2499283" cy="205740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14146" y="3096678"/>
            <a:ext cx="2496784" cy="6400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7552" y="3479313"/>
            <a:ext cx="1950643" cy="59569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Content became cheap</a:t>
            </a:r>
          </a:p>
        </p:txBody>
      </p:sp>
      <p:sp>
        <p:nvSpPr>
          <p:cNvPr id="12" name="TextBox 11"/>
          <p:cNvSpPr txBox="1"/>
          <p:nvPr/>
        </p:nvSpPr>
        <p:spPr>
          <a:xfrm>
            <a:off x="987552" y="4129871"/>
            <a:ext cx="1950643" cy="858700"/>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Producing text, images and video is no longer the bottleneck. Judgement is.</a:t>
            </a:r>
          </a:p>
        </p:txBody>
      </p:sp>
      <p:sp>
        <p:nvSpPr>
          <p:cNvPr id="13" name="Rounded Rectangle 12"/>
          <p:cNvSpPr/>
          <p:nvPr/>
        </p:nvSpPr>
        <p:spPr>
          <a:xfrm>
            <a:off x="3468547" y="3095764"/>
            <a:ext cx="2499283" cy="2057400"/>
          </a:xfrm>
          <a:prstGeom prst="roundRect">
            <a:avLst>
              <a:gd name="adj" fmla="val 6000"/>
            </a:avLst>
          </a:prstGeom>
          <a:solidFill>
            <a:srgbClr val="E0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469462" y="3096678"/>
            <a:ext cx="2496784" cy="6400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42867" y="3479313"/>
            <a:ext cx="1950643" cy="59569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Software learned language</a:t>
            </a:r>
          </a:p>
        </p:txBody>
      </p:sp>
      <p:sp>
        <p:nvSpPr>
          <p:cNvPr id="16" name="TextBox 15"/>
          <p:cNvSpPr txBox="1"/>
          <p:nvPr/>
        </p:nvSpPr>
        <p:spPr>
          <a:xfrm>
            <a:off x="3742867" y="4129871"/>
            <a:ext cx="1950643" cy="858700"/>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Anyone can now instruct a system in plain words instead of through a form.</a:t>
            </a:r>
          </a:p>
        </p:txBody>
      </p:sp>
      <p:sp>
        <p:nvSpPr>
          <p:cNvPr id="17" name="Rounded Rectangle 16"/>
          <p:cNvSpPr/>
          <p:nvPr/>
        </p:nvSpPr>
        <p:spPr>
          <a:xfrm>
            <a:off x="6223863" y="3095764"/>
            <a:ext cx="2499283" cy="2057400"/>
          </a:xfrm>
          <a:prstGeom prst="roundRect">
            <a:avLst>
              <a:gd name="adj" fmla="val 6000"/>
            </a:avLst>
          </a:prstGeom>
          <a:solidFill>
            <a:srgbClr val="FEF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4778" y="3096678"/>
            <a:ext cx="2496784"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98183" y="3605376"/>
            <a:ext cx="1950643"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Expertise spread out</a:t>
            </a:r>
          </a:p>
        </p:txBody>
      </p:sp>
      <p:sp>
        <p:nvSpPr>
          <p:cNvPr id="20" name="TextBox 19"/>
          <p:cNvSpPr txBox="1"/>
          <p:nvPr/>
        </p:nvSpPr>
        <p:spPr>
          <a:xfrm>
            <a:off x="6498183" y="4003807"/>
            <a:ext cx="1950643" cy="984764"/>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A junior with good tools can produce work that used to need a specialist.</a:t>
            </a:r>
          </a:p>
        </p:txBody>
      </p:sp>
      <p:sp>
        <p:nvSpPr>
          <p:cNvPr id="21" name="Rounded Rectangle 20"/>
          <p:cNvSpPr/>
          <p:nvPr/>
        </p:nvSpPr>
        <p:spPr>
          <a:xfrm>
            <a:off x="8979179" y="3095764"/>
            <a:ext cx="2499283" cy="205740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980093" y="3096678"/>
            <a:ext cx="2496784" cy="6400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53499" y="3479313"/>
            <a:ext cx="1950643" cy="595694"/>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Speed became the norm</a:t>
            </a:r>
          </a:p>
        </p:txBody>
      </p:sp>
      <p:sp>
        <p:nvSpPr>
          <p:cNvPr id="24" name="TextBox 23"/>
          <p:cNvSpPr txBox="1"/>
          <p:nvPr/>
        </p:nvSpPr>
        <p:spPr>
          <a:xfrm>
            <a:off x="9253499" y="4129871"/>
            <a:ext cx="1950643" cy="858700"/>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Ideas can be prototyped in days, so slow competitors fall behind faster.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05</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3B7AF7"/>
                </a:solidFill>
                <a:latin typeface="Segoe UI"/>
                <a:ea typeface="Segoe UI"/>
                <a:cs typeface="Segoe UI"/>
              </a:rPr>
              <a:t>WHAT DID NOT CHANGE</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Fundamentals still decide who wins</a:t>
            </a:r>
          </a:p>
        </p:txBody>
      </p:sp>
      <p:sp>
        <p:nvSpPr>
          <p:cNvPr id="7" name="Rectangle 6"/>
          <p:cNvSpPr/>
          <p:nvPr/>
        </p:nvSpPr>
        <p:spPr>
          <a:xfrm>
            <a:off x="713232" y="1412820"/>
            <a:ext cx="475488" cy="4114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713232" y="1783152"/>
            <a:ext cx="5227167" cy="355694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14146" y="1784066"/>
            <a:ext cx="5221940" cy="6400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024128" y="2094048"/>
            <a:ext cx="1627922" cy="310896"/>
          </a:xfrm>
          <a:prstGeom prst="roundRect">
            <a:avLst>
              <a:gd name="adj" fmla="val 50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2000"/>
              </a:lnSpc>
              <a:spcBef>
                <a:spcPts val="0"/>
              </a:spcBef>
              <a:spcAft>
                <a:spcPts val="0"/>
              </a:spcAft>
            </a:pPr>
            <a:r>
              <a:rPr sz="900" b="1" i="0" spc="120">
                <a:solidFill>
                  <a:srgbClr val="3B7AF7"/>
                </a:solidFill>
                <a:latin typeface="Segoe UI"/>
                <a:ea typeface="Segoe UI"/>
                <a:cs typeface="Segoe UI"/>
              </a:rPr>
              <a:t>WHAT AI CHANGED</a:t>
            </a:r>
          </a:p>
        </p:txBody>
      </p:sp>
      <p:sp>
        <p:nvSpPr>
          <p:cNvPr id="11" name="TextBox 10"/>
          <p:cNvSpPr txBox="1"/>
          <p:nvPr/>
        </p:nvSpPr>
        <p:spPr>
          <a:xfrm>
            <a:off x="1024128" y="2569536"/>
            <a:ext cx="4605375" cy="352261"/>
          </a:xfrm>
          <a:prstGeom prst="rect">
            <a:avLst/>
          </a:prstGeom>
          <a:noFill/>
        </p:spPr>
        <p:txBody>
          <a:bodyPr wrap="square" lIns="0" rIns="0" tIns="0" bIns="0" anchor="t">
            <a:spAutoFit/>
          </a:bodyPr>
          <a:lstStyle/>
          <a:p>
            <a:pPr algn="l">
              <a:lnSpc>
                <a:spcPct val="114000"/>
              </a:lnSpc>
              <a:spcBef>
                <a:spcPts val="0"/>
              </a:spcBef>
              <a:spcAft>
                <a:spcPts val="0"/>
              </a:spcAft>
            </a:pPr>
            <a:r>
              <a:rPr sz="1500" b="1" i="0">
                <a:solidFill>
                  <a:srgbClr val="0E1E3C"/>
                </a:solidFill>
                <a:latin typeface="Segoe UI"/>
                <a:ea typeface="Segoe UI"/>
                <a:cs typeface="Segoe UI"/>
              </a:rPr>
              <a:t>The cost and speed of doing work</a:t>
            </a:r>
          </a:p>
        </p:txBody>
      </p:sp>
      <p:sp>
        <p:nvSpPr>
          <p:cNvPr id="12" name="Rectangle 11"/>
          <p:cNvSpPr/>
          <p:nvPr/>
        </p:nvSpPr>
        <p:spPr>
          <a:xfrm>
            <a:off x="1024128" y="3031525"/>
            <a:ext cx="4605375"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24128" y="3356137"/>
            <a:ext cx="100584" cy="100584"/>
          </a:xfrm>
          <a:prstGeom prst="roundRect">
            <a:avLst>
              <a:gd name="adj" fmla="val 30000"/>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316736" y="3250981"/>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Drafting, summarising and analysis are fast</a:t>
            </a:r>
          </a:p>
        </p:txBody>
      </p:sp>
      <p:sp>
        <p:nvSpPr>
          <p:cNvPr id="15" name="Rounded Rectangle 14"/>
          <p:cNvSpPr/>
          <p:nvPr/>
        </p:nvSpPr>
        <p:spPr>
          <a:xfrm>
            <a:off x="1024128" y="3726411"/>
            <a:ext cx="100584" cy="100584"/>
          </a:xfrm>
          <a:prstGeom prst="roundRect">
            <a:avLst>
              <a:gd name="adj" fmla="val 30000"/>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316736" y="3621255"/>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Language is now a valid interface</a:t>
            </a:r>
          </a:p>
        </p:txBody>
      </p:sp>
      <p:sp>
        <p:nvSpPr>
          <p:cNvPr id="17" name="Rounded Rectangle 16"/>
          <p:cNvSpPr/>
          <p:nvPr/>
        </p:nvSpPr>
        <p:spPr>
          <a:xfrm>
            <a:off x="1024128" y="4096685"/>
            <a:ext cx="100584" cy="100584"/>
          </a:xfrm>
          <a:prstGeom prst="roundRect">
            <a:avLst>
              <a:gd name="adj" fmla="val 30000"/>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316736" y="3991529"/>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Small teams can produce a lot</a:t>
            </a:r>
          </a:p>
        </p:txBody>
      </p:sp>
      <p:sp>
        <p:nvSpPr>
          <p:cNvPr id="19" name="Rounded Rectangle 18"/>
          <p:cNvSpPr/>
          <p:nvPr/>
        </p:nvSpPr>
        <p:spPr>
          <a:xfrm>
            <a:off x="1024128" y="4466959"/>
            <a:ext cx="100584" cy="100584"/>
          </a:xfrm>
          <a:prstGeom prst="roundRect">
            <a:avLst>
              <a:gd name="adj" fmla="val 30000"/>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316736" y="4361803"/>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Prototypes are cheap to test</a:t>
            </a:r>
          </a:p>
        </p:txBody>
      </p:sp>
      <p:sp>
        <p:nvSpPr>
          <p:cNvPr id="21" name="Rounded Rectangle 20"/>
          <p:cNvSpPr/>
          <p:nvPr/>
        </p:nvSpPr>
        <p:spPr>
          <a:xfrm>
            <a:off x="1024128" y="4837233"/>
            <a:ext cx="100584" cy="100584"/>
          </a:xfrm>
          <a:prstGeom prst="roundRect">
            <a:avLst>
              <a:gd name="adj" fmla="val 30000"/>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316736" y="4732077"/>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Personalisation is affordable at scale</a:t>
            </a:r>
          </a:p>
        </p:txBody>
      </p:sp>
      <p:sp>
        <p:nvSpPr>
          <p:cNvPr id="23" name="Rounded Rectangle 22"/>
          <p:cNvSpPr/>
          <p:nvPr/>
        </p:nvSpPr>
        <p:spPr>
          <a:xfrm>
            <a:off x="6251295" y="1783152"/>
            <a:ext cx="5227167" cy="355694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52210" y="1784066"/>
            <a:ext cx="5221940" cy="6400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562191" y="2094048"/>
            <a:ext cx="2019067" cy="310896"/>
          </a:xfrm>
          <a:prstGeom prst="roundRect">
            <a:avLst>
              <a:gd name="adj" fmla="val 50000"/>
            </a:avLst>
          </a:prstGeom>
          <a:solidFill>
            <a:srgbClr val="E0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2000"/>
              </a:lnSpc>
              <a:spcBef>
                <a:spcPts val="0"/>
              </a:spcBef>
              <a:spcAft>
                <a:spcPts val="0"/>
              </a:spcAft>
            </a:pPr>
            <a:r>
              <a:rPr sz="900" b="1" i="0" spc="120">
                <a:solidFill>
                  <a:srgbClr val="00B3A4"/>
                </a:solidFill>
                <a:latin typeface="Segoe UI"/>
                <a:ea typeface="Segoe UI"/>
                <a:cs typeface="Segoe UI"/>
              </a:rPr>
              <a:t>WHAT STAYED THE SAME</a:t>
            </a:r>
          </a:p>
        </p:txBody>
      </p:sp>
      <p:sp>
        <p:nvSpPr>
          <p:cNvPr id="26" name="TextBox 25"/>
          <p:cNvSpPr txBox="1"/>
          <p:nvPr/>
        </p:nvSpPr>
        <p:spPr>
          <a:xfrm>
            <a:off x="6562191" y="2569536"/>
            <a:ext cx="4605375" cy="352261"/>
          </a:xfrm>
          <a:prstGeom prst="rect">
            <a:avLst/>
          </a:prstGeom>
          <a:noFill/>
        </p:spPr>
        <p:txBody>
          <a:bodyPr wrap="square" lIns="0" rIns="0" tIns="0" bIns="0" anchor="t">
            <a:spAutoFit/>
          </a:bodyPr>
          <a:lstStyle/>
          <a:p>
            <a:pPr algn="l">
              <a:lnSpc>
                <a:spcPct val="114000"/>
              </a:lnSpc>
              <a:spcBef>
                <a:spcPts val="0"/>
              </a:spcBef>
              <a:spcAft>
                <a:spcPts val="0"/>
              </a:spcAft>
            </a:pPr>
            <a:r>
              <a:rPr sz="1500" b="1" i="0">
                <a:solidFill>
                  <a:srgbClr val="0E1E3C"/>
                </a:solidFill>
                <a:latin typeface="Segoe UI"/>
                <a:ea typeface="Segoe UI"/>
                <a:cs typeface="Segoe UI"/>
              </a:rPr>
              <a:t>The things that make a business work</a:t>
            </a:r>
          </a:p>
        </p:txBody>
      </p:sp>
      <p:sp>
        <p:nvSpPr>
          <p:cNvPr id="27" name="Rectangle 26"/>
          <p:cNvSpPr/>
          <p:nvPr/>
        </p:nvSpPr>
        <p:spPr>
          <a:xfrm>
            <a:off x="6562191" y="3031525"/>
            <a:ext cx="4605375"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62191" y="3356137"/>
            <a:ext cx="100584" cy="100584"/>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54799" y="3250981"/>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Customers still need a real problem solved</a:t>
            </a:r>
          </a:p>
        </p:txBody>
      </p:sp>
      <p:sp>
        <p:nvSpPr>
          <p:cNvPr id="30" name="Rounded Rectangle 29"/>
          <p:cNvSpPr/>
          <p:nvPr/>
        </p:nvSpPr>
        <p:spPr>
          <a:xfrm>
            <a:off x="6562191" y="3726411"/>
            <a:ext cx="100584" cy="100584"/>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854799" y="3621255"/>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Trust still takes years to build</a:t>
            </a:r>
          </a:p>
        </p:txBody>
      </p:sp>
      <p:sp>
        <p:nvSpPr>
          <p:cNvPr id="32" name="Rounded Rectangle 31"/>
          <p:cNvSpPr/>
          <p:nvPr/>
        </p:nvSpPr>
        <p:spPr>
          <a:xfrm>
            <a:off x="6562191" y="4096685"/>
            <a:ext cx="100584" cy="100584"/>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54799" y="3991529"/>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Bad processes get faster, not better</a:t>
            </a:r>
          </a:p>
        </p:txBody>
      </p:sp>
      <p:sp>
        <p:nvSpPr>
          <p:cNvPr id="34" name="Rounded Rectangle 33"/>
          <p:cNvSpPr/>
          <p:nvPr/>
        </p:nvSpPr>
        <p:spPr>
          <a:xfrm>
            <a:off x="6562191" y="4466959"/>
            <a:ext cx="100584" cy="100584"/>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854799" y="4361803"/>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Someone still has to decide and own it</a:t>
            </a:r>
          </a:p>
        </p:txBody>
      </p:sp>
      <p:sp>
        <p:nvSpPr>
          <p:cNvPr id="36" name="Rounded Rectangle 35"/>
          <p:cNvSpPr/>
          <p:nvPr/>
        </p:nvSpPr>
        <p:spPr>
          <a:xfrm>
            <a:off x="6562191" y="4837233"/>
            <a:ext cx="100584" cy="100584"/>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854799" y="4732077"/>
            <a:ext cx="4312767" cy="370274"/>
          </a:xfrm>
          <a:prstGeom prst="rect">
            <a:avLst/>
          </a:prstGeom>
          <a:noFill/>
        </p:spPr>
        <p:txBody>
          <a:bodyPr wrap="square" lIns="0" rIns="0" tIns="0" bIns="0" anchor="t">
            <a:spAutoFit/>
          </a:bodyPr>
          <a:lstStyle/>
          <a:p>
            <a:pPr algn="l">
              <a:lnSpc>
                <a:spcPct val="125000"/>
              </a:lnSpc>
              <a:spcBef>
                <a:spcPts val="0"/>
              </a:spcBef>
              <a:spcAft>
                <a:spcPts val="0"/>
              </a:spcAft>
            </a:pPr>
            <a:r>
              <a:rPr sz="1200" b="0" i="0">
                <a:solidFill>
                  <a:srgbClr val="141C2E"/>
                </a:solidFill>
                <a:latin typeface="Segoe UI"/>
                <a:ea typeface="Segoe UI"/>
                <a:cs typeface="Segoe UI"/>
              </a:rPr>
              <a:t>Execution still beats intention</a:t>
            </a:r>
          </a:p>
        </p:txBody>
      </p:sp>
      <p:sp>
        <p:nvSpPr>
          <p:cNvPr id="38" name="Rounded Rectangle 37"/>
          <p:cNvSpPr/>
          <p:nvPr/>
        </p:nvSpPr>
        <p:spPr>
          <a:xfrm>
            <a:off x="713232" y="5486400"/>
            <a:ext cx="10765231" cy="566928"/>
          </a:xfrm>
          <a:prstGeom prst="roundRect">
            <a:avLst>
              <a:gd name="adj" fmla="val 6000"/>
            </a:avLst>
          </a:prstGeom>
          <a:solidFill>
            <a:srgbClr val="0E1E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lnSpc>
                <a:spcPct val="122000"/>
              </a:lnSpc>
              <a:spcBef>
                <a:spcPts val="0"/>
              </a:spcBef>
              <a:spcAft>
                <a:spcPts val="0"/>
              </a:spcAft>
            </a:pPr>
            <a:r>
              <a:rPr sz="1000" b="1" i="0" spc="140" cap="all">
                <a:solidFill>
                  <a:srgbClr val="00B3A4"/>
                </a:solidFill>
                <a:latin typeface="Segoe UI"/>
                <a:ea typeface="Segoe UI"/>
                <a:cs typeface="Segoe UI"/>
              </a:rPr>
              <a:t>In short   </a:t>
            </a:r>
            <a:r>
              <a:rPr sz="1250" b="1" i="0">
                <a:solidFill>
                  <a:srgbClr val="FFFFFF"/>
                </a:solidFill>
                <a:latin typeface="Segoe UI"/>
                <a:ea typeface="Segoe UI"/>
                <a:cs typeface="Segoe UI"/>
              </a:rPr>
              <a:t>AI amplifies whatever you already are. Strong operations get stronger; weak ones get faster at being weak.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06</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00B3A4"/>
                </a:solidFill>
                <a:latin typeface="Segoe UI"/>
                <a:ea typeface="Segoe UI"/>
                <a:cs typeface="Segoe UI"/>
              </a:rPr>
              <a:t>COMPETITIVE ADVANTAGE</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The model is not the moat</a:t>
            </a:r>
          </a:p>
        </p:txBody>
      </p:sp>
      <p:sp>
        <p:nvSpPr>
          <p:cNvPr id="7" name="Rectangle 6"/>
          <p:cNvSpPr/>
          <p:nvPr/>
        </p:nvSpPr>
        <p:spPr>
          <a:xfrm>
            <a:off x="713232" y="1412820"/>
            <a:ext cx="475488" cy="4114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Everyone has access to the same models. That is exactly why they are not the differentiator.</a:t>
            </a:r>
          </a:p>
        </p:txBody>
      </p:sp>
      <p:sp>
        <p:nvSpPr>
          <p:cNvPr id="9" name="Rounded Rectangle 8"/>
          <p:cNvSpPr/>
          <p:nvPr/>
        </p:nvSpPr>
        <p:spPr>
          <a:xfrm>
            <a:off x="713232" y="3095764"/>
            <a:ext cx="2499283" cy="205740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14146" y="3096678"/>
            <a:ext cx="2496784" cy="6400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7552" y="3489608"/>
            <a:ext cx="1950643"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Your data</a:t>
            </a:r>
          </a:p>
        </p:txBody>
      </p:sp>
      <p:sp>
        <p:nvSpPr>
          <p:cNvPr id="12" name="TextBox 11"/>
          <p:cNvSpPr txBox="1"/>
          <p:nvPr/>
        </p:nvSpPr>
        <p:spPr>
          <a:xfrm>
            <a:off x="987552" y="3888039"/>
            <a:ext cx="1950643" cy="1100532"/>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Competitors can rent the same model. They cannot get your customer and operational history.</a:t>
            </a:r>
          </a:p>
        </p:txBody>
      </p:sp>
      <p:sp>
        <p:nvSpPr>
          <p:cNvPr id="13" name="Rounded Rectangle 12"/>
          <p:cNvSpPr/>
          <p:nvPr/>
        </p:nvSpPr>
        <p:spPr>
          <a:xfrm>
            <a:off x="3468547" y="3095764"/>
            <a:ext cx="2499283" cy="205740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469462" y="3096678"/>
            <a:ext cx="2496784" cy="6400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42867" y="3605376"/>
            <a:ext cx="1950643"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Your workflow</a:t>
            </a:r>
          </a:p>
        </p:txBody>
      </p:sp>
      <p:sp>
        <p:nvSpPr>
          <p:cNvPr id="16" name="TextBox 15"/>
          <p:cNvSpPr txBox="1"/>
          <p:nvPr/>
        </p:nvSpPr>
        <p:spPr>
          <a:xfrm>
            <a:off x="3742867" y="4003807"/>
            <a:ext cx="1950643" cy="984764"/>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Advantage comes from AI embedded in a process, not from a licence.</a:t>
            </a:r>
          </a:p>
        </p:txBody>
      </p:sp>
      <p:sp>
        <p:nvSpPr>
          <p:cNvPr id="17" name="Rounded Rectangle 16"/>
          <p:cNvSpPr/>
          <p:nvPr/>
        </p:nvSpPr>
        <p:spPr>
          <a:xfrm>
            <a:off x="6223863" y="3095764"/>
            <a:ext cx="2499283" cy="205740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4778" y="3096678"/>
            <a:ext cx="2496784" cy="6400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98183" y="3605376"/>
            <a:ext cx="1950643"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Your people's skill</a:t>
            </a:r>
          </a:p>
        </p:txBody>
      </p:sp>
      <p:sp>
        <p:nvSpPr>
          <p:cNvPr id="20" name="TextBox 19"/>
          <p:cNvSpPr txBox="1"/>
          <p:nvPr/>
        </p:nvSpPr>
        <p:spPr>
          <a:xfrm>
            <a:off x="6498183" y="4003807"/>
            <a:ext cx="1950643" cy="984764"/>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Teams who know how to direct AI get far more from the same tool.</a:t>
            </a:r>
          </a:p>
        </p:txBody>
      </p:sp>
      <p:sp>
        <p:nvSpPr>
          <p:cNvPr id="21" name="Rounded Rectangle 20"/>
          <p:cNvSpPr/>
          <p:nvPr/>
        </p:nvSpPr>
        <p:spPr>
          <a:xfrm>
            <a:off x="8979179" y="3095764"/>
            <a:ext cx="2499283" cy="205740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980093" y="3096678"/>
            <a:ext cx="2496784" cy="6400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53499" y="3489608"/>
            <a:ext cx="1950643"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Your trust</a:t>
            </a:r>
          </a:p>
        </p:txBody>
      </p:sp>
      <p:sp>
        <p:nvSpPr>
          <p:cNvPr id="24" name="TextBox 23"/>
          <p:cNvSpPr txBox="1"/>
          <p:nvPr/>
        </p:nvSpPr>
        <p:spPr>
          <a:xfrm>
            <a:off x="9253499" y="3888039"/>
            <a:ext cx="1950643" cy="1100532"/>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Customers share more with organisations they trust, which makes your data better still.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07</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3B7AF7"/>
                </a:solidFill>
                <a:latin typeface="Segoe UI"/>
                <a:ea typeface="Segoe UI"/>
                <a:cs typeface="Segoe UI"/>
              </a:rPr>
              <a:t>STRATEGIC CHOICES</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Three levels of ambition</a:t>
            </a:r>
          </a:p>
        </p:txBody>
      </p:sp>
      <p:sp>
        <p:nvSpPr>
          <p:cNvPr id="7" name="Rectangle 6"/>
          <p:cNvSpPr/>
          <p:nvPr/>
        </p:nvSpPr>
        <p:spPr>
          <a:xfrm>
            <a:off x="713232" y="1412820"/>
            <a:ext cx="475488" cy="4114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Most organisations should be doing all three at once, at different speeds.</a:t>
            </a:r>
          </a:p>
        </p:txBody>
      </p:sp>
      <p:sp>
        <p:nvSpPr>
          <p:cNvPr id="9" name="Rounded Rectangle 8"/>
          <p:cNvSpPr/>
          <p:nvPr/>
        </p:nvSpPr>
        <p:spPr>
          <a:xfrm>
            <a:off x="713232" y="4371872"/>
            <a:ext cx="10765231" cy="96012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13232" y="4371872"/>
            <a:ext cx="45720" cy="960120"/>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950976" y="4650764"/>
            <a:ext cx="402336" cy="402336"/>
          </a:xfrm>
          <a:prstGeom prst="ellipse">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50976" y="4746776"/>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3B7AF7"/>
                </a:solidFill>
                <a:latin typeface="Segoe UI"/>
                <a:ea typeface="Segoe UI"/>
                <a:cs typeface="Segoe UI"/>
              </a:rPr>
              <a:t>L1</a:t>
            </a:r>
          </a:p>
        </p:txBody>
      </p:sp>
      <p:sp>
        <p:nvSpPr>
          <p:cNvPr id="13" name="TextBox 12"/>
          <p:cNvSpPr txBox="1"/>
          <p:nvPr/>
        </p:nvSpPr>
        <p:spPr>
          <a:xfrm>
            <a:off x="1536192" y="4734562"/>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Adopt</a:t>
            </a:r>
          </a:p>
        </p:txBody>
      </p:sp>
      <p:sp>
        <p:nvSpPr>
          <p:cNvPr id="14" name="TextBox 13"/>
          <p:cNvSpPr txBox="1"/>
          <p:nvPr/>
        </p:nvSpPr>
        <p:spPr>
          <a:xfrm>
            <a:off x="4553712" y="4741426"/>
            <a:ext cx="6558991" cy="312451"/>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636E85"/>
                </a:solidFill>
                <a:latin typeface="Segoe UI"/>
                <a:ea typeface="Segoe UI"/>
                <a:cs typeface="Segoe UI"/>
              </a:rPr>
              <a:t>Give teams approved tools and training. Quick wins, low risk, easy to copy.</a:t>
            </a:r>
          </a:p>
        </p:txBody>
      </p:sp>
      <p:sp>
        <p:nvSpPr>
          <p:cNvPr id="15" name="Rounded Rectangle 14"/>
          <p:cNvSpPr/>
          <p:nvPr/>
        </p:nvSpPr>
        <p:spPr>
          <a:xfrm>
            <a:off x="2328016" y="3283736"/>
            <a:ext cx="9150446" cy="96012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328016" y="3283736"/>
            <a:ext cx="45720" cy="960120"/>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2565760" y="3562628"/>
            <a:ext cx="402336" cy="402336"/>
          </a:xfrm>
          <a:prstGeom prst="ellipse">
            <a:avLst/>
          </a:prstGeom>
          <a:solidFill>
            <a:srgbClr val="E0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565760" y="3658640"/>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00B3A4"/>
                </a:solidFill>
                <a:latin typeface="Segoe UI"/>
                <a:ea typeface="Segoe UI"/>
                <a:cs typeface="Segoe UI"/>
              </a:rPr>
              <a:t>L2</a:t>
            </a:r>
          </a:p>
        </p:txBody>
      </p:sp>
      <p:sp>
        <p:nvSpPr>
          <p:cNvPr id="19" name="TextBox 18"/>
          <p:cNvSpPr txBox="1"/>
          <p:nvPr/>
        </p:nvSpPr>
        <p:spPr>
          <a:xfrm>
            <a:off x="3150976" y="3646426"/>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Embed</a:t>
            </a:r>
          </a:p>
        </p:txBody>
      </p:sp>
      <p:sp>
        <p:nvSpPr>
          <p:cNvPr id="20" name="TextBox 19"/>
          <p:cNvSpPr txBox="1"/>
          <p:nvPr/>
        </p:nvSpPr>
        <p:spPr>
          <a:xfrm>
            <a:off x="6168496" y="3653290"/>
            <a:ext cx="4944206" cy="312451"/>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636E85"/>
                </a:solidFill>
                <a:latin typeface="Segoe UI"/>
                <a:ea typeface="Segoe UI"/>
                <a:cs typeface="Segoe UI"/>
              </a:rPr>
              <a:t>Build AI into core workflows and products. Slower, and much harder to copy.</a:t>
            </a:r>
          </a:p>
        </p:txBody>
      </p:sp>
      <p:sp>
        <p:nvSpPr>
          <p:cNvPr id="21" name="Rounded Rectangle 20"/>
          <p:cNvSpPr/>
          <p:nvPr/>
        </p:nvSpPr>
        <p:spPr>
          <a:xfrm>
            <a:off x="3942801" y="2195600"/>
            <a:ext cx="7535661" cy="96012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942801" y="2195600"/>
            <a:ext cx="45720" cy="960120"/>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180545" y="2474492"/>
            <a:ext cx="402336" cy="402336"/>
          </a:xfrm>
          <a:prstGeom prst="ellipse">
            <a:avLst/>
          </a:prstGeom>
          <a:solidFill>
            <a:srgbClr val="EEE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80545" y="2570504"/>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745CE0"/>
                </a:solidFill>
                <a:latin typeface="Segoe UI"/>
                <a:ea typeface="Segoe UI"/>
                <a:cs typeface="Segoe UI"/>
              </a:rPr>
              <a:t>L3</a:t>
            </a:r>
          </a:p>
        </p:txBody>
      </p:sp>
      <p:sp>
        <p:nvSpPr>
          <p:cNvPr id="25" name="TextBox 24"/>
          <p:cNvSpPr txBox="1"/>
          <p:nvPr/>
        </p:nvSpPr>
        <p:spPr>
          <a:xfrm>
            <a:off x="4765761" y="2558290"/>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Transform</a:t>
            </a:r>
          </a:p>
        </p:txBody>
      </p:sp>
      <p:sp>
        <p:nvSpPr>
          <p:cNvPr id="26" name="TextBox 25"/>
          <p:cNvSpPr txBox="1"/>
          <p:nvPr/>
        </p:nvSpPr>
        <p:spPr>
          <a:xfrm>
            <a:off x="7783281" y="2454648"/>
            <a:ext cx="3329421" cy="533463"/>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636E85"/>
                </a:solidFill>
                <a:latin typeface="Segoe UI"/>
                <a:ea typeface="Segoe UI"/>
                <a:cs typeface="Segoe UI"/>
              </a:rPr>
              <a:t>Change what the business sells or how it is priced. Highest risk and highest return.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1E3C"/>
              </a:gs>
              <a:gs pos="100000">
                <a:srgbClr val="071228"/>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deco-bleed"/>
          <p:cNvSpPr/>
          <p:nvPr/>
        </p:nvSpPr>
        <p:spPr>
          <a:xfrm>
            <a:off x="9326880" y="914400"/>
            <a:ext cx="4206240" cy="4206240"/>
          </a:xfrm>
          <a:prstGeom prst="ellipse">
            <a:avLst/>
          </a:prstGeom>
          <a:solidFill>
            <a:srgbClr val="3B7AF7">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bleed"/>
          <p:cNvSpPr/>
          <p:nvPr/>
        </p:nvSpPr>
        <p:spPr>
          <a:xfrm>
            <a:off x="10972800" y="4023360"/>
            <a:ext cx="2743200" cy="2743200"/>
          </a:xfrm>
          <a:prstGeom prst="ellipse">
            <a:avLst/>
          </a:prstGeom>
          <a:solidFill>
            <a:srgbClr val="00B3A4">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87552" y="2395728"/>
            <a:ext cx="1737360" cy="914400"/>
          </a:xfrm>
          <a:prstGeom prst="rect">
            <a:avLst/>
          </a:prstGeom>
          <a:noFill/>
        </p:spPr>
        <p:txBody>
          <a:bodyPr wrap="square" lIns="0" rIns="0" tIns="0" bIns="0" anchor="t">
            <a:spAutoFit/>
          </a:bodyPr>
          <a:lstStyle/>
          <a:p>
            <a:pPr algn="l">
              <a:lnSpc>
                <a:spcPct val="92000"/>
              </a:lnSpc>
              <a:spcBef>
                <a:spcPts val="0"/>
              </a:spcBef>
              <a:spcAft>
                <a:spcPts val="0"/>
              </a:spcAft>
            </a:pPr>
            <a:r>
              <a:rPr sz="6400" b="1" i="0">
                <a:solidFill>
                  <a:srgbClr val="27A06A"/>
                </a:solidFill>
                <a:latin typeface="Segoe UI"/>
                <a:ea typeface="Segoe UI"/>
                <a:cs typeface="Segoe UI"/>
              </a:rPr>
              <a:t>02</a:t>
            </a:r>
          </a:p>
        </p:txBody>
      </p:sp>
      <p:sp>
        <p:nvSpPr>
          <p:cNvPr id="7" name="Rectangle 6"/>
          <p:cNvSpPr/>
          <p:nvPr/>
        </p:nvSpPr>
        <p:spPr>
          <a:xfrm>
            <a:off x="987552" y="3346704"/>
            <a:ext cx="603504"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999232" y="2487168"/>
            <a:ext cx="7680960" cy="1266462"/>
          </a:xfrm>
          <a:prstGeom prst="rect">
            <a:avLst/>
          </a:prstGeom>
          <a:noFill/>
        </p:spPr>
        <p:txBody>
          <a:bodyPr wrap="square" lIns="0" rIns="0" tIns="0" bIns="0" anchor="t">
            <a:spAutoFit/>
          </a:bodyPr>
          <a:lstStyle/>
          <a:p>
            <a:pPr algn="l">
              <a:lnSpc>
                <a:spcPct val="108000"/>
              </a:lnSpc>
              <a:spcBef>
                <a:spcPts val="0"/>
              </a:spcBef>
              <a:spcAft>
                <a:spcPts val="0"/>
              </a:spcAft>
            </a:pPr>
            <a:r>
              <a:rPr sz="3400" b="1" i="0">
                <a:solidFill>
                  <a:srgbClr val="FFFFFF"/>
                </a:solidFill>
                <a:latin typeface="Segoe UI"/>
                <a:ea typeface="Segoe UI"/>
                <a:cs typeface="Segoe UI"/>
              </a:rPr>
              <a:t>Developing AI-Based Business Solutions</a:t>
            </a:r>
          </a:p>
        </p:txBody>
      </p:sp>
      <p:sp>
        <p:nvSpPr>
          <p:cNvPr id="9" name="TextBox 8"/>
          <p:cNvSpPr txBox="1"/>
          <p:nvPr/>
        </p:nvSpPr>
        <p:spPr>
          <a:xfrm>
            <a:off x="2999232" y="3826782"/>
            <a:ext cx="6949440" cy="822960"/>
          </a:xfrm>
          <a:prstGeom prst="rect">
            <a:avLst/>
          </a:prstGeom>
          <a:noFill/>
        </p:spPr>
        <p:txBody>
          <a:bodyPr wrap="square" lIns="0" rIns="0" tIns="0" bIns="0" anchor="t">
            <a:spAutoFit/>
          </a:bodyPr>
          <a:lstStyle/>
          <a:p>
            <a:pPr algn="l">
              <a:lnSpc>
                <a:spcPct val="134000"/>
              </a:lnSpc>
              <a:spcBef>
                <a:spcPts val="0"/>
              </a:spcBef>
              <a:spcAft>
                <a:spcPts val="0"/>
              </a:spcAft>
            </a:pPr>
            <a:r>
              <a:rPr sz="1350" b="0" i="0">
                <a:solidFill>
                  <a:srgbClr val="AFC1DE"/>
                </a:solidFill>
                <a:latin typeface="Segoe UI"/>
                <a:ea typeface="Segoe UI"/>
                <a:cs typeface="Segoe UI"/>
              </a:rPr>
              <a:t>From an interesting idea to something that runs.</a:t>
            </a:r>
          </a:p>
        </p:txBody>
      </p:sp>
      <p:sp>
        <p:nvSpPr>
          <p:cNvPr id="10" name="logo-plate"/>
          <p:cNvSpPr/>
          <p:nvPr/>
        </p:nvSpPr>
        <p:spPr>
          <a:xfrm>
            <a:off x="9512190" y="539496"/>
            <a:ext cx="1993704" cy="98755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college-logo" descr="logo-full.png"/>
          <p:cNvPicPr>
            <a:picLocks noChangeAspect="1"/>
          </p:cNvPicPr>
          <p:nvPr/>
        </p:nvPicPr>
        <p:blipFill>
          <a:blip r:embed="rId2"/>
          <a:stretch>
            <a:fillRect/>
          </a:stretch>
        </p:blipFill>
        <p:spPr>
          <a:xfrm>
            <a:off x="9631062" y="658368"/>
            <a:ext cx="1755961" cy="74980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09</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3B7AF7"/>
                </a:solidFill>
                <a:latin typeface="Segoe UI"/>
                <a:ea typeface="Segoe UI"/>
                <a:cs typeface="Segoe UI"/>
              </a:rPr>
              <a:t>THE BUILD PATH</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Six steps from problem to production</a:t>
            </a:r>
          </a:p>
        </p:txBody>
      </p:sp>
      <p:sp>
        <p:nvSpPr>
          <p:cNvPr id="7" name="Rectangle 6"/>
          <p:cNvSpPr/>
          <p:nvPr/>
        </p:nvSpPr>
        <p:spPr>
          <a:xfrm>
            <a:off x="713232" y="1412820"/>
            <a:ext cx="475488" cy="4114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534134" y="2421861"/>
            <a:ext cx="9123426" cy="2540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96390" y="2195090"/>
            <a:ext cx="475488" cy="475488"/>
          </a:xfrm>
          <a:prstGeom prst="ellipse">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2300246"/>
            <a:ext cx="1641805"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1</a:t>
            </a:r>
          </a:p>
        </p:txBody>
      </p:sp>
      <p:sp>
        <p:nvSpPr>
          <p:cNvPr id="11" name="Rounded Rectangle 10"/>
          <p:cNvSpPr/>
          <p:nvPr/>
        </p:nvSpPr>
        <p:spPr>
          <a:xfrm>
            <a:off x="713232" y="2835170"/>
            <a:ext cx="1641805" cy="1663292"/>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036338"/>
            <a:ext cx="1312621" cy="543530"/>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Frame the problem</a:t>
            </a:r>
          </a:p>
        </p:txBody>
      </p:sp>
      <p:sp>
        <p:nvSpPr>
          <p:cNvPr id="13" name="TextBox 12"/>
          <p:cNvSpPr txBox="1"/>
          <p:nvPr/>
        </p:nvSpPr>
        <p:spPr>
          <a:xfrm>
            <a:off x="877824" y="3616444"/>
            <a:ext cx="1312621" cy="735714"/>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Start from a business pain, never from the technology.</a:t>
            </a:r>
          </a:p>
        </p:txBody>
      </p:sp>
      <p:sp>
        <p:nvSpPr>
          <p:cNvPr id="14" name="Oval 13"/>
          <p:cNvSpPr/>
          <p:nvPr/>
        </p:nvSpPr>
        <p:spPr>
          <a:xfrm>
            <a:off x="3121075" y="2195090"/>
            <a:ext cx="475488" cy="475488"/>
          </a:xfrm>
          <a:prstGeom prst="ellipse">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537917" y="2300246"/>
            <a:ext cx="1641805"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2</a:t>
            </a:r>
          </a:p>
        </p:txBody>
      </p:sp>
      <p:sp>
        <p:nvSpPr>
          <p:cNvPr id="16" name="Rounded Rectangle 15"/>
          <p:cNvSpPr/>
          <p:nvPr/>
        </p:nvSpPr>
        <p:spPr>
          <a:xfrm>
            <a:off x="2537917" y="2835170"/>
            <a:ext cx="1641805" cy="1663292"/>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702509" y="3036338"/>
            <a:ext cx="1312621" cy="317485"/>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Check the data</a:t>
            </a:r>
          </a:p>
        </p:txBody>
      </p:sp>
      <p:sp>
        <p:nvSpPr>
          <p:cNvPr id="18" name="TextBox 17"/>
          <p:cNvSpPr txBox="1"/>
          <p:nvPr/>
        </p:nvSpPr>
        <p:spPr>
          <a:xfrm>
            <a:off x="2702509" y="3390399"/>
            <a:ext cx="1312621" cy="961759"/>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Does the data exist, and is it good enough?</a:t>
            </a:r>
          </a:p>
        </p:txBody>
      </p:sp>
      <p:sp>
        <p:nvSpPr>
          <p:cNvPr id="19" name="Oval 18"/>
          <p:cNvSpPr/>
          <p:nvPr/>
        </p:nvSpPr>
        <p:spPr>
          <a:xfrm>
            <a:off x="4945761" y="2195090"/>
            <a:ext cx="475488" cy="47548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362602" y="2300246"/>
            <a:ext cx="1641805"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3</a:t>
            </a:r>
          </a:p>
        </p:txBody>
      </p:sp>
      <p:sp>
        <p:nvSpPr>
          <p:cNvPr id="21" name="Rounded Rectangle 20"/>
          <p:cNvSpPr/>
          <p:nvPr/>
        </p:nvSpPr>
        <p:spPr>
          <a:xfrm>
            <a:off x="4362602" y="2835170"/>
            <a:ext cx="1641805" cy="1663292"/>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27194" y="3036338"/>
            <a:ext cx="1312621" cy="317485"/>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Prototype fast</a:t>
            </a:r>
          </a:p>
        </p:txBody>
      </p:sp>
      <p:sp>
        <p:nvSpPr>
          <p:cNvPr id="23" name="TextBox 22"/>
          <p:cNvSpPr txBox="1"/>
          <p:nvPr/>
        </p:nvSpPr>
        <p:spPr>
          <a:xfrm>
            <a:off x="4527194" y="3390399"/>
            <a:ext cx="1312621" cy="961759"/>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Two weeks, no-code, one narrow slice of the problem.</a:t>
            </a:r>
          </a:p>
        </p:txBody>
      </p:sp>
      <p:sp>
        <p:nvSpPr>
          <p:cNvPr id="24" name="Oval 23"/>
          <p:cNvSpPr/>
          <p:nvPr/>
        </p:nvSpPr>
        <p:spPr>
          <a:xfrm>
            <a:off x="6770446" y="2195090"/>
            <a:ext cx="475488" cy="475488"/>
          </a:xfrm>
          <a:prstGeom prst="ellipse">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187287" y="2300246"/>
            <a:ext cx="1641805"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4</a:t>
            </a:r>
          </a:p>
        </p:txBody>
      </p:sp>
      <p:sp>
        <p:nvSpPr>
          <p:cNvPr id="26" name="Rounded Rectangle 25"/>
          <p:cNvSpPr/>
          <p:nvPr/>
        </p:nvSpPr>
        <p:spPr>
          <a:xfrm>
            <a:off x="6187287" y="2835170"/>
            <a:ext cx="1641805" cy="1663292"/>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1879" y="3036338"/>
            <a:ext cx="1312621" cy="543530"/>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Measure honestly</a:t>
            </a:r>
          </a:p>
        </p:txBody>
      </p:sp>
      <p:sp>
        <p:nvSpPr>
          <p:cNvPr id="28" name="TextBox 27"/>
          <p:cNvSpPr txBox="1"/>
          <p:nvPr/>
        </p:nvSpPr>
        <p:spPr>
          <a:xfrm>
            <a:off x="6351879" y="3616444"/>
            <a:ext cx="1312621" cy="735714"/>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Compare against how the work is done today.</a:t>
            </a:r>
          </a:p>
        </p:txBody>
      </p:sp>
      <p:sp>
        <p:nvSpPr>
          <p:cNvPr id="29" name="Oval 28"/>
          <p:cNvSpPr/>
          <p:nvPr/>
        </p:nvSpPr>
        <p:spPr>
          <a:xfrm>
            <a:off x="8595131" y="2195090"/>
            <a:ext cx="475488" cy="475488"/>
          </a:xfrm>
          <a:prstGeom prst="ellipse">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011972" y="2300246"/>
            <a:ext cx="1641805"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5</a:t>
            </a:r>
          </a:p>
        </p:txBody>
      </p:sp>
      <p:sp>
        <p:nvSpPr>
          <p:cNvPr id="31" name="Rounded Rectangle 30"/>
          <p:cNvSpPr/>
          <p:nvPr/>
        </p:nvSpPr>
        <p:spPr>
          <a:xfrm>
            <a:off x="8011972" y="2835170"/>
            <a:ext cx="1641805" cy="1663292"/>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176564" y="3036338"/>
            <a:ext cx="1312621" cy="543530"/>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Deploy with guardrails</a:t>
            </a:r>
          </a:p>
        </p:txBody>
      </p:sp>
      <p:sp>
        <p:nvSpPr>
          <p:cNvPr id="33" name="TextBox 32"/>
          <p:cNvSpPr txBox="1"/>
          <p:nvPr/>
        </p:nvSpPr>
        <p:spPr>
          <a:xfrm>
            <a:off x="8176564" y="3616444"/>
            <a:ext cx="1312621" cy="735714"/>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Human review, logging, clear limits, named owner.</a:t>
            </a:r>
          </a:p>
        </p:txBody>
      </p:sp>
      <p:sp>
        <p:nvSpPr>
          <p:cNvPr id="34" name="Oval 33"/>
          <p:cNvSpPr/>
          <p:nvPr/>
        </p:nvSpPr>
        <p:spPr>
          <a:xfrm>
            <a:off x="10419816" y="2195090"/>
            <a:ext cx="475488" cy="475488"/>
          </a:xfrm>
          <a:prstGeom prst="ellipse">
            <a:avLst/>
          </a:prstGeom>
          <a:solidFill>
            <a:srgbClr val="E051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836658" y="2300246"/>
            <a:ext cx="1641805"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6</a:t>
            </a:r>
          </a:p>
        </p:txBody>
      </p:sp>
      <p:sp>
        <p:nvSpPr>
          <p:cNvPr id="36" name="Rounded Rectangle 35"/>
          <p:cNvSpPr/>
          <p:nvPr/>
        </p:nvSpPr>
        <p:spPr>
          <a:xfrm>
            <a:off x="9836658" y="2835170"/>
            <a:ext cx="1641805" cy="1663292"/>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0001250" y="3036338"/>
            <a:ext cx="1312621" cy="543530"/>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Scale and monitor</a:t>
            </a:r>
          </a:p>
        </p:txBody>
      </p:sp>
      <p:sp>
        <p:nvSpPr>
          <p:cNvPr id="38" name="TextBox 37"/>
          <p:cNvSpPr txBox="1"/>
          <p:nvPr/>
        </p:nvSpPr>
        <p:spPr>
          <a:xfrm>
            <a:off x="10001250" y="3616444"/>
            <a:ext cx="1312621" cy="735714"/>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Widen the scope only once quality holds up.</a:t>
            </a:r>
          </a:p>
        </p:txBody>
      </p:sp>
      <p:sp>
        <p:nvSpPr>
          <p:cNvPr id="39" name="Rounded Rectangle 38"/>
          <p:cNvSpPr/>
          <p:nvPr/>
        </p:nvSpPr>
        <p:spPr>
          <a:xfrm>
            <a:off x="713232" y="5449824"/>
            <a:ext cx="10765231" cy="603504"/>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19456"/>
          <a:lstStyle/>
          <a:p>
            <a:pPr algn="l">
              <a:lnSpc>
                <a:spcPct val="122000"/>
              </a:lnSpc>
              <a:spcBef>
                <a:spcPts val="0"/>
              </a:spcBef>
              <a:spcAft>
                <a:spcPts val="0"/>
              </a:spcAft>
            </a:pPr>
            <a:r>
              <a:rPr sz="1200" b="1" i="0">
                <a:solidFill>
                  <a:srgbClr val="0E1E3C"/>
                </a:solidFill>
                <a:latin typeface="Segoe UI"/>
                <a:ea typeface="Segoe UI"/>
                <a:cs typeface="Segoe UI"/>
              </a:rPr>
              <a:t>Step one is where projects are won or lost. 'We should use AI' is not a problem statement.</a:t>
            </a:r>
          </a:p>
        </p:txBody>
      </p:sp>
      <p:sp>
        <p:nvSpPr>
          <p:cNvPr id="40" name="Rectangle 39"/>
          <p:cNvSpPr/>
          <p:nvPr/>
        </p:nvSpPr>
        <p:spPr>
          <a:xfrm>
            <a:off x="713232" y="5449824"/>
            <a:ext cx="32004" cy="603504"/>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10</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27A06A"/>
                </a:solidFill>
                <a:latin typeface="Segoe UI"/>
                <a:ea typeface="Segoe UI"/>
                <a:cs typeface="Segoe UI"/>
              </a:rPr>
              <a:t>FRAMING</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Write the problem before the solution</a:t>
            </a:r>
          </a:p>
        </p:txBody>
      </p:sp>
      <p:sp>
        <p:nvSpPr>
          <p:cNvPr id="7" name="Rectangle 6"/>
          <p:cNvSpPr/>
          <p:nvPr/>
        </p:nvSpPr>
        <p:spPr>
          <a:xfrm>
            <a:off x="713232" y="1412820"/>
            <a:ext cx="475488" cy="41148"/>
          </a:xfrm>
          <a:prstGeom prst="rect">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819728"/>
            <a:ext cx="4521397" cy="719210"/>
          </a:xfrm>
          <a:prstGeom prst="rect">
            <a:avLst/>
          </a:prstGeom>
          <a:noFill/>
        </p:spPr>
        <p:txBody>
          <a:bodyPr wrap="square" lIns="0" rIns="0" tIns="0" bIns="0" anchor="t">
            <a:spAutoFit/>
          </a:bodyPr>
          <a:lstStyle/>
          <a:p>
            <a:pPr algn="l">
              <a:lnSpc>
                <a:spcPct val="114000"/>
              </a:lnSpc>
              <a:spcBef>
                <a:spcPts val="0"/>
              </a:spcBef>
              <a:spcAft>
                <a:spcPts val="0"/>
              </a:spcAft>
            </a:pPr>
            <a:r>
              <a:rPr sz="1700" b="1" i="0">
                <a:solidFill>
                  <a:srgbClr val="0E1E3C"/>
                </a:solidFill>
                <a:latin typeface="Segoe UI"/>
                <a:ea typeface="Segoe UI"/>
                <a:cs typeface="Segoe UI"/>
              </a:rPr>
              <a:t>A good AI project can be described in one sentence, with a number in it.</a:t>
            </a:r>
          </a:p>
        </p:txBody>
      </p:sp>
      <p:sp>
        <p:nvSpPr>
          <p:cNvPr id="9" name="Rectangle 8"/>
          <p:cNvSpPr/>
          <p:nvPr/>
        </p:nvSpPr>
        <p:spPr>
          <a:xfrm>
            <a:off x="713232" y="2630378"/>
            <a:ext cx="457200" cy="41148"/>
          </a:xfrm>
          <a:prstGeom prst="rect">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13232" y="3014426"/>
            <a:ext cx="100584" cy="100584"/>
          </a:xfrm>
          <a:prstGeom prst="roundRect">
            <a:avLst>
              <a:gd name="adj" fmla="val 30000"/>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04698"/>
            <a:ext cx="4228789" cy="303772"/>
          </a:xfrm>
          <a:prstGeom prst="rect">
            <a:avLst/>
          </a:prstGeom>
          <a:noFill/>
        </p:spPr>
        <p:txBody>
          <a:bodyPr wrap="square" lIns="0" rIns="0" tIns="0" bIns="0" anchor="t">
            <a:spAutoFit/>
          </a:bodyPr>
          <a:lstStyle/>
          <a:p>
            <a:pPr algn="l">
              <a:lnSpc>
                <a:spcPct val="126000"/>
              </a:lnSpc>
              <a:spcBef>
                <a:spcPts val="0"/>
              </a:spcBef>
              <a:spcAft>
                <a:spcPts val="0"/>
              </a:spcAft>
            </a:pPr>
            <a:r>
              <a:rPr sz="1200" b="0" i="0">
                <a:solidFill>
                  <a:srgbClr val="141C2E"/>
                </a:solidFill>
                <a:latin typeface="Segoe UI"/>
                <a:ea typeface="Segoe UI"/>
                <a:cs typeface="Segoe UI"/>
              </a:rPr>
              <a:t>Who has the problem, and how often?</a:t>
            </a:r>
          </a:p>
        </p:txBody>
      </p:sp>
      <p:sp>
        <p:nvSpPr>
          <p:cNvPr id="12" name="Rounded Rectangle 11"/>
          <p:cNvSpPr/>
          <p:nvPr/>
        </p:nvSpPr>
        <p:spPr>
          <a:xfrm>
            <a:off x="713232" y="3391351"/>
            <a:ext cx="100584" cy="100584"/>
          </a:xfrm>
          <a:prstGeom prst="roundRect">
            <a:avLst>
              <a:gd name="adj" fmla="val 30000"/>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281623"/>
            <a:ext cx="4228789" cy="303772"/>
          </a:xfrm>
          <a:prstGeom prst="rect">
            <a:avLst/>
          </a:prstGeom>
          <a:noFill/>
        </p:spPr>
        <p:txBody>
          <a:bodyPr wrap="square" lIns="0" rIns="0" tIns="0" bIns="0" anchor="t">
            <a:spAutoFit/>
          </a:bodyPr>
          <a:lstStyle/>
          <a:p>
            <a:pPr algn="l">
              <a:lnSpc>
                <a:spcPct val="126000"/>
              </a:lnSpc>
              <a:spcBef>
                <a:spcPts val="0"/>
              </a:spcBef>
              <a:spcAft>
                <a:spcPts val="0"/>
              </a:spcAft>
            </a:pPr>
            <a:r>
              <a:rPr sz="1200" b="0" i="0">
                <a:solidFill>
                  <a:srgbClr val="141C2E"/>
                </a:solidFill>
                <a:latin typeface="Segoe UI"/>
                <a:ea typeface="Segoe UI"/>
                <a:cs typeface="Segoe UI"/>
              </a:rPr>
              <a:t>How is it handled today, and what does that cost?</a:t>
            </a:r>
          </a:p>
        </p:txBody>
      </p:sp>
      <p:sp>
        <p:nvSpPr>
          <p:cNvPr id="14" name="Rounded Rectangle 13"/>
          <p:cNvSpPr/>
          <p:nvPr/>
        </p:nvSpPr>
        <p:spPr>
          <a:xfrm>
            <a:off x="713232" y="3768276"/>
            <a:ext cx="100584" cy="100584"/>
          </a:xfrm>
          <a:prstGeom prst="roundRect">
            <a:avLst>
              <a:gd name="adj" fmla="val 30000"/>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658548"/>
            <a:ext cx="4228789" cy="303772"/>
          </a:xfrm>
          <a:prstGeom prst="rect">
            <a:avLst/>
          </a:prstGeom>
          <a:noFill/>
        </p:spPr>
        <p:txBody>
          <a:bodyPr wrap="square" lIns="0" rIns="0" tIns="0" bIns="0" anchor="t">
            <a:spAutoFit/>
          </a:bodyPr>
          <a:lstStyle/>
          <a:p>
            <a:pPr algn="l">
              <a:lnSpc>
                <a:spcPct val="126000"/>
              </a:lnSpc>
              <a:spcBef>
                <a:spcPts val="0"/>
              </a:spcBef>
              <a:spcAft>
                <a:spcPts val="0"/>
              </a:spcAft>
            </a:pPr>
            <a:r>
              <a:rPr sz="1200" b="0" i="0">
                <a:solidFill>
                  <a:srgbClr val="141C2E"/>
                </a:solidFill>
                <a:latin typeface="Segoe UI"/>
                <a:ea typeface="Segoe UI"/>
                <a:cs typeface="Segoe UI"/>
              </a:rPr>
              <a:t>What does success look like as a number?</a:t>
            </a:r>
          </a:p>
        </p:txBody>
      </p:sp>
      <p:sp>
        <p:nvSpPr>
          <p:cNvPr id="16" name="Rounded Rectangle 15"/>
          <p:cNvSpPr/>
          <p:nvPr/>
        </p:nvSpPr>
        <p:spPr>
          <a:xfrm>
            <a:off x="713232" y="4145201"/>
            <a:ext cx="100584" cy="100584"/>
          </a:xfrm>
          <a:prstGeom prst="roundRect">
            <a:avLst>
              <a:gd name="adj" fmla="val 30000"/>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4035473"/>
            <a:ext cx="4228789" cy="303772"/>
          </a:xfrm>
          <a:prstGeom prst="rect">
            <a:avLst/>
          </a:prstGeom>
          <a:noFill/>
        </p:spPr>
        <p:txBody>
          <a:bodyPr wrap="square" lIns="0" rIns="0" tIns="0" bIns="0" anchor="t">
            <a:spAutoFit/>
          </a:bodyPr>
          <a:lstStyle/>
          <a:p>
            <a:pPr algn="l">
              <a:lnSpc>
                <a:spcPct val="126000"/>
              </a:lnSpc>
              <a:spcBef>
                <a:spcPts val="0"/>
              </a:spcBef>
              <a:spcAft>
                <a:spcPts val="0"/>
              </a:spcAft>
            </a:pPr>
            <a:r>
              <a:rPr sz="1200" b="0" i="0">
                <a:solidFill>
                  <a:srgbClr val="141C2E"/>
                </a:solidFill>
                <a:latin typeface="Segoe UI"/>
                <a:ea typeface="Segoe UI"/>
                <a:cs typeface="Segoe UI"/>
              </a:rPr>
              <a:t>What happens if the AI gets it wrong?</a:t>
            </a:r>
          </a:p>
        </p:txBody>
      </p:sp>
      <p:sp>
        <p:nvSpPr>
          <p:cNvPr id="18" name="Rounded Rectangle 17"/>
          <p:cNvSpPr/>
          <p:nvPr/>
        </p:nvSpPr>
        <p:spPr>
          <a:xfrm>
            <a:off x="713232" y="4522126"/>
            <a:ext cx="100584" cy="100584"/>
          </a:xfrm>
          <a:prstGeom prst="roundRect">
            <a:avLst>
              <a:gd name="adj" fmla="val 30000"/>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05840" y="4412398"/>
            <a:ext cx="4228789" cy="303772"/>
          </a:xfrm>
          <a:prstGeom prst="rect">
            <a:avLst/>
          </a:prstGeom>
          <a:noFill/>
        </p:spPr>
        <p:txBody>
          <a:bodyPr wrap="square" lIns="0" rIns="0" tIns="0" bIns="0" anchor="t">
            <a:spAutoFit/>
          </a:bodyPr>
          <a:lstStyle/>
          <a:p>
            <a:pPr algn="l">
              <a:lnSpc>
                <a:spcPct val="126000"/>
              </a:lnSpc>
              <a:spcBef>
                <a:spcPts val="0"/>
              </a:spcBef>
              <a:spcAft>
                <a:spcPts val="0"/>
              </a:spcAft>
            </a:pPr>
            <a:r>
              <a:rPr sz="1200" b="0" i="0">
                <a:solidFill>
                  <a:srgbClr val="141C2E"/>
                </a:solidFill>
                <a:latin typeface="Segoe UI"/>
                <a:ea typeface="Segoe UI"/>
                <a:cs typeface="Segoe UI"/>
              </a:rPr>
              <a:t>Who owns the outcome once it ships?</a:t>
            </a:r>
          </a:p>
        </p:txBody>
      </p:sp>
      <p:sp>
        <p:nvSpPr>
          <p:cNvPr id="20" name="Rounded Rectangle 19"/>
          <p:cNvSpPr/>
          <p:nvPr/>
        </p:nvSpPr>
        <p:spPr>
          <a:xfrm>
            <a:off x="5600389" y="1783152"/>
            <a:ext cx="5878074" cy="131366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00389" y="1783152"/>
            <a:ext cx="45720" cy="1313663"/>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874709" y="2164634"/>
            <a:ext cx="5366010" cy="307891"/>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Weak framing</a:t>
            </a:r>
          </a:p>
        </p:txBody>
      </p:sp>
      <p:sp>
        <p:nvSpPr>
          <p:cNvPr id="23" name="TextBox 22"/>
          <p:cNvSpPr txBox="1"/>
          <p:nvPr/>
        </p:nvSpPr>
        <p:spPr>
          <a:xfrm>
            <a:off x="5874709" y="2490813"/>
            <a:ext cx="5366010" cy="315959"/>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636E85"/>
                </a:solidFill>
                <a:latin typeface="Segoe UI"/>
                <a:ea typeface="Segoe UI"/>
                <a:cs typeface="Segoe UI"/>
              </a:rPr>
              <a:t>"Let's add AI to customer service."</a:t>
            </a:r>
          </a:p>
        </p:txBody>
      </p:sp>
      <p:sp>
        <p:nvSpPr>
          <p:cNvPr id="24" name="Rounded Rectangle 23"/>
          <p:cNvSpPr/>
          <p:nvPr/>
        </p:nvSpPr>
        <p:spPr>
          <a:xfrm>
            <a:off x="5600389" y="3261408"/>
            <a:ext cx="5878074" cy="131366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00389" y="3261408"/>
            <a:ext cx="45720" cy="1313663"/>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874709" y="3530630"/>
            <a:ext cx="5366010" cy="307891"/>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Strong framing</a:t>
            </a:r>
          </a:p>
        </p:txBody>
      </p:sp>
      <p:sp>
        <p:nvSpPr>
          <p:cNvPr id="27" name="TextBox 26"/>
          <p:cNvSpPr txBox="1"/>
          <p:nvPr/>
        </p:nvSpPr>
        <p:spPr>
          <a:xfrm>
            <a:off x="5874709" y="3856809"/>
            <a:ext cx="5366010" cy="540479"/>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636E85"/>
                </a:solidFill>
                <a:latin typeface="Segoe UI"/>
                <a:ea typeface="Segoe UI"/>
                <a:cs typeface="Segoe UI"/>
              </a:rPr>
              <a:t>"Cut first-response time on the 4,000 routine monthly tickets from 6 hours to 15 minutes."</a:t>
            </a:r>
          </a:p>
        </p:txBody>
      </p:sp>
      <p:sp>
        <p:nvSpPr>
          <p:cNvPr id="28" name="Rounded Rectangle 27"/>
          <p:cNvSpPr/>
          <p:nvPr/>
        </p:nvSpPr>
        <p:spPr>
          <a:xfrm>
            <a:off x="5600389" y="4739664"/>
            <a:ext cx="5878074" cy="131366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5600389" y="4739664"/>
            <a:ext cx="45720" cy="131366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874709" y="5121146"/>
            <a:ext cx="5366010" cy="307891"/>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Why it matters</a:t>
            </a:r>
          </a:p>
        </p:txBody>
      </p:sp>
      <p:sp>
        <p:nvSpPr>
          <p:cNvPr id="31" name="TextBox 30"/>
          <p:cNvSpPr txBox="1"/>
          <p:nvPr/>
        </p:nvSpPr>
        <p:spPr>
          <a:xfrm>
            <a:off x="5874709" y="5447325"/>
            <a:ext cx="5366010" cy="315959"/>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636E85"/>
                </a:solidFill>
                <a:latin typeface="Segoe UI"/>
                <a:ea typeface="Segoe UI"/>
                <a:cs typeface="Segoe UI"/>
              </a:rPr>
              <a:t>The second one can be built, measured and defended in a budget meeting.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11</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745CE0"/>
                </a:solidFill>
                <a:latin typeface="Segoe UI"/>
                <a:ea typeface="Segoe UI"/>
                <a:cs typeface="Segoe UI"/>
              </a:rPr>
              <a:t>ROUTE TO MARKET</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Build, buy or blend</a:t>
            </a:r>
          </a:p>
        </p:txBody>
      </p:sp>
      <p:sp>
        <p:nvSpPr>
          <p:cNvPr id="7" name="Rectangle 6"/>
          <p:cNvSpPr/>
          <p:nvPr/>
        </p:nvSpPr>
        <p:spPr>
          <a:xfrm>
            <a:off x="713232" y="1412820"/>
            <a:ext cx="475488" cy="41148"/>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8" name="Table 7"/>
          <p:cNvGraphicFramePr>
            <a:graphicFrameLocks noGrp="1"/>
          </p:cNvGraphicFramePr>
          <p:nvPr/>
        </p:nvGraphicFramePr>
        <p:xfrm>
          <a:off x="713232" y="1819728"/>
          <a:ext cx="10765230" cy="2176269"/>
        </p:xfrm>
        <a:graphic>
          <a:graphicData uri="http://schemas.openxmlformats.org/drawingml/2006/table">
            <a:tbl>
              <a:tblPr firstRow="1" bandRow="0" bandCol="0" firstCol="0" lastRow="0" lastCol="0">
                <a:tableStyleId>{5C22544A-7EE6-4342-B048-85BDC9FD1C3A}</a:tableStyleId>
              </a:tblPr>
              <a:tblGrid>
                <a:gridCol w="1444116"/>
                <a:gridCol w="3019516"/>
                <a:gridCol w="3282082"/>
                <a:gridCol w="3019516"/>
              </a:tblGrid>
              <a:tr h="457200">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Route</a:t>
                      </a:r>
                    </a:p>
                  </a:txBody>
                  <a:tcPr marL="164592" marR="164592" marT="91440" marB="91440" anchor="ctr">
                    <a:solidFill>
                      <a:srgbClr val="0E1E3C"/>
                    </a:solidFill>
                  </a:tcPr>
                </a:tc>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What it means</a:t>
                      </a:r>
                    </a:p>
                  </a:txBody>
                  <a:tcPr marL="164592" marR="164592" marT="91440" marB="91440" anchor="ctr">
                    <a:solidFill>
                      <a:srgbClr val="0E1E3C"/>
                    </a:solidFill>
                  </a:tcPr>
                </a:tc>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Best when</a:t>
                      </a:r>
                    </a:p>
                  </a:txBody>
                  <a:tcPr marL="164592" marR="164592" marT="91440" marB="91440" anchor="ctr">
                    <a:solidFill>
                      <a:srgbClr val="0E1E3C"/>
                    </a:solidFill>
                  </a:tcPr>
                </a:tc>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Watch out for</a:t>
                      </a:r>
                    </a:p>
                  </a:txBody>
                  <a:tcPr marL="164592" marR="164592" marT="91440" marB="91440" anchor="ctr">
                    <a:solidFill>
                      <a:srgbClr val="0E1E3C"/>
                    </a:solidFill>
                  </a:tcPr>
                </a:tc>
              </a:tr>
              <a:tr h="573023">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Buy</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Use a ready-made AI product</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The need is common and speed matters</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Weak fit and ongoing licence cost</a:t>
                      </a:r>
                    </a:p>
                  </a:txBody>
                  <a:tcPr marL="164592" marR="164592" marT="82296" marB="82296" anchor="ctr">
                    <a:solidFill>
                      <a:srgbClr val="FFFFFF"/>
                    </a:solidFill>
                  </a:tcPr>
                </a:tc>
              </a:tr>
              <a:tr h="573023">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Blend</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Configure a platform with your own data</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You need your context but not custom code</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Lock-in to one vendor</a:t>
                      </a:r>
                    </a:p>
                  </a:txBody>
                  <a:tcPr marL="164592" marR="164592" marT="82296" marB="82296" anchor="ctr">
                    <a:solidFill>
                      <a:srgbClr val="F6F8FB"/>
                    </a:solidFill>
                  </a:tcPr>
                </a:tc>
              </a:tr>
              <a:tr h="573023">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Build</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Develop on top of model APIs</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The workflow is your differentiator</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Cost, talent and maintenance</a:t>
                      </a:r>
                    </a:p>
                  </a:txBody>
                  <a:tcPr marL="164592" marR="164592" marT="82296" marB="82296" anchor="ctr">
                    <a:solidFill>
                      <a:srgbClr val="FFFFFF"/>
                    </a:solidFill>
                  </a:tcPr>
                </a:tc>
              </a:tr>
            </a:tbl>
          </a:graphicData>
        </a:graphic>
      </p:graphicFrame>
      <p:sp>
        <p:nvSpPr>
          <p:cNvPr id="9" name="Rounded Rectangle 8"/>
          <p:cNvSpPr/>
          <p:nvPr/>
        </p:nvSpPr>
        <p:spPr>
          <a:xfrm>
            <a:off x="713232" y="4215456"/>
            <a:ext cx="10765231" cy="566928"/>
          </a:xfrm>
          <a:prstGeom prst="roundRect">
            <a:avLst>
              <a:gd name="adj" fmla="val 6000"/>
            </a:avLst>
          </a:prstGeom>
          <a:solidFill>
            <a:srgbClr val="EEE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a:lstStyle/>
          <a:p>
            <a:pPr algn="l">
              <a:lnSpc>
                <a:spcPct val="122000"/>
              </a:lnSpc>
              <a:spcBef>
                <a:spcPts val="0"/>
              </a:spcBef>
              <a:spcAft>
                <a:spcPts val="0"/>
              </a:spcAft>
            </a:pPr>
            <a:r>
              <a:rPr sz="1200" b="1" i="0">
                <a:solidFill>
                  <a:srgbClr val="0E1E3C"/>
                </a:solidFill>
                <a:latin typeface="Segoe UI"/>
                <a:ea typeface="Segoe UI"/>
                <a:cs typeface="Segoe UI"/>
              </a:rPr>
              <a:t>Buy for common problems. Build only where it is genuinely your competitive edge.</a:t>
            </a:r>
          </a:p>
        </p:txBody>
      </p:sp>
      <p:sp>
        <p:nvSpPr>
          <p:cNvPr id="10" name="Rectangle 9"/>
          <p:cNvSpPr/>
          <p:nvPr/>
        </p:nvSpPr>
        <p:spPr>
          <a:xfrm>
            <a:off x="713232" y="4215456"/>
            <a:ext cx="32004" cy="566928"/>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12</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27A06A"/>
                </a:solidFill>
                <a:latin typeface="Segoe UI"/>
                <a:ea typeface="Segoe UI"/>
                <a:cs typeface="Segoe UI"/>
              </a:rPr>
              <a:t>MEASURING VALUE</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Three numbers a sponsor will ask for</a:t>
            </a:r>
          </a:p>
        </p:txBody>
      </p:sp>
      <p:sp>
        <p:nvSpPr>
          <p:cNvPr id="7" name="Rectangle 6"/>
          <p:cNvSpPr/>
          <p:nvPr/>
        </p:nvSpPr>
        <p:spPr>
          <a:xfrm>
            <a:off x="713232" y="1412820"/>
            <a:ext cx="475488" cy="41148"/>
          </a:xfrm>
          <a:prstGeom prst="rect">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If you cannot measure it, you cannot defend the budget next year.</a:t>
            </a:r>
          </a:p>
        </p:txBody>
      </p:sp>
      <p:sp>
        <p:nvSpPr>
          <p:cNvPr id="9" name="Rounded Rectangle 8"/>
          <p:cNvSpPr/>
          <p:nvPr/>
        </p:nvSpPr>
        <p:spPr>
          <a:xfrm>
            <a:off x="713232" y="2268752"/>
            <a:ext cx="3417722" cy="237744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50976" y="2637319"/>
            <a:ext cx="2942234" cy="671042"/>
          </a:xfrm>
          <a:prstGeom prst="rect">
            <a:avLst/>
          </a:prstGeom>
          <a:noFill/>
        </p:spPr>
        <p:txBody>
          <a:bodyPr wrap="square" lIns="0" rIns="0" tIns="0" bIns="0" anchor="t">
            <a:spAutoFit/>
          </a:bodyPr>
          <a:lstStyle/>
          <a:p>
            <a:pPr algn="l">
              <a:lnSpc>
                <a:spcPct val="100000"/>
              </a:lnSpc>
              <a:spcBef>
                <a:spcPts val="0"/>
              </a:spcBef>
              <a:spcAft>
                <a:spcPts val="0"/>
              </a:spcAft>
            </a:pPr>
            <a:r>
              <a:rPr sz="3800" b="1" i="0">
                <a:solidFill>
                  <a:srgbClr val="3B7AF7"/>
                </a:solidFill>
                <a:latin typeface="Segoe UI"/>
                <a:ea typeface="Segoe UI"/>
                <a:cs typeface="Segoe UI"/>
              </a:rPr>
              <a:t>Time</a:t>
            </a:r>
          </a:p>
        </p:txBody>
      </p:sp>
      <p:sp>
        <p:nvSpPr>
          <p:cNvPr id="11" name="Rectangle 10"/>
          <p:cNvSpPr/>
          <p:nvPr/>
        </p:nvSpPr>
        <p:spPr>
          <a:xfrm>
            <a:off x="950976" y="3329456"/>
            <a:ext cx="384048" cy="4114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50976" y="3512336"/>
            <a:ext cx="2942234" cy="299197"/>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0E1E3C"/>
                </a:solidFill>
                <a:latin typeface="Segoe UI"/>
                <a:ea typeface="Segoe UI"/>
                <a:cs typeface="Segoe UI"/>
              </a:rPr>
              <a:t>Hours returned</a:t>
            </a:r>
          </a:p>
        </p:txBody>
      </p:sp>
      <p:sp>
        <p:nvSpPr>
          <p:cNvPr id="13" name="TextBox 12"/>
          <p:cNvSpPr txBox="1"/>
          <p:nvPr/>
        </p:nvSpPr>
        <p:spPr>
          <a:xfrm>
            <a:off x="950976" y="3848109"/>
            <a:ext cx="2942234" cy="63349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636E85"/>
                </a:solidFill>
                <a:latin typeface="Segoe UI"/>
                <a:ea typeface="Segoe UI"/>
                <a:cs typeface="Segoe UI"/>
              </a:rPr>
              <a:t>Hours saved per month across the team, valued at a realistic hourly cost.</a:t>
            </a:r>
          </a:p>
        </p:txBody>
      </p:sp>
      <p:sp>
        <p:nvSpPr>
          <p:cNvPr id="14" name="Rounded Rectangle 13"/>
          <p:cNvSpPr/>
          <p:nvPr/>
        </p:nvSpPr>
        <p:spPr>
          <a:xfrm>
            <a:off x="4386986" y="2268752"/>
            <a:ext cx="3417722" cy="237744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24730" y="2637319"/>
            <a:ext cx="2942234" cy="671042"/>
          </a:xfrm>
          <a:prstGeom prst="rect">
            <a:avLst/>
          </a:prstGeom>
          <a:noFill/>
        </p:spPr>
        <p:txBody>
          <a:bodyPr wrap="square" lIns="0" rIns="0" tIns="0" bIns="0" anchor="t">
            <a:spAutoFit/>
          </a:bodyPr>
          <a:lstStyle/>
          <a:p>
            <a:pPr algn="l">
              <a:lnSpc>
                <a:spcPct val="100000"/>
              </a:lnSpc>
              <a:spcBef>
                <a:spcPts val="0"/>
              </a:spcBef>
              <a:spcAft>
                <a:spcPts val="0"/>
              </a:spcAft>
            </a:pPr>
            <a:r>
              <a:rPr sz="3800" b="1" i="0">
                <a:solidFill>
                  <a:srgbClr val="00B3A4"/>
                </a:solidFill>
                <a:latin typeface="Segoe UI"/>
                <a:ea typeface="Segoe UI"/>
                <a:cs typeface="Segoe UI"/>
              </a:rPr>
              <a:t>Quality</a:t>
            </a:r>
          </a:p>
        </p:txBody>
      </p:sp>
      <p:sp>
        <p:nvSpPr>
          <p:cNvPr id="16" name="Rectangle 15"/>
          <p:cNvSpPr/>
          <p:nvPr/>
        </p:nvSpPr>
        <p:spPr>
          <a:xfrm>
            <a:off x="4624730" y="3329456"/>
            <a:ext cx="384048" cy="4114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624730" y="3512336"/>
            <a:ext cx="2942234" cy="299197"/>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0E1E3C"/>
                </a:solidFill>
                <a:latin typeface="Segoe UI"/>
                <a:ea typeface="Segoe UI"/>
                <a:cs typeface="Segoe UI"/>
              </a:rPr>
              <a:t>Error and rework rate</a:t>
            </a:r>
          </a:p>
        </p:txBody>
      </p:sp>
      <p:sp>
        <p:nvSpPr>
          <p:cNvPr id="18" name="TextBox 17"/>
          <p:cNvSpPr txBox="1"/>
          <p:nvPr/>
        </p:nvSpPr>
        <p:spPr>
          <a:xfrm>
            <a:off x="4624730" y="3848109"/>
            <a:ext cx="2942234" cy="63349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636E85"/>
                </a:solidFill>
                <a:latin typeface="Segoe UI"/>
                <a:ea typeface="Segoe UI"/>
                <a:cs typeface="Segoe UI"/>
              </a:rPr>
              <a:t>Fewer mistakes, fewer escalations, fewer things done twice.</a:t>
            </a:r>
          </a:p>
        </p:txBody>
      </p:sp>
      <p:sp>
        <p:nvSpPr>
          <p:cNvPr id="19" name="Rounded Rectangle 18"/>
          <p:cNvSpPr/>
          <p:nvPr/>
        </p:nvSpPr>
        <p:spPr>
          <a:xfrm>
            <a:off x="8060740" y="2268752"/>
            <a:ext cx="3417722" cy="2377440"/>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98484" y="2637319"/>
            <a:ext cx="2942234" cy="671042"/>
          </a:xfrm>
          <a:prstGeom prst="rect">
            <a:avLst/>
          </a:prstGeom>
          <a:noFill/>
        </p:spPr>
        <p:txBody>
          <a:bodyPr wrap="square" lIns="0" rIns="0" tIns="0" bIns="0" anchor="t">
            <a:spAutoFit/>
          </a:bodyPr>
          <a:lstStyle/>
          <a:p>
            <a:pPr algn="l">
              <a:lnSpc>
                <a:spcPct val="100000"/>
              </a:lnSpc>
              <a:spcBef>
                <a:spcPts val="0"/>
              </a:spcBef>
              <a:spcAft>
                <a:spcPts val="0"/>
              </a:spcAft>
            </a:pPr>
            <a:r>
              <a:rPr sz="3800" b="1" i="0">
                <a:solidFill>
                  <a:srgbClr val="F5A623"/>
                </a:solidFill>
                <a:latin typeface="Segoe UI"/>
                <a:ea typeface="Segoe UI"/>
                <a:cs typeface="Segoe UI"/>
              </a:rPr>
              <a:t>Outcome</a:t>
            </a:r>
          </a:p>
        </p:txBody>
      </p:sp>
      <p:sp>
        <p:nvSpPr>
          <p:cNvPr id="21" name="Rectangle 20"/>
          <p:cNvSpPr/>
          <p:nvPr/>
        </p:nvSpPr>
        <p:spPr>
          <a:xfrm>
            <a:off x="8298484" y="3329456"/>
            <a:ext cx="384048" cy="411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298484" y="3512336"/>
            <a:ext cx="2942234" cy="299197"/>
          </a:xfrm>
          <a:prstGeom prst="rect">
            <a:avLst/>
          </a:prstGeom>
          <a:noFill/>
        </p:spPr>
        <p:txBody>
          <a:bodyPr wrap="square" lIns="0" rIns="0" tIns="0" bIns="0" anchor="t">
            <a:spAutoFit/>
          </a:bodyPr>
          <a:lstStyle/>
          <a:p>
            <a:pPr algn="l">
              <a:lnSpc>
                <a:spcPct val="114000"/>
              </a:lnSpc>
              <a:spcBef>
                <a:spcPts val="0"/>
              </a:spcBef>
              <a:spcAft>
                <a:spcPts val="0"/>
              </a:spcAft>
            </a:pPr>
            <a:r>
              <a:rPr sz="1300" b="1" i="0">
                <a:solidFill>
                  <a:srgbClr val="0E1E3C"/>
                </a:solidFill>
                <a:latin typeface="Segoe UI"/>
                <a:ea typeface="Segoe UI"/>
                <a:cs typeface="Segoe UI"/>
              </a:rPr>
              <a:t>Business result</a:t>
            </a:r>
          </a:p>
        </p:txBody>
      </p:sp>
      <p:sp>
        <p:nvSpPr>
          <p:cNvPr id="23" name="TextBox 22"/>
          <p:cNvSpPr txBox="1"/>
          <p:nvPr/>
        </p:nvSpPr>
        <p:spPr>
          <a:xfrm>
            <a:off x="8298484" y="3848109"/>
            <a:ext cx="2942234" cy="633490"/>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636E85"/>
                </a:solidFill>
                <a:latin typeface="Segoe UI"/>
                <a:ea typeface="Segoe UI"/>
                <a:cs typeface="Segoe UI"/>
              </a:rPr>
              <a:t>Revenue, retention, cost or risk moving in the right direction.</a:t>
            </a:r>
          </a:p>
        </p:txBody>
      </p:sp>
      <p:sp>
        <p:nvSpPr>
          <p:cNvPr id="24" name="Rounded Rectangle 23"/>
          <p:cNvSpPr/>
          <p:nvPr/>
        </p:nvSpPr>
        <p:spPr>
          <a:xfrm>
            <a:off x="713232" y="4920512"/>
            <a:ext cx="10765231" cy="566928"/>
          </a:xfrm>
          <a:prstGeom prst="roundRect">
            <a:avLst>
              <a:gd name="adj" fmla="val 6000"/>
            </a:avLst>
          </a:prstGeom>
          <a:solidFill>
            <a:srgbClr val="0E1E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lnSpc>
                <a:spcPct val="122000"/>
              </a:lnSpc>
              <a:spcBef>
                <a:spcPts val="0"/>
              </a:spcBef>
              <a:spcAft>
                <a:spcPts val="0"/>
              </a:spcAft>
            </a:pPr>
            <a:r>
              <a:rPr sz="1250" b="1" i="0">
                <a:solidFill>
                  <a:srgbClr val="FFFFFF"/>
                </a:solidFill>
                <a:latin typeface="Segoe UI"/>
                <a:ea typeface="Segoe UI"/>
                <a:cs typeface="Segoe UI"/>
              </a:rPr>
              <a:t>Always measure against a baseline captured before you started. Without a baseline, every result is an opinion.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13</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E05151"/>
                </a:solidFill>
                <a:latin typeface="Segoe UI"/>
                <a:ea typeface="Segoe UI"/>
                <a:cs typeface="Segoe UI"/>
              </a:rPr>
              <a:t>WHY PROJECTS FAIL</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Four failure patterns, and the fix</a:t>
            </a:r>
          </a:p>
        </p:txBody>
      </p:sp>
      <p:sp>
        <p:nvSpPr>
          <p:cNvPr id="7" name="Rectangle 6"/>
          <p:cNvSpPr/>
          <p:nvPr/>
        </p:nvSpPr>
        <p:spPr>
          <a:xfrm>
            <a:off x="713232" y="1412820"/>
            <a:ext cx="475488" cy="41148"/>
          </a:xfrm>
          <a:prstGeom prst="rect">
            <a:avLst/>
          </a:prstGeom>
          <a:solidFill>
            <a:srgbClr val="E051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Most AI projects fail for management reasons, not technical ones.</a:t>
            </a:r>
          </a:p>
        </p:txBody>
      </p:sp>
      <p:sp>
        <p:nvSpPr>
          <p:cNvPr id="9" name="Rounded Rectangle 8"/>
          <p:cNvSpPr/>
          <p:nvPr/>
        </p:nvSpPr>
        <p:spPr>
          <a:xfrm>
            <a:off x="713232" y="2195600"/>
            <a:ext cx="5254599" cy="1819135"/>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13232" y="2195600"/>
            <a:ext cx="45720" cy="1819135"/>
          </a:xfrm>
          <a:prstGeom prst="rect">
            <a:avLst/>
          </a:prstGeom>
          <a:solidFill>
            <a:srgbClr val="E051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4128" y="2433344"/>
            <a:ext cx="4705959" cy="329184"/>
          </a:xfrm>
          <a:prstGeom prst="rect">
            <a:avLst/>
          </a:prstGeom>
          <a:noFill/>
        </p:spPr>
        <p:txBody>
          <a:bodyPr wrap="square" lIns="0" rIns="0" tIns="0" bIns="0" anchor="t">
            <a:spAutoFit/>
          </a:bodyPr>
          <a:lstStyle/>
          <a:p>
            <a:pPr algn="l">
              <a:lnSpc>
                <a:spcPct val="122000"/>
              </a:lnSpc>
              <a:spcBef>
                <a:spcPts val="0"/>
              </a:spcBef>
              <a:spcAft>
                <a:spcPts val="0"/>
              </a:spcAft>
            </a:pPr>
            <a:r>
              <a:rPr sz="1400" b="1" i="0">
                <a:solidFill>
                  <a:srgbClr val="0E1E3C"/>
                </a:solidFill>
                <a:latin typeface="Segoe UI"/>
                <a:ea typeface="Segoe UI"/>
                <a:cs typeface="Segoe UI"/>
              </a:rPr>
              <a:t>Technology-first</a:t>
            </a:r>
          </a:p>
        </p:txBody>
      </p:sp>
      <p:sp>
        <p:nvSpPr>
          <p:cNvPr id="12" name="Rounded Rectangle 11"/>
          <p:cNvSpPr/>
          <p:nvPr/>
        </p:nvSpPr>
        <p:spPr>
          <a:xfrm>
            <a:off x="1024128" y="2963696"/>
            <a:ext cx="91440" cy="91440"/>
          </a:xfrm>
          <a:prstGeom prst="roundRect">
            <a:avLst>
              <a:gd name="adj" fmla="val 30000"/>
            </a:avLst>
          </a:prstGeom>
          <a:solidFill>
            <a:srgbClr val="E051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280160" y="2863112"/>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Started from the tool, not the problem</a:t>
            </a:r>
          </a:p>
        </p:txBody>
      </p:sp>
      <p:sp>
        <p:nvSpPr>
          <p:cNvPr id="14" name="Rounded Rectangle 13"/>
          <p:cNvSpPr/>
          <p:nvPr/>
        </p:nvSpPr>
        <p:spPr>
          <a:xfrm>
            <a:off x="1024128" y="3425208"/>
            <a:ext cx="91440" cy="91440"/>
          </a:xfrm>
          <a:prstGeom prst="roundRect">
            <a:avLst>
              <a:gd name="adj" fmla="val 30000"/>
            </a:avLst>
          </a:prstGeom>
          <a:solidFill>
            <a:srgbClr val="E051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280160" y="3324624"/>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Fix: write the problem statement first</a:t>
            </a:r>
          </a:p>
        </p:txBody>
      </p:sp>
      <p:sp>
        <p:nvSpPr>
          <p:cNvPr id="16" name="Rounded Rectangle 15"/>
          <p:cNvSpPr/>
          <p:nvPr/>
        </p:nvSpPr>
        <p:spPr>
          <a:xfrm>
            <a:off x="6223863" y="2195600"/>
            <a:ext cx="5254599" cy="1819135"/>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23863" y="2195600"/>
            <a:ext cx="45720" cy="181913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34759" y="2433344"/>
            <a:ext cx="4705959" cy="329184"/>
          </a:xfrm>
          <a:prstGeom prst="rect">
            <a:avLst/>
          </a:prstGeom>
          <a:noFill/>
        </p:spPr>
        <p:txBody>
          <a:bodyPr wrap="square" lIns="0" rIns="0" tIns="0" bIns="0" anchor="t">
            <a:spAutoFit/>
          </a:bodyPr>
          <a:lstStyle/>
          <a:p>
            <a:pPr algn="l">
              <a:lnSpc>
                <a:spcPct val="122000"/>
              </a:lnSpc>
              <a:spcBef>
                <a:spcPts val="0"/>
              </a:spcBef>
              <a:spcAft>
                <a:spcPts val="0"/>
              </a:spcAft>
            </a:pPr>
            <a:r>
              <a:rPr sz="1400" b="1" i="0">
                <a:solidFill>
                  <a:srgbClr val="0E1E3C"/>
                </a:solidFill>
                <a:latin typeface="Segoe UI"/>
                <a:ea typeface="Segoe UI"/>
                <a:cs typeface="Segoe UI"/>
              </a:rPr>
              <a:t>Pilot purgatory</a:t>
            </a:r>
          </a:p>
        </p:txBody>
      </p:sp>
      <p:sp>
        <p:nvSpPr>
          <p:cNvPr id="19" name="Rounded Rectangle 18"/>
          <p:cNvSpPr/>
          <p:nvPr/>
        </p:nvSpPr>
        <p:spPr>
          <a:xfrm>
            <a:off x="6534759" y="2963696"/>
            <a:ext cx="91440" cy="91440"/>
          </a:xfrm>
          <a:prstGeom prst="roundRect">
            <a:avLst>
              <a:gd name="adj" fmla="val 3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90791" y="2863112"/>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Endless demos, nothing in production</a:t>
            </a:r>
          </a:p>
        </p:txBody>
      </p:sp>
      <p:sp>
        <p:nvSpPr>
          <p:cNvPr id="21" name="Rounded Rectangle 20"/>
          <p:cNvSpPr/>
          <p:nvPr/>
        </p:nvSpPr>
        <p:spPr>
          <a:xfrm>
            <a:off x="6534759" y="3425208"/>
            <a:ext cx="91440" cy="91440"/>
          </a:xfrm>
          <a:prstGeom prst="roundRect">
            <a:avLst>
              <a:gd name="adj" fmla="val 3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90791" y="3324624"/>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Fix: set a go or stop date up front</a:t>
            </a:r>
          </a:p>
        </p:txBody>
      </p:sp>
      <p:sp>
        <p:nvSpPr>
          <p:cNvPr id="23" name="Rounded Rectangle 22"/>
          <p:cNvSpPr/>
          <p:nvPr/>
        </p:nvSpPr>
        <p:spPr>
          <a:xfrm>
            <a:off x="713232" y="4234192"/>
            <a:ext cx="5254599" cy="1819135"/>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13232" y="4234192"/>
            <a:ext cx="45720" cy="1819135"/>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24128" y="4471936"/>
            <a:ext cx="4705959" cy="329184"/>
          </a:xfrm>
          <a:prstGeom prst="rect">
            <a:avLst/>
          </a:prstGeom>
          <a:noFill/>
        </p:spPr>
        <p:txBody>
          <a:bodyPr wrap="square" lIns="0" rIns="0" tIns="0" bIns="0" anchor="t">
            <a:spAutoFit/>
          </a:bodyPr>
          <a:lstStyle/>
          <a:p>
            <a:pPr algn="l">
              <a:lnSpc>
                <a:spcPct val="122000"/>
              </a:lnSpc>
              <a:spcBef>
                <a:spcPts val="0"/>
              </a:spcBef>
              <a:spcAft>
                <a:spcPts val="0"/>
              </a:spcAft>
            </a:pPr>
            <a:r>
              <a:rPr sz="1400" b="1" i="0">
                <a:solidFill>
                  <a:srgbClr val="0E1E3C"/>
                </a:solidFill>
                <a:latin typeface="Segoe UI"/>
                <a:ea typeface="Segoe UI"/>
                <a:cs typeface="Segoe UI"/>
              </a:rPr>
              <a:t>No owner</a:t>
            </a:r>
          </a:p>
        </p:txBody>
      </p:sp>
      <p:sp>
        <p:nvSpPr>
          <p:cNvPr id="26" name="Rounded Rectangle 25"/>
          <p:cNvSpPr/>
          <p:nvPr/>
        </p:nvSpPr>
        <p:spPr>
          <a:xfrm>
            <a:off x="1024128" y="5002288"/>
            <a:ext cx="91440" cy="91440"/>
          </a:xfrm>
          <a:prstGeom prst="roundRect">
            <a:avLst>
              <a:gd name="adj" fmla="val 30000"/>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280160" y="4901704"/>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IT built it, nobody runs it</a:t>
            </a:r>
          </a:p>
        </p:txBody>
      </p:sp>
      <p:sp>
        <p:nvSpPr>
          <p:cNvPr id="28" name="Rounded Rectangle 27"/>
          <p:cNvSpPr/>
          <p:nvPr/>
        </p:nvSpPr>
        <p:spPr>
          <a:xfrm>
            <a:off x="1024128" y="5463800"/>
            <a:ext cx="91440" cy="91440"/>
          </a:xfrm>
          <a:prstGeom prst="roundRect">
            <a:avLst>
              <a:gd name="adj" fmla="val 30000"/>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280160" y="5363216"/>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Fix: name a business owner on day one</a:t>
            </a:r>
          </a:p>
        </p:txBody>
      </p:sp>
      <p:sp>
        <p:nvSpPr>
          <p:cNvPr id="30" name="Rounded Rectangle 29"/>
          <p:cNvSpPr/>
          <p:nvPr/>
        </p:nvSpPr>
        <p:spPr>
          <a:xfrm>
            <a:off x="6223863" y="4234192"/>
            <a:ext cx="5254599" cy="1819135"/>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223863" y="4234192"/>
            <a:ext cx="45720" cy="1819135"/>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34759" y="4471936"/>
            <a:ext cx="4705959" cy="329184"/>
          </a:xfrm>
          <a:prstGeom prst="rect">
            <a:avLst/>
          </a:prstGeom>
          <a:noFill/>
        </p:spPr>
        <p:txBody>
          <a:bodyPr wrap="square" lIns="0" rIns="0" tIns="0" bIns="0" anchor="t">
            <a:spAutoFit/>
          </a:bodyPr>
          <a:lstStyle/>
          <a:p>
            <a:pPr algn="l">
              <a:lnSpc>
                <a:spcPct val="122000"/>
              </a:lnSpc>
              <a:spcBef>
                <a:spcPts val="0"/>
              </a:spcBef>
              <a:spcAft>
                <a:spcPts val="0"/>
              </a:spcAft>
            </a:pPr>
            <a:r>
              <a:rPr sz="1400" b="1" i="0">
                <a:solidFill>
                  <a:srgbClr val="0E1E3C"/>
                </a:solidFill>
                <a:latin typeface="Segoe UI"/>
                <a:ea typeface="Segoe UI"/>
                <a:cs typeface="Segoe UI"/>
              </a:rPr>
              <a:t>No adoption</a:t>
            </a:r>
          </a:p>
        </p:txBody>
      </p:sp>
      <p:sp>
        <p:nvSpPr>
          <p:cNvPr id="33" name="Rounded Rectangle 32"/>
          <p:cNvSpPr/>
          <p:nvPr/>
        </p:nvSpPr>
        <p:spPr>
          <a:xfrm>
            <a:off x="6534759" y="5002288"/>
            <a:ext cx="91440" cy="91440"/>
          </a:xfrm>
          <a:prstGeom prst="roundRect">
            <a:avLst>
              <a:gd name="adj" fmla="val 30000"/>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790791" y="4901704"/>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It works, but nobody uses it</a:t>
            </a:r>
          </a:p>
        </p:txBody>
      </p:sp>
      <p:sp>
        <p:nvSpPr>
          <p:cNvPr id="35" name="Rounded Rectangle 34"/>
          <p:cNvSpPr/>
          <p:nvPr/>
        </p:nvSpPr>
        <p:spPr>
          <a:xfrm>
            <a:off x="6534759" y="5463800"/>
            <a:ext cx="91440" cy="91440"/>
          </a:xfrm>
          <a:prstGeom prst="roundRect">
            <a:avLst>
              <a:gd name="adj" fmla="val 30000"/>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790791" y="5363216"/>
            <a:ext cx="4376775" cy="461511"/>
          </a:xfrm>
          <a:prstGeom prst="rect">
            <a:avLst/>
          </a:prstGeom>
          <a:noFill/>
        </p:spPr>
        <p:txBody>
          <a:bodyPr wrap="square" lIns="0" rIns="0" tIns="0" bIns="0" anchor="t">
            <a:spAutoFit/>
          </a:bodyPr>
          <a:lstStyle/>
          <a:p>
            <a:pPr algn="l">
              <a:lnSpc>
                <a:spcPct val="124000"/>
              </a:lnSpc>
              <a:spcBef>
                <a:spcPts val="0"/>
              </a:spcBef>
              <a:spcAft>
                <a:spcPts val="0"/>
              </a:spcAft>
            </a:pPr>
            <a:r>
              <a:rPr sz="1150" b="0" i="0">
                <a:solidFill>
                  <a:srgbClr val="141C2E"/>
                </a:solidFill>
                <a:latin typeface="Segoe UI"/>
                <a:ea typeface="Segoe UI"/>
                <a:cs typeface="Segoe UI"/>
              </a:rPr>
              <a:t>Fix: involve users while building, not after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1E3C"/>
              </a:gs>
              <a:gs pos="100000">
                <a:srgbClr val="071228"/>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deco-bleed"/>
          <p:cNvSpPr/>
          <p:nvPr/>
        </p:nvSpPr>
        <p:spPr>
          <a:xfrm>
            <a:off x="9326880" y="914400"/>
            <a:ext cx="4206240" cy="4206240"/>
          </a:xfrm>
          <a:prstGeom prst="ellipse">
            <a:avLst/>
          </a:prstGeom>
          <a:solidFill>
            <a:srgbClr val="3B7AF7">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bleed"/>
          <p:cNvSpPr/>
          <p:nvPr/>
        </p:nvSpPr>
        <p:spPr>
          <a:xfrm>
            <a:off x="10972800" y="4023360"/>
            <a:ext cx="2743200" cy="2743200"/>
          </a:xfrm>
          <a:prstGeom prst="ellipse">
            <a:avLst/>
          </a:prstGeom>
          <a:solidFill>
            <a:srgbClr val="00B3A4">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87552" y="2395728"/>
            <a:ext cx="1737360" cy="914400"/>
          </a:xfrm>
          <a:prstGeom prst="rect">
            <a:avLst/>
          </a:prstGeom>
          <a:noFill/>
        </p:spPr>
        <p:txBody>
          <a:bodyPr wrap="square" lIns="0" rIns="0" tIns="0" bIns="0" anchor="t">
            <a:spAutoFit/>
          </a:bodyPr>
          <a:lstStyle/>
          <a:p>
            <a:pPr algn="l">
              <a:lnSpc>
                <a:spcPct val="92000"/>
              </a:lnSpc>
              <a:spcBef>
                <a:spcPts val="0"/>
              </a:spcBef>
              <a:spcAft>
                <a:spcPts val="0"/>
              </a:spcAft>
            </a:pPr>
            <a:r>
              <a:rPr sz="6400" b="1" i="0">
                <a:solidFill>
                  <a:srgbClr val="F5A623"/>
                </a:solidFill>
                <a:latin typeface="Segoe UI"/>
                <a:ea typeface="Segoe UI"/>
                <a:cs typeface="Segoe UI"/>
              </a:rPr>
              <a:t>03</a:t>
            </a:r>
          </a:p>
        </p:txBody>
      </p:sp>
      <p:sp>
        <p:nvSpPr>
          <p:cNvPr id="7" name="Rectangle 6"/>
          <p:cNvSpPr/>
          <p:nvPr/>
        </p:nvSpPr>
        <p:spPr>
          <a:xfrm>
            <a:off x="987552" y="3346704"/>
            <a:ext cx="603504"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999232" y="2487168"/>
            <a:ext cx="7680960" cy="706383"/>
          </a:xfrm>
          <a:prstGeom prst="rect">
            <a:avLst/>
          </a:prstGeom>
          <a:noFill/>
        </p:spPr>
        <p:txBody>
          <a:bodyPr wrap="square" lIns="0" rIns="0" tIns="0" bIns="0" anchor="t">
            <a:spAutoFit/>
          </a:bodyPr>
          <a:lstStyle/>
          <a:p>
            <a:pPr algn="l">
              <a:lnSpc>
                <a:spcPct val="108000"/>
              </a:lnSpc>
              <a:spcBef>
                <a:spcPts val="0"/>
              </a:spcBef>
              <a:spcAft>
                <a:spcPts val="0"/>
              </a:spcAft>
            </a:pPr>
            <a:r>
              <a:rPr sz="3400" b="1" i="0">
                <a:solidFill>
                  <a:srgbClr val="FFFFFF"/>
                </a:solidFill>
                <a:latin typeface="Segoe UI"/>
                <a:ea typeface="Segoe UI"/>
                <a:cs typeface="Segoe UI"/>
              </a:rPr>
              <a:t>Leadership and People</a:t>
            </a:r>
          </a:p>
        </p:txBody>
      </p:sp>
      <p:sp>
        <p:nvSpPr>
          <p:cNvPr id="9" name="TextBox 8"/>
          <p:cNvSpPr txBox="1"/>
          <p:nvPr/>
        </p:nvSpPr>
        <p:spPr>
          <a:xfrm>
            <a:off x="2999232" y="3266703"/>
            <a:ext cx="6949440" cy="822960"/>
          </a:xfrm>
          <a:prstGeom prst="rect">
            <a:avLst/>
          </a:prstGeom>
          <a:noFill/>
        </p:spPr>
        <p:txBody>
          <a:bodyPr wrap="square" lIns="0" rIns="0" tIns="0" bIns="0" anchor="t">
            <a:spAutoFit/>
          </a:bodyPr>
          <a:lstStyle/>
          <a:p>
            <a:pPr algn="l">
              <a:lnSpc>
                <a:spcPct val="134000"/>
              </a:lnSpc>
              <a:spcBef>
                <a:spcPts val="0"/>
              </a:spcBef>
              <a:spcAft>
                <a:spcPts val="0"/>
              </a:spcAft>
            </a:pPr>
            <a:r>
              <a:rPr sz="1350" b="0" i="0">
                <a:solidFill>
                  <a:srgbClr val="AFC1DE"/>
                </a:solidFill>
                <a:latin typeface="Segoe UI"/>
                <a:ea typeface="Segoe UI"/>
                <a:cs typeface="Segoe UI"/>
              </a:rPr>
              <a:t>The hardest part is never the technology.</a:t>
            </a:r>
          </a:p>
        </p:txBody>
      </p:sp>
      <p:sp>
        <p:nvSpPr>
          <p:cNvPr id="10" name="logo-plate"/>
          <p:cNvSpPr/>
          <p:nvPr/>
        </p:nvSpPr>
        <p:spPr>
          <a:xfrm>
            <a:off x="9512190" y="539496"/>
            <a:ext cx="1993704" cy="98755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college-logo" descr="logo-full.png"/>
          <p:cNvPicPr>
            <a:picLocks noChangeAspect="1"/>
          </p:cNvPicPr>
          <p:nvPr/>
        </p:nvPicPr>
        <p:blipFill>
          <a:blip r:embed="rId2"/>
          <a:stretch>
            <a:fillRect/>
          </a:stretch>
        </p:blipFill>
        <p:spPr>
          <a:xfrm>
            <a:off x="9631062" y="658368"/>
            <a:ext cx="1755961" cy="74980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15</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F5A623"/>
                </a:solidFill>
                <a:latin typeface="Segoe UI"/>
                <a:ea typeface="Segoe UI"/>
                <a:cs typeface="Segoe UI"/>
              </a:rPr>
              <a:t>LEADING THE CHANGE</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Six things leaders must actually do</a:t>
            </a:r>
          </a:p>
        </p:txBody>
      </p:sp>
      <p:sp>
        <p:nvSpPr>
          <p:cNvPr id="7" name="Rectangle 6"/>
          <p:cNvSpPr/>
          <p:nvPr/>
        </p:nvSpPr>
        <p:spPr>
          <a:xfrm>
            <a:off x="713232" y="1412820"/>
            <a:ext cx="475488" cy="411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Adoption is a leadership behaviour, not a training budget.</a:t>
            </a:r>
          </a:p>
        </p:txBody>
      </p:sp>
      <p:sp>
        <p:nvSpPr>
          <p:cNvPr id="9" name="Rounded Rectangle 8"/>
          <p:cNvSpPr/>
          <p:nvPr/>
        </p:nvSpPr>
        <p:spPr>
          <a:xfrm>
            <a:off x="713232" y="2504009"/>
            <a:ext cx="3417722" cy="150158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14146" y="2504923"/>
            <a:ext cx="3414304"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7552" y="2851481"/>
            <a:ext cx="2869082"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Go first</a:t>
            </a:r>
          </a:p>
        </p:txBody>
      </p:sp>
      <p:sp>
        <p:nvSpPr>
          <p:cNvPr id="12" name="TextBox 11"/>
          <p:cNvSpPr txBox="1"/>
          <p:nvPr/>
        </p:nvSpPr>
        <p:spPr>
          <a:xfrm>
            <a:off x="987552" y="3249912"/>
            <a:ext cx="2869082" cy="591087"/>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Use the tools yourself. Teams copy behaviour, not memos.</a:t>
            </a:r>
          </a:p>
        </p:txBody>
      </p:sp>
      <p:sp>
        <p:nvSpPr>
          <p:cNvPr id="13" name="Rounded Rectangle 12"/>
          <p:cNvSpPr/>
          <p:nvPr/>
        </p:nvSpPr>
        <p:spPr>
          <a:xfrm>
            <a:off x="4386986" y="2504009"/>
            <a:ext cx="3417722" cy="150158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87900" y="2504923"/>
            <a:ext cx="3414304"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61306" y="2851481"/>
            <a:ext cx="2869082"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Make it safe</a:t>
            </a:r>
          </a:p>
        </p:txBody>
      </p:sp>
      <p:sp>
        <p:nvSpPr>
          <p:cNvPr id="16" name="TextBox 15"/>
          <p:cNvSpPr txBox="1"/>
          <p:nvPr/>
        </p:nvSpPr>
        <p:spPr>
          <a:xfrm>
            <a:off x="4661306" y="3249912"/>
            <a:ext cx="2869082" cy="591087"/>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If people fear replacement, they hide what they automate.</a:t>
            </a:r>
          </a:p>
        </p:txBody>
      </p:sp>
      <p:sp>
        <p:nvSpPr>
          <p:cNvPr id="17" name="Rounded Rectangle 16"/>
          <p:cNvSpPr/>
          <p:nvPr/>
        </p:nvSpPr>
        <p:spPr>
          <a:xfrm>
            <a:off x="8060740" y="2504009"/>
            <a:ext cx="3417722" cy="150158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61655" y="2504923"/>
            <a:ext cx="3414304"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35060" y="2851481"/>
            <a:ext cx="2869082"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Be clear on limits</a:t>
            </a:r>
          </a:p>
        </p:txBody>
      </p:sp>
      <p:sp>
        <p:nvSpPr>
          <p:cNvPr id="20" name="TextBox 19"/>
          <p:cNvSpPr txBox="1"/>
          <p:nvPr/>
        </p:nvSpPr>
        <p:spPr>
          <a:xfrm>
            <a:off x="8335060" y="3249912"/>
            <a:ext cx="2869082" cy="591087"/>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Publish what is allowed, so people stop guessing.</a:t>
            </a:r>
          </a:p>
        </p:txBody>
      </p:sp>
      <p:sp>
        <p:nvSpPr>
          <p:cNvPr id="21" name="Rounded Rectangle 20"/>
          <p:cNvSpPr/>
          <p:nvPr/>
        </p:nvSpPr>
        <p:spPr>
          <a:xfrm>
            <a:off x="713232" y="4243336"/>
            <a:ext cx="3417722" cy="150158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14146" y="4244250"/>
            <a:ext cx="3414304"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87552" y="4590808"/>
            <a:ext cx="2869082"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Fund the learning</a:t>
            </a:r>
          </a:p>
        </p:txBody>
      </p:sp>
      <p:sp>
        <p:nvSpPr>
          <p:cNvPr id="24" name="TextBox 23"/>
          <p:cNvSpPr txBox="1"/>
          <p:nvPr/>
        </p:nvSpPr>
        <p:spPr>
          <a:xfrm>
            <a:off x="987552" y="4989239"/>
            <a:ext cx="2869082" cy="591087"/>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Protected time to practise beats another tool licence.</a:t>
            </a:r>
          </a:p>
        </p:txBody>
      </p:sp>
      <p:sp>
        <p:nvSpPr>
          <p:cNvPr id="25" name="Rounded Rectangle 24"/>
          <p:cNvSpPr/>
          <p:nvPr/>
        </p:nvSpPr>
        <p:spPr>
          <a:xfrm>
            <a:off x="4386986" y="4243336"/>
            <a:ext cx="3417722" cy="150158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387900" y="4244250"/>
            <a:ext cx="3414304"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661306" y="4590808"/>
            <a:ext cx="2869082"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Reward sharing</a:t>
            </a:r>
          </a:p>
        </p:txBody>
      </p:sp>
      <p:sp>
        <p:nvSpPr>
          <p:cNvPr id="28" name="TextBox 27"/>
          <p:cNvSpPr txBox="1"/>
          <p:nvPr/>
        </p:nvSpPr>
        <p:spPr>
          <a:xfrm>
            <a:off x="4661306" y="4989239"/>
            <a:ext cx="2869082" cy="591087"/>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Celebrate the person who shares a working prompt, not just the biggest project.</a:t>
            </a:r>
          </a:p>
        </p:txBody>
      </p:sp>
      <p:sp>
        <p:nvSpPr>
          <p:cNvPr id="29" name="Rounded Rectangle 28"/>
          <p:cNvSpPr/>
          <p:nvPr/>
        </p:nvSpPr>
        <p:spPr>
          <a:xfrm>
            <a:off x="8060740" y="4243336"/>
            <a:ext cx="3417722" cy="1501583"/>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061655" y="4244250"/>
            <a:ext cx="3414304"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35060" y="4590808"/>
            <a:ext cx="2869082" cy="343567"/>
          </a:xfrm>
          <a:prstGeom prst="rect">
            <a:avLst/>
          </a:prstGeom>
          <a:noFill/>
        </p:spPr>
        <p:txBody>
          <a:bodyPr wrap="square" lIns="0" rIns="0" tIns="0" bIns="0" anchor="t">
            <a:spAutoFit/>
          </a:bodyPr>
          <a:lstStyle/>
          <a:p>
            <a:pPr algn="l">
              <a:lnSpc>
                <a:spcPct val="114000"/>
              </a:lnSpc>
              <a:spcBef>
                <a:spcPts val="0"/>
              </a:spcBef>
              <a:spcAft>
                <a:spcPts val="0"/>
              </a:spcAft>
            </a:pPr>
            <a:r>
              <a:rPr sz="1450" b="1" i="0">
                <a:solidFill>
                  <a:srgbClr val="0E1E3C"/>
                </a:solidFill>
                <a:latin typeface="Segoe UI"/>
                <a:ea typeface="Segoe UI"/>
                <a:cs typeface="Segoe UI"/>
              </a:rPr>
              <a:t>Redesign the work</a:t>
            </a:r>
          </a:p>
        </p:txBody>
      </p:sp>
      <p:sp>
        <p:nvSpPr>
          <p:cNvPr id="32" name="TextBox 31"/>
          <p:cNvSpPr txBox="1"/>
          <p:nvPr/>
        </p:nvSpPr>
        <p:spPr>
          <a:xfrm>
            <a:off x="8335060" y="4989239"/>
            <a:ext cx="2869082" cy="591087"/>
          </a:xfrm>
          <a:prstGeom prst="rect">
            <a:avLst/>
          </a:prstGeom>
          <a:noFill/>
        </p:spPr>
        <p:txBody>
          <a:bodyPr wrap="square" lIns="0" rIns="0" tIns="0" bIns="0" anchor="t">
            <a:spAutoFit/>
          </a:bodyPr>
          <a:lstStyle/>
          <a:p>
            <a:pPr algn="l">
              <a:lnSpc>
                <a:spcPct val="132000"/>
              </a:lnSpc>
              <a:spcBef>
                <a:spcPts val="0"/>
              </a:spcBef>
              <a:spcAft>
                <a:spcPts val="0"/>
              </a:spcAft>
            </a:pPr>
            <a:r>
              <a:rPr sz="1150" b="0" i="0">
                <a:solidFill>
                  <a:srgbClr val="636E85"/>
                </a:solidFill>
                <a:latin typeface="Segoe UI"/>
                <a:ea typeface="Segoe UI"/>
                <a:cs typeface="Segoe UI"/>
              </a:rPr>
              <a:t>If the process stays the same, you get a faster version of yesterday.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1E3C"/>
              </a:gs>
              <a:gs pos="100000">
                <a:srgbClr val="071228"/>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deco-bleed"/>
          <p:cNvSpPr/>
          <p:nvPr/>
        </p:nvSpPr>
        <p:spPr>
          <a:xfrm>
            <a:off x="9326880" y="914400"/>
            <a:ext cx="4206240" cy="4206240"/>
          </a:xfrm>
          <a:prstGeom prst="ellipse">
            <a:avLst/>
          </a:prstGeom>
          <a:solidFill>
            <a:srgbClr val="3B7AF7">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bleed"/>
          <p:cNvSpPr/>
          <p:nvPr/>
        </p:nvSpPr>
        <p:spPr>
          <a:xfrm>
            <a:off x="10972800" y="4023360"/>
            <a:ext cx="2743200" cy="2743200"/>
          </a:xfrm>
          <a:prstGeom prst="ellipse">
            <a:avLst/>
          </a:prstGeom>
          <a:solidFill>
            <a:srgbClr val="00B3A4">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87552" y="2395728"/>
            <a:ext cx="1737360" cy="914400"/>
          </a:xfrm>
          <a:prstGeom prst="rect">
            <a:avLst/>
          </a:prstGeom>
          <a:noFill/>
        </p:spPr>
        <p:txBody>
          <a:bodyPr wrap="square" lIns="0" rIns="0" tIns="0" bIns="0" anchor="t">
            <a:spAutoFit/>
          </a:bodyPr>
          <a:lstStyle/>
          <a:p>
            <a:pPr algn="l">
              <a:lnSpc>
                <a:spcPct val="92000"/>
              </a:lnSpc>
              <a:spcBef>
                <a:spcPts val="0"/>
              </a:spcBef>
              <a:spcAft>
                <a:spcPts val="0"/>
              </a:spcAft>
            </a:pPr>
            <a:r>
              <a:rPr sz="6400" b="1" i="0">
                <a:solidFill>
                  <a:srgbClr val="745CE0"/>
                </a:solidFill>
                <a:latin typeface="Segoe UI"/>
                <a:ea typeface="Segoe UI"/>
                <a:cs typeface="Segoe UI"/>
              </a:rPr>
              <a:t>04</a:t>
            </a:r>
          </a:p>
        </p:txBody>
      </p:sp>
      <p:sp>
        <p:nvSpPr>
          <p:cNvPr id="7" name="Rectangle 6"/>
          <p:cNvSpPr/>
          <p:nvPr/>
        </p:nvSpPr>
        <p:spPr>
          <a:xfrm>
            <a:off x="987552" y="3346704"/>
            <a:ext cx="603504"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999232" y="2487168"/>
            <a:ext cx="7680960" cy="706383"/>
          </a:xfrm>
          <a:prstGeom prst="rect">
            <a:avLst/>
          </a:prstGeom>
          <a:noFill/>
        </p:spPr>
        <p:txBody>
          <a:bodyPr wrap="square" lIns="0" rIns="0" tIns="0" bIns="0" anchor="t">
            <a:spAutoFit/>
          </a:bodyPr>
          <a:lstStyle/>
          <a:p>
            <a:pPr algn="l">
              <a:lnSpc>
                <a:spcPct val="108000"/>
              </a:lnSpc>
              <a:spcBef>
                <a:spcPts val="0"/>
              </a:spcBef>
              <a:spcAft>
                <a:spcPts val="0"/>
              </a:spcAft>
            </a:pPr>
            <a:r>
              <a:rPr sz="3400" b="1" i="0">
                <a:solidFill>
                  <a:srgbClr val="FFFFFF"/>
                </a:solidFill>
                <a:latin typeface="Segoe UI"/>
                <a:ea typeface="Segoe UI"/>
                <a:cs typeface="Segoe UI"/>
              </a:rPr>
              <a:t>From Employee to Force Multiplier</a:t>
            </a:r>
          </a:p>
        </p:txBody>
      </p:sp>
      <p:sp>
        <p:nvSpPr>
          <p:cNvPr id="9" name="TextBox 8"/>
          <p:cNvSpPr txBox="1"/>
          <p:nvPr/>
        </p:nvSpPr>
        <p:spPr>
          <a:xfrm>
            <a:off x="2999232" y="3266703"/>
            <a:ext cx="6949440" cy="822960"/>
          </a:xfrm>
          <a:prstGeom prst="rect">
            <a:avLst/>
          </a:prstGeom>
          <a:noFill/>
        </p:spPr>
        <p:txBody>
          <a:bodyPr wrap="square" lIns="0" rIns="0" tIns="0" bIns="0" anchor="t">
            <a:spAutoFit/>
          </a:bodyPr>
          <a:lstStyle/>
          <a:p>
            <a:pPr algn="l">
              <a:lnSpc>
                <a:spcPct val="134000"/>
              </a:lnSpc>
              <a:spcBef>
                <a:spcPts val="0"/>
              </a:spcBef>
              <a:spcAft>
                <a:spcPts val="0"/>
              </a:spcAft>
            </a:pPr>
            <a:r>
              <a:rPr sz="1350" b="0" i="0">
                <a:solidFill>
                  <a:srgbClr val="AFC1DE"/>
                </a:solidFill>
                <a:latin typeface="Segoe UI"/>
                <a:ea typeface="Segoe UI"/>
                <a:cs typeface="Segoe UI"/>
              </a:rPr>
              <a:t>Five levels of AI capability in a team.</a:t>
            </a:r>
          </a:p>
        </p:txBody>
      </p:sp>
      <p:sp>
        <p:nvSpPr>
          <p:cNvPr id="10" name="logo-plate"/>
          <p:cNvSpPr/>
          <p:nvPr/>
        </p:nvSpPr>
        <p:spPr>
          <a:xfrm>
            <a:off x="9512190" y="539496"/>
            <a:ext cx="1993704" cy="987552"/>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college-logo" descr="logo-full.png"/>
          <p:cNvPicPr>
            <a:picLocks noChangeAspect="1"/>
          </p:cNvPicPr>
          <p:nvPr/>
        </p:nvPicPr>
        <p:blipFill>
          <a:blip r:embed="rId2"/>
          <a:stretch>
            <a:fillRect/>
          </a:stretch>
        </p:blipFill>
        <p:spPr>
          <a:xfrm>
            <a:off x="9631062" y="658368"/>
            <a:ext cx="1755961" cy="74980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17</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745CE0"/>
                </a:solidFill>
                <a:latin typeface="Segoe UI"/>
                <a:ea typeface="Segoe UI"/>
                <a:cs typeface="Segoe UI"/>
              </a:rPr>
              <a:t>THE MATURITY LADDER</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Five levels to a super-efficient employee</a:t>
            </a:r>
          </a:p>
        </p:txBody>
      </p:sp>
      <p:sp>
        <p:nvSpPr>
          <p:cNvPr id="7" name="Rectangle 6"/>
          <p:cNvSpPr/>
          <p:nvPr/>
        </p:nvSpPr>
        <p:spPr>
          <a:xfrm>
            <a:off x="713232" y="1412820"/>
            <a:ext cx="475488" cy="41148"/>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Most people are stuck between level 1 and 2. The value is at 4 and 5.</a:t>
            </a:r>
          </a:p>
        </p:txBody>
      </p:sp>
      <p:sp>
        <p:nvSpPr>
          <p:cNvPr id="9" name="Rounded Rectangle 8"/>
          <p:cNvSpPr/>
          <p:nvPr/>
        </p:nvSpPr>
        <p:spPr>
          <a:xfrm>
            <a:off x="713232" y="5384195"/>
            <a:ext cx="10765231" cy="669132"/>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13232" y="5384195"/>
            <a:ext cx="45720" cy="669132"/>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950976" y="5517593"/>
            <a:ext cx="402336" cy="402336"/>
          </a:xfrm>
          <a:prstGeom prst="ellipse">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50976" y="5613605"/>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3B7AF7"/>
                </a:solidFill>
                <a:latin typeface="Segoe UI"/>
                <a:ea typeface="Segoe UI"/>
                <a:cs typeface="Segoe UI"/>
              </a:rPr>
              <a:t>L1</a:t>
            </a:r>
          </a:p>
        </p:txBody>
      </p:sp>
      <p:sp>
        <p:nvSpPr>
          <p:cNvPr id="13" name="TextBox 12"/>
          <p:cNvSpPr txBox="1"/>
          <p:nvPr/>
        </p:nvSpPr>
        <p:spPr>
          <a:xfrm>
            <a:off x="1536192" y="5601392"/>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Curious</a:t>
            </a:r>
          </a:p>
        </p:txBody>
      </p:sp>
      <p:sp>
        <p:nvSpPr>
          <p:cNvPr id="14" name="TextBox 13"/>
          <p:cNvSpPr txBox="1"/>
          <p:nvPr/>
        </p:nvSpPr>
        <p:spPr>
          <a:xfrm>
            <a:off x="4553712" y="5608255"/>
            <a:ext cx="6558991" cy="312451"/>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636E85"/>
                </a:solidFill>
                <a:latin typeface="Segoe UI"/>
                <a:ea typeface="Segoe UI"/>
                <a:cs typeface="Segoe UI"/>
              </a:rPr>
              <a:t>Has tried a chatbot once or twice. No routine, no habit.</a:t>
            </a:r>
          </a:p>
        </p:txBody>
      </p:sp>
      <p:sp>
        <p:nvSpPr>
          <p:cNvPr id="15" name="Rounded Rectangle 14"/>
          <p:cNvSpPr/>
          <p:nvPr/>
        </p:nvSpPr>
        <p:spPr>
          <a:xfrm>
            <a:off x="1520624" y="4587046"/>
            <a:ext cx="9957838" cy="669132"/>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520624" y="4587046"/>
            <a:ext cx="45720" cy="669132"/>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758368" y="4720444"/>
            <a:ext cx="402336" cy="402336"/>
          </a:xfrm>
          <a:prstGeom prst="ellipse">
            <a:avLst/>
          </a:prstGeom>
          <a:solidFill>
            <a:srgbClr val="E0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758368" y="4816456"/>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00B3A4"/>
                </a:solidFill>
                <a:latin typeface="Segoe UI"/>
                <a:ea typeface="Segoe UI"/>
                <a:cs typeface="Segoe UI"/>
              </a:rPr>
              <a:t>L2</a:t>
            </a:r>
          </a:p>
        </p:txBody>
      </p:sp>
      <p:sp>
        <p:nvSpPr>
          <p:cNvPr id="19" name="TextBox 18"/>
          <p:cNvSpPr txBox="1"/>
          <p:nvPr/>
        </p:nvSpPr>
        <p:spPr>
          <a:xfrm>
            <a:off x="2343584" y="4804243"/>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User</a:t>
            </a:r>
          </a:p>
        </p:txBody>
      </p:sp>
      <p:sp>
        <p:nvSpPr>
          <p:cNvPr id="20" name="TextBox 19"/>
          <p:cNvSpPr txBox="1"/>
          <p:nvPr/>
        </p:nvSpPr>
        <p:spPr>
          <a:xfrm>
            <a:off x="5361104" y="4811107"/>
            <a:ext cx="5751598" cy="312451"/>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636E85"/>
                </a:solidFill>
                <a:latin typeface="Segoe UI"/>
                <a:ea typeface="Segoe UI"/>
                <a:cs typeface="Segoe UI"/>
              </a:rPr>
              <a:t>Uses AI daily for drafting and summarising. Saves a few hours a week.</a:t>
            </a:r>
          </a:p>
        </p:txBody>
      </p:sp>
      <p:sp>
        <p:nvSpPr>
          <p:cNvPr id="21" name="Rounded Rectangle 20"/>
          <p:cNvSpPr/>
          <p:nvPr/>
        </p:nvSpPr>
        <p:spPr>
          <a:xfrm>
            <a:off x="2328016" y="3789897"/>
            <a:ext cx="9150446" cy="669132"/>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328016" y="3789897"/>
            <a:ext cx="45720" cy="6691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2565760" y="3923296"/>
            <a:ext cx="402336" cy="402336"/>
          </a:xfrm>
          <a:prstGeom prst="ellipse">
            <a:avLst/>
          </a:prstGeom>
          <a:solidFill>
            <a:srgbClr val="FEF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565760" y="4019308"/>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F5A623"/>
                </a:solidFill>
                <a:latin typeface="Segoe UI"/>
                <a:ea typeface="Segoe UI"/>
                <a:cs typeface="Segoe UI"/>
              </a:rPr>
              <a:t>L3</a:t>
            </a:r>
          </a:p>
        </p:txBody>
      </p:sp>
      <p:sp>
        <p:nvSpPr>
          <p:cNvPr id="25" name="TextBox 24"/>
          <p:cNvSpPr txBox="1"/>
          <p:nvPr/>
        </p:nvSpPr>
        <p:spPr>
          <a:xfrm>
            <a:off x="3150976" y="4007094"/>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Practitioner</a:t>
            </a:r>
          </a:p>
        </p:txBody>
      </p:sp>
      <p:sp>
        <p:nvSpPr>
          <p:cNvPr id="26" name="TextBox 25"/>
          <p:cNvSpPr txBox="1"/>
          <p:nvPr/>
        </p:nvSpPr>
        <p:spPr>
          <a:xfrm>
            <a:off x="6168496" y="4013958"/>
            <a:ext cx="4944206" cy="312451"/>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636E85"/>
                </a:solidFill>
                <a:latin typeface="Segoe UI"/>
                <a:ea typeface="Segoe UI"/>
                <a:cs typeface="Segoe UI"/>
              </a:rPr>
              <a:t>Writes strong prompts, saves and reuses them, checks output properly.</a:t>
            </a:r>
          </a:p>
        </p:txBody>
      </p:sp>
      <p:sp>
        <p:nvSpPr>
          <p:cNvPr id="27" name="Rounded Rectangle 26"/>
          <p:cNvSpPr/>
          <p:nvPr/>
        </p:nvSpPr>
        <p:spPr>
          <a:xfrm>
            <a:off x="3135409" y="2992749"/>
            <a:ext cx="8343054" cy="669132"/>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135409" y="2992749"/>
            <a:ext cx="45720" cy="669132"/>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3373153" y="3126147"/>
            <a:ext cx="402336" cy="402336"/>
          </a:xfrm>
          <a:prstGeom prst="ellipse">
            <a:avLst/>
          </a:prstGeom>
          <a:solidFill>
            <a:srgbClr val="EEE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373153" y="3222159"/>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745CE0"/>
                </a:solidFill>
                <a:latin typeface="Segoe UI"/>
                <a:ea typeface="Segoe UI"/>
                <a:cs typeface="Segoe UI"/>
              </a:rPr>
              <a:t>L4</a:t>
            </a:r>
          </a:p>
        </p:txBody>
      </p:sp>
      <p:sp>
        <p:nvSpPr>
          <p:cNvPr id="31" name="TextBox 30"/>
          <p:cNvSpPr txBox="1"/>
          <p:nvPr/>
        </p:nvSpPr>
        <p:spPr>
          <a:xfrm>
            <a:off x="3958369" y="3209946"/>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Builder</a:t>
            </a:r>
          </a:p>
        </p:txBody>
      </p:sp>
      <p:sp>
        <p:nvSpPr>
          <p:cNvPr id="32" name="TextBox 31"/>
          <p:cNvSpPr txBox="1"/>
          <p:nvPr/>
        </p:nvSpPr>
        <p:spPr>
          <a:xfrm>
            <a:off x="6975889" y="3144740"/>
            <a:ext cx="4136814" cy="456589"/>
          </a:xfrm>
          <a:prstGeom prst="rect">
            <a:avLst/>
          </a:prstGeom>
          <a:noFill/>
        </p:spPr>
        <p:txBody>
          <a:bodyPr wrap="square" lIns="0" rIns="0" tIns="0" bIns="0" anchor="t">
            <a:spAutoFit/>
          </a:bodyPr>
          <a:lstStyle/>
          <a:p>
            <a:pPr algn="l">
              <a:lnSpc>
                <a:spcPct val="126000"/>
              </a:lnSpc>
              <a:spcBef>
                <a:spcPts val="0"/>
              </a:spcBef>
              <a:spcAft>
                <a:spcPts val="0"/>
              </a:spcAft>
            </a:pPr>
            <a:r>
              <a:rPr sz="950" b="0" i="0">
                <a:solidFill>
                  <a:srgbClr val="636E85"/>
                </a:solidFill>
                <a:latin typeface="Segoe UI"/>
                <a:ea typeface="Segoe UI"/>
                <a:cs typeface="Segoe UI"/>
              </a:rPr>
              <a:t>Automates whole workflows with no-code tools. Saves the team's time, not just their own.</a:t>
            </a:r>
          </a:p>
        </p:txBody>
      </p:sp>
      <p:sp>
        <p:nvSpPr>
          <p:cNvPr id="33" name="Rounded Rectangle 32"/>
          <p:cNvSpPr/>
          <p:nvPr/>
        </p:nvSpPr>
        <p:spPr>
          <a:xfrm>
            <a:off x="3942801" y="2195600"/>
            <a:ext cx="7535661" cy="669132"/>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942801" y="2195600"/>
            <a:ext cx="45720" cy="669132"/>
          </a:xfrm>
          <a:prstGeom prst="rect">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4180545" y="2328998"/>
            <a:ext cx="402336" cy="402336"/>
          </a:xfrm>
          <a:prstGeom prst="ellipse">
            <a:avLst/>
          </a:prstGeom>
          <a:solidFill>
            <a:srgbClr val="E7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180545" y="2425010"/>
            <a:ext cx="402336" cy="237744"/>
          </a:xfrm>
          <a:prstGeom prst="rect">
            <a:avLst/>
          </a:prstGeom>
          <a:noFill/>
        </p:spPr>
        <p:txBody>
          <a:bodyPr wrap="square" lIns="0" rIns="0" tIns="0" bIns="0" anchor="t">
            <a:spAutoFit/>
          </a:bodyPr>
          <a:lstStyle/>
          <a:p>
            <a:pPr algn="ctr">
              <a:lnSpc>
                <a:spcPct val="122000"/>
              </a:lnSpc>
              <a:spcBef>
                <a:spcPts val="0"/>
              </a:spcBef>
              <a:spcAft>
                <a:spcPts val="0"/>
              </a:spcAft>
            </a:pPr>
            <a:r>
              <a:rPr sz="1150" b="1" i="0">
                <a:solidFill>
                  <a:srgbClr val="27A06A"/>
                </a:solidFill>
                <a:latin typeface="Segoe UI"/>
                <a:ea typeface="Segoe UI"/>
                <a:cs typeface="Segoe UI"/>
              </a:rPr>
              <a:t>L5</a:t>
            </a:r>
          </a:p>
        </p:txBody>
      </p:sp>
      <p:sp>
        <p:nvSpPr>
          <p:cNvPr id="37" name="TextBox 36"/>
          <p:cNvSpPr txBox="1"/>
          <p:nvPr/>
        </p:nvSpPr>
        <p:spPr>
          <a:xfrm>
            <a:off x="4765761" y="2412797"/>
            <a:ext cx="2834640" cy="326179"/>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0E1E3C"/>
                </a:solidFill>
                <a:latin typeface="Segoe UI"/>
                <a:ea typeface="Segoe UI"/>
                <a:cs typeface="Segoe UI"/>
              </a:rPr>
              <a:t>Multiplier</a:t>
            </a:r>
          </a:p>
        </p:txBody>
      </p:sp>
      <p:sp>
        <p:nvSpPr>
          <p:cNvPr id="38" name="TextBox 37"/>
          <p:cNvSpPr txBox="1"/>
          <p:nvPr/>
        </p:nvSpPr>
        <p:spPr>
          <a:xfrm>
            <a:off x="7783281" y="2347592"/>
            <a:ext cx="3329421" cy="456589"/>
          </a:xfrm>
          <a:prstGeom prst="rect">
            <a:avLst/>
          </a:prstGeom>
          <a:noFill/>
        </p:spPr>
        <p:txBody>
          <a:bodyPr wrap="square" lIns="0" rIns="0" tIns="0" bIns="0" anchor="t">
            <a:spAutoFit/>
          </a:bodyPr>
          <a:lstStyle/>
          <a:p>
            <a:pPr algn="l">
              <a:lnSpc>
                <a:spcPct val="126000"/>
              </a:lnSpc>
              <a:spcBef>
                <a:spcPts val="0"/>
              </a:spcBef>
              <a:spcAft>
                <a:spcPts val="0"/>
              </a:spcAft>
            </a:pPr>
            <a:r>
              <a:rPr sz="950" b="0" i="0">
                <a:solidFill>
                  <a:srgbClr val="636E85"/>
                </a:solidFill>
                <a:latin typeface="Segoe UI"/>
                <a:ea typeface="Segoe UI"/>
                <a:cs typeface="Segoe UI"/>
              </a:rPr>
              <a:t>Redesigns how the team works and teaches others. Raises the whole function.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18</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745CE0"/>
                </a:solidFill>
                <a:latin typeface="Segoe UI"/>
                <a:ea typeface="Segoe UI"/>
                <a:cs typeface="Segoe UI"/>
              </a:rPr>
              <a:t>MOVING UP A LEVEL</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What it takes at each step</a:t>
            </a:r>
          </a:p>
        </p:txBody>
      </p:sp>
      <p:sp>
        <p:nvSpPr>
          <p:cNvPr id="7" name="Rectangle 6"/>
          <p:cNvSpPr/>
          <p:nvPr/>
        </p:nvSpPr>
        <p:spPr>
          <a:xfrm>
            <a:off x="713232" y="1412820"/>
            <a:ext cx="475488" cy="41148"/>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8" name="Table 7"/>
          <p:cNvGraphicFramePr>
            <a:graphicFrameLocks noGrp="1"/>
          </p:cNvGraphicFramePr>
          <p:nvPr/>
        </p:nvGraphicFramePr>
        <p:xfrm>
          <a:off x="713232" y="1819728"/>
          <a:ext cx="10765230" cy="3310125"/>
        </p:xfrm>
        <a:graphic>
          <a:graphicData uri="http://schemas.openxmlformats.org/drawingml/2006/table">
            <a:tbl>
              <a:tblPr firstRow="1" bandRow="0" bandCol="0" firstCol="0" lastRow="0" lastCol="0">
                <a:tableStyleId>{5C22544A-7EE6-4342-B048-85BDC9FD1C3A}</a:tableStyleId>
              </a:tblPr>
              <a:tblGrid>
                <a:gridCol w="1749350"/>
                <a:gridCol w="2825873"/>
                <a:gridCol w="2691307"/>
                <a:gridCol w="3498700"/>
              </a:tblGrid>
              <a:tr h="457200">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Level</a:t>
                      </a:r>
                    </a:p>
                  </a:txBody>
                  <a:tcPr marL="164592" marR="164592" marT="91440" marB="91440" anchor="ctr">
                    <a:solidFill>
                      <a:srgbClr val="0E1E3C"/>
                    </a:solidFill>
                  </a:tcPr>
                </a:tc>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Behaviour</a:t>
                      </a:r>
                    </a:p>
                  </a:txBody>
                  <a:tcPr marL="164592" marR="164592" marT="91440" marB="91440" anchor="ctr">
                    <a:solidFill>
                      <a:srgbClr val="0E1E3C"/>
                    </a:solidFill>
                  </a:tcPr>
                </a:tc>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Value created</a:t>
                      </a:r>
                    </a:p>
                  </a:txBody>
                  <a:tcPr marL="164592" marR="164592" marT="91440" marB="91440" anchor="ctr">
                    <a:solidFill>
                      <a:srgbClr val="0E1E3C"/>
                    </a:solidFill>
                  </a:tcPr>
                </a:tc>
                <a:tc>
                  <a:txBody>
                    <a:bodyPr wrap="square"/>
                    <a:lstStyle/>
                    <a:p>
                      <a:pPr algn="l">
                        <a:lnSpc>
                          <a:spcPct val="115000"/>
                        </a:lnSpc>
                        <a:spcBef>
                          <a:spcPts val="0"/>
                        </a:spcBef>
                        <a:spcAft>
                          <a:spcPts val="0"/>
                        </a:spcAft>
                      </a:pPr>
                      <a:r>
                        <a:rPr sz="1150" b="1" i="0">
                          <a:solidFill>
                            <a:srgbClr val="FFFFFF"/>
                          </a:solidFill>
                          <a:latin typeface="Segoe UI"/>
                          <a:ea typeface="Segoe UI"/>
                          <a:cs typeface="Segoe UI"/>
                        </a:rPr>
                        <a:t>What unlocks the next level</a:t>
                      </a:r>
                    </a:p>
                  </a:txBody>
                  <a:tcPr marL="164592" marR="164592" marT="91440" marB="91440" anchor="ctr">
                    <a:solidFill>
                      <a:srgbClr val="0E1E3C"/>
                    </a:solidFill>
                  </a:tcPr>
                </a:tc>
              </a:tr>
              <a:tr h="570585">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1 · Curious</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Occasional experiments</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Almost none</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A relevant use case in their own job</a:t>
                      </a:r>
                    </a:p>
                  </a:txBody>
                  <a:tcPr marL="164592" marR="164592" marT="82296" marB="82296" anchor="ctr">
                    <a:solidFill>
                      <a:srgbClr val="FFFFFF"/>
                    </a:solidFill>
                  </a:tcPr>
                </a:tc>
              </a:tr>
              <a:tr h="570585">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2 · User</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Daily drafting and summarising</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A few hours a week</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Learning the five-part prompt recipe</a:t>
                      </a:r>
                    </a:p>
                  </a:txBody>
                  <a:tcPr marL="164592" marR="164592" marT="82296" marB="82296" anchor="ctr">
                    <a:solidFill>
                      <a:srgbClr val="F6F8FB"/>
                    </a:solidFill>
                  </a:tcPr>
                </a:tc>
              </a:tr>
              <a:tr h="570585">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3 · Practitioner</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Reusable prompts, verified output</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Consistent quality and speed</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Exposure to no-code automation</a:t>
                      </a:r>
                    </a:p>
                  </a:txBody>
                  <a:tcPr marL="164592" marR="164592" marT="82296" marB="82296" anchor="ctr">
                    <a:solidFill>
                      <a:srgbClr val="FFFFFF"/>
                    </a:solidFill>
                  </a:tcPr>
                </a:tc>
              </a:tr>
              <a:tr h="570585">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4 · Builder</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Automates real workflows</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Whole-team time savings</a:t>
                      </a:r>
                    </a:p>
                  </a:txBody>
                  <a:tcPr marL="164592" marR="164592" marT="82296" marB="82296" anchor="ctr">
                    <a:solidFill>
                      <a:srgbClr val="F6F8FB"/>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Authority to change how work is done</a:t>
                      </a:r>
                    </a:p>
                  </a:txBody>
                  <a:tcPr marL="164592" marR="164592" marT="82296" marB="82296" anchor="ctr">
                    <a:solidFill>
                      <a:srgbClr val="F6F8FB"/>
                    </a:solidFill>
                  </a:tcPr>
                </a:tc>
              </a:tr>
              <a:tr h="570585">
                <a:tc>
                  <a:txBody>
                    <a:bodyPr wrap="square"/>
                    <a:lstStyle/>
                    <a:p>
                      <a:pPr algn="l">
                        <a:lnSpc>
                          <a:spcPct val="124000"/>
                        </a:lnSpc>
                        <a:spcBef>
                          <a:spcPts val="0"/>
                        </a:spcBef>
                        <a:spcAft>
                          <a:spcPts val="0"/>
                        </a:spcAft>
                      </a:pPr>
                      <a:r>
                        <a:rPr sz="1100" b="1" i="0">
                          <a:solidFill>
                            <a:srgbClr val="0E1E3C"/>
                          </a:solidFill>
                          <a:latin typeface="Segoe UI"/>
                          <a:ea typeface="Segoe UI"/>
                          <a:cs typeface="Segoe UI"/>
                        </a:rPr>
                        <a:t>5 · Multiplier</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Redesigns and teaches</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Function-level performance</a:t>
                      </a:r>
                    </a:p>
                  </a:txBody>
                  <a:tcPr marL="164592" marR="164592" marT="82296" marB="82296" anchor="ctr">
                    <a:solidFill>
                      <a:srgbClr val="FFFFFF"/>
                    </a:solidFill>
                  </a:tcPr>
                </a:tc>
                <a:tc>
                  <a:txBody>
                    <a:bodyPr wrap="square"/>
                    <a:lstStyle/>
                    <a:p>
                      <a:pPr algn="l">
                        <a:lnSpc>
                          <a:spcPct val="124000"/>
                        </a:lnSpc>
                        <a:spcBef>
                          <a:spcPts val="0"/>
                        </a:spcBef>
                        <a:spcAft>
                          <a:spcPts val="0"/>
                        </a:spcAft>
                      </a:pPr>
                      <a:r>
                        <a:rPr sz="1100" b="0" i="0">
                          <a:solidFill>
                            <a:srgbClr val="141C2E"/>
                          </a:solidFill>
                          <a:latin typeface="Segoe UI"/>
                          <a:ea typeface="Segoe UI"/>
                          <a:cs typeface="Segoe UI"/>
                        </a:rPr>
                        <a:t>A role that rewards enabling others</a:t>
                      </a:r>
                    </a:p>
                  </a:txBody>
                  <a:tcPr marL="164592" marR="164592" marT="82296" marB="82296" anchor="ctr">
                    <a:solidFill>
                      <a:srgbClr val="FFFFFF"/>
                    </a:solidFill>
                  </a:tcPr>
                </a:tc>
              </a:tr>
            </a:tbl>
          </a:graphicData>
        </a:graphic>
      </p:graphicFrame>
      <p:sp>
        <p:nvSpPr>
          <p:cNvPr id="9" name="Rounded Rectangle 8"/>
          <p:cNvSpPr/>
          <p:nvPr/>
        </p:nvSpPr>
        <p:spPr>
          <a:xfrm>
            <a:off x="713232" y="5349312"/>
            <a:ext cx="10765231" cy="566928"/>
          </a:xfrm>
          <a:prstGeom prst="roundRect">
            <a:avLst>
              <a:gd name="adj" fmla="val 6000"/>
            </a:avLst>
          </a:prstGeom>
          <a:solidFill>
            <a:srgbClr val="EEE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a:lstStyle/>
          <a:p>
            <a:pPr algn="l">
              <a:lnSpc>
                <a:spcPct val="122000"/>
              </a:lnSpc>
              <a:spcBef>
                <a:spcPts val="0"/>
              </a:spcBef>
              <a:spcAft>
                <a:spcPts val="0"/>
              </a:spcAft>
            </a:pPr>
            <a:r>
              <a:rPr sz="1200" b="1" i="0">
                <a:solidFill>
                  <a:srgbClr val="0E1E3C"/>
                </a:solidFill>
                <a:latin typeface="Segoe UI"/>
                <a:ea typeface="Segoe UI"/>
                <a:cs typeface="Segoe UI"/>
              </a:rPr>
              <a:t>Notice the pattern: the first three levels are skill. The last two are permission.</a:t>
            </a:r>
          </a:p>
        </p:txBody>
      </p:sp>
      <p:sp>
        <p:nvSpPr>
          <p:cNvPr id="10" name="Rectangle 9"/>
          <p:cNvSpPr/>
          <p:nvPr/>
        </p:nvSpPr>
        <p:spPr>
          <a:xfrm>
            <a:off x="713232" y="5349312"/>
            <a:ext cx="32004" cy="566928"/>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19</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00B3A4"/>
                </a:solidFill>
                <a:latin typeface="Segoe UI"/>
                <a:ea typeface="Segoe UI"/>
                <a:cs typeface="Segoe UI"/>
              </a:rPr>
              <a:t>THE SKILLS THAT TRAVEL</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What stays valuable as AI gets better</a:t>
            </a:r>
          </a:p>
        </p:txBody>
      </p:sp>
      <p:sp>
        <p:nvSpPr>
          <p:cNvPr id="7" name="Rectangle 6"/>
          <p:cNvSpPr/>
          <p:nvPr/>
        </p:nvSpPr>
        <p:spPr>
          <a:xfrm>
            <a:off x="713232" y="1412820"/>
            <a:ext cx="475488" cy="4114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Notice what is missing: producing the first draft.</a:t>
            </a:r>
          </a:p>
        </p:txBody>
      </p:sp>
      <p:sp>
        <p:nvSpPr>
          <p:cNvPr id="9" name="Rounded Rectangle 8"/>
          <p:cNvSpPr/>
          <p:nvPr/>
        </p:nvSpPr>
        <p:spPr>
          <a:xfrm>
            <a:off x="731520" y="2958604"/>
            <a:ext cx="118872" cy="118872"/>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2862592"/>
            <a:ext cx="4696815" cy="731519"/>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0E1E3C"/>
                </a:solidFill>
                <a:latin typeface="Segoe UI"/>
                <a:ea typeface="Segoe UI"/>
                <a:cs typeface="Segoe UI"/>
              </a:rPr>
              <a:t>Asking the right question</a:t>
            </a:r>
          </a:p>
          <a:p>
            <a:pPr algn="l">
              <a:lnSpc>
                <a:spcPct val="126000"/>
              </a:lnSpc>
              <a:spcBef>
                <a:spcPts val="300"/>
              </a:spcBef>
              <a:spcAft>
                <a:spcPts val="0"/>
              </a:spcAft>
            </a:pPr>
            <a:r>
              <a:rPr sz="1150" b="0" i="0">
                <a:solidFill>
                  <a:srgbClr val="636E85"/>
                </a:solidFill>
                <a:latin typeface="Segoe UI"/>
                <a:ea typeface="Segoe UI"/>
                <a:cs typeface="Segoe UI"/>
              </a:rPr>
              <a:t>Framing the problem is the work AI cannot do for you.</a:t>
            </a:r>
          </a:p>
        </p:txBody>
      </p:sp>
      <p:sp>
        <p:nvSpPr>
          <p:cNvPr id="11" name="Rounded Rectangle 10"/>
          <p:cNvSpPr/>
          <p:nvPr/>
        </p:nvSpPr>
        <p:spPr>
          <a:xfrm>
            <a:off x="731520" y="3818140"/>
            <a:ext cx="118872" cy="118872"/>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78992" y="3722128"/>
            <a:ext cx="4696815" cy="731519"/>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0E1E3C"/>
                </a:solidFill>
                <a:latin typeface="Segoe UI"/>
                <a:ea typeface="Segoe UI"/>
                <a:cs typeface="Segoe UI"/>
              </a:rPr>
              <a:t>Judging quality</a:t>
            </a:r>
          </a:p>
          <a:p>
            <a:pPr algn="l">
              <a:lnSpc>
                <a:spcPct val="126000"/>
              </a:lnSpc>
              <a:spcBef>
                <a:spcPts val="300"/>
              </a:spcBef>
              <a:spcAft>
                <a:spcPts val="0"/>
              </a:spcAft>
            </a:pPr>
            <a:r>
              <a:rPr sz="1150" b="0" i="0">
                <a:solidFill>
                  <a:srgbClr val="636E85"/>
                </a:solidFill>
                <a:latin typeface="Segoe UI"/>
                <a:ea typeface="Segoe UI"/>
                <a:cs typeface="Segoe UI"/>
              </a:rPr>
              <a:t>Knowing when a confident answer is actually wrong.</a:t>
            </a:r>
          </a:p>
        </p:txBody>
      </p:sp>
      <p:sp>
        <p:nvSpPr>
          <p:cNvPr id="13" name="Rounded Rectangle 12"/>
          <p:cNvSpPr/>
          <p:nvPr/>
        </p:nvSpPr>
        <p:spPr>
          <a:xfrm>
            <a:off x="731520" y="4677676"/>
            <a:ext cx="118872" cy="118872"/>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78992" y="4581664"/>
            <a:ext cx="4696815" cy="731519"/>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0E1E3C"/>
                </a:solidFill>
                <a:latin typeface="Segoe UI"/>
                <a:ea typeface="Segoe UI"/>
                <a:cs typeface="Segoe UI"/>
              </a:rPr>
              <a:t>Context</a:t>
            </a:r>
          </a:p>
          <a:p>
            <a:pPr algn="l">
              <a:lnSpc>
                <a:spcPct val="126000"/>
              </a:lnSpc>
              <a:spcBef>
                <a:spcPts val="300"/>
              </a:spcBef>
              <a:spcAft>
                <a:spcPts val="0"/>
              </a:spcAft>
            </a:pPr>
            <a:r>
              <a:rPr sz="1150" b="0" i="0">
                <a:solidFill>
                  <a:srgbClr val="636E85"/>
                </a:solidFill>
                <a:latin typeface="Segoe UI"/>
                <a:ea typeface="Segoe UI"/>
                <a:cs typeface="Segoe UI"/>
              </a:rPr>
              <a:t>Understanding your customers, your business, your constraints.</a:t>
            </a:r>
          </a:p>
        </p:txBody>
      </p:sp>
      <p:sp>
        <p:nvSpPr>
          <p:cNvPr id="15" name="Rounded Rectangle 14"/>
          <p:cNvSpPr/>
          <p:nvPr/>
        </p:nvSpPr>
        <p:spPr>
          <a:xfrm>
            <a:off x="6342735" y="2958604"/>
            <a:ext cx="118872" cy="118872"/>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90207" y="2862592"/>
            <a:ext cx="4696815" cy="731519"/>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0E1E3C"/>
                </a:solidFill>
                <a:latin typeface="Segoe UI"/>
                <a:ea typeface="Segoe UI"/>
                <a:cs typeface="Segoe UI"/>
              </a:rPr>
              <a:t>Decision-making</a:t>
            </a:r>
          </a:p>
          <a:p>
            <a:pPr algn="l">
              <a:lnSpc>
                <a:spcPct val="126000"/>
              </a:lnSpc>
              <a:spcBef>
                <a:spcPts val="300"/>
              </a:spcBef>
              <a:spcAft>
                <a:spcPts val="0"/>
              </a:spcAft>
            </a:pPr>
            <a:r>
              <a:rPr sz="1150" b="0" i="0">
                <a:solidFill>
                  <a:srgbClr val="636E85"/>
                </a:solidFill>
                <a:latin typeface="Segoe UI"/>
                <a:ea typeface="Segoe UI"/>
                <a:cs typeface="Segoe UI"/>
              </a:rPr>
              <a:t>Choosing under uncertainty, and owning the consequence.</a:t>
            </a:r>
          </a:p>
        </p:txBody>
      </p:sp>
      <p:sp>
        <p:nvSpPr>
          <p:cNvPr id="17" name="Rounded Rectangle 16"/>
          <p:cNvSpPr/>
          <p:nvPr/>
        </p:nvSpPr>
        <p:spPr>
          <a:xfrm>
            <a:off x="6342735" y="3818140"/>
            <a:ext cx="118872" cy="118872"/>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690207" y="3722128"/>
            <a:ext cx="4696815" cy="731519"/>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0E1E3C"/>
                </a:solidFill>
                <a:latin typeface="Segoe UI"/>
                <a:ea typeface="Segoe UI"/>
                <a:cs typeface="Segoe UI"/>
              </a:rPr>
              <a:t>Communication</a:t>
            </a:r>
          </a:p>
          <a:p>
            <a:pPr algn="l">
              <a:lnSpc>
                <a:spcPct val="126000"/>
              </a:lnSpc>
              <a:spcBef>
                <a:spcPts val="300"/>
              </a:spcBef>
              <a:spcAft>
                <a:spcPts val="0"/>
              </a:spcAft>
            </a:pPr>
            <a:r>
              <a:rPr sz="1150" b="0" i="0">
                <a:solidFill>
                  <a:srgbClr val="636E85"/>
                </a:solidFill>
                <a:latin typeface="Segoe UI"/>
                <a:ea typeface="Segoe UI"/>
                <a:cs typeface="Segoe UI"/>
              </a:rPr>
              <a:t>Persuading people, which is still a human-to-human act.</a:t>
            </a:r>
          </a:p>
        </p:txBody>
      </p:sp>
      <p:sp>
        <p:nvSpPr>
          <p:cNvPr id="19" name="Rounded Rectangle 18"/>
          <p:cNvSpPr/>
          <p:nvPr/>
        </p:nvSpPr>
        <p:spPr>
          <a:xfrm>
            <a:off x="6342735" y="4677676"/>
            <a:ext cx="118872" cy="118872"/>
          </a:xfrm>
          <a:prstGeom prst="roundRect">
            <a:avLst>
              <a:gd name="adj" fmla="val 30000"/>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690207" y="4581664"/>
            <a:ext cx="4696815" cy="731519"/>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0E1E3C"/>
                </a:solidFill>
                <a:latin typeface="Segoe UI"/>
                <a:ea typeface="Segoe UI"/>
                <a:cs typeface="Segoe UI"/>
              </a:rPr>
              <a:t>Learning speed</a:t>
            </a:r>
          </a:p>
          <a:p>
            <a:pPr algn="l">
              <a:lnSpc>
                <a:spcPct val="126000"/>
              </a:lnSpc>
              <a:spcBef>
                <a:spcPts val="300"/>
              </a:spcBef>
              <a:spcAft>
                <a:spcPts val="0"/>
              </a:spcAft>
            </a:pPr>
            <a:r>
              <a:rPr sz="1150" b="0" i="0">
                <a:solidFill>
                  <a:srgbClr val="636E85"/>
                </a:solidFill>
                <a:latin typeface="Segoe UI"/>
                <a:ea typeface="Segoe UI"/>
                <a:cs typeface="Segoe UI"/>
              </a:rPr>
              <a:t>The tools will change again. The ability to adapt is the real asset.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20</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3B7AF7"/>
                </a:solidFill>
                <a:latin typeface="Segoe UI"/>
                <a:ea typeface="Segoe UI"/>
                <a:cs typeface="Segoe UI"/>
              </a:rPr>
              <a:t>WHERE TO START</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A realistic first 90 days</a:t>
            </a:r>
          </a:p>
        </p:txBody>
      </p:sp>
      <p:sp>
        <p:nvSpPr>
          <p:cNvPr id="7" name="Rectangle 6"/>
          <p:cNvSpPr/>
          <p:nvPr/>
        </p:nvSpPr>
        <p:spPr>
          <a:xfrm>
            <a:off x="713232" y="1412820"/>
            <a:ext cx="475488" cy="41148"/>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Small, fast, measured - then repeat.</a:t>
            </a:r>
          </a:p>
        </p:txBody>
      </p:sp>
      <p:sp>
        <p:nvSpPr>
          <p:cNvPr id="9" name="Rectangle 8"/>
          <p:cNvSpPr/>
          <p:nvPr/>
        </p:nvSpPr>
        <p:spPr>
          <a:xfrm>
            <a:off x="2446477" y="3054711"/>
            <a:ext cx="7298740" cy="2540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08733" y="2827939"/>
            <a:ext cx="475488" cy="475488"/>
          </a:xfrm>
          <a:prstGeom prst="ellipse">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2933095"/>
            <a:ext cx="3466490"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1</a:t>
            </a:r>
          </a:p>
        </p:txBody>
      </p:sp>
      <p:sp>
        <p:nvSpPr>
          <p:cNvPr id="12" name="Rounded Rectangle 11"/>
          <p:cNvSpPr/>
          <p:nvPr/>
        </p:nvSpPr>
        <p:spPr>
          <a:xfrm>
            <a:off x="713232" y="3468019"/>
            <a:ext cx="3466490" cy="1222489"/>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3669187"/>
            <a:ext cx="3137306" cy="317485"/>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Days 1-30</a:t>
            </a:r>
          </a:p>
        </p:txBody>
      </p:sp>
      <p:sp>
        <p:nvSpPr>
          <p:cNvPr id="14" name="TextBox 13"/>
          <p:cNvSpPr txBox="1"/>
          <p:nvPr/>
        </p:nvSpPr>
        <p:spPr>
          <a:xfrm>
            <a:off x="877824" y="4023249"/>
            <a:ext cx="3137306" cy="520956"/>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Approve tools, publish a one-page policy, train everyone once.</a:t>
            </a:r>
          </a:p>
        </p:txBody>
      </p:sp>
      <p:sp>
        <p:nvSpPr>
          <p:cNvPr id="15" name="Oval 14"/>
          <p:cNvSpPr/>
          <p:nvPr/>
        </p:nvSpPr>
        <p:spPr>
          <a:xfrm>
            <a:off x="5858103" y="2827939"/>
            <a:ext cx="475488" cy="47548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362602" y="2933095"/>
            <a:ext cx="3466490"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2</a:t>
            </a:r>
          </a:p>
        </p:txBody>
      </p:sp>
      <p:sp>
        <p:nvSpPr>
          <p:cNvPr id="17" name="Rounded Rectangle 16"/>
          <p:cNvSpPr/>
          <p:nvPr/>
        </p:nvSpPr>
        <p:spPr>
          <a:xfrm>
            <a:off x="4362602" y="3468019"/>
            <a:ext cx="3466490" cy="1222489"/>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27194" y="3669187"/>
            <a:ext cx="3137306" cy="317485"/>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Days 31-60</a:t>
            </a:r>
          </a:p>
        </p:txBody>
      </p:sp>
      <p:sp>
        <p:nvSpPr>
          <p:cNvPr id="19" name="TextBox 18"/>
          <p:cNvSpPr txBox="1"/>
          <p:nvPr/>
        </p:nvSpPr>
        <p:spPr>
          <a:xfrm>
            <a:off x="4527194" y="4023249"/>
            <a:ext cx="3137306" cy="520956"/>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Pick two narrow use cases. Prototype both. Capture a baseline.</a:t>
            </a:r>
          </a:p>
        </p:txBody>
      </p:sp>
      <p:sp>
        <p:nvSpPr>
          <p:cNvPr id="20" name="Oval 19"/>
          <p:cNvSpPr/>
          <p:nvPr/>
        </p:nvSpPr>
        <p:spPr>
          <a:xfrm>
            <a:off x="9507474" y="2827939"/>
            <a:ext cx="475488" cy="475488"/>
          </a:xfrm>
          <a:prstGeom prst="ellipse">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011972" y="2933095"/>
            <a:ext cx="3466490" cy="274320"/>
          </a:xfrm>
          <a:prstGeom prst="rect">
            <a:avLst/>
          </a:prstGeom>
          <a:noFill/>
        </p:spPr>
        <p:txBody>
          <a:bodyPr wrap="square" lIns="0" rIns="0" tIns="0" bIns="0" anchor="t">
            <a:spAutoFit/>
          </a:bodyPr>
          <a:lstStyle/>
          <a:p>
            <a:pPr algn="ctr">
              <a:lnSpc>
                <a:spcPct val="122000"/>
              </a:lnSpc>
              <a:spcBef>
                <a:spcPts val="0"/>
              </a:spcBef>
              <a:spcAft>
                <a:spcPts val="0"/>
              </a:spcAft>
            </a:pPr>
            <a:r>
              <a:rPr sz="1500" b="1" i="0">
                <a:solidFill>
                  <a:srgbClr val="FFFFFF"/>
                </a:solidFill>
                <a:latin typeface="Segoe UI"/>
                <a:ea typeface="Segoe UI"/>
                <a:cs typeface="Segoe UI"/>
              </a:rPr>
              <a:t>3</a:t>
            </a:r>
          </a:p>
        </p:txBody>
      </p:sp>
      <p:sp>
        <p:nvSpPr>
          <p:cNvPr id="22" name="Rounded Rectangle 21"/>
          <p:cNvSpPr/>
          <p:nvPr/>
        </p:nvSpPr>
        <p:spPr>
          <a:xfrm>
            <a:off x="8011972" y="3468019"/>
            <a:ext cx="3466490" cy="1222489"/>
          </a:xfrm>
          <a:prstGeom prst="roundRect">
            <a:avLst>
              <a:gd name="adj" fmla="val 6000"/>
            </a:avLst>
          </a:prstGeom>
          <a:solidFill>
            <a:srgbClr val="F6F8FB"/>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76564" y="3669187"/>
            <a:ext cx="3137306" cy="317485"/>
          </a:xfrm>
          <a:prstGeom prst="rect">
            <a:avLst/>
          </a:prstGeom>
          <a:noFill/>
        </p:spPr>
        <p:txBody>
          <a:bodyPr wrap="square" lIns="0" rIns="0" tIns="0" bIns="0" anchor="t">
            <a:spAutoFit/>
          </a:bodyPr>
          <a:lstStyle/>
          <a:p>
            <a:pPr algn="ctr">
              <a:lnSpc>
                <a:spcPct val="114000"/>
              </a:lnSpc>
              <a:spcBef>
                <a:spcPts val="0"/>
              </a:spcBef>
              <a:spcAft>
                <a:spcPts val="0"/>
              </a:spcAft>
            </a:pPr>
            <a:r>
              <a:rPr sz="1300" b="1" i="0">
                <a:solidFill>
                  <a:srgbClr val="0E1E3C"/>
                </a:solidFill>
                <a:latin typeface="Segoe UI"/>
                <a:ea typeface="Segoe UI"/>
                <a:cs typeface="Segoe UI"/>
              </a:rPr>
              <a:t>Days 61-90</a:t>
            </a:r>
          </a:p>
        </p:txBody>
      </p:sp>
      <p:sp>
        <p:nvSpPr>
          <p:cNvPr id="24" name="TextBox 23"/>
          <p:cNvSpPr txBox="1"/>
          <p:nvPr/>
        </p:nvSpPr>
        <p:spPr>
          <a:xfrm>
            <a:off x="8176564" y="4023249"/>
            <a:ext cx="3137306" cy="520956"/>
          </a:xfrm>
          <a:prstGeom prst="rect">
            <a:avLst/>
          </a:prstGeom>
          <a:noFill/>
        </p:spPr>
        <p:txBody>
          <a:bodyPr wrap="square" lIns="0" rIns="0" tIns="0" bIns="0" anchor="t">
            <a:spAutoFit/>
          </a:bodyPr>
          <a:lstStyle/>
          <a:p>
            <a:pPr algn="ctr">
              <a:lnSpc>
                <a:spcPct val="128000"/>
              </a:lnSpc>
              <a:spcBef>
                <a:spcPts val="0"/>
              </a:spcBef>
              <a:spcAft>
                <a:spcPts val="0"/>
              </a:spcAft>
            </a:pPr>
            <a:r>
              <a:rPr sz="1100" b="0" i="0">
                <a:solidFill>
                  <a:srgbClr val="636E85"/>
                </a:solidFill>
                <a:latin typeface="Segoe UI"/>
                <a:ea typeface="Segoe UI"/>
                <a:cs typeface="Segoe UI"/>
              </a:rPr>
              <a:t>Keep the one that worked, kill the other, and publish the numbers.</a:t>
            </a:r>
          </a:p>
        </p:txBody>
      </p:sp>
      <p:sp>
        <p:nvSpPr>
          <p:cNvPr id="25" name="Rounded Rectangle 24"/>
          <p:cNvSpPr/>
          <p:nvPr/>
        </p:nvSpPr>
        <p:spPr>
          <a:xfrm>
            <a:off x="713232" y="5449824"/>
            <a:ext cx="10765231" cy="603504"/>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19456"/>
          <a:lstStyle/>
          <a:p>
            <a:pPr algn="l">
              <a:lnSpc>
                <a:spcPct val="122000"/>
              </a:lnSpc>
              <a:spcBef>
                <a:spcPts val="0"/>
              </a:spcBef>
              <a:spcAft>
                <a:spcPts val="0"/>
              </a:spcAft>
            </a:pPr>
            <a:r>
              <a:rPr sz="1200" b="1" i="0">
                <a:solidFill>
                  <a:srgbClr val="0E1E3C"/>
                </a:solidFill>
                <a:latin typeface="Segoe UI"/>
                <a:ea typeface="Segoe UI"/>
                <a:cs typeface="Segoe UI"/>
              </a:rPr>
              <a:t>Publishing real numbers - including the failure - is what earns budget and trust for the next round.</a:t>
            </a:r>
          </a:p>
        </p:txBody>
      </p:sp>
      <p:sp>
        <p:nvSpPr>
          <p:cNvPr id="26" name="Rectangle 25"/>
          <p:cNvSpPr/>
          <p:nvPr/>
        </p:nvSpPr>
        <p:spPr>
          <a:xfrm>
            <a:off x="713232" y="5449824"/>
            <a:ext cx="32004" cy="603504"/>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1E3C"/>
              </a:gs>
              <a:gs pos="100000">
                <a:srgbClr val="071228"/>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deco-bleed"/>
          <p:cNvSpPr/>
          <p:nvPr/>
        </p:nvSpPr>
        <p:spPr>
          <a:xfrm>
            <a:off x="-1280160" y="3657600"/>
            <a:ext cx="4572000" cy="4572000"/>
          </a:xfrm>
          <a:prstGeom prst="ellipse">
            <a:avLst/>
          </a:prstGeom>
          <a:solidFill>
            <a:srgbClr val="3B7AF7">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bleed"/>
          <p:cNvSpPr/>
          <p:nvPr/>
        </p:nvSpPr>
        <p:spPr>
          <a:xfrm>
            <a:off x="9692640" y="-1097280"/>
            <a:ext cx="4572000" cy="4572000"/>
          </a:xfrm>
          <a:prstGeom prst="ellipse">
            <a:avLst/>
          </a:prstGeom>
          <a:solidFill>
            <a:srgbClr val="00B3A4">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ogo-plate"/>
          <p:cNvSpPr/>
          <p:nvPr/>
        </p:nvSpPr>
        <p:spPr>
          <a:xfrm>
            <a:off x="9769160" y="502920"/>
            <a:ext cx="1736734" cy="87782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college-logo" descr="logo-full.png"/>
          <p:cNvPicPr>
            <a:picLocks noChangeAspect="1"/>
          </p:cNvPicPr>
          <p:nvPr/>
        </p:nvPicPr>
        <p:blipFill>
          <a:blip r:embed="rId2"/>
          <a:stretch>
            <a:fillRect/>
          </a:stretch>
        </p:blipFill>
        <p:spPr>
          <a:xfrm>
            <a:off x="9888032" y="621792"/>
            <a:ext cx="1498991" cy="640080"/>
          </a:xfrm>
          <a:prstGeom prst="rect">
            <a:avLst/>
          </a:prstGeom>
        </p:spPr>
      </p:pic>
      <p:sp>
        <p:nvSpPr>
          <p:cNvPr id="7" name="TextBox 6"/>
          <p:cNvSpPr txBox="1"/>
          <p:nvPr/>
        </p:nvSpPr>
        <p:spPr>
          <a:xfrm>
            <a:off x="1078992" y="1737360"/>
            <a:ext cx="10033711" cy="274320"/>
          </a:xfrm>
          <a:prstGeom prst="rect">
            <a:avLst/>
          </a:prstGeom>
          <a:noFill/>
        </p:spPr>
        <p:txBody>
          <a:bodyPr wrap="square" lIns="0" rIns="0" tIns="0" bIns="0" anchor="t">
            <a:spAutoFit/>
          </a:bodyPr>
          <a:lstStyle/>
          <a:p>
            <a:pPr algn="ctr">
              <a:lnSpc>
                <a:spcPct val="122000"/>
              </a:lnSpc>
              <a:spcBef>
                <a:spcPts val="0"/>
              </a:spcBef>
              <a:spcAft>
                <a:spcPts val="0"/>
              </a:spcAft>
            </a:pPr>
            <a:r>
              <a:rPr sz="1000" b="1" i="0" spc="200">
                <a:solidFill>
                  <a:srgbClr val="00B3A4"/>
                </a:solidFill>
                <a:latin typeface="Segoe UI"/>
                <a:ea typeface="Segoe UI"/>
                <a:cs typeface="Segoe UI"/>
              </a:rPr>
              <a:t>THE CLOSING THOUGHT</a:t>
            </a:r>
          </a:p>
        </p:txBody>
      </p:sp>
      <p:sp>
        <p:nvSpPr>
          <p:cNvPr id="8" name="TextBox 7"/>
          <p:cNvSpPr txBox="1"/>
          <p:nvPr/>
        </p:nvSpPr>
        <p:spPr>
          <a:xfrm>
            <a:off x="1554480" y="2286000"/>
            <a:ext cx="9082735" cy="2194560"/>
          </a:xfrm>
          <a:prstGeom prst="rect">
            <a:avLst/>
          </a:prstGeom>
          <a:noFill/>
        </p:spPr>
        <p:txBody>
          <a:bodyPr wrap="square" lIns="0" rIns="0" tIns="0" bIns="0" anchor="ctr">
            <a:spAutoFit/>
          </a:bodyPr>
          <a:lstStyle/>
          <a:p>
            <a:pPr algn="ctr">
              <a:lnSpc>
                <a:spcPct val="118000"/>
              </a:lnSpc>
              <a:spcBef>
                <a:spcPts val="0"/>
              </a:spcBef>
              <a:spcAft>
                <a:spcPts val="0"/>
              </a:spcAft>
            </a:pPr>
            <a:r>
              <a:rPr sz="3400" b="1" i="0">
                <a:solidFill>
                  <a:srgbClr val="FFFFFF"/>
                </a:solidFill>
                <a:latin typeface="Segoe UI"/>
                <a:ea typeface="Segoe UI"/>
                <a:cs typeface="Segoe UI"/>
              </a:rPr>
              <a:t>Strategy is not choosing a model. It is choosing which work to redesign.</a:t>
            </a:r>
          </a:p>
        </p:txBody>
      </p:sp>
      <p:sp>
        <p:nvSpPr>
          <p:cNvPr id="9" name="Rectangle 8"/>
          <p:cNvSpPr/>
          <p:nvPr/>
        </p:nvSpPr>
        <p:spPr>
          <a:xfrm>
            <a:off x="5775807" y="4553712"/>
            <a:ext cx="640080" cy="45720"/>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2011680" y="4791456"/>
            <a:ext cx="8168335" cy="457200"/>
          </a:xfrm>
          <a:prstGeom prst="rect">
            <a:avLst/>
          </a:prstGeom>
          <a:noFill/>
        </p:spPr>
        <p:txBody>
          <a:bodyPr wrap="square" lIns="0" rIns="0" tIns="0" bIns="0" anchor="t">
            <a:spAutoFit/>
          </a:bodyPr>
          <a:lstStyle/>
          <a:p>
            <a:pPr algn="ctr">
              <a:lnSpc>
                <a:spcPct val="130000"/>
              </a:lnSpc>
              <a:spcBef>
                <a:spcPts val="0"/>
              </a:spcBef>
              <a:spcAft>
                <a:spcPts val="0"/>
              </a:spcAft>
            </a:pPr>
            <a:r>
              <a:rPr sz="1250" b="0" i="0">
                <a:solidFill>
                  <a:srgbClr val="A9BBDA"/>
                </a:solidFill>
                <a:latin typeface="Segoe UI"/>
                <a:ea typeface="Segoe UI"/>
                <a:cs typeface="Segoe UI"/>
              </a:rPr>
              <a:t>The tools are available to everyone. What you do with them is not.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13232" y="6126480"/>
            <a:ext cx="10765231" cy="9525"/>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college-logo" descr="logo-mark.png"/>
          <p:cNvPicPr>
            <a:picLocks noChangeAspect="1"/>
          </p:cNvPicPr>
          <p:nvPr/>
        </p:nvPicPr>
        <p:blipFill>
          <a:blip r:embed="rId2"/>
          <a:stretch>
            <a:fillRect/>
          </a:stretch>
        </p:blipFill>
        <p:spPr>
          <a:xfrm>
            <a:off x="11203333" y="6199632"/>
            <a:ext cx="275129" cy="310896"/>
          </a:xfrm>
          <a:prstGeom prst="rect">
            <a:avLst/>
          </a:prstGeom>
        </p:spPr>
      </p:pic>
      <p:sp>
        <p:nvSpPr>
          <p:cNvPr id="4" name="TextBox 3"/>
          <p:cNvSpPr txBox="1"/>
          <p:nvPr/>
        </p:nvSpPr>
        <p:spPr>
          <a:xfrm>
            <a:off x="8240677" y="6272784"/>
            <a:ext cx="2651760" cy="219456"/>
          </a:xfrm>
          <a:prstGeom prst="rect">
            <a:avLst/>
          </a:prstGeom>
          <a:noFill/>
        </p:spPr>
        <p:txBody>
          <a:bodyPr wrap="square" lIns="0" rIns="0" tIns="0" bIns="0" anchor="t">
            <a:spAutoFit/>
          </a:bodyPr>
          <a:lstStyle/>
          <a:p>
            <a:pPr algn="r">
              <a:lnSpc>
                <a:spcPct val="122000"/>
              </a:lnSpc>
              <a:spcBef>
                <a:spcPts val="0"/>
              </a:spcBef>
              <a:spcAft>
                <a:spcPts val="0"/>
              </a:spcAft>
            </a:pPr>
            <a:r>
              <a:rPr sz="900" b="0" i="0">
                <a:solidFill>
                  <a:srgbClr val="636E85"/>
                </a:solidFill>
                <a:latin typeface="Segoe UI"/>
                <a:ea typeface="Segoe UI"/>
                <a:cs typeface="Segoe UI"/>
              </a:rPr>
              <a:t>Lingesh K  ·  OSI2509030</a:t>
            </a:r>
            <a:r>
              <a:rPr sz="900" b="0" i="0">
                <a:solidFill>
                  <a:srgbClr val="141C2E"/>
                </a:solidFill>
                <a:latin typeface="Segoe UI"/>
                <a:ea typeface="Segoe UI"/>
                <a:cs typeface="Segoe UI"/>
              </a:rPr>
              <a:t>     </a:t>
            </a:r>
            <a:r>
              <a:rPr sz="900" b="1" i="0">
                <a:solidFill>
                  <a:srgbClr val="0E1E3C"/>
                </a:solidFill>
                <a:latin typeface="Segoe UI"/>
                <a:ea typeface="Segoe UI"/>
                <a:cs typeface="Segoe UI"/>
              </a:rPr>
              <a:t>22</a:t>
            </a:r>
          </a:p>
        </p:txBody>
      </p:sp>
      <p:sp>
        <p:nvSpPr>
          <p:cNvPr id="5" name="TextBox 4"/>
          <p:cNvSpPr txBox="1"/>
          <p:nvPr/>
        </p:nvSpPr>
        <p:spPr>
          <a:xfrm>
            <a:off x="713232" y="566928"/>
            <a:ext cx="10765231" cy="219456"/>
          </a:xfrm>
          <a:prstGeom prst="rect">
            <a:avLst/>
          </a:prstGeom>
          <a:noFill/>
        </p:spPr>
        <p:txBody>
          <a:bodyPr wrap="square" lIns="0" rIns="0" tIns="0" bIns="0" anchor="t">
            <a:spAutoFit/>
          </a:bodyPr>
          <a:lstStyle/>
          <a:p>
            <a:pPr algn="l">
              <a:lnSpc>
                <a:spcPct val="122000"/>
              </a:lnSpc>
              <a:spcBef>
                <a:spcPts val="0"/>
              </a:spcBef>
              <a:spcAft>
                <a:spcPts val="0"/>
              </a:spcAft>
            </a:pPr>
            <a:r>
              <a:rPr sz="950" b="1" i="0" spc="160">
                <a:solidFill>
                  <a:srgbClr val="00B3A4"/>
                </a:solidFill>
                <a:latin typeface="Segoe UI"/>
                <a:ea typeface="Segoe UI"/>
                <a:cs typeface="Segoe UI"/>
              </a:rPr>
              <a:t>RECAP</a:t>
            </a:r>
          </a:p>
        </p:txBody>
      </p:sp>
      <p:sp>
        <p:nvSpPr>
          <p:cNvPr id="6" name="TextBox 5"/>
          <p:cNvSpPr txBox="1"/>
          <p:nvPr/>
        </p:nvSpPr>
        <p:spPr>
          <a:xfrm>
            <a:off x="713232" y="868680"/>
            <a:ext cx="10765231" cy="562428"/>
          </a:xfrm>
          <a:prstGeom prst="rect">
            <a:avLst/>
          </a:prstGeom>
          <a:noFill/>
        </p:spPr>
        <p:txBody>
          <a:bodyPr wrap="square" lIns="0" rIns="0" tIns="0" bIns="0" anchor="t">
            <a:spAutoFit/>
          </a:bodyPr>
          <a:lstStyle/>
          <a:p>
            <a:pPr algn="l">
              <a:lnSpc>
                <a:spcPct val="106000"/>
              </a:lnSpc>
              <a:spcBef>
                <a:spcPts val="0"/>
              </a:spcBef>
              <a:spcAft>
                <a:spcPts val="0"/>
              </a:spcAft>
            </a:pPr>
            <a:r>
              <a:rPr sz="2800" b="1" i="0">
                <a:solidFill>
                  <a:srgbClr val="0E1E3C"/>
                </a:solidFill>
                <a:latin typeface="Segoe UI"/>
                <a:ea typeface="Segoe UI"/>
                <a:cs typeface="Segoe UI"/>
              </a:rPr>
              <a:t>Key takeaways</a:t>
            </a:r>
          </a:p>
        </p:txBody>
      </p:sp>
      <p:sp>
        <p:nvSpPr>
          <p:cNvPr id="7" name="Rectangle 6"/>
          <p:cNvSpPr/>
          <p:nvPr/>
        </p:nvSpPr>
        <p:spPr>
          <a:xfrm>
            <a:off x="713232" y="1412820"/>
            <a:ext cx="475488" cy="41148"/>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3232" y="1618560"/>
            <a:ext cx="9258098" cy="457200"/>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636E85"/>
                </a:solidFill>
                <a:latin typeface="Segoe UI"/>
                <a:ea typeface="Segoe UI"/>
                <a:cs typeface="Segoe UI"/>
              </a:rPr>
              <a:t>Unit 5 in six lines.</a:t>
            </a:r>
          </a:p>
        </p:txBody>
      </p:sp>
      <p:sp>
        <p:nvSpPr>
          <p:cNvPr id="9" name="Rounded Rectangle 8"/>
          <p:cNvSpPr/>
          <p:nvPr/>
        </p:nvSpPr>
        <p:spPr>
          <a:xfrm>
            <a:off x="713232" y="2232176"/>
            <a:ext cx="5245455" cy="1151797"/>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13232" y="2232176"/>
            <a:ext cx="45720" cy="1151797"/>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1014984" y="2616051"/>
            <a:ext cx="384048" cy="384048"/>
          </a:xfrm>
          <a:prstGeom prst="ellipse">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14984" y="2702919"/>
            <a:ext cx="384048" cy="237744"/>
          </a:xfrm>
          <a:prstGeom prst="rect">
            <a:avLst/>
          </a:prstGeom>
          <a:noFill/>
        </p:spPr>
        <p:txBody>
          <a:bodyPr wrap="square" lIns="0" rIns="0" tIns="0" bIns="0" anchor="t">
            <a:spAutoFit/>
          </a:bodyPr>
          <a:lstStyle/>
          <a:p>
            <a:pPr algn="ctr">
              <a:lnSpc>
                <a:spcPct val="122000"/>
              </a:lnSpc>
              <a:spcBef>
                <a:spcPts val="0"/>
              </a:spcBef>
              <a:spcAft>
                <a:spcPts val="0"/>
              </a:spcAft>
            </a:pPr>
            <a:r>
              <a:rPr sz="1250" b="1" i="0">
                <a:solidFill>
                  <a:srgbClr val="3B7AF7"/>
                </a:solidFill>
                <a:latin typeface="Segoe UI"/>
                <a:ea typeface="Segoe UI"/>
                <a:cs typeface="Segoe UI"/>
              </a:rPr>
              <a:t>1</a:t>
            </a:r>
          </a:p>
        </p:txBody>
      </p:sp>
      <p:sp>
        <p:nvSpPr>
          <p:cNvPr id="13" name="TextBox 12"/>
          <p:cNvSpPr txBox="1"/>
          <p:nvPr/>
        </p:nvSpPr>
        <p:spPr>
          <a:xfrm>
            <a:off x="1609344" y="2435851"/>
            <a:ext cx="4111599" cy="835886"/>
          </a:xfrm>
          <a:prstGeom prst="rect">
            <a:avLst/>
          </a:prstGeom>
          <a:noFill/>
        </p:spPr>
        <p:txBody>
          <a:bodyPr wrap="square" lIns="0" rIns="0" tIns="0" bIns="0" anchor="t">
            <a:spAutoFit/>
          </a:bodyPr>
          <a:lstStyle/>
          <a:p>
            <a:pPr algn="l">
              <a:lnSpc>
                <a:spcPct val="116000"/>
              </a:lnSpc>
              <a:spcBef>
                <a:spcPts val="0"/>
              </a:spcBef>
              <a:spcAft>
                <a:spcPts val="0"/>
              </a:spcAft>
            </a:pPr>
            <a:r>
              <a:rPr sz="1350" b="1" i="0">
                <a:solidFill>
                  <a:srgbClr val="0E1E3C"/>
                </a:solidFill>
                <a:latin typeface="Segoe UI"/>
                <a:ea typeface="Segoe UI"/>
                <a:cs typeface="Segoe UI"/>
              </a:rPr>
              <a:t>Gen AI made content cheap and judgement valuable</a:t>
            </a:r>
          </a:p>
          <a:p>
            <a:pPr algn="l">
              <a:lnSpc>
                <a:spcPct val="126000"/>
              </a:lnSpc>
              <a:spcBef>
                <a:spcPts val="300"/>
              </a:spcBef>
              <a:spcAft>
                <a:spcPts val="0"/>
              </a:spcAft>
            </a:pPr>
            <a:r>
              <a:rPr sz="1150" b="0" i="0">
                <a:solidFill>
                  <a:srgbClr val="636E85"/>
                </a:solidFill>
                <a:latin typeface="Segoe UI"/>
                <a:ea typeface="Segoe UI"/>
                <a:cs typeface="Segoe UI"/>
              </a:rPr>
              <a:t>The bottleneck moved from producing to deciding.</a:t>
            </a:r>
          </a:p>
        </p:txBody>
      </p:sp>
      <p:sp>
        <p:nvSpPr>
          <p:cNvPr id="14" name="Rounded Rectangle 13"/>
          <p:cNvSpPr/>
          <p:nvPr/>
        </p:nvSpPr>
        <p:spPr>
          <a:xfrm>
            <a:off x="713232" y="3566853"/>
            <a:ext cx="5245455" cy="1151797"/>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13232" y="3566853"/>
            <a:ext cx="45720" cy="1151797"/>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014984" y="3950728"/>
            <a:ext cx="384048" cy="384048"/>
          </a:xfrm>
          <a:prstGeom prst="ellipse">
            <a:avLst/>
          </a:prstGeom>
          <a:solidFill>
            <a:srgbClr val="E0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14984" y="4037596"/>
            <a:ext cx="384048" cy="237744"/>
          </a:xfrm>
          <a:prstGeom prst="rect">
            <a:avLst/>
          </a:prstGeom>
          <a:noFill/>
        </p:spPr>
        <p:txBody>
          <a:bodyPr wrap="square" lIns="0" rIns="0" tIns="0" bIns="0" anchor="t">
            <a:spAutoFit/>
          </a:bodyPr>
          <a:lstStyle/>
          <a:p>
            <a:pPr algn="ctr">
              <a:lnSpc>
                <a:spcPct val="122000"/>
              </a:lnSpc>
              <a:spcBef>
                <a:spcPts val="0"/>
              </a:spcBef>
              <a:spcAft>
                <a:spcPts val="0"/>
              </a:spcAft>
            </a:pPr>
            <a:r>
              <a:rPr sz="1250" b="1" i="0">
                <a:solidFill>
                  <a:srgbClr val="00B3A4"/>
                </a:solidFill>
                <a:latin typeface="Segoe UI"/>
                <a:ea typeface="Segoe UI"/>
                <a:cs typeface="Segoe UI"/>
              </a:rPr>
              <a:t>2</a:t>
            </a:r>
          </a:p>
        </p:txBody>
      </p:sp>
      <p:sp>
        <p:nvSpPr>
          <p:cNvPr id="18" name="TextBox 17"/>
          <p:cNvSpPr txBox="1"/>
          <p:nvPr/>
        </p:nvSpPr>
        <p:spPr>
          <a:xfrm>
            <a:off x="1609344" y="3889957"/>
            <a:ext cx="4111599" cy="597028"/>
          </a:xfrm>
          <a:prstGeom prst="rect">
            <a:avLst/>
          </a:prstGeom>
          <a:noFill/>
        </p:spPr>
        <p:txBody>
          <a:bodyPr wrap="square" lIns="0" rIns="0" tIns="0" bIns="0" anchor="t">
            <a:spAutoFit/>
          </a:bodyPr>
          <a:lstStyle/>
          <a:p>
            <a:pPr algn="l">
              <a:lnSpc>
                <a:spcPct val="116000"/>
              </a:lnSpc>
              <a:spcBef>
                <a:spcPts val="0"/>
              </a:spcBef>
              <a:spcAft>
                <a:spcPts val="0"/>
              </a:spcAft>
            </a:pPr>
            <a:r>
              <a:rPr sz="1350" b="1" i="0">
                <a:solidFill>
                  <a:srgbClr val="0E1E3C"/>
                </a:solidFill>
                <a:latin typeface="Segoe UI"/>
                <a:ea typeface="Segoe UI"/>
                <a:cs typeface="Segoe UI"/>
              </a:rPr>
              <a:t>The model is not the moat</a:t>
            </a:r>
          </a:p>
          <a:p>
            <a:pPr algn="l">
              <a:lnSpc>
                <a:spcPct val="126000"/>
              </a:lnSpc>
              <a:spcBef>
                <a:spcPts val="300"/>
              </a:spcBef>
              <a:spcAft>
                <a:spcPts val="0"/>
              </a:spcAft>
            </a:pPr>
            <a:r>
              <a:rPr sz="1150" b="0" i="0">
                <a:solidFill>
                  <a:srgbClr val="636E85"/>
                </a:solidFill>
                <a:latin typeface="Segoe UI"/>
                <a:ea typeface="Segoe UI"/>
                <a:cs typeface="Segoe UI"/>
              </a:rPr>
              <a:t>Your data, workflow, people and trust are.</a:t>
            </a:r>
          </a:p>
        </p:txBody>
      </p:sp>
      <p:sp>
        <p:nvSpPr>
          <p:cNvPr id="19" name="Rounded Rectangle 18"/>
          <p:cNvSpPr/>
          <p:nvPr/>
        </p:nvSpPr>
        <p:spPr>
          <a:xfrm>
            <a:off x="713232" y="4901530"/>
            <a:ext cx="5245455" cy="1151797"/>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713232" y="4901530"/>
            <a:ext cx="45720" cy="115179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1014984" y="5285405"/>
            <a:ext cx="384048" cy="384048"/>
          </a:xfrm>
          <a:prstGeom prst="ellipse">
            <a:avLst/>
          </a:prstGeom>
          <a:solidFill>
            <a:srgbClr val="FEF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14984" y="5372273"/>
            <a:ext cx="384048" cy="237744"/>
          </a:xfrm>
          <a:prstGeom prst="rect">
            <a:avLst/>
          </a:prstGeom>
          <a:noFill/>
        </p:spPr>
        <p:txBody>
          <a:bodyPr wrap="square" lIns="0" rIns="0" tIns="0" bIns="0" anchor="t">
            <a:spAutoFit/>
          </a:bodyPr>
          <a:lstStyle/>
          <a:p>
            <a:pPr algn="ctr">
              <a:lnSpc>
                <a:spcPct val="122000"/>
              </a:lnSpc>
              <a:spcBef>
                <a:spcPts val="0"/>
              </a:spcBef>
              <a:spcAft>
                <a:spcPts val="0"/>
              </a:spcAft>
            </a:pPr>
            <a:r>
              <a:rPr sz="1250" b="1" i="0">
                <a:solidFill>
                  <a:srgbClr val="F5A623"/>
                </a:solidFill>
                <a:latin typeface="Segoe UI"/>
                <a:ea typeface="Segoe UI"/>
                <a:cs typeface="Segoe UI"/>
              </a:rPr>
              <a:t>3</a:t>
            </a:r>
          </a:p>
        </p:txBody>
      </p:sp>
      <p:sp>
        <p:nvSpPr>
          <p:cNvPr id="23" name="TextBox 22"/>
          <p:cNvSpPr txBox="1"/>
          <p:nvPr/>
        </p:nvSpPr>
        <p:spPr>
          <a:xfrm>
            <a:off x="1609344" y="5224634"/>
            <a:ext cx="4111599" cy="597028"/>
          </a:xfrm>
          <a:prstGeom prst="rect">
            <a:avLst/>
          </a:prstGeom>
          <a:noFill/>
        </p:spPr>
        <p:txBody>
          <a:bodyPr wrap="square" lIns="0" rIns="0" tIns="0" bIns="0" anchor="t">
            <a:spAutoFit/>
          </a:bodyPr>
          <a:lstStyle/>
          <a:p>
            <a:pPr algn="l">
              <a:lnSpc>
                <a:spcPct val="116000"/>
              </a:lnSpc>
              <a:spcBef>
                <a:spcPts val="0"/>
              </a:spcBef>
              <a:spcAft>
                <a:spcPts val="0"/>
              </a:spcAft>
            </a:pPr>
            <a:r>
              <a:rPr sz="1350" b="1" i="0">
                <a:solidFill>
                  <a:srgbClr val="0E1E3C"/>
                </a:solidFill>
                <a:latin typeface="Segoe UI"/>
                <a:ea typeface="Segoe UI"/>
                <a:cs typeface="Segoe UI"/>
              </a:rPr>
              <a:t>Adopt, embed, transform - run all three</a:t>
            </a:r>
          </a:p>
          <a:p>
            <a:pPr algn="l">
              <a:lnSpc>
                <a:spcPct val="126000"/>
              </a:lnSpc>
              <a:spcBef>
                <a:spcPts val="300"/>
              </a:spcBef>
              <a:spcAft>
                <a:spcPts val="0"/>
              </a:spcAft>
            </a:pPr>
            <a:r>
              <a:rPr sz="1150" b="0" i="0">
                <a:solidFill>
                  <a:srgbClr val="636E85"/>
                </a:solidFill>
                <a:latin typeface="Segoe UI"/>
                <a:ea typeface="Segoe UI"/>
                <a:cs typeface="Segoe UI"/>
              </a:rPr>
              <a:t>Different speeds, different levels of risk.</a:t>
            </a:r>
          </a:p>
        </p:txBody>
      </p:sp>
      <p:sp>
        <p:nvSpPr>
          <p:cNvPr id="24" name="Rounded Rectangle 23"/>
          <p:cNvSpPr/>
          <p:nvPr/>
        </p:nvSpPr>
        <p:spPr>
          <a:xfrm>
            <a:off x="6233007" y="2232176"/>
            <a:ext cx="5245455" cy="1151797"/>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33007" y="2232176"/>
            <a:ext cx="45720" cy="1151797"/>
          </a:xfrm>
          <a:prstGeom prst="rect">
            <a:avLst/>
          </a:prstGeom>
          <a:solidFill>
            <a:srgbClr val="745C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534759" y="2616051"/>
            <a:ext cx="384048" cy="384048"/>
          </a:xfrm>
          <a:prstGeom prst="ellipse">
            <a:avLst/>
          </a:prstGeom>
          <a:solidFill>
            <a:srgbClr val="EEE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34759" y="2702919"/>
            <a:ext cx="384048" cy="237744"/>
          </a:xfrm>
          <a:prstGeom prst="rect">
            <a:avLst/>
          </a:prstGeom>
          <a:noFill/>
        </p:spPr>
        <p:txBody>
          <a:bodyPr wrap="square" lIns="0" rIns="0" tIns="0" bIns="0" anchor="t">
            <a:spAutoFit/>
          </a:bodyPr>
          <a:lstStyle/>
          <a:p>
            <a:pPr algn="ctr">
              <a:lnSpc>
                <a:spcPct val="122000"/>
              </a:lnSpc>
              <a:spcBef>
                <a:spcPts val="0"/>
              </a:spcBef>
              <a:spcAft>
                <a:spcPts val="0"/>
              </a:spcAft>
            </a:pPr>
            <a:r>
              <a:rPr sz="1250" b="1" i="0">
                <a:solidFill>
                  <a:srgbClr val="745CE0"/>
                </a:solidFill>
                <a:latin typeface="Segoe UI"/>
                <a:ea typeface="Segoe UI"/>
                <a:cs typeface="Segoe UI"/>
              </a:rPr>
              <a:t>4</a:t>
            </a:r>
          </a:p>
        </p:txBody>
      </p:sp>
      <p:sp>
        <p:nvSpPr>
          <p:cNvPr id="28" name="TextBox 27"/>
          <p:cNvSpPr txBox="1"/>
          <p:nvPr/>
        </p:nvSpPr>
        <p:spPr>
          <a:xfrm>
            <a:off x="7129119" y="2555280"/>
            <a:ext cx="4111599" cy="597028"/>
          </a:xfrm>
          <a:prstGeom prst="rect">
            <a:avLst/>
          </a:prstGeom>
          <a:noFill/>
        </p:spPr>
        <p:txBody>
          <a:bodyPr wrap="square" lIns="0" rIns="0" tIns="0" bIns="0" anchor="t">
            <a:spAutoFit/>
          </a:bodyPr>
          <a:lstStyle/>
          <a:p>
            <a:pPr algn="l">
              <a:lnSpc>
                <a:spcPct val="116000"/>
              </a:lnSpc>
              <a:spcBef>
                <a:spcPts val="0"/>
              </a:spcBef>
              <a:spcAft>
                <a:spcPts val="0"/>
              </a:spcAft>
            </a:pPr>
            <a:r>
              <a:rPr sz="1350" b="1" i="0">
                <a:solidFill>
                  <a:srgbClr val="0E1E3C"/>
                </a:solidFill>
                <a:latin typeface="Segoe UI"/>
                <a:ea typeface="Segoe UI"/>
                <a:cs typeface="Segoe UI"/>
              </a:rPr>
              <a:t>Start from a problem with a number in it</a:t>
            </a:r>
          </a:p>
          <a:p>
            <a:pPr algn="l">
              <a:lnSpc>
                <a:spcPct val="126000"/>
              </a:lnSpc>
              <a:spcBef>
                <a:spcPts val="300"/>
              </a:spcBef>
              <a:spcAft>
                <a:spcPts val="0"/>
              </a:spcAft>
            </a:pPr>
            <a:r>
              <a:rPr sz="1150" b="0" i="0">
                <a:solidFill>
                  <a:srgbClr val="636E85"/>
                </a:solidFill>
                <a:latin typeface="Segoe UI"/>
                <a:ea typeface="Segoe UI"/>
                <a:cs typeface="Segoe UI"/>
              </a:rPr>
              <a:t>Frame it, prototype in weeks, measure against a baseline.</a:t>
            </a:r>
          </a:p>
        </p:txBody>
      </p:sp>
      <p:sp>
        <p:nvSpPr>
          <p:cNvPr id="29" name="Rounded Rectangle 28"/>
          <p:cNvSpPr/>
          <p:nvPr/>
        </p:nvSpPr>
        <p:spPr>
          <a:xfrm>
            <a:off x="6233007" y="3566853"/>
            <a:ext cx="5245455" cy="1151797"/>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33007" y="3566853"/>
            <a:ext cx="45720" cy="1151797"/>
          </a:xfrm>
          <a:prstGeom prst="rect">
            <a:avLst/>
          </a:prstGeom>
          <a:solidFill>
            <a:srgbClr val="27A0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534759" y="3950728"/>
            <a:ext cx="384048" cy="384048"/>
          </a:xfrm>
          <a:prstGeom prst="ellipse">
            <a:avLst/>
          </a:prstGeom>
          <a:solidFill>
            <a:srgbClr val="E7F5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34759" y="4037596"/>
            <a:ext cx="384048" cy="237744"/>
          </a:xfrm>
          <a:prstGeom prst="rect">
            <a:avLst/>
          </a:prstGeom>
          <a:noFill/>
        </p:spPr>
        <p:txBody>
          <a:bodyPr wrap="square" lIns="0" rIns="0" tIns="0" bIns="0" anchor="t">
            <a:spAutoFit/>
          </a:bodyPr>
          <a:lstStyle/>
          <a:p>
            <a:pPr algn="ctr">
              <a:lnSpc>
                <a:spcPct val="122000"/>
              </a:lnSpc>
              <a:spcBef>
                <a:spcPts val="0"/>
              </a:spcBef>
              <a:spcAft>
                <a:spcPts val="0"/>
              </a:spcAft>
            </a:pPr>
            <a:r>
              <a:rPr sz="1250" b="1" i="0">
                <a:solidFill>
                  <a:srgbClr val="27A06A"/>
                </a:solidFill>
                <a:latin typeface="Segoe UI"/>
                <a:ea typeface="Segoe UI"/>
                <a:cs typeface="Segoe UI"/>
              </a:rPr>
              <a:t>5</a:t>
            </a:r>
          </a:p>
        </p:txBody>
      </p:sp>
      <p:sp>
        <p:nvSpPr>
          <p:cNvPr id="33" name="TextBox 32"/>
          <p:cNvSpPr txBox="1"/>
          <p:nvPr/>
        </p:nvSpPr>
        <p:spPr>
          <a:xfrm>
            <a:off x="7129119" y="3889957"/>
            <a:ext cx="4111599" cy="597028"/>
          </a:xfrm>
          <a:prstGeom prst="rect">
            <a:avLst/>
          </a:prstGeom>
          <a:noFill/>
        </p:spPr>
        <p:txBody>
          <a:bodyPr wrap="square" lIns="0" rIns="0" tIns="0" bIns="0" anchor="t">
            <a:spAutoFit/>
          </a:bodyPr>
          <a:lstStyle/>
          <a:p>
            <a:pPr algn="l">
              <a:lnSpc>
                <a:spcPct val="116000"/>
              </a:lnSpc>
              <a:spcBef>
                <a:spcPts val="0"/>
              </a:spcBef>
              <a:spcAft>
                <a:spcPts val="0"/>
              </a:spcAft>
            </a:pPr>
            <a:r>
              <a:rPr sz="1350" b="1" i="0">
                <a:solidFill>
                  <a:srgbClr val="0E1E3C"/>
                </a:solidFill>
                <a:latin typeface="Segoe UI"/>
                <a:ea typeface="Segoe UI"/>
                <a:cs typeface="Segoe UI"/>
              </a:rPr>
              <a:t>Most failures are management failures</a:t>
            </a:r>
          </a:p>
          <a:p>
            <a:pPr algn="l">
              <a:lnSpc>
                <a:spcPct val="126000"/>
              </a:lnSpc>
              <a:spcBef>
                <a:spcPts val="300"/>
              </a:spcBef>
              <a:spcAft>
                <a:spcPts val="0"/>
              </a:spcAft>
            </a:pPr>
            <a:r>
              <a:rPr sz="1150" b="0" i="0">
                <a:solidFill>
                  <a:srgbClr val="636E85"/>
                </a:solidFill>
                <a:latin typeface="Segoe UI"/>
                <a:ea typeface="Segoe UI"/>
                <a:cs typeface="Segoe UI"/>
              </a:rPr>
              <a:t>No owner, no adoption, no decision date.</a:t>
            </a:r>
          </a:p>
        </p:txBody>
      </p:sp>
      <p:sp>
        <p:nvSpPr>
          <p:cNvPr id="34" name="Rounded Rectangle 33"/>
          <p:cNvSpPr/>
          <p:nvPr/>
        </p:nvSpPr>
        <p:spPr>
          <a:xfrm>
            <a:off x="6233007" y="4901530"/>
            <a:ext cx="5245455" cy="1151797"/>
          </a:xfrm>
          <a:prstGeom prst="roundRect">
            <a:avLst>
              <a:gd name="adj" fmla="val 6000"/>
            </a:avLst>
          </a:prstGeom>
          <a:solidFill>
            <a:srgbClr val="FFFFFF"/>
          </a:solidFill>
          <a:ln w="12700">
            <a:solidFill>
              <a:srgbClr val="DDE3EC"/>
            </a:solidFill>
          </a:ln>
          <a:effectLst>
            <a:outerShdw blurRad="203200" dist="38100" dir="5400000" rotWithShape="0">
              <a:srgbClr val="0E1E3C">
                <a:alpha val="11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233007" y="4901530"/>
            <a:ext cx="45720" cy="1151797"/>
          </a:xfrm>
          <a:prstGeom prst="rect">
            <a:avLst/>
          </a:prstGeom>
          <a:solidFill>
            <a:srgbClr val="E051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6534759" y="5285405"/>
            <a:ext cx="384048" cy="384048"/>
          </a:xfrm>
          <a:prstGeom prst="ellipse">
            <a:avLst/>
          </a:prstGeom>
          <a:solidFill>
            <a:srgbClr val="FDED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34759" y="5372273"/>
            <a:ext cx="384048" cy="237744"/>
          </a:xfrm>
          <a:prstGeom prst="rect">
            <a:avLst/>
          </a:prstGeom>
          <a:noFill/>
        </p:spPr>
        <p:txBody>
          <a:bodyPr wrap="square" lIns="0" rIns="0" tIns="0" bIns="0" anchor="t">
            <a:spAutoFit/>
          </a:bodyPr>
          <a:lstStyle/>
          <a:p>
            <a:pPr algn="ctr">
              <a:lnSpc>
                <a:spcPct val="122000"/>
              </a:lnSpc>
              <a:spcBef>
                <a:spcPts val="0"/>
              </a:spcBef>
              <a:spcAft>
                <a:spcPts val="0"/>
              </a:spcAft>
            </a:pPr>
            <a:r>
              <a:rPr sz="1250" b="1" i="0">
                <a:solidFill>
                  <a:srgbClr val="E05151"/>
                </a:solidFill>
                <a:latin typeface="Segoe UI"/>
                <a:ea typeface="Segoe UI"/>
                <a:cs typeface="Segoe UI"/>
              </a:rPr>
              <a:t>6</a:t>
            </a:r>
          </a:p>
        </p:txBody>
      </p:sp>
      <p:sp>
        <p:nvSpPr>
          <p:cNvPr id="38" name="TextBox 37"/>
          <p:cNvSpPr txBox="1"/>
          <p:nvPr/>
        </p:nvSpPr>
        <p:spPr>
          <a:xfrm>
            <a:off x="7129119" y="5114129"/>
            <a:ext cx="4111599" cy="818040"/>
          </a:xfrm>
          <a:prstGeom prst="rect">
            <a:avLst/>
          </a:prstGeom>
          <a:noFill/>
        </p:spPr>
        <p:txBody>
          <a:bodyPr wrap="square" lIns="0" rIns="0" tIns="0" bIns="0" anchor="t">
            <a:spAutoFit/>
          </a:bodyPr>
          <a:lstStyle/>
          <a:p>
            <a:pPr algn="l">
              <a:lnSpc>
                <a:spcPct val="116000"/>
              </a:lnSpc>
              <a:spcBef>
                <a:spcPts val="0"/>
              </a:spcBef>
              <a:spcAft>
                <a:spcPts val="0"/>
              </a:spcAft>
            </a:pPr>
            <a:r>
              <a:rPr sz="1350" b="1" i="0">
                <a:solidFill>
                  <a:srgbClr val="0E1E3C"/>
                </a:solidFill>
                <a:latin typeface="Segoe UI"/>
                <a:ea typeface="Segoe UI"/>
                <a:cs typeface="Segoe UI"/>
              </a:rPr>
              <a:t>The value is at levels four and five</a:t>
            </a:r>
          </a:p>
          <a:p>
            <a:pPr algn="l">
              <a:lnSpc>
                <a:spcPct val="126000"/>
              </a:lnSpc>
              <a:spcBef>
                <a:spcPts val="300"/>
              </a:spcBef>
              <a:spcAft>
                <a:spcPts val="0"/>
              </a:spcAft>
            </a:pPr>
            <a:r>
              <a:rPr sz="1150" b="0" i="0">
                <a:solidFill>
                  <a:srgbClr val="636E85"/>
                </a:solidFill>
                <a:latin typeface="Segoe UI"/>
                <a:ea typeface="Segoe UI"/>
                <a:cs typeface="Segoe UI"/>
              </a:rPr>
              <a:t>Builders and multipliers, unlocked by permission as much as skill.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1E3C"/>
              </a:gs>
              <a:gs pos="100000">
                <a:srgbClr val="071228"/>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deco-bleed"/>
          <p:cNvSpPr/>
          <p:nvPr/>
        </p:nvSpPr>
        <p:spPr>
          <a:xfrm>
            <a:off x="8961120" y="-1280160"/>
            <a:ext cx="4937760" cy="4937760"/>
          </a:xfrm>
          <a:prstGeom prst="ellipse">
            <a:avLst/>
          </a:prstGeom>
          <a:solidFill>
            <a:srgbClr val="3B7AF7">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eco-bleed"/>
          <p:cNvSpPr/>
          <p:nvPr/>
        </p:nvSpPr>
        <p:spPr>
          <a:xfrm>
            <a:off x="10424160" y="3474720"/>
            <a:ext cx="3291840" cy="3291840"/>
          </a:xfrm>
          <a:prstGeom prst="ellipse">
            <a:avLst/>
          </a:prstGeom>
          <a:solidFill>
            <a:srgbClr val="00B3A4">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00B3A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87552" y="2542032"/>
            <a:ext cx="7315200" cy="1005840"/>
          </a:xfrm>
          <a:prstGeom prst="rect">
            <a:avLst/>
          </a:prstGeom>
          <a:noFill/>
        </p:spPr>
        <p:txBody>
          <a:bodyPr wrap="square" lIns="0" rIns="0" tIns="0" bIns="0" anchor="t">
            <a:spAutoFit/>
          </a:bodyPr>
          <a:lstStyle/>
          <a:p>
            <a:pPr algn="l">
              <a:lnSpc>
                <a:spcPct val="104000"/>
              </a:lnSpc>
              <a:spcBef>
                <a:spcPts val="0"/>
              </a:spcBef>
              <a:spcAft>
                <a:spcPts val="0"/>
              </a:spcAft>
            </a:pPr>
            <a:r>
              <a:rPr sz="4600" b="1" i="0">
                <a:solidFill>
                  <a:srgbClr val="FFFFFF"/>
                </a:solidFill>
                <a:latin typeface="Segoe UI"/>
                <a:ea typeface="Segoe UI"/>
                <a:cs typeface="Segoe UI"/>
              </a:rPr>
              <a:t>Thank you</a:t>
            </a:r>
          </a:p>
        </p:txBody>
      </p:sp>
      <p:sp>
        <p:nvSpPr>
          <p:cNvPr id="7" name="Rectangle 6"/>
          <p:cNvSpPr/>
          <p:nvPr/>
        </p:nvSpPr>
        <p:spPr>
          <a:xfrm>
            <a:off x="987552" y="3675887"/>
            <a:ext cx="658368" cy="45720"/>
          </a:xfrm>
          <a:prstGeom prst="rect">
            <a:avLst/>
          </a:prstGeom>
          <a:solidFill>
            <a:srgbClr val="3B7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87552" y="3950208"/>
            <a:ext cx="6583680" cy="731520"/>
          </a:xfrm>
          <a:prstGeom prst="rect">
            <a:avLst/>
          </a:prstGeom>
          <a:noFill/>
        </p:spPr>
        <p:txBody>
          <a:bodyPr wrap="square" lIns="0" rIns="0" tIns="0" bIns="0" anchor="t">
            <a:spAutoFit/>
          </a:bodyPr>
          <a:lstStyle/>
          <a:p>
            <a:pPr algn="l">
              <a:lnSpc>
                <a:spcPct val="134000"/>
              </a:lnSpc>
              <a:spcBef>
                <a:spcPts val="0"/>
              </a:spcBef>
              <a:spcAft>
                <a:spcPts val="0"/>
              </a:spcAft>
            </a:pPr>
            <a:r>
              <a:rPr sz="1450" b="0" i="0">
                <a:solidFill>
                  <a:srgbClr val="B8C8E4"/>
                </a:solidFill>
                <a:latin typeface="Segoe UI"/>
                <a:ea typeface="Segoe UI"/>
                <a:cs typeface="Segoe UI"/>
              </a:rPr>
              <a:t>That completes the five units — from what AI is, through tools and applications, to governance, strategy and leadership.</a:t>
            </a:r>
          </a:p>
        </p:txBody>
      </p:sp>
      <p:sp>
        <p:nvSpPr>
          <p:cNvPr id="9" name="TextBox 8"/>
          <p:cNvSpPr txBox="1"/>
          <p:nvPr/>
        </p:nvSpPr>
        <p:spPr>
          <a:xfrm>
            <a:off x="987552" y="4718304"/>
            <a:ext cx="7315200" cy="1207008"/>
          </a:xfrm>
          <a:prstGeom prst="rect">
            <a:avLst/>
          </a:prstGeom>
          <a:noFill/>
        </p:spPr>
        <p:txBody>
          <a:bodyPr wrap="square" lIns="0" rIns="0" tIns="0" bIns="0" anchor="t">
            <a:spAutoFit/>
          </a:bodyPr>
          <a:lstStyle/>
          <a:p>
            <a:pPr algn="l">
              <a:lnSpc>
                <a:spcPct val="122000"/>
              </a:lnSpc>
              <a:spcBef>
                <a:spcPts val="0"/>
              </a:spcBef>
              <a:spcAft>
                <a:spcPts val="0"/>
              </a:spcAft>
            </a:pPr>
            <a:r>
              <a:rPr sz="1000" b="1" i="0" spc="140" cap="all">
                <a:solidFill>
                  <a:srgbClr val="00B3A4"/>
                </a:solidFill>
                <a:latin typeface="Segoe UI"/>
                <a:ea typeface="Segoe UI"/>
                <a:cs typeface="Segoe UI"/>
              </a:rPr>
              <a:t>Questions to think about</a:t>
            </a:r>
          </a:p>
          <a:p>
            <a:pPr algn="l">
              <a:lnSpc>
                <a:spcPct val="128000"/>
              </a:lnSpc>
              <a:spcBef>
                <a:spcPts val="400"/>
              </a:spcBef>
              <a:spcAft>
                <a:spcPts val="0"/>
              </a:spcAft>
            </a:pPr>
            <a:r>
              <a:rPr sz="1150" b="0" i="0">
                <a:solidFill>
                  <a:srgbClr val="93A6C6"/>
                </a:solidFill>
                <a:latin typeface="Segoe UI"/>
                <a:ea typeface="Segoe UI"/>
                <a:cs typeface="Segoe UI"/>
              </a:rPr>
              <a:t>— Which one workflow would you redesign first, and why that one?</a:t>
            </a:r>
          </a:p>
          <a:p>
            <a:pPr algn="l">
              <a:lnSpc>
                <a:spcPct val="128000"/>
              </a:lnSpc>
              <a:spcBef>
                <a:spcPts val="400"/>
              </a:spcBef>
              <a:spcAft>
                <a:spcPts val="0"/>
              </a:spcAft>
            </a:pPr>
            <a:r>
              <a:rPr sz="1150" b="0" i="0">
                <a:solidFill>
                  <a:srgbClr val="93A6C6"/>
                </a:solidFill>
                <a:latin typeface="Segoe UI"/>
                <a:ea typeface="Segoe UI"/>
                <a:cs typeface="Segoe UI"/>
              </a:rPr>
              <a:t>— What level are you on the ladder today, and what is your next step?</a:t>
            </a:r>
          </a:p>
          <a:p>
            <a:pPr algn="l">
              <a:lnSpc>
                <a:spcPct val="128000"/>
              </a:lnSpc>
              <a:spcBef>
                <a:spcPts val="400"/>
              </a:spcBef>
              <a:spcAft>
                <a:spcPts val="0"/>
              </a:spcAft>
            </a:pPr>
            <a:r>
              <a:rPr sz="1150" b="0" i="0">
                <a:solidFill>
                  <a:srgbClr val="93A6C6"/>
                </a:solidFill>
                <a:latin typeface="Segoe UI"/>
                <a:ea typeface="Segoe UI"/>
                <a:cs typeface="Segoe UI"/>
              </a:rPr>
              <a:t>— What will your organisation do with the time AI gives back?</a:t>
            </a:r>
          </a:p>
        </p:txBody>
      </p:sp>
      <p:sp>
        <p:nvSpPr>
          <p:cNvPr id="10" name="logo-plate"/>
          <p:cNvSpPr/>
          <p:nvPr/>
        </p:nvSpPr>
        <p:spPr>
          <a:xfrm>
            <a:off x="9233806" y="539496"/>
            <a:ext cx="2272088" cy="1106424"/>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college-logo" descr="logo-full.png"/>
          <p:cNvPicPr>
            <a:picLocks noChangeAspect="1"/>
          </p:cNvPicPr>
          <p:nvPr/>
        </p:nvPicPr>
        <p:blipFill>
          <a:blip r:embed="rId2"/>
          <a:stretch>
            <a:fillRect/>
          </a:stretch>
        </p:blipFill>
        <p:spPr>
          <a:xfrm>
            <a:off x="9352678" y="658368"/>
            <a:ext cx="2034345" cy="868680"/>
          </a:xfrm>
          <a:prstGeom prst="rect">
            <a:avLst/>
          </a:prstGeom>
        </p:spPr>
      </p:pic>
      <p:sp>
        <p:nvSpPr>
          <p:cNvPr id="12" name="Rectangle 11"/>
          <p:cNvSpPr/>
          <p:nvPr/>
        </p:nvSpPr>
        <p:spPr>
          <a:xfrm>
            <a:off x="987552" y="6035040"/>
            <a:ext cx="3291840" cy="12700"/>
          </a:xfrm>
          <a:prstGeom prst="rect">
            <a:avLst/>
          </a:prstGeom>
          <a:solidFill>
            <a:srgbClr val="2A3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6163056"/>
            <a:ext cx="5852160" cy="292608"/>
          </a:xfrm>
          <a:prstGeom prst="rect">
            <a:avLst/>
          </a:prstGeom>
          <a:noFill/>
        </p:spPr>
        <p:txBody>
          <a:bodyPr wrap="square" lIns="0" rIns="0" tIns="0" bIns="0" anchor="t">
            <a:spAutoFit/>
          </a:bodyPr>
          <a:lstStyle/>
          <a:p>
            <a:pPr algn="l">
              <a:lnSpc>
                <a:spcPct val="122000"/>
              </a:lnSpc>
              <a:spcBef>
                <a:spcPts val="0"/>
              </a:spcBef>
              <a:spcAft>
                <a:spcPts val="0"/>
              </a:spcAft>
            </a:pPr>
            <a:r>
              <a:rPr sz="1150" b="1" i="0">
                <a:solidFill>
                  <a:srgbClr val="FFFFFF"/>
                </a:solidFill>
                <a:latin typeface="Segoe UI"/>
                <a:ea typeface="Segoe UI"/>
                <a:cs typeface="Segoe UI"/>
              </a:rPr>
              <a:t>Lingesh K</a:t>
            </a:r>
            <a:r>
              <a:rPr sz="1000" b="0" i="0">
                <a:solidFill>
                  <a:srgbClr val="7E91B4"/>
                </a:solidFill>
                <a:latin typeface="Segoe UI"/>
                <a:ea typeface="Segoe UI"/>
                <a:cs typeface="Segoe UI"/>
              </a:rPr>
              <a:t>   ·   Register No. </a:t>
            </a:r>
            <a:r>
              <a:rPr sz="1000" b="1" i="0">
                <a:solidFill>
                  <a:srgbClr val="C5D2E8"/>
                </a:solidFill>
                <a:latin typeface="Segoe UI"/>
                <a:ea typeface="Segoe UI"/>
                <a:cs typeface="Segoe UI"/>
              </a:rPr>
              <a:t>OSI2509030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 Strategy, Innovation and Leadership</dc:title>
  <dc:subject>Artificial Intelligence &amp; Generative AI</dc:subject>
  <dc:creator>Lingesh K (OSI2509030)</dc:creator>
  <cp:keywords/>
  <dc:description>PGPM · Systems Specialisation · Unit 5 of 5</dc:description>
  <cp:lastModifiedBy>Steve Canny</cp:lastModifiedBy>
  <cp:revision>1</cp:revision>
  <dcterms:created xsi:type="dcterms:W3CDTF">2013-01-27T09:14:16Z</dcterms:created>
  <dcterms:modified xsi:type="dcterms:W3CDTF">2013-01-27T09:15:58Z</dcterms:modified>
  <cp:category/>
</cp:coreProperties>
</file>