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Default Extension="fntdata" ContentType="application/x-fontdata"/>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embeddedFontLst>
    <p:embeddedFont>
      <p:font typeface="Quattrocento Sans" charset="-122" pitchFamily="34"/>
      <p:regular r:id="rId31"/>
      <p:bold r:id="rId32"/>
      <p:italic r:id="rId33"/>
    </p:embeddedFont>
    <p:embeddedFont>
      <p:font typeface="Sorts Mill Goudy" charset="-122" pitchFamily="34"/>
      <p:regular r:id="rId34"/>
      <p:italic r:id="rId3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font" Target="fonts/font1.fntdata"/><Relationship Id="rId32" Type="http://schemas.openxmlformats.org/officeDocument/2006/relationships/font" Target="fonts/font2.fntdata"/><Relationship Id="rId33" Type="http://schemas.openxmlformats.org/officeDocument/2006/relationships/font" Target="fonts/font3.fntdata"/><Relationship Id="rId34" Type="http://schemas.openxmlformats.org/officeDocument/2006/relationships/font" Target="fonts/font4.fntdata"/><Relationship Id="rId35"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unit. Shift the framing from 'what is AI' to 'what do we do about it as managers'.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fear point is critical. If staff believe efficiency leads to job cuts, they will quietly not tell you what AI can do. Say out loud what the productivity gain will be used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8B0000"/>
              </a:gs>
              <a:gs pos="100000">
                <a:srgbClr val="63000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412480" y="-1737360"/>
            <a:ext cx="5852160" cy="5852160"/>
          </a:xfrm>
          <a:prstGeom prst="ellipse">
            <a:avLst/>
          </a:prstGeom>
          <a:solidFill>
            <a:srgbClr val="FFFFFF">
              <a:alpha val="3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424160" y="3291840"/>
            <a:ext cx="4206240" cy="4206240"/>
          </a:xfrm>
          <a:prstGeom prst="ellipse">
            <a:avLst/>
          </a:prstGeom>
          <a:solidFill>
            <a:srgbClr val="FFFFFF">
              <a:alpha val="2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o-bleed"/>
          <p:cNvSpPr/>
          <p:nvPr/>
        </p:nvSpPr>
        <p:spPr>
          <a:xfrm>
            <a:off x="-1371600" y="4023360"/>
            <a:ext cx="4389120" cy="4389120"/>
          </a:xfrm>
          <a:prstGeom prst="ellipse">
            <a:avLst/>
          </a:prstGeom>
          <a:solidFill>
            <a:srgbClr val="000000">
              <a:alpha val="2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ogo-plate"/>
          <p:cNvSpPr/>
          <p:nvPr/>
        </p:nvSpPr>
        <p:spPr>
          <a:xfrm>
            <a:off x="9695070" y="448056"/>
            <a:ext cx="1993704" cy="987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college-logo" descr="logo-full.png"/>
          <p:cNvPicPr>
            <a:picLocks noChangeAspect="1"/>
          </p:cNvPicPr>
          <p:nvPr/>
        </p:nvPicPr>
        <p:blipFill>
          <a:blip r:embed="rId2"/>
          <a:stretch>
            <a:fillRect/>
          </a:stretch>
        </p:blipFill>
        <p:spPr>
          <a:xfrm>
            <a:off x="9813942" y="566928"/>
            <a:ext cx="1755961" cy="749808"/>
          </a:xfrm>
          <a:prstGeom prst="rect">
            <a:avLst/>
          </a:prstGeom>
        </p:spPr>
      </p:pic>
      <p:sp>
        <p:nvSpPr>
          <p:cNvPr id="8" name="Rectangle 7"/>
          <p:cNvSpPr/>
          <p:nvPr/>
        </p:nvSpPr>
        <p:spPr>
          <a:xfrm>
            <a:off x="859536" y="1517904"/>
            <a:ext cx="3110630" cy="292608"/>
          </a:xfrm>
          <a:prstGeom prst="rect">
            <a:avLst/>
          </a:prstGeom>
          <a:solidFill>
            <a:srgbClr val="A8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50" b="0" i="0" spc="130">
                <a:solidFill>
                  <a:srgbClr val="FFFFFF"/>
                </a:solidFill>
                <a:latin typeface="Quattrocento Sans"/>
                <a:ea typeface="Quattrocento Sans"/>
                <a:cs typeface="Quattrocento Sans"/>
              </a:rPr>
              <a:t>ARTIFICIAL INTELLIGENCE &amp; GENERATIVE AI</a:t>
            </a:r>
          </a:p>
        </p:txBody>
      </p:sp>
      <p:sp>
        <p:nvSpPr>
          <p:cNvPr id="9" name="TextBox 8"/>
          <p:cNvSpPr txBox="1"/>
          <p:nvPr/>
        </p:nvSpPr>
        <p:spPr>
          <a:xfrm>
            <a:off x="859536" y="2447589"/>
            <a:ext cx="8549640" cy="891418"/>
          </a:xfrm>
          <a:prstGeom prst="rect">
            <a:avLst/>
          </a:prstGeom>
          <a:noFill/>
        </p:spPr>
        <p:txBody>
          <a:bodyPr wrap="square" lIns="0" rIns="0" tIns="0" bIns="0" anchor="t">
            <a:spAutoFit/>
          </a:bodyPr>
          <a:lstStyle/>
          <a:p>
            <a:pPr algn="l">
              <a:lnSpc>
                <a:spcPct val="102000"/>
              </a:lnSpc>
              <a:spcBef>
                <a:spcPts val="0"/>
              </a:spcBef>
              <a:spcAft>
                <a:spcPts val="0"/>
              </a:spcAft>
            </a:pPr>
            <a:r>
              <a:rPr sz="4000" b="0" i="0">
                <a:solidFill>
                  <a:srgbClr val="FFFFFF"/>
                </a:solidFill>
                <a:latin typeface="Sorts Mill Goudy"/>
                <a:ea typeface="Sorts Mill Goudy"/>
                <a:cs typeface="Sorts Mill Goudy"/>
              </a:rPr>
              <a:t>Strategy, Innovation and Leadership</a:t>
            </a:r>
          </a:p>
        </p:txBody>
      </p:sp>
      <p:sp>
        <p:nvSpPr>
          <p:cNvPr id="10" name="TextBox 9"/>
          <p:cNvSpPr txBox="1"/>
          <p:nvPr/>
        </p:nvSpPr>
        <p:spPr>
          <a:xfrm>
            <a:off x="859536" y="3448735"/>
            <a:ext cx="7955279" cy="659922"/>
          </a:xfrm>
          <a:prstGeom prst="rect">
            <a:avLst/>
          </a:prstGeom>
          <a:noFill/>
        </p:spPr>
        <p:txBody>
          <a:bodyPr wrap="square" lIns="0" rIns="0" tIns="0" bIns="0" anchor="t">
            <a:spAutoFit/>
          </a:bodyPr>
          <a:lstStyle/>
          <a:p>
            <a:pPr algn="l">
              <a:lnSpc>
                <a:spcPct val="140000"/>
              </a:lnSpc>
              <a:spcBef>
                <a:spcPts val="0"/>
              </a:spcBef>
              <a:spcAft>
                <a:spcPts val="0"/>
              </a:spcAft>
            </a:pPr>
            <a:r>
              <a:rPr sz="1350" b="0" i="0">
                <a:solidFill>
                  <a:srgbClr val="F2D9D9"/>
                </a:solidFill>
                <a:latin typeface="Quattrocento Sans"/>
                <a:ea typeface="Quattrocento Sans"/>
                <a:cs typeface="Quattrocento Sans"/>
              </a:rPr>
              <a:t>How Gen AI changes competition in a digital world, how to build real business solutions with it, and how leaders turn ordinary teams into highly effective ones.</a:t>
            </a:r>
          </a:p>
        </p:txBody>
      </p:sp>
      <p:sp>
        <p:nvSpPr>
          <p:cNvPr id="11" name="Rectangle 10"/>
          <p:cNvSpPr/>
          <p:nvPr/>
        </p:nvSpPr>
        <p:spPr>
          <a:xfrm>
            <a:off x="859536" y="4346402"/>
            <a:ext cx="1309484" cy="292608"/>
          </a:xfrm>
          <a:prstGeom prst="rect">
            <a:avLst/>
          </a:prstGeom>
          <a:noFill/>
          <a:ln w="9525">
            <a:solidFill>
              <a:srgbClr val="A8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00" b="0" i="0" spc="130">
                <a:solidFill>
                  <a:srgbClr val="E3B4B4"/>
                </a:solidFill>
                <a:latin typeface="Quattrocento Sans"/>
                <a:ea typeface="Quattrocento Sans"/>
                <a:cs typeface="Quattrocento Sans"/>
              </a:rPr>
              <a:t>DIGITAL WORLD</a:t>
            </a:r>
          </a:p>
        </p:txBody>
      </p:sp>
      <p:sp>
        <p:nvSpPr>
          <p:cNvPr id="12" name="Rectangle 11"/>
          <p:cNvSpPr/>
          <p:nvPr/>
        </p:nvSpPr>
        <p:spPr>
          <a:xfrm>
            <a:off x="2287892" y="4346402"/>
            <a:ext cx="1655683" cy="292608"/>
          </a:xfrm>
          <a:prstGeom prst="rect">
            <a:avLst/>
          </a:prstGeom>
          <a:noFill/>
          <a:ln w="9525">
            <a:solidFill>
              <a:srgbClr val="A8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00" b="0" i="0" spc="130">
                <a:solidFill>
                  <a:srgbClr val="E3B4B4"/>
                </a:solidFill>
                <a:latin typeface="Quattrocento Sans"/>
                <a:ea typeface="Quattrocento Sans"/>
                <a:cs typeface="Quattrocento Sans"/>
              </a:rPr>
              <a:t>BUSINESS SOLUTIONS</a:t>
            </a:r>
          </a:p>
        </p:txBody>
      </p:sp>
      <p:sp>
        <p:nvSpPr>
          <p:cNvPr id="13" name="Rectangle 12"/>
          <p:cNvSpPr/>
          <p:nvPr/>
        </p:nvSpPr>
        <p:spPr>
          <a:xfrm>
            <a:off x="4062447" y="4346402"/>
            <a:ext cx="1076027" cy="292608"/>
          </a:xfrm>
          <a:prstGeom prst="rect">
            <a:avLst/>
          </a:prstGeom>
          <a:noFill/>
          <a:ln w="9525">
            <a:solidFill>
              <a:srgbClr val="A8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00" b="0" i="0" spc="130">
                <a:solidFill>
                  <a:srgbClr val="E3B4B4"/>
                </a:solidFill>
                <a:latin typeface="Quattrocento Sans"/>
                <a:ea typeface="Quattrocento Sans"/>
                <a:cs typeface="Quattrocento Sans"/>
              </a:rPr>
              <a:t>LEADERSHIP</a:t>
            </a:r>
          </a:p>
        </p:txBody>
      </p:sp>
      <p:sp>
        <p:nvSpPr>
          <p:cNvPr id="14" name="Rectangle 13"/>
          <p:cNvSpPr/>
          <p:nvPr/>
        </p:nvSpPr>
        <p:spPr>
          <a:xfrm>
            <a:off x="5257346" y="4346402"/>
            <a:ext cx="951626" cy="292608"/>
          </a:xfrm>
          <a:prstGeom prst="rect">
            <a:avLst/>
          </a:prstGeom>
          <a:noFill/>
          <a:ln w="9525">
            <a:solidFill>
              <a:srgbClr val="A8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00" b="0" i="0" spc="130">
                <a:solidFill>
                  <a:srgbClr val="E3B4B4"/>
                </a:solidFill>
                <a:latin typeface="Quattrocento Sans"/>
                <a:ea typeface="Quattrocento Sans"/>
                <a:cs typeface="Quattrocento Sans"/>
              </a:rPr>
              <a:t>MATURITY</a:t>
            </a:r>
          </a:p>
        </p:txBody>
      </p:sp>
      <p:sp>
        <p:nvSpPr>
          <p:cNvPr id="15" name="Rectangle 14"/>
          <p:cNvSpPr/>
          <p:nvPr/>
        </p:nvSpPr>
        <p:spPr>
          <a:xfrm>
            <a:off x="859536" y="5376672"/>
            <a:ext cx="20320" cy="658368"/>
          </a:xfrm>
          <a:prstGeom prst="rect">
            <a:avLst/>
          </a:prstGeom>
          <a:solidFill>
            <a:srgbClr val="A8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5431536"/>
            <a:ext cx="1737360"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E3B4B4"/>
                </a:solidFill>
                <a:latin typeface="Quattrocento Sans"/>
                <a:ea typeface="Quattrocento Sans"/>
                <a:cs typeface="Quattrocento Sans"/>
              </a:rPr>
              <a:t>PRESENTED BY</a:t>
            </a:r>
          </a:p>
        </p:txBody>
      </p:sp>
      <p:sp>
        <p:nvSpPr>
          <p:cNvPr id="17" name="TextBox 16"/>
          <p:cNvSpPr txBox="1"/>
          <p:nvPr/>
        </p:nvSpPr>
        <p:spPr>
          <a:xfrm>
            <a:off x="1042415" y="5650992"/>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400" b="0" i="0">
                <a:solidFill>
                  <a:srgbClr val="FFFFFF"/>
                </a:solidFill>
                <a:latin typeface="Sorts Mill Goudy"/>
                <a:ea typeface="Sorts Mill Goudy"/>
                <a:cs typeface="Sorts Mill Goudy"/>
              </a:rPr>
              <a:t>Lingesh K</a:t>
            </a:r>
          </a:p>
        </p:txBody>
      </p:sp>
      <p:sp>
        <p:nvSpPr>
          <p:cNvPr id="18" name="Rectangle 17"/>
          <p:cNvSpPr/>
          <p:nvPr/>
        </p:nvSpPr>
        <p:spPr>
          <a:xfrm>
            <a:off x="2907791" y="5376672"/>
            <a:ext cx="20320" cy="658368"/>
          </a:xfrm>
          <a:prstGeom prst="rect">
            <a:avLst/>
          </a:prstGeom>
          <a:solidFill>
            <a:srgbClr val="A8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90672" y="5431536"/>
            <a:ext cx="1737360"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E3B4B4"/>
                </a:solidFill>
                <a:latin typeface="Quattrocento Sans"/>
                <a:ea typeface="Quattrocento Sans"/>
                <a:cs typeface="Quattrocento Sans"/>
              </a:rPr>
              <a:t>REGISTER NO.</a:t>
            </a:r>
          </a:p>
        </p:txBody>
      </p:sp>
      <p:sp>
        <p:nvSpPr>
          <p:cNvPr id="20" name="TextBox 19"/>
          <p:cNvSpPr txBox="1"/>
          <p:nvPr/>
        </p:nvSpPr>
        <p:spPr>
          <a:xfrm>
            <a:off x="3090672" y="5650992"/>
            <a:ext cx="1737360" cy="310896"/>
          </a:xfrm>
          <a:prstGeom prst="rect">
            <a:avLst/>
          </a:prstGeom>
          <a:noFill/>
        </p:spPr>
        <p:txBody>
          <a:bodyPr wrap="square" lIns="0" rIns="0" tIns="0" bIns="0" anchor="t">
            <a:spAutoFit/>
          </a:bodyPr>
          <a:lstStyle/>
          <a:p>
            <a:pPr algn="l">
              <a:lnSpc>
                <a:spcPct val="100000"/>
              </a:lnSpc>
              <a:spcBef>
                <a:spcPts val="0"/>
              </a:spcBef>
              <a:spcAft>
                <a:spcPts val="0"/>
              </a:spcAft>
            </a:pPr>
            <a:r>
              <a:rPr sz="1400" b="0" i="0">
                <a:solidFill>
                  <a:srgbClr val="FFFFFF"/>
                </a:solidFill>
                <a:latin typeface="Sorts Mill Goudy"/>
                <a:ea typeface="Sorts Mill Goudy"/>
                <a:cs typeface="Sorts Mill Goudy"/>
              </a:rPr>
              <a:t>OSI2509030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02</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AGENDA</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What we will cover</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Strategy first, then execution, then people. People is the part most organisations get wrong.</a:t>
            </a:r>
          </a:p>
        </p:txBody>
      </p:sp>
      <p:sp>
        <p:nvSpPr>
          <p:cNvPr id="12" name="Rectangle 11"/>
          <p:cNvSpPr/>
          <p:nvPr/>
        </p:nvSpPr>
        <p:spPr>
          <a:xfrm>
            <a:off x="566928" y="1764210"/>
            <a:ext cx="19050" cy="432569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2299425"/>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41247" y="2339201"/>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01</a:t>
            </a:r>
          </a:p>
        </p:txBody>
      </p:sp>
      <p:sp>
        <p:nvSpPr>
          <p:cNvPr id="15" name="TextBox 14"/>
          <p:cNvSpPr txBox="1"/>
          <p:nvPr/>
        </p:nvSpPr>
        <p:spPr>
          <a:xfrm>
            <a:off x="1316736" y="2262849"/>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Gen AI in the digital world</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What actually changed for business</a:t>
            </a:r>
          </a:p>
        </p:txBody>
      </p:sp>
      <p:sp>
        <p:nvSpPr>
          <p:cNvPr id="16" name="Rectangle 15"/>
          <p:cNvSpPr/>
          <p:nvPr/>
        </p:nvSpPr>
        <p:spPr>
          <a:xfrm>
            <a:off x="841247" y="3140673"/>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1247" y="318044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02</a:t>
            </a:r>
          </a:p>
        </p:txBody>
      </p:sp>
      <p:sp>
        <p:nvSpPr>
          <p:cNvPr id="18" name="TextBox 17"/>
          <p:cNvSpPr txBox="1"/>
          <p:nvPr/>
        </p:nvSpPr>
        <p:spPr>
          <a:xfrm>
            <a:off x="1316736" y="3104097"/>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Where advantage now comes from</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Why the model itself is not the moat</a:t>
            </a:r>
          </a:p>
        </p:txBody>
      </p:sp>
      <p:sp>
        <p:nvSpPr>
          <p:cNvPr id="19" name="Rectangle 18"/>
          <p:cNvSpPr/>
          <p:nvPr/>
        </p:nvSpPr>
        <p:spPr>
          <a:xfrm>
            <a:off x="841247" y="3981921"/>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41247" y="4021697"/>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03</a:t>
            </a:r>
          </a:p>
        </p:txBody>
      </p:sp>
      <p:sp>
        <p:nvSpPr>
          <p:cNvPr id="21" name="TextBox 20"/>
          <p:cNvSpPr txBox="1"/>
          <p:nvPr/>
        </p:nvSpPr>
        <p:spPr>
          <a:xfrm>
            <a:off x="1316736" y="3945345"/>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Strategic choices</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Adopt, embed or transform</a:t>
            </a:r>
          </a:p>
        </p:txBody>
      </p:sp>
      <p:sp>
        <p:nvSpPr>
          <p:cNvPr id="22" name="Rectangle 21"/>
          <p:cNvSpPr/>
          <p:nvPr/>
        </p:nvSpPr>
        <p:spPr>
          <a:xfrm>
            <a:off x="841247" y="4823169"/>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41247" y="4862945"/>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04</a:t>
            </a:r>
          </a:p>
        </p:txBody>
      </p:sp>
      <p:sp>
        <p:nvSpPr>
          <p:cNvPr id="24" name="TextBox 23"/>
          <p:cNvSpPr txBox="1"/>
          <p:nvPr/>
        </p:nvSpPr>
        <p:spPr>
          <a:xfrm>
            <a:off x="1316736" y="4786593"/>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Building a solution</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Six steps from idea to something in production</a:t>
            </a:r>
          </a:p>
        </p:txBody>
      </p:sp>
      <p:sp>
        <p:nvSpPr>
          <p:cNvPr id="25" name="Rectangle 24"/>
          <p:cNvSpPr/>
          <p:nvPr/>
        </p:nvSpPr>
        <p:spPr>
          <a:xfrm>
            <a:off x="6379311" y="2299425"/>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79311" y="2339201"/>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05</a:t>
            </a:r>
          </a:p>
        </p:txBody>
      </p:sp>
      <p:sp>
        <p:nvSpPr>
          <p:cNvPr id="27" name="TextBox 26"/>
          <p:cNvSpPr txBox="1"/>
          <p:nvPr/>
        </p:nvSpPr>
        <p:spPr>
          <a:xfrm>
            <a:off x="6854799" y="2262849"/>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Build, buy or blend</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Choosing the right route</a:t>
            </a:r>
          </a:p>
        </p:txBody>
      </p:sp>
      <p:sp>
        <p:nvSpPr>
          <p:cNvPr id="28" name="Rectangle 27"/>
          <p:cNvSpPr/>
          <p:nvPr/>
        </p:nvSpPr>
        <p:spPr>
          <a:xfrm>
            <a:off x="6379311" y="3140673"/>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79311" y="318044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06</a:t>
            </a:r>
          </a:p>
        </p:txBody>
      </p:sp>
      <p:sp>
        <p:nvSpPr>
          <p:cNvPr id="30" name="TextBox 29"/>
          <p:cNvSpPr txBox="1"/>
          <p:nvPr/>
        </p:nvSpPr>
        <p:spPr>
          <a:xfrm>
            <a:off x="6854799" y="3104097"/>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Measuring value</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Proving it worked, in business terms</a:t>
            </a:r>
          </a:p>
        </p:txBody>
      </p:sp>
      <p:sp>
        <p:nvSpPr>
          <p:cNvPr id="31" name="Rectangle 30"/>
          <p:cNvSpPr/>
          <p:nvPr/>
        </p:nvSpPr>
        <p:spPr>
          <a:xfrm>
            <a:off x="6379311" y="3981921"/>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79311" y="4021697"/>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07</a:t>
            </a:r>
          </a:p>
        </p:txBody>
      </p:sp>
      <p:sp>
        <p:nvSpPr>
          <p:cNvPr id="33" name="TextBox 32"/>
          <p:cNvSpPr txBox="1"/>
          <p:nvPr/>
        </p:nvSpPr>
        <p:spPr>
          <a:xfrm>
            <a:off x="6854799" y="3945345"/>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Leading the change</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Why most failures are cultural, not technical</a:t>
            </a:r>
          </a:p>
        </p:txBody>
      </p:sp>
      <p:sp>
        <p:nvSpPr>
          <p:cNvPr id="34" name="Rectangle 33"/>
          <p:cNvSpPr/>
          <p:nvPr/>
        </p:nvSpPr>
        <p:spPr>
          <a:xfrm>
            <a:off x="6379311" y="4823169"/>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79311" y="4862945"/>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150" b="0" i="0">
                <a:solidFill>
                  <a:srgbClr val="FFFFFF"/>
                </a:solidFill>
                <a:latin typeface="Sorts Mill Goudy"/>
                <a:ea typeface="Sorts Mill Goudy"/>
                <a:cs typeface="Sorts Mill Goudy"/>
              </a:rPr>
              <a:t>08</a:t>
            </a:r>
          </a:p>
        </p:txBody>
      </p:sp>
      <p:sp>
        <p:nvSpPr>
          <p:cNvPr id="36" name="TextBox 35"/>
          <p:cNvSpPr txBox="1"/>
          <p:nvPr/>
        </p:nvSpPr>
        <p:spPr>
          <a:xfrm>
            <a:off x="6854799" y="4786593"/>
            <a:ext cx="4769967" cy="786384"/>
          </a:xfrm>
          <a:prstGeom prst="rect">
            <a:avLst/>
          </a:prstGeom>
          <a:noFill/>
        </p:spPr>
        <p:txBody>
          <a:bodyPr wrap="square" lIns="0" rIns="0" tIns="0" bIns="0" anchor="t">
            <a:spAutoFit/>
          </a:bodyPr>
          <a:lstStyle/>
          <a:p>
            <a:pPr algn="l">
              <a:lnSpc>
                <a:spcPct val="120000"/>
              </a:lnSpc>
              <a:spcBef>
                <a:spcPts val="0"/>
              </a:spcBef>
              <a:spcAft>
                <a:spcPts val="0"/>
              </a:spcAft>
            </a:pPr>
            <a:r>
              <a:rPr sz="1250" b="1" i="0">
                <a:solidFill>
                  <a:srgbClr val="1F2937"/>
                </a:solidFill>
                <a:latin typeface="Quattrocento Sans"/>
                <a:ea typeface="Quattrocento Sans"/>
                <a:cs typeface="Quattrocento Sans"/>
              </a:rPr>
              <a:t>Five levels of an AI-enabled employee</a:t>
            </a:r>
          </a:p>
          <a:p>
            <a:pPr algn="l">
              <a:lnSpc>
                <a:spcPct val="128000"/>
              </a:lnSpc>
              <a:spcBef>
                <a:spcPts val="200"/>
              </a:spcBef>
              <a:spcAft>
                <a:spcPts val="0"/>
              </a:spcAft>
            </a:pPr>
            <a:r>
              <a:rPr sz="950" b="0" i="0">
                <a:solidFill>
                  <a:srgbClr val="6B7280"/>
                </a:solidFill>
                <a:latin typeface="Quattrocento Sans"/>
                <a:ea typeface="Quattrocento Sans"/>
                <a:cs typeface="Quattrocento Sans"/>
              </a:rPr>
              <a:t>From curious to force multiplier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F2937"/>
              </a:gs>
              <a:gs pos="100000">
                <a:srgbClr val="0F1722"/>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778240" y="-1280160"/>
            <a:ext cx="5303520" cy="5303520"/>
          </a:xfrm>
          <a:prstGeom prst="ellipse">
            <a:avLst/>
          </a:prstGeom>
          <a:solidFill>
            <a:srgbClr val="FFFFFF">
              <a:alpha val="24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607040" y="3657600"/>
            <a:ext cx="3474720" cy="3474720"/>
          </a:xfrm>
          <a:prstGeom prst="ellipse">
            <a:avLst/>
          </a:prstGeom>
          <a:solidFill>
            <a:srgbClr val="8B0000">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780727" y="448056"/>
            <a:ext cx="1908048" cy="9509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9899599" y="566928"/>
            <a:ext cx="1670304" cy="713232"/>
          </a:xfrm>
          <a:prstGeom prst="rect">
            <a:avLst/>
          </a:prstGeom>
        </p:spPr>
      </p:pic>
      <p:sp>
        <p:nvSpPr>
          <p:cNvPr id="7" name="TextBox 6"/>
          <p:cNvSpPr txBox="1"/>
          <p:nvPr/>
        </p:nvSpPr>
        <p:spPr>
          <a:xfrm>
            <a:off x="7223760" y="1170432"/>
            <a:ext cx="4480560" cy="4023360"/>
          </a:xfrm>
          <a:prstGeom prst="rect">
            <a:avLst/>
          </a:prstGeom>
          <a:noFill/>
        </p:spPr>
        <p:txBody>
          <a:bodyPr wrap="square" lIns="0" rIns="0" tIns="0" bIns="0" anchor="t">
            <a:spAutoFit/>
          </a:bodyPr>
          <a:lstStyle/>
          <a:p>
            <a:pPr algn="r">
              <a:lnSpc>
                <a:spcPct val="100000"/>
              </a:lnSpc>
              <a:spcBef>
                <a:spcPts val="0"/>
              </a:spcBef>
              <a:spcAft>
                <a:spcPts val="0"/>
              </a:spcAft>
            </a:pPr>
            <a:r>
              <a:rPr sz="19000" b="0" i="0">
                <a:solidFill>
                  <a:srgbClr val="273140"/>
                </a:solidFill>
                <a:latin typeface="Sorts Mill Goudy"/>
                <a:ea typeface="Sorts Mill Goudy"/>
                <a:cs typeface="Sorts Mill Goudy"/>
              </a:rPr>
              <a:t>01</a:t>
            </a:r>
          </a:p>
        </p:txBody>
      </p:sp>
      <p:sp>
        <p:nvSpPr>
          <p:cNvPr id="8" name="Rectangle 7"/>
          <p:cNvSpPr/>
          <p:nvPr/>
        </p:nvSpPr>
        <p:spPr>
          <a:xfrm>
            <a:off x="859536" y="2696713"/>
            <a:ext cx="1110222" cy="274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50" b="0" i="0" spc="130">
                <a:solidFill>
                  <a:srgbClr val="FFFFFF"/>
                </a:solidFill>
                <a:latin typeface="Quattrocento Sans"/>
                <a:ea typeface="Quattrocento Sans"/>
                <a:cs typeface="Quattrocento Sans"/>
              </a:rPr>
              <a:t>SECTION 01</a:t>
            </a:r>
          </a:p>
        </p:txBody>
      </p:sp>
      <p:sp>
        <p:nvSpPr>
          <p:cNvPr id="9" name="TextBox 8"/>
          <p:cNvSpPr txBox="1"/>
          <p:nvPr/>
        </p:nvSpPr>
        <p:spPr>
          <a:xfrm>
            <a:off x="859536" y="3281929"/>
            <a:ext cx="7315200" cy="792069"/>
          </a:xfrm>
          <a:prstGeom prst="rect">
            <a:avLst/>
          </a:prstGeom>
          <a:noFill/>
        </p:spPr>
        <p:txBody>
          <a:bodyPr wrap="square" lIns="0" rIns="0" tIns="0" bIns="0" anchor="t">
            <a:spAutoFit/>
          </a:bodyPr>
          <a:lstStyle/>
          <a:p>
            <a:pPr algn="l">
              <a:lnSpc>
                <a:spcPct val="104000"/>
              </a:lnSpc>
              <a:spcBef>
                <a:spcPts val="0"/>
              </a:spcBef>
              <a:spcAft>
                <a:spcPts val="0"/>
              </a:spcAft>
            </a:pPr>
            <a:r>
              <a:rPr sz="3400" b="0" i="0">
                <a:solidFill>
                  <a:srgbClr val="FFFFFF"/>
                </a:solidFill>
                <a:latin typeface="Sorts Mill Goudy"/>
                <a:ea typeface="Sorts Mill Goudy"/>
                <a:cs typeface="Sorts Mill Goudy"/>
              </a:rPr>
              <a:t>Gen AI in the Digital World</a:t>
            </a:r>
          </a:p>
        </p:txBody>
      </p:sp>
      <p:sp>
        <p:nvSpPr>
          <p:cNvPr id="10" name="Rectangle 9"/>
          <p:cNvSpPr/>
          <p:nvPr/>
        </p:nvSpPr>
        <p:spPr>
          <a:xfrm>
            <a:off x="859536" y="4147151"/>
            <a:ext cx="786384" cy="20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421471"/>
            <a:ext cx="6766560" cy="352463"/>
          </a:xfrm>
          <a:prstGeom prst="rect">
            <a:avLst/>
          </a:prstGeom>
          <a:noFill/>
        </p:spPr>
        <p:txBody>
          <a:bodyPr wrap="square" lIns="0" rIns="0" tIns="0" bIns="0" anchor="t">
            <a:spAutoFit/>
          </a:bodyPr>
          <a:lstStyle/>
          <a:p>
            <a:pPr algn="l">
              <a:lnSpc>
                <a:spcPct val="138000"/>
              </a:lnSpc>
              <a:spcBef>
                <a:spcPts val="0"/>
              </a:spcBef>
              <a:spcAft>
                <a:spcPts val="0"/>
              </a:spcAft>
            </a:pPr>
            <a:r>
              <a:rPr sz="1250" b="0" i="0">
                <a:solidFill>
                  <a:srgbClr val="C7CED8"/>
                </a:solidFill>
                <a:latin typeface="Quattrocento Sans"/>
                <a:ea typeface="Quattrocento Sans"/>
                <a:cs typeface="Quattrocento Sans"/>
              </a:rPr>
              <a:t>What genuinely changed, and what did not.</a:t>
            </a:r>
          </a:p>
        </p:txBody>
      </p:sp>
      <p:sp>
        <p:nvSpPr>
          <p:cNvPr id="12" name="TextBox 11"/>
          <p:cNvSpPr txBox="1"/>
          <p:nvPr/>
        </p:nvSpPr>
        <p:spPr>
          <a:xfrm>
            <a:off x="859536"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7A8493"/>
                </a:solidFill>
                <a:latin typeface="Quattrocento Sans"/>
                <a:ea typeface="Quattrocento Sans"/>
                <a:cs typeface="Quattrocento Sans"/>
              </a:rPr>
              <a:t>Lingesh K  ·  Register No. OSI2509030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04</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2</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THE SHIFT</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Four things Gen AI changed for business</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The technology is impressive. The change in expectations is what matters.</a:t>
            </a:r>
          </a:p>
        </p:txBody>
      </p:sp>
      <p:sp>
        <p:nvSpPr>
          <p:cNvPr id="12" name="Rectangle 11"/>
          <p:cNvSpPr/>
          <p:nvPr/>
        </p:nvSpPr>
        <p:spPr>
          <a:xfrm>
            <a:off x="566928" y="1764210"/>
            <a:ext cx="19050" cy="432569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2212266"/>
            <a:ext cx="2517571" cy="260604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78992" y="3024545"/>
            <a:ext cx="2042083"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FFFFFF"/>
                </a:solidFill>
                <a:latin typeface="Sorts Mill Goudy"/>
                <a:ea typeface="Sorts Mill Goudy"/>
                <a:cs typeface="Sorts Mill Goudy"/>
              </a:rPr>
              <a:t>Content became cheap</a:t>
            </a:r>
          </a:p>
        </p:txBody>
      </p:sp>
      <p:sp>
        <p:nvSpPr>
          <p:cNvPr id="15" name="TextBox 14"/>
          <p:cNvSpPr txBox="1"/>
          <p:nvPr/>
        </p:nvSpPr>
        <p:spPr>
          <a:xfrm>
            <a:off x="1078992" y="3433374"/>
            <a:ext cx="2042083" cy="1256915"/>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F2D9D9"/>
                </a:solidFill>
                <a:latin typeface="Quattrocento Sans"/>
                <a:ea typeface="Quattrocento Sans"/>
                <a:cs typeface="Quattrocento Sans"/>
              </a:rPr>
              <a:t>Producing text, images and video is no longer the bottleneck. Judgement is.</a:t>
            </a:r>
          </a:p>
        </p:txBody>
      </p:sp>
      <p:sp>
        <p:nvSpPr>
          <p:cNvPr id="16" name="Rectangle 15"/>
          <p:cNvSpPr/>
          <p:nvPr/>
        </p:nvSpPr>
        <p:spPr>
          <a:xfrm>
            <a:off x="3596563" y="2212266"/>
            <a:ext cx="2517571" cy="260604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34307" y="3116939"/>
            <a:ext cx="2042083"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FFFFFF"/>
                </a:solidFill>
                <a:latin typeface="Sorts Mill Goudy"/>
                <a:ea typeface="Sorts Mill Goudy"/>
                <a:cs typeface="Sorts Mill Goudy"/>
              </a:rPr>
              <a:t>Software learned language</a:t>
            </a:r>
          </a:p>
        </p:txBody>
      </p:sp>
      <p:sp>
        <p:nvSpPr>
          <p:cNvPr id="18" name="TextBox 17"/>
          <p:cNvSpPr txBox="1"/>
          <p:nvPr/>
        </p:nvSpPr>
        <p:spPr>
          <a:xfrm>
            <a:off x="3834307" y="3525768"/>
            <a:ext cx="2042083" cy="1164521"/>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F2D9D9"/>
                </a:solidFill>
                <a:latin typeface="Quattrocento Sans"/>
                <a:ea typeface="Quattrocento Sans"/>
                <a:cs typeface="Quattrocento Sans"/>
              </a:rPr>
              <a:t>Anyone can now instruct a system in plain words instead of through a form.</a:t>
            </a:r>
          </a:p>
        </p:txBody>
      </p:sp>
      <p:sp>
        <p:nvSpPr>
          <p:cNvPr id="19" name="Rectangle 18"/>
          <p:cNvSpPr/>
          <p:nvPr/>
        </p:nvSpPr>
        <p:spPr>
          <a:xfrm>
            <a:off x="6351879" y="2212266"/>
            <a:ext cx="2517571" cy="260604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9623" y="3116939"/>
            <a:ext cx="2042083"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FFFFFF"/>
                </a:solidFill>
                <a:latin typeface="Sorts Mill Goudy"/>
                <a:ea typeface="Sorts Mill Goudy"/>
                <a:cs typeface="Sorts Mill Goudy"/>
              </a:rPr>
              <a:t>Expertise spread out</a:t>
            </a:r>
          </a:p>
        </p:txBody>
      </p:sp>
      <p:sp>
        <p:nvSpPr>
          <p:cNvPr id="21" name="TextBox 20"/>
          <p:cNvSpPr txBox="1"/>
          <p:nvPr/>
        </p:nvSpPr>
        <p:spPr>
          <a:xfrm>
            <a:off x="6589623" y="3525768"/>
            <a:ext cx="2042083" cy="1164521"/>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F2D9D9"/>
                </a:solidFill>
                <a:latin typeface="Quattrocento Sans"/>
                <a:ea typeface="Quattrocento Sans"/>
                <a:cs typeface="Quattrocento Sans"/>
              </a:rPr>
              <a:t>A junior with good tools can produce work that used to need a specialist.</a:t>
            </a:r>
          </a:p>
        </p:txBody>
      </p:sp>
      <p:sp>
        <p:nvSpPr>
          <p:cNvPr id="22" name="Rectangle 21"/>
          <p:cNvSpPr/>
          <p:nvPr/>
        </p:nvSpPr>
        <p:spPr>
          <a:xfrm>
            <a:off x="9107195" y="2212266"/>
            <a:ext cx="2517571" cy="260604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344939" y="3116939"/>
            <a:ext cx="2042083"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FFFFFF"/>
                </a:solidFill>
                <a:latin typeface="Sorts Mill Goudy"/>
                <a:ea typeface="Sorts Mill Goudy"/>
                <a:cs typeface="Sorts Mill Goudy"/>
              </a:rPr>
              <a:t>Speed became the norm</a:t>
            </a:r>
          </a:p>
        </p:txBody>
      </p:sp>
      <p:sp>
        <p:nvSpPr>
          <p:cNvPr id="24" name="TextBox 23"/>
          <p:cNvSpPr txBox="1"/>
          <p:nvPr/>
        </p:nvSpPr>
        <p:spPr>
          <a:xfrm>
            <a:off x="9344939" y="3525768"/>
            <a:ext cx="2042083" cy="1164521"/>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F2D9D9"/>
                </a:solidFill>
                <a:latin typeface="Quattrocento Sans"/>
                <a:ea typeface="Quattrocento Sans"/>
                <a:cs typeface="Quattrocento Sans"/>
              </a:rPr>
              <a:t>Ideas can be prototyped in days, so slow competitors fall behind faster.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05</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3</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WHAT DID NOT CHANGE</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Fundamentals still decide who wins</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480692"/>
            <a:ext cx="19050" cy="4609211"/>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7" y="1517268"/>
            <a:ext cx="5254599" cy="3786251"/>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41247" y="1517268"/>
            <a:ext cx="5254599"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60704" y="1517268"/>
            <a:ext cx="4815687" cy="310896"/>
          </a:xfrm>
          <a:prstGeom prst="rect">
            <a:avLst/>
          </a:prstGeom>
          <a:noFill/>
        </p:spPr>
        <p:txBody>
          <a:bodyPr wrap="square" lIns="0" rIns="0" tIns="0" bIns="0" anchor="ctr">
            <a:spAutoFit/>
          </a:bodyPr>
          <a:lstStyle/>
          <a:p>
            <a:pPr algn="l">
              <a:lnSpc>
                <a:spcPct val="100000"/>
              </a:lnSpc>
              <a:spcBef>
                <a:spcPts val="0"/>
              </a:spcBef>
              <a:spcAft>
                <a:spcPts val="0"/>
              </a:spcAft>
            </a:pPr>
            <a:r>
              <a:rPr sz="850" b="0" i="0" spc="130">
                <a:solidFill>
                  <a:srgbClr val="FFFFFF"/>
                </a:solidFill>
                <a:latin typeface="Quattrocento Sans"/>
                <a:ea typeface="Quattrocento Sans"/>
                <a:cs typeface="Quattrocento Sans"/>
              </a:rPr>
              <a:t>WHAT AI CHANGED</a:t>
            </a:r>
          </a:p>
        </p:txBody>
      </p:sp>
      <p:sp>
        <p:nvSpPr>
          <p:cNvPr id="15" name="TextBox 14"/>
          <p:cNvSpPr txBox="1"/>
          <p:nvPr/>
        </p:nvSpPr>
        <p:spPr>
          <a:xfrm>
            <a:off x="1097280" y="1992757"/>
            <a:ext cx="4742535" cy="377797"/>
          </a:xfrm>
          <a:prstGeom prst="rect">
            <a:avLst/>
          </a:prstGeom>
          <a:noFill/>
        </p:spPr>
        <p:txBody>
          <a:bodyPr wrap="square" lIns="0" rIns="0" tIns="0" bIns="0" anchor="t">
            <a:spAutoFit/>
          </a:bodyPr>
          <a:lstStyle/>
          <a:p>
            <a:pPr algn="l">
              <a:lnSpc>
                <a:spcPct val="112000"/>
              </a:lnSpc>
              <a:spcBef>
                <a:spcPts val="0"/>
              </a:spcBef>
              <a:spcAft>
                <a:spcPts val="0"/>
              </a:spcAft>
            </a:pPr>
            <a:r>
              <a:rPr sz="1400" b="0" i="0">
                <a:solidFill>
                  <a:srgbClr val="1F2937"/>
                </a:solidFill>
                <a:latin typeface="Sorts Mill Goudy"/>
                <a:ea typeface="Sorts Mill Goudy"/>
                <a:cs typeface="Sorts Mill Goudy"/>
              </a:rPr>
              <a:t>The cost and speed of doing work</a:t>
            </a:r>
          </a:p>
        </p:txBody>
      </p:sp>
      <p:sp>
        <p:nvSpPr>
          <p:cNvPr id="16" name="Rectangle 15"/>
          <p:cNvSpPr/>
          <p:nvPr/>
        </p:nvSpPr>
        <p:spPr>
          <a:xfrm>
            <a:off x="1097280" y="2461994"/>
            <a:ext cx="4742535"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13281" y="2729456"/>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298448" y="2640302"/>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Drafting, summarising and analysis are fast</a:t>
            </a:r>
          </a:p>
        </p:txBody>
      </p:sp>
      <p:sp>
        <p:nvSpPr>
          <p:cNvPr id="19" name="Oval 18"/>
          <p:cNvSpPr/>
          <p:nvPr/>
        </p:nvSpPr>
        <p:spPr>
          <a:xfrm>
            <a:off x="1113281" y="3220952"/>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298448" y="3131798"/>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Language is now a valid interface</a:t>
            </a:r>
          </a:p>
        </p:txBody>
      </p:sp>
      <p:sp>
        <p:nvSpPr>
          <p:cNvPr id="21" name="Oval 20"/>
          <p:cNvSpPr/>
          <p:nvPr/>
        </p:nvSpPr>
        <p:spPr>
          <a:xfrm>
            <a:off x="1113281" y="3712447"/>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298448" y="3623293"/>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Small teams can produce a lot</a:t>
            </a:r>
          </a:p>
        </p:txBody>
      </p:sp>
      <p:sp>
        <p:nvSpPr>
          <p:cNvPr id="23" name="Oval 22"/>
          <p:cNvSpPr/>
          <p:nvPr/>
        </p:nvSpPr>
        <p:spPr>
          <a:xfrm>
            <a:off x="1113281" y="4203943"/>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298448" y="4114789"/>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Prototypes are cheap to test</a:t>
            </a:r>
          </a:p>
        </p:txBody>
      </p:sp>
      <p:sp>
        <p:nvSpPr>
          <p:cNvPr id="25" name="Oval 24"/>
          <p:cNvSpPr/>
          <p:nvPr/>
        </p:nvSpPr>
        <p:spPr>
          <a:xfrm>
            <a:off x="1113281" y="4695438"/>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298448" y="4606284"/>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Personalisation is affordable at scale</a:t>
            </a:r>
          </a:p>
        </p:txBody>
      </p:sp>
      <p:sp>
        <p:nvSpPr>
          <p:cNvPr id="27" name="Rectangle 26"/>
          <p:cNvSpPr/>
          <p:nvPr/>
        </p:nvSpPr>
        <p:spPr>
          <a:xfrm>
            <a:off x="6370167" y="1517268"/>
            <a:ext cx="5254599" cy="3786251"/>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370167" y="1517268"/>
            <a:ext cx="5254599" cy="310896"/>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89623" y="1517268"/>
            <a:ext cx="4815687" cy="310896"/>
          </a:xfrm>
          <a:prstGeom prst="rect">
            <a:avLst/>
          </a:prstGeom>
          <a:noFill/>
        </p:spPr>
        <p:txBody>
          <a:bodyPr wrap="square" lIns="0" rIns="0" tIns="0" bIns="0" anchor="ctr">
            <a:spAutoFit/>
          </a:bodyPr>
          <a:lstStyle/>
          <a:p>
            <a:pPr algn="l">
              <a:lnSpc>
                <a:spcPct val="100000"/>
              </a:lnSpc>
              <a:spcBef>
                <a:spcPts val="0"/>
              </a:spcBef>
              <a:spcAft>
                <a:spcPts val="0"/>
              </a:spcAft>
            </a:pPr>
            <a:r>
              <a:rPr sz="850" b="0" i="0" spc="130">
                <a:solidFill>
                  <a:srgbClr val="FFFFFF"/>
                </a:solidFill>
                <a:latin typeface="Quattrocento Sans"/>
                <a:ea typeface="Quattrocento Sans"/>
                <a:cs typeface="Quattrocento Sans"/>
              </a:rPr>
              <a:t>WHAT STAYED THE SAME</a:t>
            </a:r>
          </a:p>
        </p:txBody>
      </p:sp>
      <p:sp>
        <p:nvSpPr>
          <p:cNvPr id="30" name="TextBox 29"/>
          <p:cNvSpPr txBox="1"/>
          <p:nvPr/>
        </p:nvSpPr>
        <p:spPr>
          <a:xfrm>
            <a:off x="6626199" y="1992757"/>
            <a:ext cx="4742535" cy="377797"/>
          </a:xfrm>
          <a:prstGeom prst="rect">
            <a:avLst/>
          </a:prstGeom>
          <a:noFill/>
        </p:spPr>
        <p:txBody>
          <a:bodyPr wrap="square" lIns="0" rIns="0" tIns="0" bIns="0" anchor="t">
            <a:spAutoFit/>
          </a:bodyPr>
          <a:lstStyle/>
          <a:p>
            <a:pPr algn="l">
              <a:lnSpc>
                <a:spcPct val="112000"/>
              </a:lnSpc>
              <a:spcBef>
                <a:spcPts val="0"/>
              </a:spcBef>
              <a:spcAft>
                <a:spcPts val="0"/>
              </a:spcAft>
            </a:pPr>
            <a:r>
              <a:rPr sz="1400" b="0" i="0">
                <a:solidFill>
                  <a:srgbClr val="1F2937"/>
                </a:solidFill>
                <a:latin typeface="Sorts Mill Goudy"/>
                <a:ea typeface="Sorts Mill Goudy"/>
                <a:cs typeface="Sorts Mill Goudy"/>
              </a:rPr>
              <a:t>The things that make a business work</a:t>
            </a:r>
          </a:p>
        </p:txBody>
      </p:sp>
      <p:sp>
        <p:nvSpPr>
          <p:cNvPr id="31" name="Rectangle 30"/>
          <p:cNvSpPr/>
          <p:nvPr/>
        </p:nvSpPr>
        <p:spPr>
          <a:xfrm>
            <a:off x="6626199" y="2461994"/>
            <a:ext cx="4742535"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42201" y="2729456"/>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7367" y="2640302"/>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Customers still need a real problem solved</a:t>
            </a:r>
          </a:p>
        </p:txBody>
      </p:sp>
      <p:sp>
        <p:nvSpPr>
          <p:cNvPr id="34" name="Oval 33"/>
          <p:cNvSpPr/>
          <p:nvPr/>
        </p:nvSpPr>
        <p:spPr>
          <a:xfrm>
            <a:off x="6642201" y="3220952"/>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7367" y="3131798"/>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Trust still takes years to build</a:t>
            </a:r>
          </a:p>
        </p:txBody>
      </p:sp>
      <p:sp>
        <p:nvSpPr>
          <p:cNvPr id="36" name="Oval 35"/>
          <p:cNvSpPr/>
          <p:nvPr/>
        </p:nvSpPr>
        <p:spPr>
          <a:xfrm>
            <a:off x="6642201" y="3712447"/>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27367" y="3623293"/>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Bad processes get faster, not better</a:t>
            </a:r>
          </a:p>
        </p:txBody>
      </p:sp>
      <p:sp>
        <p:nvSpPr>
          <p:cNvPr id="38" name="Oval 37"/>
          <p:cNvSpPr/>
          <p:nvPr/>
        </p:nvSpPr>
        <p:spPr>
          <a:xfrm>
            <a:off x="6642201" y="4203943"/>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827367" y="4114789"/>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Someone still has to decide and own it</a:t>
            </a:r>
          </a:p>
        </p:txBody>
      </p:sp>
      <p:sp>
        <p:nvSpPr>
          <p:cNvPr id="40" name="Oval 39"/>
          <p:cNvSpPr/>
          <p:nvPr/>
        </p:nvSpPr>
        <p:spPr>
          <a:xfrm>
            <a:off x="6642201" y="4695438"/>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827367" y="4606284"/>
            <a:ext cx="4468215" cy="491495"/>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1F2937"/>
                </a:solidFill>
                <a:latin typeface="Quattrocento Sans"/>
                <a:ea typeface="Quattrocento Sans"/>
                <a:cs typeface="Quattrocento Sans"/>
              </a:rPr>
              <a:t>Execution still beats intention</a:t>
            </a:r>
          </a:p>
        </p:txBody>
      </p:sp>
      <p:sp>
        <p:nvSpPr>
          <p:cNvPr id="42" name="Rectangle 41"/>
          <p:cNvSpPr/>
          <p:nvPr/>
        </p:nvSpPr>
        <p:spPr>
          <a:xfrm>
            <a:off x="566928" y="5522976"/>
            <a:ext cx="11057839" cy="5669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41247" y="5522976"/>
            <a:ext cx="10509199" cy="566928"/>
          </a:xfrm>
          <a:prstGeom prst="rect">
            <a:avLst/>
          </a:prstGeom>
          <a:noFill/>
        </p:spPr>
        <p:txBody>
          <a:bodyPr wrap="square" lIns="0" rIns="0" tIns="0" bIns="0" anchor="ctr">
            <a:spAutoFit/>
          </a:bodyPr>
          <a:lstStyle/>
          <a:p>
            <a:pPr algn="l">
              <a:lnSpc>
                <a:spcPct val="125000"/>
              </a:lnSpc>
              <a:spcBef>
                <a:spcPts val="0"/>
              </a:spcBef>
              <a:spcAft>
                <a:spcPts val="0"/>
              </a:spcAft>
            </a:pPr>
            <a:r>
              <a:rPr sz="800" b="0" i="0" spc="130">
                <a:solidFill>
                  <a:srgbClr val="E3B4B4"/>
                </a:solidFill>
                <a:latin typeface="Quattrocento Sans"/>
                <a:ea typeface="Quattrocento Sans"/>
                <a:cs typeface="Quattrocento Sans"/>
              </a:rPr>
              <a:t>IN SHORT   </a:t>
            </a:r>
            <a:r>
              <a:rPr sz="1150" b="0" i="0">
                <a:solidFill>
                  <a:srgbClr val="FFFFFF"/>
                </a:solidFill>
                <a:latin typeface="Quattrocento Sans"/>
                <a:ea typeface="Quattrocento Sans"/>
                <a:cs typeface="Quattrocento Sans"/>
              </a:rPr>
              <a:t>AI amplifies whatever you already are. Strong operations get stronger; weak ones get faster at being weak.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06</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4</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COMPETITIVE ADVANTAGE</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The model is not the moat</a:t>
            </a:r>
          </a:p>
        </p:txBody>
      </p:sp>
      <p:sp>
        <p:nvSpPr>
          <p:cNvPr id="10" name="Rectangle 9"/>
          <p:cNvSpPr/>
          <p:nvPr/>
        </p:nvSpPr>
        <p:spPr>
          <a:xfrm>
            <a:off x="566928" y="1242948"/>
            <a:ext cx="11057839" cy="15875"/>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Everyone has access to the same models. That is exactly why they are not the differentiator.</a:t>
            </a:r>
          </a:p>
        </p:txBody>
      </p:sp>
      <p:sp>
        <p:nvSpPr>
          <p:cNvPr id="12" name="Rectangle 11"/>
          <p:cNvSpPr/>
          <p:nvPr/>
        </p:nvSpPr>
        <p:spPr>
          <a:xfrm>
            <a:off x="566928" y="1764210"/>
            <a:ext cx="19050" cy="4325693"/>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2212266"/>
            <a:ext cx="2517571" cy="260604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41247" y="2212266"/>
            <a:ext cx="20320" cy="260604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78992" y="3111413"/>
            <a:ext cx="77724" cy="77724"/>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252728" y="3024545"/>
            <a:ext cx="1868347"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Your data</a:t>
            </a:r>
          </a:p>
        </p:txBody>
      </p:sp>
      <p:sp>
        <p:nvSpPr>
          <p:cNvPr id="17" name="TextBox 16"/>
          <p:cNvSpPr txBox="1"/>
          <p:nvPr/>
        </p:nvSpPr>
        <p:spPr>
          <a:xfrm>
            <a:off x="1078992" y="3433374"/>
            <a:ext cx="2042083" cy="1256915"/>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Competitors can rent the same model. They cannot get your customer and operational history.</a:t>
            </a:r>
          </a:p>
        </p:txBody>
      </p:sp>
      <p:sp>
        <p:nvSpPr>
          <p:cNvPr id="18" name="Rectangle 17"/>
          <p:cNvSpPr/>
          <p:nvPr/>
        </p:nvSpPr>
        <p:spPr>
          <a:xfrm>
            <a:off x="3596563" y="2212266"/>
            <a:ext cx="2517571" cy="260604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596563" y="2212266"/>
            <a:ext cx="20320" cy="260604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34307" y="3203807"/>
            <a:ext cx="77724" cy="77724"/>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08043" y="3116939"/>
            <a:ext cx="1868347"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Your workflow</a:t>
            </a:r>
          </a:p>
        </p:txBody>
      </p:sp>
      <p:sp>
        <p:nvSpPr>
          <p:cNvPr id="22" name="TextBox 21"/>
          <p:cNvSpPr txBox="1"/>
          <p:nvPr/>
        </p:nvSpPr>
        <p:spPr>
          <a:xfrm>
            <a:off x="3834307" y="3525768"/>
            <a:ext cx="2042083" cy="1164521"/>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Advantage comes from AI embedded in a process, not from a licence.</a:t>
            </a:r>
          </a:p>
        </p:txBody>
      </p:sp>
      <p:sp>
        <p:nvSpPr>
          <p:cNvPr id="23" name="Rectangle 22"/>
          <p:cNvSpPr/>
          <p:nvPr/>
        </p:nvSpPr>
        <p:spPr>
          <a:xfrm>
            <a:off x="6351879" y="2212266"/>
            <a:ext cx="2517571" cy="260604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51879" y="2212266"/>
            <a:ext cx="20320" cy="260604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9623" y="3203807"/>
            <a:ext cx="77724" cy="77724"/>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63359" y="3116939"/>
            <a:ext cx="1868347"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Your people's skill</a:t>
            </a:r>
          </a:p>
        </p:txBody>
      </p:sp>
      <p:sp>
        <p:nvSpPr>
          <p:cNvPr id="27" name="TextBox 26"/>
          <p:cNvSpPr txBox="1"/>
          <p:nvPr/>
        </p:nvSpPr>
        <p:spPr>
          <a:xfrm>
            <a:off x="6589623" y="3525768"/>
            <a:ext cx="2042083" cy="1164521"/>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Teams who know how to direct AI get far more from the same tool.</a:t>
            </a:r>
          </a:p>
        </p:txBody>
      </p:sp>
      <p:sp>
        <p:nvSpPr>
          <p:cNvPr id="28" name="Rectangle 27"/>
          <p:cNvSpPr/>
          <p:nvPr/>
        </p:nvSpPr>
        <p:spPr>
          <a:xfrm>
            <a:off x="9107195" y="2212266"/>
            <a:ext cx="2517571" cy="260604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107195" y="2212266"/>
            <a:ext cx="20320" cy="260604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44939" y="3111413"/>
            <a:ext cx="77724" cy="77724"/>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518675" y="3024545"/>
            <a:ext cx="1868347"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Your trust</a:t>
            </a:r>
          </a:p>
        </p:txBody>
      </p:sp>
      <p:sp>
        <p:nvSpPr>
          <p:cNvPr id="32" name="TextBox 31"/>
          <p:cNvSpPr txBox="1"/>
          <p:nvPr/>
        </p:nvSpPr>
        <p:spPr>
          <a:xfrm>
            <a:off x="9344939" y="3433374"/>
            <a:ext cx="2042083" cy="1256915"/>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Customers share more with organisations they trust, which makes your data better still.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07</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5</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STRATEGIC CHOICES</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Three levels of ambition</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Most organisations should be doing all three at once, at different speeds.</a:t>
            </a:r>
          </a:p>
        </p:txBody>
      </p:sp>
      <p:sp>
        <p:nvSpPr>
          <p:cNvPr id="12" name="Rectangle 11"/>
          <p:cNvSpPr/>
          <p:nvPr/>
        </p:nvSpPr>
        <p:spPr>
          <a:xfrm>
            <a:off x="566928" y="1764210"/>
            <a:ext cx="19050" cy="432569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4539705"/>
            <a:ext cx="10783519" cy="93268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41247" y="4539705"/>
            <a:ext cx="20320" cy="93268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42415" y="4859745"/>
            <a:ext cx="292608" cy="29260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42415" y="4905465"/>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L1</a:t>
            </a:r>
          </a:p>
        </p:txBody>
      </p:sp>
      <p:sp>
        <p:nvSpPr>
          <p:cNvPr id="17" name="TextBox 16"/>
          <p:cNvSpPr txBox="1"/>
          <p:nvPr/>
        </p:nvSpPr>
        <p:spPr>
          <a:xfrm>
            <a:off x="1463040" y="4906422"/>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Adopt</a:t>
            </a:r>
          </a:p>
        </p:txBody>
      </p:sp>
      <p:sp>
        <p:nvSpPr>
          <p:cNvPr id="18" name="TextBox 17"/>
          <p:cNvSpPr txBox="1"/>
          <p:nvPr/>
        </p:nvSpPr>
        <p:spPr>
          <a:xfrm>
            <a:off x="4443983" y="4914583"/>
            <a:ext cx="6961327" cy="256082"/>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Give teams approved tools and training. Quick wins, low risk, easy to copy.</a:t>
            </a:r>
          </a:p>
        </p:txBody>
      </p:sp>
      <p:sp>
        <p:nvSpPr>
          <p:cNvPr id="19" name="Rectangle 18"/>
          <p:cNvSpPr/>
          <p:nvPr/>
        </p:nvSpPr>
        <p:spPr>
          <a:xfrm>
            <a:off x="2243105" y="3479001"/>
            <a:ext cx="9381661" cy="93268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243105" y="3479001"/>
            <a:ext cx="20320" cy="9326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44273" y="3799041"/>
            <a:ext cx="292608" cy="29260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444273" y="3844761"/>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L2</a:t>
            </a:r>
          </a:p>
        </p:txBody>
      </p:sp>
      <p:sp>
        <p:nvSpPr>
          <p:cNvPr id="23" name="TextBox 22"/>
          <p:cNvSpPr txBox="1"/>
          <p:nvPr/>
        </p:nvSpPr>
        <p:spPr>
          <a:xfrm>
            <a:off x="2864897" y="3845718"/>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Embed</a:t>
            </a:r>
          </a:p>
        </p:txBody>
      </p:sp>
      <p:sp>
        <p:nvSpPr>
          <p:cNvPr id="24" name="TextBox 23"/>
          <p:cNvSpPr txBox="1"/>
          <p:nvPr/>
        </p:nvSpPr>
        <p:spPr>
          <a:xfrm>
            <a:off x="5845841" y="3853879"/>
            <a:ext cx="5559469" cy="256082"/>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Build AI into core workflows and products. Slower, and much harder to copy.</a:t>
            </a:r>
          </a:p>
        </p:txBody>
      </p:sp>
      <p:sp>
        <p:nvSpPr>
          <p:cNvPr id="25" name="Rectangle 24"/>
          <p:cNvSpPr/>
          <p:nvPr/>
        </p:nvSpPr>
        <p:spPr>
          <a:xfrm>
            <a:off x="3644962" y="2418297"/>
            <a:ext cx="7979804" cy="93268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3644962" y="2418297"/>
            <a:ext cx="20320" cy="932688"/>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46130" y="2738337"/>
            <a:ext cx="292608" cy="292608"/>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846130" y="2784057"/>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L3</a:t>
            </a:r>
          </a:p>
        </p:txBody>
      </p:sp>
      <p:sp>
        <p:nvSpPr>
          <p:cNvPr id="29" name="TextBox 28"/>
          <p:cNvSpPr txBox="1"/>
          <p:nvPr/>
        </p:nvSpPr>
        <p:spPr>
          <a:xfrm>
            <a:off x="4266754" y="2785014"/>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Transform</a:t>
            </a:r>
          </a:p>
        </p:txBody>
      </p:sp>
      <p:sp>
        <p:nvSpPr>
          <p:cNvPr id="30" name="TextBox 29"/>
          <p:cNvSpPr txBox="1"/>
          <p:nvPr/>
        </p:nvSpPr>
        <p:spPr>
          <a:xfrm>
            <a:off x="7247698" y="2701710"/>
            <a:ext cx="4157612" cy="439013"/>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Change what the business sells or how it is priced. Highest risk and highest return.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F2937"/>
              </a:gs>
              <a:gs pos="100000">
                <a:srgbClr val="0F1722"/>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778240" y="-1280160"/>
            <a:ext cx="5303520" cy="5303520"/>
          </a:xfrm>
          <a:prstGeom prst="ellipse">
            <a:avLst/>
          </a:prstGeom>
          <a:solidFill>
            <a:srgbClr val="FFFFFF">
              <a:alpha val="24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607040" y="3657600"/>
            <a:ext cx="3474720" cy="3474720"/>
          </a:xfrm>
          <a:prstGeom prst="ellipse">
            <a:avLst/>
          </a:prstGeom>
          <a:solidFill>
            <a:srgbClr val="8B0000">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780727" y="448056"/>
            <a:ext cx="1908048" cy="9509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9899599" y="566928"/>
            <a:ext cx="1670304" cy="713232"/>
          </a:xfrm>
          <a:prstGeom prst="rect">
            <a:avLst/>
          </a:prstGeom>
        </p:spPr>
      </p:pic>
      <p:sp>
        <p:nvSpPr>
          <p:cNvPr id="7" name="TextBox 6"/>
          <p:cNvSpPr txBox="1"/>
          <p:nvPr/>
        </p:nvSpPr>
        <p:spPr>
          <a:xfrm>
            <a:off x="7223760" y="1170432"/>
            <a:ext cx="4480560" cy="4023360"/>
          </a:xfrm>
          <a:prstGeom prst="rect">
            <a:avLst/>
          </a:prstGeom>
          <a:noFill/>
        </p:spPr>
        <p:txBody>
          <a:bodyPr wrap="square" lIns="0" rIns="0" tIns="0" bIns="0" anchor="t">
            <a:spAutoFit/>
          </a:bodyPr>
          <a:lstStyle/>
          <a:p>
            <a:pPr algn="r">
              <a:lnSpc>
                <a:spcPct val="100000"/>
              </a:lnSpc>
              <a:spcBef>
                <a:spcPts val="0"/>
              </a:spcBef>
              <a:spcAft>
                <a:spcPts val="0"/>
              </a:spcAft>
            </a:pPr>
            <a:r>
              <a:rPr sz="19000" b="0" i="0">
                <a:solidFill>
                  <a:srgbClr val="273140"/>
                </a:solidFill>
                <a:latin typeface="Sorts Mill Goudy"/>
                <a:ea typeface="Sorts Mill Goudy"/>
                <a:cs typeface="Sorts Mill Goudy"/>
              </a:rPr>
              <a:t>02</a:t>
            </a:r>
          </a:p>
        </p:txBody>
      </p:sp>
      <p:sp>
        <p:nvSpPr>
          <p:cNvPr id="8" name="Rectangle 7"/>
          <p:cNvSpPr/>
          <p:nvPr/>
        </p:nvSpPr>
        <p:spPr>
          <a:xfrm>
            <a:off x="859536" y="2373830"/>
            <a:ext cx="1130934" cy="274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50" b="0" i="0" spc="130">
                <a:solidFill>
                  <a:srgbClr val="FFFFFF"/>
                </a:solidFill>
                <a:latin typeface="Quattrocento Sans"/>
                <a:ea typeface="Quattrocento Sans"/>
                <a:cs typeface="Quattrocento Sans"/>
              </a:rPr>
              <a:t>SECTION 02</a:t>
            </a:r>
          </a:p>
        </p:txBody>
      </p:sp>
      <p:sp>
        <p:nvSpPr>
          <p:cNvPr id="9" name="TextBox 8"/>
          <p:cNvSpPr txBox="1"/>
          <p:nvPr/>
        </p:nvSpPr>
        <p:spPr>
          <a:xfrm>
            <a:off x="859536" y="2959046"/>
            <a:ext cx="7315200" cy="1437835"/>
          </a:xfrm>
          <a:prstGeom prst="rect">
            <a:avLst/>
          </a:prstGeom>
          <a:noFill/>
        </p:spPr>
        <p:txBody>
          <a:bodyPr wrap="square" lIns="0" rIns="0" tIns="0" bIns="0" anchor="t">
            <a:spAutoFit/>
          </a:bodyPr>
          <a:lstStyle/>
          <a:p>
            <a:pPr algn="l">
              <a:lnSpc>
                <a:spcPct val="104000"/>
              </a:lnSpc>
              <a:spcBef>
                <a:spcPts val="0"/>
              </a:spcBef>
              <a:spcAft>
                <a:spcPts val="0"/>
              </a:spcAft>
            </a:pPr>
            <a:r>
              <a:rPr sz="3400" b="0" i="0">
                <a:solidFill>
                  <a:srgbClr val="FFFFFF"/>
                </a:solidFill>
                <a:latin typeface="Sorts Mill Goudy"/>
                <a:ea typeface="Sorts Mill Goudy"/>
                <a:cs typeface="Sorts Mill Goudy"/>
              </a:rPr>
              <a:t>Developing AI-Based Business Solutions</a:t>
            </a:r>
          </a:p>
        </p:txBody>
      </p:sp>
      <p:sp>
        <p:nvSpPr>
          <p:cNvPr id="10" name="Rectangle 9"/>
          <p:cNvSpPr/>
          <p:nvPr/>
        </p:nvSpPr>
        <p:spPr>
          <a:xfrm>
            <a:off x="859536" y="4470033"/>
            <a:ext cx="786384" cy="20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44353"/>
            <a:ext cx="6766560" cy="352463"/>
          </a:xfrm>
          <a:prstGeom prst="rect">
            <a:avLst/>
          </a:prstGeom>
          <a:noFill/>
        </p:spPr>
        <p:txBody>
          <a:bodyPr wrap="square" lIns="0" rIns="0" tIns="0" bIns="0" anchor="t">
            <a:spAutoFit/>
          </a:bodyPr>
          <a:lstStyle/>
          <a:p>
            <a:pPr algn="l">
              <a:lnSpc>
                <a:spcPct val="138000"/>
              </a:lnSpc>
              <a:spcBef>
                <a:spcPts val="0"/>
              </a:spcBef>
              <a:spcAft>
                <a:spcPts val="0"/>
              </a:spcAft>
            </a:pPr>
            <a:r>
              <a:rPr sz="1250" b="0" i="0">
                <a:solidFill>
                  <a:srgbClr val="C7CED8"/>
                </a:solidFill>
                <a:latin typeface="Quattrocento Sans"/>
                <a:ea typeface="Quattrocento Sans"/>
                <a:cs typeface="Quattrocento Sans"/>
              </a:rPr>
              <a:t>From an interesting idea to something that runs.</a:t>
            </a:r>
          </a:p>
        </p:txBody>
      </p:sp>
      <p:sp>
        <p:nvSpPr>
          <p:cNvPr id="12" name="TextBox 11"/>
          <p:cNvSpPr txBox="1"/>
          <p:nvPr/>
        </p:nvSpPr>
        <p:spPr>
          <a:xfrm>
            <a:off x="859536"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7A8493"/>
                </a:solidFill>
                <a:latin typeface="Quattrocento Sans"/>
                <a:ea typeface="Quattrocento Sans"/>
                <a:cs typeface="Quattrocento Sans"/>
              </a:rPr>
              <a:t>Lingesh K  ·  Register No. OSI2509030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09</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6</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THE BUILD PATH</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Six steps from problem to production</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480692"/>
            <a:ext cx="19050" cy="4609211"/>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3674" y="2278049"/>
            <a:ext cx="9138666"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489938" y="2111629"/>
            <a:ext cx="347472" cy="347472"/>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9938" y="2154605"/>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1</a:t>
            </a:r>
          </a:p>
        </p:txBody>
      </p:sp>
      <p:sp>
        <p:nvSpPr>
          <p:cNvPr id="15" name="Rectangle 14"/>
          <p:cNvSpPr/>
          <p:nvPr/>
        </p:nvSpPr>
        <p:spPr>
          <a:xfrm>
            <a:off x="841247" y="2632837"/>
            <a:ext cx="1644853" cy="14416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41247" y="2632837"/>
            <a:ext cx="1644853" cy="1778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6695" y="2815717"/>
            <a:ext cx="1333957"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Frame the problem</a:t>
            </a:r>
          </a:p>
        </p:txBody>
      </p:sp>
      <p:sp>
        <p:nvSpPr>
          <p:cNvPr id="18" name="TextBox 17"/>
          <p:cNvSpPr txBox="1"/>
          <p:nvPr/>
        </p:nvSpPr>
        <p:spPr>
          <a:xfrm>
            <a:off x="996695" y="3116396"/>
            <a:ext cx="1333957" cy="92149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Start from a business pain, never from the technology.</a:t>
            </a:r>
          </a:p>
        </p:txBody>
      </p:sp>
      <p:sp>
        <p:nvSpPr>
          <p:cNvPr id="19" name="Rectangle 18"/>
          <p:cNvSpPr/>
          <p:nvPr/>
        </p:nvSpPr>
        <p:spPr>
          <a:xfrm>
            <a:off x="3317671" y="2111629"/>
            <a:ext cx="347472" cy="347472"/>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17671" y="2154605"/>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2</a:t>
            </a:r>
          </a:p>
        </p:txBody>
      </p:sp>
      <p:sp>
        <p:nvSpPr>
          <p:cNvPr id="21" name="Rectangle 20"/>
          <p:cNvSpPr/>
          <p:nvPr/>
        </p:nvSpPr>
        <p:spPr>
          <a:xfrm>
            <a:off x="2668981" y="2632837"/>
            <a:ext cx="1644853" cy="14416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668981" y="2632837"/>
            <a:ext cx="1644853" cy="1778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24429" y="2815717"/>
            <a:ext cx="1333957"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Check the data</a:t>
            </a:r>
          </a:p>
        </p:txBody>
      </p:sp>
      <p:sp>
        <p:nvSpPr>
          <p:cNvPr id="24" name="TextBox 23"/>
          <p:cNvSpPr txBox="1"/>
          <p:nvPr/>
        </p:nvSpPr>
        <p:spPr>
          <a:xfrm>
            <a:off x="2824429" y="3116396"/>
            <a:ext cx="1333957" cy="92149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Does the data exist, and is it good enough?</a:t>
            </a:r>
          </a:p>
        </p:txBody>
      </p:sp>
      <p:sp>
        <p:nvSpPr>
          <p:cNvPr id="25" name="Rectangle 24"/>
          <p:cNvSpPr/>
          <p:nvPr/>
        </p:nvSpPr>
        <p:spPr>
          <a:xfrm>
            <a:off x="5145405" y="2111629"/>
            <a:ext cx="347472" cy="347472"/>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45405" y="2154605"/>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3</a:t>
            </a:r>
          </a:p>
        </p:txBody>
      </p:sp>
      <p:sp>
        <p:nvSpPr>
          <p:cNvPr id="27" name="Rectangle 26"/>
          <p:cNvSpPr/>
          <p:nvPr/>
        </p:nvSpPr>
        <p:spPr>
          <a:xfrm>
            <a:off x="4496714" y="2632837"/>
            <a:ext cx="1644853" cy="14416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496714" y="2632837"/>
            <a:ext cx="1644853" cy="1778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52162" y="2815717"/>
            <a:ext cx="1333957"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Prototype fast</a:t>
            </a:r>
          </a:p>
        </p:txBody>
      </p:sp>
      <p:sp>
        <p:nvSpPr>
          <p:cNvPr id="30" name="TextBox 29"/>
          <p:cNvSpPr txBox="1"/>
          <p:nvPr/>
        </p:nvSpPr>
        <p:spPr>
          <a:xfrm>
            <a:off x="4652162" y="3116396"/>
            <a:ext cx="1333957" cy="92149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Two weeks, no-code, one narrow slice of the problem.</a:t>
            </a:r>
          </a:p>
        </p:txBody>
      </p:sp>
      <p:sp>
        <p:nvSpPr>
          <p:cNvPr id="31" name="Rectangle 30"/>
          <p:cNvSpPr/>
          <p:nvPr/>
        </p:nvSpPr>
        <p:spPr>
          <a:xfrm>
            <a:off x="6973138" y="2111629"/>
            <a:ext cx="347472" cy="347472"/>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73138" y="2154605"/>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4</a:t>
            </a:r>
          </a:p>
        </p:txBody>
      </p:sp>
      <p:sp>
        <p:nvSpPr>
          <p:cNvPr id="33" name="Rectangle 32"/>
          <p:cNvSpPr/>
          <p:nvPr/>
        </p:nvSpPr>
        <p:spPr>
          <a:xfrm>
            <a:off x="6324447" y="2632837"/>
            <a:ext cx="1644853" cy="14416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324447" y="2632837"/>
            <a:ext cx="1644853" cy="17780"/>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79895" y="2815717"/>
            <a:ext cx="1333957"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Measure honestly</a:t>
            </a:r>
          </a:p>
        </p:txBody>
      </p:sp>
      <p:sp>
        <p:nvSpPr>
          <p:cNvPr id="36" name="TextBox 35"/>
          <p:cNvSpPr txBox="1"/>
          <p:nvPr/>
        </p:nvSpPr>
        <p:spPr>
          <a:xfrm>
            <a:off x="6479895" y="3116396"/>
            <a:ext cx="1333957" cy="92149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Compare against how the work is done today.</a:t>
            </a:r>
          </a:p>
        </p:txBody>
      </p:sp>
      <p:sp>
        <p:nvSpPr>
          <p:cNvPr id="37" name="Rectangle 36"/>
          <p:cNvSpPr/>
          <p:nvPr/>
        </p:nvSpPr>
        <p:spPr>
          <a:xfrm>
            <a:off x="8800871" y="2111629"/>
            <a:ext cx="347472" cy="347472"/>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800871" y="2154605"/>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5</a:t>
            </a:r>
          </a:p>
        </p:txBody>
      </p:sp>
      <p:sp>
        <p:nvSpPr>
          <p:cNvPr id="39" name="Rectangle 38"/>
          <p:cNvSpPr/>
          <p:nvPr/>
        </p:nvSpPr>
        <p:spPr>
          <a:xfrm>
            <a:off x="8152180" y="2632837"/>
            <a:ext cx="1644853" cy="14416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8152180" y="2632837"/>
            <a:ext cx="1644853" cy="1778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7628" y="2815717"/>
            <a:ext cx="1333957" cy="455055"/>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Deploy with guardrails</a:t>
            </a:r>
          </a:p>
        </p:txBody>
      </p:sp>
      <p:sp>
        <p:nvSpPr>
          <p:cNvPr id="42" name="TextBox 41"/>
          <p:cNvSpPr txBox="1"/>
          <p:nvPr/>
        </p:nvSpPr>
        <p:spPr>
          <a:xfrm>
            <a:off x="8307628" y="3307348"/>
            <a:ext cx="1333957" cy="730541"/>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Human review, logging, clear limits, named owner.</a:t>
            </a:r>
          </a:p>
        </p:txBody>
      </p:sp>
      <p:sp>
        <p:nvSpPr>
          <p:cNvPr id="43" name="Rectangle 42"/>
          <p:cNvSpPr/>
          <p:nvPr/>
        </p:nvSpPr>
        <p:spPr>
          <a:xfrm>
            <a:off x="10628604" y="2111629"/>
            <a:ext cx="347472" cy="347472"/>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10628604" y="2154605"/>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6</a:t>
            </a:r>
          </a:p>
        </p:txBody>
      </p:sp>
      <p:sp>
        <p:nvSpPr>
          <p:cNvPr id="45" name="Rectangle 44"/>
          <p:cNvSpPr/>
          <p:nvPr/>
        </p:nvSpPr>
        <p:spPr>
          <a:xfrm>
            <a:off x="9979914" y="2632837"/>
            <a:ext cx="1644853" cy="14416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9979914" y="2632837"/>
            <a:ext cx="1644853" cy="1778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135362" y="2815717"/>
            <a:ext cx="1333957"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Scale and monitor</a:t>
            </a:r>
          </a:p>
        </p:txBody>
      </p:sp>
      <p:sp>
        <p:nvSpPr>
          <p:cNvPr id="48" name="TextBox 47"/>
          <p:cNvSpPr txBox="1"/>
          <p:nvPr/>
        </p:nvSpPr>
        <p:spPr>
          <a:xfrm>
            <a:off x="10135362" y="3116396"/>
            <a:ext cx="1333957" cy="92149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Widen the scope only once quality holds up.</a:t>
            </a:r>
          </a:p>
        </p:txBody>
      </p:sp>
      <p:sp>
        <p:nvSpPr>
          <p:cNvPr id="49" name="Rectangle 48"/>
          <p:cNvSpPr/>
          <p:nvPr/>
        </p:nvSpPr>
        <p:spPr>
          <a:xfrm>
            <a:off x="566928" y="5522976"/>
            <a:ext cx="11057839" cy="5669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41247" y="5522976"/>
            <a:ext cx="10509199" cy="566928"/>
          </a:xfrm>
          <a:prstGeom prst="rect">
            <a:avLst/>
          </a:prstGeom>
          <a:noFill/>
        </p:spPr>
        <p:txBody>
          <a:bodyPr wrap="square" lIns="0" rIns="0" tIns="0" bIns="0" anchor="ctr">
            <a:spAutoFit/>
          </a:bodyPr>
          <a:lstStyle/>
          <a:p>
            <a:pPr algn="l">
              <a:lnSpc>
                <a:spcPct val="125000"/>
              </a:lnSpc>
              <a:spcBef>
                <a:spcPts val="0"/>
              </a:spcBef>
              <a:spcAft>
                <a:spcPts val="0"/>
              </a:spcAft>
            </a:pPr>
            <a:r>
              <a:rPr sz="1150" b="0" i="0">
                <a:solidFill>
                  <a:srgbClr val="FFFFFF"/>
                </a:solidFill>
                <a:latin typeface="Quattrocento Sans"/>
                <a:ea typeface="Quattrocento Sans"/>
                <a:cs typeface="Quattrocento Sans"/>
              </a:rPr>
              <a:t>Step one is where projects are won or lost. 'We should use AI' is not a problem statement.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10</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7</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FRAMING</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Write the problem before the solution</a:t>
            </a:r>
          </a:p>
        </p:txBody>
      </p:sp>
      <p:sp>
        <p:nvSpPr>
          <p:cNvPr id="10" name="Rectangle 9"/>
          <p:cNvSpPr/>
          <p:nvPr/>
        </p:nvSpPr>
        <p:spPr>
          <a:xfrm>
            <a:off x="566928" y="1242948"/>
            <a:ext cx="11057839" cy="15875"/>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480692"/>
            <a:ext cx="19050" cy="4609211"/>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1535556"/>
            <a:ext cx="4313407" cy="794235"/>
          </a:xfrm>
          <a:prstGeom prst="rect">
            <a:avLst/>
          </a:prstGeom>
          <a:noFill/>
        </p:spPr>
        <p:txBody>
          <a:bodyPr wrap="square" lIns="0" rIns="0" tIns="0" bIns="0" anchor="t">
            <a:spAutoFit/>
          </a:bodyPr>
          <a:lstStyle/>
          <a:p>
            <a:pPr algn="l">
              <a:lnSpc>
                <a:spcPct val="114000"/>
              </a:lnSpc>
              <a:spcBef>
                <a:spcPts val="0"/>
              </a:spcBef>
              <a:spcAft>
                <a:spcPts val="0"/>
              </a:spcAft>
            </a:pPr>
            <a:r>
              <a:rPr sz="1600" b="0" i="0">
                <a:solidFill>
                  <a:srgbClr val="1F2937"/>
                </a:solidFill>
                <a:latin typeface="Sorts Mill Goudy"/>
                <a:ea typeface="Sorts Mill Goudy"/>
                <a:cs typeface="Sorts Mill Goudy"/>
              </a:rPr>
              <a:t>A good AI project can be described in one sentence, with a number in it.</a:t>
            </a:r>
          </a:p>
        </p:txBody>
      </p:sp>
      <p:sp>
        <p:nvSpPr>
          <p:cNvPr id="13" name="Rectangle 12"/>
          <p:cNvSpPr/>
          <p:nvPr/>
        </p:nvSpPr>
        <p:spPr>
          <a:xfrm>
            <a:off x="841247" y="2421232"/>
            <a:ext cx="566928" cy="2032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7250" y="2748130"/>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42415" y="2677264"/>
            <a:ext cx="4075663" cy="265229"/>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1F2937"/>
                </a:solidFill>
                <a:latin typeface="Quattrocento Sans"/>
                <a:ea typeface="Quattrocento Sans"/>
                <a:cs typeface="Quattrocento Sans"/>
              </a:rPr>
              <a:t>Who has the problem, and how often?</a:t>
            </a:r>
          </a:p>
        </p:txBody>
      </p:sp>
      <p:sp>
        <p:nvSpPr>
          <p:cNvPr id="16" name="Oval 15"/>
          <p:cNvSpPr/>
          <p:nvPr/>
        </p:nvSpPr>
        <p:spPr>
          <a:xfrm>
            <a:off x="857250" y="3086511"/>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42415" y="3015645"/>
            <a:ext cx="4075663" cy="265229"/>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1F2937"/>
                </a:solidFill>
                <a:latin typeface="Quattrocento Sans"/>
                <a:ea typeface="Quattrocento Sans"/>
                <a:cs typeface="Quattrocento Sans"/>
              </a:rPr>
              <a:t>How is it handled today, and what does that cost?</a:t>
            </a:r>
          </a:p>
        </p:txBody>
      </p:sp>
      <p:sp>
        <p:nvSpPr>
          <p:cNvPr id="18" name="Oval 17"/>
          <p:cNvSpPr/>
          <p:nvPr/>
        </p:nvSpPr>
        <p:spPr>
          <a:xfrm>
            <a:off x="857250" y="3424893"/>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42415" y="3354027"/>
            <a:ext cx="4075663" cy="265229"/>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1F2937"/>
                </a:solidFill>
                <a:latin typeface="Quattrocento Sans"/>
                <a:ea typeface="Quattrocento Sans"/>
                <a:cs typeface="Quattrocento Sans"/>
              </a:rPr>
              <a:t>What does success look like as a number?</a:t>
            </a:r>
          </a:p>
        </p:txBody>
      </p:sp>
      <p:sp>
        <p:nvSpPr>
          <p:cNvPr id="20" name="Oval 19"/>
          <p:cNvSpPr/>
          <p:nvPr/>
        </p:nvSpPr>
        <p:spPr>
          <a:xfrm>
            <a:off x="857250" y="3763274"/>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42415" y="3692408"/>
            <a:ext cx="4075663" cy="265229"/>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1F2937"/>
                </a:solidFill>
                <a:latin typeface="Quattrocento Sans"/>
                <a:ea typeface="Quattrocento Sans"/>
                <a:cs typeface="Quattrocento Sans"/>
              </a:rPr>
              <a:t>What happens if the AI gets it wrong?</a:t>
            </a:r>
          </a:p>
        </p:txBody>
      </p:sp>
      <p:sp>
        <p:nvSpPr>
          <p:cNvPr id="22" name="Oval 21"/>
          <p:cNvSpPr/>
          <p:nvPr/>
        </p:nvSpPr>
        <p:spPr>
          <a:xfrm>
            <a:off x="857250" y="4101656"/>
            <a:ext cx="68580" cy="68580"/>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42415" y="4030790"/>
            <a:ext cx="4075663" cy="265229"/>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1F2937"/>
                </a:solidFill>
                <a:latin typeface="Quattrocento Sans"/>
                <a:ea typeface="Quattrocento Sans"/>
                <a:cs typeface="Quattrocento Sans"/>
              </a:rPr>
              <a:t>Who owns the outcome once it ships?</a:t>
            </a:r>
          </a:p>
        </p:txBody>
      </p:sp>
      <p:sp>
        <p:nvSpPr>
          <p:cNvPr id="24" name="Rectangle 23"/>
          <p:cNvSpPr/>
          <p:nvPr/>
        </p:nvSpPr>
        <p:spPr>
          <a:xfrm>
            <a:off x="5520415" y="1517268"/>
            <a:ext cx="6104351" cy="1414483"/>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520415" y="1517268"/>
            <a:ext cx="20320" cy="141448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776447" y="2012518"/>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50183" y="1930222"/>
            <a:ext cx="5436839" cy="351682"/>
          </a:xfrm>
          <a:prstGeom prst="rect">
            <a:avLst/>
          </a:prstGeom>
          <a:noFill/>
        </p:spPr>
        <p:txBody>
          <a:bodyPr wrap="square" lIns="0" rIns="0" tIns="0" bIns="0" anchor="t">
            <a:spAutoFit/>
          </a:bodyPr>
          <a:lstStyle/>
          <a:p>
            <a:pPr algn="l">
              <a:lnSpc>
                <a:spcPct val="114000"/>
              </a:lnSpc>
              <a:spcBef>
                <a:spcPts val="0"/>
              </a:spcBef>
              <a:spcAft>
                <a:spcPts val="0"/>
              </a:spcAft>
            </a:pPr>
            <a:r>
              <a:rPr sz="1250" b="0" i="0">
                <a:solidFill>
                  <a:srgbClr val="1F2937"/>
                </a:solidFill>
                <a:latin typeface="Sorts Mill Goudy"/>
                <a:ea typeface="Sorts Mill Goudy"/>
                <a:cs typeface="Sorts Mill Goudy"/>
              </a:rPr>
              <a:t>Weak framing</a:t>
            </a:r>
          </a:p>
        </p:txBody>
      </p:sp>
      <p:sp>
        <p:nvSpPr>
          <p:cNvPr id="28" name="TextBox 27"/>
          <p:cNvSpPr txBox="1"/>
          <p:nvPr/>
        </p:nvSpPr>
        <p:spPr>
          <a:xfrm>
            <a:off x="5776447" y="2318480"/>
            <a:ext cx="5610575" cy="273470"/>
          </a:xfrm>
          <a:prstGeom prst="rect">
            <a:avLst/>
          </a:prstGeom>
          <a:noFill/>
        </p:spPr>
        <p:txBody>
          <a:bodyPr wrap="square" lIns="0" rIns="0" tIns="0" bIns="0" anchor="t">
            <a:spAutoFit/>
          </a:bodyPr>
          <a:lstStyle/>
          <a:p>
            <a:pPr algn="l">
              <a:lnSpc>
                <a:spcPct val="132000"/>
              </a:lnSpc>
              <a:spcBef>
                <a:spcPts val="0"/>
              </a:spcBef>
              <a:spcAft>
                <a:spcPts val="0"/>
              </a:spcAft>
            </a:pPr>
            <a:r>
              <a:rPr sz="980" b="0" i="0">
                <a:solidFill>
                  <a:srgbClr val="6B7280"/>
                </a:solidFill>
                <a:latin typeface="Quattrocento Sans"/>
                <a:ea typeface="Quattrocento Sans"/>
                <a:cs typeface="Quattrocento Sans"/>
              </a:rPr>
              <a:t>"Let's add AI to customer service."</a:t>
            </a:r>
          </a:p>
        </p:txBody>
      </p:sp>
      <p:sp>
        <p:nvSpPr>
          <p:cNvPr id="29" name="Rectangle 28"/>
          <p:cNvSpPr/>
          <p:nvPr/>
        </p:nvSpPr>
        <p:spPr>
          <a:xfrm>
            <a:off x="5520415" y="3096344"/>
            <a:ext cx="6104351" cy="1414483"/>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520415" y="3096344"/>
            <a:ext cx="20320" cy="1414483"/>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776447" y="3591594"/>
            <a:ext cx="77724" cy="77724"/>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950183" y="3509298"/>
            <a:ext cx="5436839" cy="351682"/>
          </a:xfrm>
          <a:prstGeom prst="rect">
            <a:avLst/>
          </a:prstGeom>
          <a:noFill/>
        </p:spPr>
        <p:txBody>
          <a:bodyPr wrap="square" lIns="0" rIns="0" tIns="0" bIns="0" anchor="t">
            <a:spAutoFit/>
          </a:bodyPr>
          <a:lstStyle/>
          <a:p>
            <a:pPr algn="l">
              <a:lnSpc>
                <a:spcPct val="114000"/>
              </a:lnSpc>
              <a:spcBef>
                <a:spcPts val="0"/>
              </a:spcBef>
              <a:spcAft>
                <a:spcPts val="0"/>
              </a:spcAft>
            </a:pPr>
            <a:r>
              <a:rPr sz="1250" b="0" i="0">
                <a:solidFill>
                  <a:srgbClr val="1F2937"/>
                </a:solidFill>
                <a:latin typeface="Sorts Mill Goudy"/>
                <a:ea typeface="Sorts Mill Goudy"/>
                <a:cs typeface="Sorts Mill Goudy"/>
              </a:rPr>
              <a:t>Strong framing</a:t>
            </a:r>
          </a:p>
        </p:txBody>
      </p:sp>
      <p:sp>
        <p:nvSpPr>
          <p:cNvPr id="33" name="TextBox 32"/>
          <p:cNvSpPr txBox="1"/>
          <p:nvPr/>
        </p:nvSpPr>
        <p:spPr>
          <a:xfrm>
            <a:off x="5776447" y="3897556"/>
            <a:ext cx="5610575" cy="273470"/>
          </a:xfrm>
          <a:prstGeom prst="rect">
            <a:avLst/>
          </a:prstGeom>
          <a:noFill/>
        </p:spPr>
        <p:txBody>
          <a:bodyPr wrap="square" lIns="0" rIns="0" tIns="0" bIns="0" anchor="t">
            <a:spAutoFit/>
          </a:bodyPr>
          <a:lstStyle/>
          <a:p>
            <a:pPr algn="l">
              <a:lnSpc>
                <a:spcPct val="132000"/>
              </a:lnSpc>
              <a:spcBef>
                <a:spcPts val="0"/>
              </a:spcBef>
              <a:spcAft>
                <a:spcPts val="0"/>
              </a:spcAft>
            </a:pPr>
            <a:r>
              <a:rPr sz="980" b="0" i="0">
                <a:solidFill>
                  <a:srgbClr val="6B7280"/>
                </a:solidFill>
                <a:latin typeface="Quattrocento Sans"/>
                <a:ea typeface="Quattrocento Sans"/>
                <a:cs typeface="Quattrocento Sans"/>
              </a:rPr>
              <a:t>"Cut first-response time on the 4,000 routine monthly tickets from 6 hours to 15 minutes."</a:t>
            </a:r>
          </a:p>
        </p:txBody>
      </p:sp>
      <p:sp>
        <p:nvSpPr>
          <p:cNvPr id="34" name="Rectangle 33"/>
          <p:cNvSpPr/>
          <p:nvPr/>
        </p:nvSpPr>
        <p:spPr>
          <a:xfrm>
            <a:off x="5520415" y="4675420"/>
            <a:ext cx="6104351" cy="1414483"/>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520415" y="4675420"/>
            <a:ext cx="20320" cy="141448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776447" y="5170670"/>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950183" y="5088374"/>
            <a:ext cx="5436839" cy="351682"/>
          </a:xfrm>
          <a:prstGeom prst="rect">
            <a:avLst/>
          </a:prstGeom>
          <a:noFill/>
        </p:spPr>
        <p:txBody>
          <a:bodyPr wrap="square" lIns="0" rIns="0" tIns="0" bIns="0" anchor="t">
            <a:spAutoFit/>
          </a:bodyPr>
          <a:lstStyle/>
          <a:p>
            <a:pPr algn="l">
              <a:lnSpc>
                <a:spcPct val="114000"/>
              </a:lnSpc>
              <a:spcBef>
                <a:spcPts val="0"/>
              </a:spcBef>
              <a:spcAft>
                <a:spcPts val="0"/>
              </a:spcAft>
            </a:pPr>
            <a:r>
              <a:rPr sz="1250" b="0" i="0">
                <a:solidFill>
                  <a:srgbClr val="1F2937"/>
                </a:solidFill>
                <a:latin typeface="Sorts Mill Goudy"/>
                <a:ea typeface="Sorts Mill Goudy"/>
                <a:cs typeface="Sorts Mill Goudy"/>
              </a:rPr>
              <a:t>Why it matters</a:t>
            </a:r>
          </a:p>
        </p:txBody>
      </p:sp>
      <p:sp>
        <p:nvSpPr>
          <p:cNvPr id="38" name="TextBox 37"/>
          <p:cNvSpPr txBox="1"/>
          <p:nvPr/>
        </p:nvSpPr>
        <p:spPr>
          <a:xfrm>
            <a:off x="5776447" y="5476632"/>
            <a:ext cx="5610575" cy="273470"/>
          </a:xfrm>
          <a:prstGeom prst="rect">
            <a:avLst/>
          </a:prstGeom>
          <a:noFill/>
        </p:spPr>
        <p:txBody>
          <a:bodyPr wrap="square" lIns="0" rIns="0" tIns="0" bIns="0" anchor="t">
            <a:spAutoFit/>
          </a:bodyPr>
          <a:lstStyle/>
          <a:p>
            <a:pPr algn="l">
              <a:lnSpc>
                <a:spcPct val="132000"/>
              </a:lnSpc>
              <a:spcBef>
                <a:spcPts val="0"/>
              </a:spcBef>
              <a:spcAft>
                <a:spcPts val="0"/>
              </a:spcAft>
            </a:pPr>
            <a:r>
              <a:rPr sz="980" b="0" i="0">
                <a:solidFill>
                  <a:srgbClr val="6B7280"/>
                </a:solidFill>
                <a:latin typeface="Quattrocento Sans"/>
                <a:ea typeface="Quattrocento Sans"/>
                <a:cs typeface="Quattrocento Sans"/>
              </a:rPr>
              <a:t>The second one can be built, measured and defended in a budget meeting.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11</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8</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ROUTE TO MARKET</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Build, buy or blend</a:t>
            </a:r>
          </a:p>
        </p:txBody>
      </p:sp>
      <p:sp>
        <p:nvSpPr>
          <p:cNvPr id="10" name="Rectangle 9"/>
          <p:cNvSpPr/>
          <p:nvPr/>
        </p:nvSpPr>
        <p:spPr>
          <a:xfrm>
            <a:off x="566928" y="1242948"/>
            <a:ext cx="11057839" cy="15875"/>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480692"/>
            <a:ext cx="19050" cy="4609211"/>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841247" y="2431986"/>
          <a:ext cx="10783517" cy="1956816"/>
        </p:xfrm>
        <a:graphic>
          <a:graphicData uri="http://schemas.openxmlformats.org/drawingml/2006/table">
            <a:tbl>
              <a:tblPr firstRow="1" bandRow="0" bandCol="0" firstCol="0" lastRow="0" lastCol="0">
                <a:tableStyleId>{5C22544A-7EE6-4342-B048-85BDC9FD1C3A}</a:tableStyleId>
              </a:tblPr>
              <a:tblGrid>
                <a:gridCol w="1446569"/>
                <a:gridCol w="3024645"/>
                <a:gridCol w="3287658"/>
                <a:gridCol w="3024645"/>
              </a:tblGrid>
              <a:tr h="420624">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ROUTE</a:t>
                      </a:r>
                    </a:p>
                  </a:txBody>
                  <a:tcPr marL="146304" marR="146304" marT="73152" marB="73152" anchor="ctr">
                    <a:solidFill>
                      <a:srgbClr val="4B5563"/>
                    </a:solidFill>
                  </a:tcPr>
                </a:tc>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WHAT IT MEANS</a:t>
                      </a:r>
                    </a:p>
                  </a:txBody>
                  <a:tcPr marL="146304" marR="146304" marT="73152" marB="73152" anchor="ctr">
                    <a:solidFill>
                      <a:srgbClr val="4B5563"/>
                    </a:solidFill>
                  </a:tcPr>
                </a:tc>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BEST WHEN</a:t>
                      </a:r>
                    </a:p>
                  </a:txBody>
                  <a:tcPr marL="146304" marR="146304" marT="73152" marB="73152" anchor="ctr">
                    <a:solidFill>
                      <a:srgbClr val="4B5563"/>
                    </a:solidFill>
                  </a:tcPr>
                </a:tc>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WATCH OUT FOR</a:t>
                      </a:r>
                    </a:p>
                  </a:txBody>
                  <a:tcPr marL="146304" marR="146304" marT="73152" marB="73152" anchor="ctr">
                    <a:solidFill>
                      <a:srgbClr val="4B5563"/>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Buy</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Use a ready-made AI product</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The need is common and speed matters</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Weak fit and ongoing licence cost</a:t>
                      </a:r>
                    </a:p>
                  </a:txBody>
                  <a:tcPr marL="146304" marR="146304" marT="73152" marB="73152" anchor="ctr">
                    <a:solidFill>
                      <a:srgbClr val="FFFFFF"/>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Blend</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Configure a platform with your own data</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You need your context but not custom code</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Lock-in to one vendor</a:t>
                      </a:r>
                    </a:p>
                  </a:txBody>
                  <a:tcPr marL="146304" marR="146304" marT="73152" marB="73152" anchor="ctr">
                    <a:solidFill>
                      <a:srgbClr val="F9FAFB"/>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Build</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Develop on top of model APIs</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The workflow is your differentiator</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Cost, talent and maintenance</a:t>
                      </a:r>
                    </a:p>
                  </a:txBody>
                  <a:tcPr marL="146304" marR="146304" marT="73152" marB="73152" anchor="ctr">
                    <a:solidFill>
                      <a:srgbClr val="FFFFFF"/>
                    </a:solidFill>
                  </a:tcPr>
                </a:tc>
              </a:tr>
            </a:tbl>
          </a:graphicData>
        </a:graphic>
      </p:graphicFrame>
      <p:sp>
        <p:nvSpPr>
          <p:cNvPr id="13" name="Rectangle 12"/>
          <p:cNvSpPr/>
          <p:nvPr/>
        </p:nvSpPr>
        <p:spPr>
          <a:xfrm>
            <a:off x="566928" y="5522976"/>
            <a:ext cx="11057839" cy="566928"/>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41247" y="5522976"/>
            <a:ext cx="10509199" cy="566928"/>
          </a:xfrm>
          <a:prstGeom prst="rect">
            <a:avLst/>
          </a:prstGeom>
          <a:noFill/>
        </p:spPr>
        <p:txBody>
          <a:bodyPr wrap="square" lIns="0" rIns="0" tIns="0" bIns="0" anchor="ctr">
            <a:spAutoFit/>
          </a:bodyPr>
          <a:lstStyle/>
          <a:p>
            <a:pPr algn="l">
              <a:lnSpc>
                <a:spcPct val="125000"/>
              </a:lnSpc>
              <a:spcBef>
                <a:spcPts val="0"/>
              </a:spcBef>
              <a:spcAft>
                <a:spcPts val="0"/>
              </a:spcAft>
            </a:pPr>
            <a:r>
              <a:rPr sz="1150" b="0" i="0">
                <a:solidFill>
                  <a:srgbClr val="FFFFFF"/>
                </a:solidFill>
                <a:latin typeface="Quattrocento Sans"/>
                <a:ea typeface="Quattrocento Sans"/>
                <a:cs typeface="Quattrocento Sans"/>
              </a:rPr>
              <a:t>Buy for common problems. Build only where it is genuinely your competitive edge.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12</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9</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MEASURING VALUE</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Three numbers a sponsor will ask for</a:t>
            </a:r>
          </a:p>
        </p:txBody>
      </p:sp>
      <p:sp>
        <p:nvSpPr>
          <p:cNvPr id="10" name="Rectangle 9"/>
          <p:cNvSpPr/>
          <p:nvPr/>
        </p:nvSpPr>
        <p:spPr>
          <a:xfrm>
            <a:off x="566928" y="1242948"/>
            <a:ext cx="11057839" cy="15875"/>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If you cannot measure it, you cannot defend the budget next year.</a:t>
            </a:r>
          </a:p>
        </p:txBody>
      </p:sp>
      <p:sp>
        <p:nvSpPr>
          <p:cNvPr id="12" name="Rectangle 11"/>
          <p:cNvSpPr/>
          <p:nvPr/>
        </p:nvSpPr>
        <p:spPr>
          <a:xfrm>
            <a:off x="566928" y="1764210"/>
            <a:ext cx="19050" cy="4325693"/>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2409153"/>
            <a:ext cx="3436010" cy="228600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41247" y="2409153"/>
            <a:ext cx="3436010" cy="20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2720049"/>
            <a:ext cx="2960522" cy="639318"/>
          </a:xfrm>
          <a:prstGeom prst="rect">
            <a:avLst/>
          </a:prstGeom>
          <a:noFill/>
        </p:spPr>
        <p:txBody>
          <a:bodyPr wrap="square" lIns="0" rIns="0" tIns="0" bIns="0" anchor="t">
            <a:spAutoFit/>
          </a:bodyPr>
          <a:lstStyle/>
          <a:p>
            <a:pPr algn="l">
              <a:lnSpc>
                <a:spcPct val="100000"/>
              </a:lnSpc>
              <a:spcBef>
                <a:spcPts val="0"/>
              </a:spcBef>
              <a:spcAft>
                <a:spcPts val="0"/>
              </a:spcAft>
            </a:pPr>
            <a:r>
              <a:rPr sz="3000" b="0" i="0">
                <a:solidFill>
                  <a:srgbClr val="8B0000"/>
                </a:solidFill>
                <a:latin typeface="Sorts Mill Goudy"/>
                <a:ea typeface="Sorts Mill Goudy"/>
                <a:cs typeface="Sorts Mill Goudy"/>
              </a:rPr>
              <a:t>Time</a:t>
            </a:r>
          </a:p>
        </p:txBody>
      </p:sp>
      <p:sp>
        <p:nvSpPr>
          <p:cNvPr id="16" name="Rectangle 15"/>
          <p:cNvSpPr/>
          <p:nvPr/>
        </p:nvSpPr>
        <p:spPr>
          <a:xfrm>
            <a:off x="1078992" y="3432519"/>
            <a:ext cx="457200" cy="1524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8992" y="3597111"/>
            <a:ext cx="2960522" cy="264103"/>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1F2937"/>
                </a:solidFill>
                <a:latin typeface="Quattrocento Sans"/>
                <a:ea typeface="Quattrocento Sans"/>
                <a:cs typeface="Quattrocento Sans"/>
              </a:rPr>
              <a:t>Hours returned</a:t>
            </a:r>
          </a:p>
        </p:txBody>
      </p:sp>
      <p:sp>
        <p:nvSpPr>
          <p:cNvPr id="18" name="TextBox 17"/>
          <p:cNvSpPr txBox="1"/>
          <p:nvPr/>
        </p:nvSpPr>
        <p:spPr>
          <a:xfrm>
            <a:off x="1078992" y="3879502"/>
            <a:ext cx="2960522" cy="596194"/>
          </a:xfrm>
          <a:prstGeom prst="rect">
            <a:avLst/>
          </a:prstGeom>
          <a:noFill/>
        </p:spPr>
        <p:txBody>
          <a:bodyPr wrap="square" lIns="0" rIns="0" tIns="0" bIns="0" anchor="t">
            <a:spAutoFit/>
          </a:bodyPr>
          <a:lstStyle/>
          <a:p>
            <a:pPr algn="l">
              <a:lnSpc>
                <a:spcPct val="132000"/>
              </a:lnSpc>
              <a:spcBef>
                <a:spcPts val="0"/>
              </a:spcBef>
              <a:spcAft>
                <a:spcPts val="0"/>
              </a:spcAft>
            </a:pPr>
            <a:r>
              <a:rPr sz="950" b="0" i="0">
                <a:solidFill>
                  <a:srgbClr val="6B7280"/>
                </a:solidFill>
                <a:latin typeface="Quattrocento Sans"/>
                <a:ea typeface="Quattrocento Sans"/>
                <a:cs typeface="Quattrocento Sans"/>
              </a:rPr>
              <a:t>Hours saved per month across the team, valued at a realistic hourly cost.</a:t>
            </a:r>
          </a:p>
        </p:txBody>
      </p:sp>
      <p:sp>
        <p:nvSpPr>
          <p:cNvPr id="19" name="Rectangle 18"/>
          <p:cNvSpPr/>
          <p:nvPr/>
        </p:nvSpPr>
        <p:spPr>
          <a:xfrm>
            <a:off x="4515002" y="2409153"/>
            <a:ext cx="3436010" cy="228600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15002" y="2409153"/>
            <a:ext cx="3436010" cy="2032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2746" y="2720049"/>
            <a:ext cx="2960522" cy="639318"/>
          </a:xfrm>
          <a:prstGeom prst="rect">
            <a:avLst/>
          </a:prstGeom>
          <a:noFill/>
        </p:spPr>
        <p:txBody>
          <a:bodyPr wrap="square" lIns="0" rIns="0" tIns="0" bIns="0" anchor="t">
            <a:spAutoFit/>
          </a:bodyPr>
          <a:lstStyle/>
          <a:p>
            <a:pPr algn="l">
              <a:lnSpc>
                <a:spcPct val="100000"/>
              </a:lnSpc>
              <a:spcBef>
                <a:spcPts val="0"/>
              </a:spcBef>
              <a:spcAft>
                <a:spcPts val="0"/>
              </a:spcAft>
            </a:pPr>
            <a:r>
              <a:rPr sz="3000" b="0" i="0">
                <a:solidFill>
                  <a:srgbClr val="1F2937"/>
                </a:solidFill>
                <a:latin typeface="Sorts Mill Goudy"/>
                <a:ea typeface="Sorts Mill Goudy"/>
                <a:cs typeface="Sorts Mill Goudy"/>
              </a:rPr>
              <a:t>Quality</a:t>
            </a:r>
          </a:p>
        </p:txBody>
      </p:sp>
      <p:sp>
        <p:nvSpPr>
          <p:cNvPr id="22" name="Rectangle 21"/>
          <p:cNvSpPr/>
          <p:nvPr/>
        </p:nvSpPr>
        <p:spPr>
          <a:xfrm>
            <a:off x="4752746" y="3432519"/>
            <a:ext cx="457200" cy="1524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746" y="3597111"/>
            <a:ext cx="2960522" cy="264103"/>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1F2937"/>
                </a:solidFill>
                <a:latin typeface="Quattrocento Sans"/>
                <a:ea typeface="Quattrocento Sans"/>
                <a:cs typeface="Quattrocento Sans"/>
              </a:rPr>
              <a:t>Error and rework rate</a:t>
            </a:r>
          </a:p>
        </p:txBody>
      </p:sp>
      <p:sp>
        <p:nvSpPr>
          <p:cNvPr id="24" name="TextBox 23"/>
          <p:cNvSpPr txBox="1"/>
          <p:nvPr/>
        </p:nvSpPr>
        <p:spPr>
          <a:xfrm>
            <a:off x="4752746" y="3879502"/>
            <a:ext cx="2960522" cy="596194"/>
          </a:xfrm>
          <a:prstGeom prst="rect">
            <a:avLst/>
          </a:prstGeom>
          <a:noFill/>
        </p:spPr>
        <p:txBody>
          <a:bodyPr wrap="square" lIns="0" rIns="0" tIns="0" bIns="0" anchor="t">
            <a:spAutoFit/>
          </a:bodyPr>
          <a:lstStyle/>
          <a:p>
            <a:pPr algn="l">
              <a:lnSpc>
                <a:spcPct val="132000"/>
              </a:lnSpc>
              <a:spcBef>
                <a:spcPts val="0"/>
              </a:spcBef>
              <a:spcAft>
                <a:spcPts val="0"/>
              </a:spcAft>
            </a:pPr>
            <a:r>
              <a:rPr sz="950" b="0" i="0">
                <a:solidFill>
                  <a:srgbClr val="6B7280"/>
                </a:solidFill>
                <a:latin typeface="Quattrocento Sans"/>
                <a:ea typeface="Quattrocento Sans"/>
                <a:cs typeface="Quattrocento Sans"/>
              </a:rPr>
              <a:t>Fewer mistakes, fewer escalations, fewer things done twice.</a:t>
            </a:r>
          </a:p>
        </p:txBody>
      </p:sp>
      <p:sp>
        <p:nvSpPr>
          <p:cNvPr id="25" name="Rectangle 24"/>
          <p:cNvSpPr/>
          <p:nvPr/>
        </p:nvSpPr>
        <p:spPr>
          <a:xfrm>
            <a:off x="8188756" y="2409153"/>
            <a:ext cx="3436010" cy="228600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188756" y="2409153"/>
            <a:ext cx="3436010" cy="20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26500" y="2720049"/>
            <a:ext cx="2960522" cy="639318"/>
          </a:xfrm>
          <a:prstGeom prst="rect">
            <a:avLst/>
          </a:prstGeom>
          <a:noFill/>
        </p:spPr>
        <p:txBody>
          <a:bodyPr wrap="square" lIns="0" rIns="0" tIns="0" bIns="0" anchor="t">
            <a:spAutoFit/>
          </a:bodyPr>
          <a:lstStyle/>
          <a:p>
            <a:pPr algn="l">
              <a:lnSpc>
                <a:spcPct val="100000"/>
              </a:lnSpc>
              <a:spcBef>
                <a:spcPts val="0"/>
              </a:spcBef>
              <a:spcAft>
                <a:spcPts val="0"/>
              </a:spcAft>
            </a:pPr>
            <a:r>
              <a:rPr sz="3000" b="0" i="0">
                <a:solidFill>
                  <a:srgbClr val="8B0000"/>
                </a:solidFill>
                <a:latin typeface="Sorts Mill Goudy"/>
                <a:ea typeface="Sorts Mill Goudy"/>
                <a:cs typeface="Sorts Mill Goudy"/>
              </a:rPr>
              <a:t>Outcome</a:t>
            </a:r>
          </a:p>
        </p:txBody>
      </p:sp>
      <p:sp>
        <p:nvSpPr>
          <p:cNvPr id="28" name="Rectangle 27"/>
          <p:cNvSpPr/>
          <p:nvPr/>
        </p:nvSpPr>
        <p:spPr>
          <a:xfrm>
            <a:off x="8426500" y="3432519"/>
            <a:ext cx="457200" cy="1524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26500" y="3597111"/>
            <a:ext cx="2960522" cy="264103"/>
          </a:xfrm>
          <a:prstGeom prst="rect">
            <a:avLst/>
          </a:prstGeom>
          <a:noFill/>
        </p:spPr>
        <p:txBody>
          <a:bodyPr wrap="square" lIns="0" rIns="0" tIns="0" bIns="0" anchor="t">
            <a:spAutoFit/>
          </a:bodyPr>
          <a:lstStyle/>
          <a:p>
            <a:pPr algn="l">
              <a:lnSpc>
                <a:spcPct val="118000"/>
              </a:lnSpc>
              <a:spcBef>
                <a:spcPts val="0"/>
              </a:spcBef>
              <a:spcAft>
                <a:spcPts val="0"/>
              </a:spcAft>
            </a:pPr>
            <a:r>
              <a:rPr sz="1150" b="1" i="0">
                <a:solidFill>
                  <a:srgbClr val="1F2937"/>
                </a:solidFill>
                <a:latin typeface="Quattrocento Sans"/>
                <a:ea typeface="Quattrocento Sans"/>
                <a:cs typeface="Quattrocento Sans"/>
              </a:rPr>
              <a:t>Business result</a:t>
            </a:r>
          </a:p>
        </p:txBody>
      </p:sp>
      <p:sp>
        <p:nvSpPr>
          <p:cNvPr id="30" name="TextBox 29"/>
          <p:cNvSpPr txBox="1"/>
          <p:nvPr/>
        </p:nvSpPr>
        <p:spPr>
          <a:xfrm>
            <a:off x="8426500" y="3879502"/>
            <a:ext cx="2960522" cy="596194"/>
          </a:xfrm>
          <a:prstGeom prst="rect">
            <a:avLst/>
          </a:prstGeom>
          <a:noFill/>
        </p:spPr>
        <p:txBody>
          <a:bodyPr wrap="square" lIns="0" rIns="0" tIns="0" bIns="0" anchor="t">
            <a:spAutoFit/>
          </a:bodyPr>
          <a:lstStyle/>
          <a:p>
            <a:pPr algn="l">
              <a:lnSpc>
                <a:spcPct val="132000"/>
              </a:lnSpc>
              <a:spcBef>
                <a:spcPts val="0"/>
              </a:spcBef>
              <a:spcAft>
                <a:spcPts val="0"/>
              </a:spcAft>
            </a:pPr>
            <a:r>
              <a:rPr sz="950" b="0" i="0">
                <a:solidFill>
                  <a:srgbClr val="6B7280"/>
                </a:solidFill>
                <a:latin typeface="Quattrocento Sans"/>
                <a:ea typeface="Quattrocento Sans"/>
                <a:cs typeface="Quattrocento Sans"/>
              </a:rPr>
              <a:t>Revenue, retention, cost or risk moving in the right direction.</a:t>
            </a:r>
          </a:p>
        </p:txBody>
      </p:sp>
      <p:sp>
        <p:nvSpPr>
          <p:cNvPr id="31" name="Rectangle 30"/>
          <p:cNvSpPr/>
          <p:nvPr/>
        </p:nvSpPr>
        <p:spPr>
          <a:xfrm>
            <a:off x="566928" y="5522976"/>
            <a:ext cx="11057839" cy="56692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41247" y="5522976"/>
            <a:ext cx="10509199" cy="566928"/>
          </a:xfrm>
          <a:prstGeom prst="rect">
            <a:avLst/>
          </a:prstGeom>
          <a:noFill/>
        </p:spPr>
        <p:txBody>
          <a:bodyPr wrap="square" lIns="0" rIns="0" tIns="0" bIns="0" anchor="ctr">
            <a:spAutoFit/>
          </a:bodyPr>
          <a:lstStyle/>
          <a:p>
            <a:pPr algn="l">
              <a:lnSpc>
                <a:spcPct val="125000"/>
              </a:lnSpc>
              <a:spcBef>
                <a:spcPts val="0"/>
              </a:spcBef>
              <a:spcAft>
                <a:spcPts val="0"/>
              </a:spcAft>
            </a:pPr>
            <a:r>
              <a:rPr sz="1150" b="0" i="0">
                <a:solidFill>
                  <a:srgbClr val="FFFFFF"/>
                </a:solidFill>
                <a:latin typeface="Quattrocento Sans"/>
                <a:ea typeface="Quattrocento Sans"/>
                <a:cs typeface="Quattrocento Sans"/>
              </a:rPr>
              <a:t>Always measure against a baseline captured before you started. Without a baseline, every result is an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13</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10</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WHY PROJECTS FAIL</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Four failure patterns, and the fix</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Most AI projects fail for management reasons, not technical ones.</a:t>
            </a:r>
          </a:p>
        </p:txBody>
      </p:sp>
      <p:sp>
        <p:nvSpPr>
          <p:cNvPr id="12" name="Rectangle 11"/>
          <p:cNvSpPr/>
          <p:nvPr/>
        </p:nvSpPr>
        <p:spPr>
          <a:xfrm>
            <a:off x="566928" y="1764210"/>
            <a:ext cx="19050" cy="432569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1800786"/>
            <a:ext cx="5272887" cy="2043974"/>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41247" y="1800786"/>
            <a:ext cx="20320" cy="204397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2052246"/>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271016" y="1974522"/>
            <a:ext cx="4587087" cy="342550"/>
          </a:xfrm>
          <a:prstGeom prst="rect">
            <a:avLst/>
          </a:prstGeom>
          <a:noFill/>
        </p:spPr>
        <p:txBody>
          <a:bodyPr wrap="square" lIns="0" rIns="0" tIns="0" bIns="0" anchor="t">
            <a:spAutoFit/>
          </a:bodyPr>
          <a:lstStyle/>
          <a:p>
            <a:pPr algn="l">
              <a:lnSpc>
                <a:spcPct val="110000"/>
              </a:lnSpc>
              <a:spcBef>
                <a:spcPts val="0"/>
              </a:spcBef>
              <a:spcAft>
                <a:spcPts val="0"/>
              </a:spcAft>
            </a:pPr>
            <a:r>
              <a:rPr sz="1250" b="0" i="0">
                <a:solidFill>
                  <a:srgbClr val="1F2937"/>
                </a:solidFill>
                <a:latin typeface="Sorts Mill Goudy"/>
                <a:ea typeface="Sorts Mill Goudy"/>
                <a:cs typeface="Sorts Mill Goudy"/>
              </a:rPr>
              <a:t>Technology-first</a:t>
            </a:r>
          </a:p>
        </p:txBody>
      </p:sp>
      <p:sp>
        <p:nvSpPr>
          <p:cNvPr id="17" name="Rectangle 16"/>
          <p:cNvSpPr/>
          <p:nvPr/>
        </p:nvSpPr>
        <p:spPr>
          <a:xfrm>
            <a:off x="1097280" y="2417657"/>
            <a:ext cx="4760823"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13281" y="2611967"/>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98448" y="2522813"/>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Started from the tool, not the problem</a:t>
            </a:r>
          </a:p>
        </p:txBody>
      </p:sp>
      <p:sp>
        <p:nvSpPr>
          <p:cNvPr id="20" name="Oval 19"/>
          <p:cNvSpPr/>
          <p:nvPr/>
        </p:nvSpPr>
        <p:spPr>
          <a:xfrm>
            <a:off x="1113281" y="3188359"/>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298448" y="3099205"/>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Fix: write the problem statement first</a:t>
            </a:r>
          </a:p>
        </p:txBody>
      </p:sp>
      <p:sp>
        <p:nvSpPr>
          <p:cNvPr id="22" name="Rectangle 21"/>
          <p:cNvSpPr/>
          <p:nvPr/>
        </p:nvSpPr>
        <p:spPr>
          <a:xfrm>
            <a:off x="6351879" y="1800786"/>
            <a:ext cx="5272887" cy="2043974"/>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351879" y="1800786"/>
            <a:ext cx="20320" cy="204397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07911" y="2052246"/>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81647" y="1974522"/>
            <a:ext cx="4587087" cy="342550"/>
          </a:xfrm>
          <a:prstGeom prst="rect">
            <a:avLst/>
          </a:prstGeom>
          <a:noFill/>
        </p:spPr>
        <p:txBody>
          <a:bodyPr wrap="square" lIns="0" rIns="0" tIns="0" bIns="0" anchor="t">
            <a:spAutoFit/>
          </a:bodyPr>
          <a:lstStyle/>
          <a:p>
            <a:pPr algn="l">
              <a:lnSpc>
                <a:spcPct val="110000"/>
              </a:lnSpc>
              <a:spcBef>
                <a:spcPts val="0"/>
              </a:spcBef>
              <a:spcAft>
                <a:spcPts val="0"/>
              </a:spcAft>
            </a:pPr>
            <a:r>
              <a:rPr sz="1250" b="0" i="0">
                <a:solidFill>
                  <a:srgbClr val="1F2937"/>
                </a:solidFill>
                <a:latin typeface="Sorts Mill Goudy"/>
                <a:ea typeface="Sorts Mill Goudy"/>
                <a:cs typeface="Sorts Mill Goudy"/>
              </a:rPr>
              <a:t>Pilot purgatory</a:t>
            </a:r>
          </a:p>
        </p:txBody>
      </p:sp>
      <p:sp>
        <p:nvSpPr>
          <p:cNvPr id="26" name="Rectangle 25"/>
          <p:cNvSpPr/>
          <p:nvPr/>
        </p:nvSpPr>
        <p:spPr>
          <a:xfrm>
            <a:off x="6607911" y="2417657"/>
            <a:ext cx="4760823"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23913" y="2611967"/>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809079" y="2522813"/>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Endless demos, nothing in production</a:t>
            </a:r>
          </a:p>
        </p:txBody>
      </p:sp>
      <p:sp>
        <p:nvSpPr>
          <p:cNvPr id="29" name="Oval 28"/>
          <p:cNvSpPr/>
          <p:nvPr/>
        </p:nvSpPr>
        <p:spPr>
          <a:xfrm>
            <a:off x="6623913" y="3188359"/>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09079" y="3099205"/>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Fix: set a go or stop date up front</a:t>
            </a:r>
          </a:p>
        </p:txBody>
      </p:sp>
      <p:sp>
        <p:nvSpPr>
          <p:cNvPr id="31" name="Rectangle 30"/>
          <p:cNvSpPr/>
          <p:nvPr/>
        </p:nvSpPr>
        <p:spPr>
          <a:xfrm>
            <a:off x="841247" y="4045929"/>
            <a:ext cx="5272887" cy="2043974"/>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841247" y="4045929"/>
            <a:ext cx="20320" cy="2043974"/>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97280" y="4297389"/>
            <a:ext cx="77724" cy="77724"/>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271016" y="4219665"/>
            <a:ext cx="4587087" cy="342550"/>
          </a:xfrm>
          <a:prstGeom prst="rect">
            <a:avLst/>
          </a:prstGeom>
          <a:noFill/>
        </p:spPr>
        <p:txBody>
          <a:bodyPr wrap="square" lIns="0" rIns="0" tIns="0" bIns="0" anchor="t">
            <a:spAutoFit/>
          </a:bodyPr>
          <a:lstStyle/>
          <a:p>
            <a:pPr algn="l">
              <a:lnSpc>
                <a:spcPct val="110000"/>
              </a:lnSpc>
              <a:spcBef>
                <a:spcPts val="0"/>
              </a:spcBef>
              <a:spcAft>
                <a:spcPts val="0"/>
              </a:spcAft>
            </a:pPr>
            <a:r>
              <a:rPr sz="1250" b="0" i="0">
                <a:solidFill>
                  <a:srgbClr val="1F2937"/>
                </a:solidFill>
                <a:latin typeface="Sorts Mill Goudy"/>
                <a:ea typeface="Sorts Mill Goudy"/>
                <a:cs typeface="Sorts Mill Goudy"/>
              </a:rPr>
              <a:t>No owner</a:t>
            </a:r>
          </a:p>
        </p:txBody>
      </p:sp>
      <p:sp>
        <p:nvSpPr>
          <p:cNvPr id="35" name="Rectangle 34"/>
          <p:cNvSpPr/>
          <p:nvPr/>
        </p:nvSpPr>
        <p:spPr>
          <a:xfrm>
            <a:off x="1097280" y="4662799"/>
            <a:ext cx="4760823"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13281" y="4857109"/>
            <a:ext cx="68580" cy="68580"/>
          </a:xfrm>
          <a:prstGeom prst="ellipse">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298448" y="4767955"/>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IT built it, nobody runs it</a:t>
            </a:r>
          </a:p>
        </p:txBody>
      </p:sp>
      <p:sp>
        <p:nvSpPr>
          <p:cNvPr id="38" name="Oval 37"/>
          <p:cNvSpPr/>
          <p:nvPr/>
        </p:nvSpPr>
        <p:spPr>
          <a:xfrm>
            <a:off x="1113281" y="5433501"/>
            <a:ext cx="68580" cy="68580"/>
          </a:xfrm>
          <a:prstGeom prst="ellipse">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98448" y="5344347"/>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Fix: name a business owner on day one</a:t>
            </a:r>
          </a:p>
        </p:txBody>
      </p:sp>
      <p:sp>
        <p:nvSpPr>
          <p:cNvPr id="40" name="Rectangle 39"/>
          <p:cNvSpPr/>
          <p:nvPr/>
        </p:nvSpPr>
        <p:spPr>
          <a:xfrm>
            <a:off x="6351879" y="4045929"/>
            <a:ext cx="5272887" cy="2043974"/>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351879" y="4045929"/>
            <a:ext cx="20320" cy="204397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07911" y="4297389"/>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781647" y="4219665"/>
            <a:ext cx="4587087" cy="342550"/>
          </a:xfrm>
          <a:prstGeom prst="rect">
            <a:avLst/>
          </a:prstGeom>
          <a:noFill/>
        </p:spPr>
        <p:txBody>
          <a:bodyPr wrap="square" lIns="0" rIns="0" tIns="0" bIns="0" anchor="t">
            <a:spAutoFit/>
          </a:bodyPr>
          <a:lstStyle/>
          <a:p>
            <a:pPr algn="l">
              <a:lnSpc>
                <a:spcPct val="110000"/>
              </a:lnSpc>
              <a:spcBef>
                <a:spcPts val="0"/>
              </a:spcBef>
              <a:spcAft>
                <a:spcPts val="0"/>
              </a:spcAft>
            </a:pPr>
            <a:r>
              <a:rPr sz="1250" b="0" i="0">
                <a:solidFill>
                  <a:srgbClr val="1F2937"/>
                </a:solidFill>
                <a:latin typeface="Sorts Mill Goudy"/>
                <a:ea typeface="Sorts Mill Goudy"/>
                <a:cs typeface="Sorts Mill Goudy"/>
              </a:rPr>
              <a:t>No adoption</a:t>
            </a:r>
          </a:p>
        </p:txBody>
      </p:sp>
      <p:sp>
        <p:nvSpPr>
          <p:cNvPr id="44" name="Rectangle 43"/>
          <p:cNvSpPr/>
          <p:nvPr/>
        </p:nvSpPr>
        <p:spPr>
          <a:xfrm>
            <a:off x="6607911" y="4662799"/>
            <a:ext cx="4760823"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623913" y="4857109"/>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809079" y="4767955"/>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It works, but nobody uses it</a:t>
            </a:r>
          </a:p>
        </p:txBody>
      </p:sp>
      <p:sp>
        <p:nvSpPr>
          <p:cNvPr id="47" name="Oval 46"/>
          <p:cNvSpPr/>
          <p:nvPr/>
        </p:nvSpPr>
        <p:spPr>
          <a:xfrm>
            <a:off x="6623913" y="5433501"/>
            <a:ext cx="68580" cy="6858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09079" y="5344347"/>
            <a:ext cx="4486503" cy="576392"/>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1F2937"/>
                </a:solidFill>
                <a:latin typeface="Quattrocento Sans"/>
                <a:ea typeface="Quattrocento Sans"/>
                <a:cs typeface="Quattrocento Sans"/>
              </a:rPr>
              <a:t>Fix: involve users while building, not after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F2937"/>
              </a:gs>
              <a:gs pos="100000">
                <a:srgbClr val="0F1722"/>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778240" y="-1280160"/>
            <a:ext cx="5303520" cy="5303520"/>
          </a:xfrm>
          <a:prstGeom prst="ellipse">
            <a:avLst/>
          </a:prstGeom>
          <a:solidFill>
            <a:srgbClr val="FFFFFF">
              <a:alpha val="24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607040" y="3657600"/>
            <a:ext cx="3474720" cy="3474720"/>
          </a:xfrm>
          <a:prstGeom prst="ellipse">
            <a:avLst/>
          </a:prstGeom>
          <a:solidFill>
            <a:srgbClr val="8B0000">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780727" y="448056"/>
            <a:ext cx="1908048" cy="9509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9899599" y="566928"/>
            <a:ext cx="1670304" cy="713232"/>
          </a:xfrm>
          <a:prstGeom prst="rect">
            <a:avLst/>
          </a:prstGeom>
        </p:spPr>
      </p:pic>
      <p:sp>
        <p:nvSpPr>
          <p:cNvPr id="7" name="TextBox 6"/>
          <p:cNvSpPr txBox="1"/>
          <p:nvPr/>
        </p:nvSpPr>
        <p:spPr>
          <a:xfrm>
            <a:off x="7223760" y="1170432"/>
            <a:ext cx="4480560" cy="4023360"/>
          </a:xfrm>
          <a:prstGeom prst="rect">
            <a:avLst/>
          </a:prstGeom>
          <a:noFill/>
        </p:spPr>
        <p:txBody>
          <a:bodyPr wrap="square" lIns="0" rIns="0" tIns="0" bIns="0" anchor="t">
            <a:spAutoFit/>
          </a:bodyPr>
          <a:lstStyle/>
          <a:p>
            <a:pPr algn="r">
              <a:lnSpc>
                <a:spcPct val="100000"/>
              </a:lnSpc>
              <a:spcBef>
                <a:spcPts val="0"/>
              </a:spcBef>
              <a:spcAft>
                <a:spcPts val="0"/>
              </a:spcAft>
            </a:pPr>
            <a:r>
              <a:rPr sz="19000" b="0" i="0">
                <a:solidFill>
                  <a:srgbClr val="273140"/>
                </a:solidFill>
                <a:latin typeface="Sorts Mill Goudy"/>
                <a:ea typeface="Sorts Mill Goudy"/>
                <a:cs typeface="Sorts Mill Goudy"/>
              </a:rPr>
              <a:t>03</a:t>
            </a:r>
          </a:p>
        </p:txBody>
      </p:sp>
      <p:sp>
        <p:nvSpPr>
          <p:cNvPr id="8" name="Rectangle 7"/>
          <p:cNvSpPr/>
          <p:nvPr/>
        </p:nvSpPr>
        <p:spPr>
          <a:xfrm>
            <a:off x="859536" y="2696713"/>
            <a:ext cx="1133736" cy="274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50" b="0" i="0" spc="130">
                <a:solidFill>
                  <a:srgbClr val="FFFFFF"/>
                </a:solidFill>
                <a:latin typeface="Quattrocento Sans"/>
                <a:ea typeface="Quattrocento Sans"/>
                <a:cs typeface="Quattrocento Sans"/>
              </a:rPr>
              <a:t>SECTION 03</a:t>
            </a:r>
          </a:p>
        </p:txBody>
      </p:sp>
      <p:sp>
        <p:nvSpPr>
          <p:cNvPr id="9" name="TextBox 8"/>
          <p:cNvSpPr txBox="1"/>
          <p:nvPr/>
        </p:nvSpPr>
        <p:spPr>
          <a:xfrm>
            <a:off x="859536" y="3281929"/>
            <a:ext cx="7315200" cy="792069"/>
          </a:xfrm>
          <a:prstGeom prst="rect">
            <a:avLst/>
          </a:prstGeom>
          <a:noFill/>
        </p:spPr>
        <p:txBody>
          <a:bodyPr wrap="square" lIns="0" rIns="0" tIns="0" bIns="0" anchor="t">
            <a:spAutoFit/>
          </a:bodyPr>
          <a:lstStyle/>
          <a:p>
            <a:pPr algn="l">
              <a:lnSpc>
                <a:spcPct val="104000"/>
              </a:lnSpc>
              <a:spcBef>
                <a:spcPts val="0"/>
              </a:spcBef>
              <a:spcAft>
                <a:spcPts val="0"/>
              </a:spcAft>
            </a:pPr>
            <a:r>
              <a:rPr sz="3400" b="0" i="0">
                <a:solidFill>
                  <a:srgbClr val="FFFFFF"/>
                </a:solidFill>
                <a:latin typeface="Sorts Mill Goudy"/>
                <a:ea typeface="Sorts Mill Goudy"/>
                <a:cs typeface="Sorts Mill Goudy"/>
              </a:rPr>
              <a:t>Leadership and People</a:t>
            </a:r>
          </a:p>
        </p:txBody>
      </p:sp>
      <p:sp>
        <p:nvSpPr>
          <p:cNvPr id="10" name="Rectangle 9"/>
          <p:cNvSpPr/>
          <p:nvPr/>
        </p:nvSpPr>
        <p:spPr>
          <a:xfrm>
            <a:off x="859536" y="4147151"/>
            <a:ext cx="786384" cy="20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421471"/>
            <a:ext cx="6766560" cy="352463"/>
          </a:xfrm>
          <a:prstGeom prst="rect">
            <a:avLst/>
          </a:prstGeom>
          <a:noFill/>
        </p:spPr>
        <p:txBody>
          <a:bodyPr wrap="square" lIns="0" rIns="0" tIns="0" bIns="0" anchor="t">
            <a:spAutoFit/>
          </a:bodyPr>
          <a:lstStyle/>
          <a:p>
            <a:pPr algn="l">
              <a:lnSpc>
                <a:spcPct val="138000"/>
              </a:lnSpc>
              <a:spcBef>
                <a:spcPts val="0"/>
              </a:spcBef>
              <a:spcAft>
                <a:spcPts val="0"/>
              </a:spcAft>
            </a:pPr>
            <a:r>
              <a:rPr sz="1250" b="0" i="0">
                <a:solidFill>
                  <a:srgbClr val="C7CED8"/>
                </a:solidFill>
                <a:latin typeface="Quattrocento Sans"/>
                <a:ea typeface="Quattrocento Sans"/>
                <a:cs typeface="Quattrocento Sans"/>
              </a:rPr>
              <a:t>The hardest part is never the technology.</a:t>
            </a:r>
          </a:p>
        </p:txBody>
      </p:sp>
      <p:sp>
        <p:nvSpPr>
          <p:cNvPr id="12" name="TextBox 11"/>
          <p:cNvSpPr txBox="1"/>
          <p:nvPr/>
        </p:nvSpPr>
        <p:spPr>
          <a:xfrm>
            <a:off x="859536"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7A8493"/>
                </a:solidFill>
                <a:latin typeface="Quattrocento Sans"/>
                <a:ea typeface="Quattrocento Sans"/>
                <a:cs typeface="Quattrocento Sans"/>
              </a:rPr>
              <a:t>Lingesh K  ·  Register No. OSI2509030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15</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11</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LEADING THE CHANGE</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Six things leaders must actually do</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Adoption is a leadership behaviour, not a training budget.</a:t>
            </a:r>
          </a:p>
        </p:txBody>
      </p:sp>
      <p:sp>
        <p:nvSpPr>
          <p:cNvPr id="12" name="Rectangle 11"/>
          <p:cNvSpPr/>
          <p:nvPr/>
        </p:nvSpPr>
        <p:spPr>
          <a:xfrm>
            <a:off x="566928" y="1764210"/>
            <a:ext cx="19050" cy="432569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2212266"/>
            <a:ext cx="3436010" cy="14813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41247" y="2212266"/>
            <a:ext cx="20320" cy="14813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78992" y="2641451"/>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252728" y="2554583"/>
            <a:ext cx="2786786"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Go first</a:t>
            </a:r>
          </a:p>
        </p:txBody>
      </p:sp>
      <p:sp>
        <p:nvSpPr>
          <p:cNvPr id="17" name="TextBox 16"/>
          <p:cNvSpPr txBox="1"/>
          <p:nvPr/>
        </p:nvSpPr>
        <p:spPr>
          <a:xfrm>
            <a:off x="1078992" y="2963412"/>
            <a:ext cx="2960522" cy="602165"/>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Use the tools yourself. Teams copy behaviour, not memos.</a:t>
            </a:r>
          </a:p>
        </p:txBody>
      </p:sp>
      <p:sp>
        <p:nvSpPr>
          <p:cNvPr id="18" name="Rectangle 17"/>
          <p:cNvSpPr/>
          <p:nvPr/>
        </p:nvSpPr>
        <p:spPr>
          <a:xfrm>
            <a:off x="4515002" y="2212266"/>
            <a:ext cx="3436010" cy="14813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15002" y="2212266"/>
            <a:ext cx="20320" cy="14813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52746" y="2641451"/>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26482" y="2554583"/>
            <a:ext cx="2786786"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Make it safe</a:t>
            </a:r>
          </a:p>
        </p:txBody>
      </p:sp>
      <p:sp>
        <p:nvSpPr>
          <p:cNvPr id="22" name="TextBox 21"/>
          <p:cNvSpPr txBox="1"/>
          <p:nvPr/>
        </p:nvSpPr>
        <p:spPr>
          <a:xfrm>
            <a:off x="4752746" y="2963412"/>
            <a:ext cx="2960522" cy="602165"/>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If people fear replacement, they hide what they automate.</a:t>
            </a:r>
          </a:p>
        </p:txBody>
      </p:sp>
      <p:sp>
        <p:nvSpPr>
          <p:cNvPr id="23" name="Rectangle 22"/>
          <p:cNvSpPr/>
          <p:nvPr/>
        </p:nvSpPr>
        <p:spPr>
          <a:xfrm>
            <a:off x="8188756" y="2212266"/>
            <a:ext cx="3436010" cy="14813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188756" y="2212266"/>
            <a:ext cx="20320" cy="14813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26500" y="2733845"/>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600236" y="2646977"/>
            <a:ext cx="2786786"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Be clear on limits</a:t>
            </a:r>
          </a:p>
        </p:txBody>
      </p:sp>
      <p:sp>
        <p:nvSpPr>
          <p:cNvPr id="27" name="TextBox 26"/>
          <p:cNvSpPr txBox="1"/>
          <p:nvPr/>
        </p:nvSpPr>
        <p:spPr>
          <a:xfrm>
            <a:off x="8426500" y="3055806"/>
            <a:ext cx="2960522" cy="509771"/>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Publish what is allowed, so people stop guessing.</a:t>
            </a:r>
          </a:p>
        </p:txBody>
      </p:sp>
      <p:sp>
        <p:nvSpPr>
          <p:cNvPr id="28" name="Rectangle 27"/>
          <p:cNvSpPr/>
          <p:nvPr/>
        </p:nvSpPr>
        <p:spPr>
          <a:xfrm>
            <a:off x="841247" y="3913050"/>
            <a:ext cx="3436010" cy="14813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41247" y="3913050"/>
            <a:ext cx="20320" cy="14813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78992" y="4434629"/>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52728" y="4347761"/>
            <a:ext cx="2786786"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Fund the learning</a:t>
            </a:r>
          </a:p>
        </p:txBody>
      </p:sp>
      <p:sp>
        <p:nvSpPr>
          <p:cNvPr id="32" name="TextBox 31"/>
          <p:cNvSpPr txBox="1"/>
          <p:nvPr/>
        </p:nvSpPr>
        <p:spPr>
          <a:xfrm>
            <a:off x="1078992" y="4756590"/>
            <a:ext cx="2960522" cy="509771"/>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Protected time to practise beats another tool licence.</a:t>
            </a:r>
          </a:p>
        </p:txBody>
      </p:sp>
      <p:sp>
        <p:nvSpPr>
          <p:cNvPr id="33" name="Rectangle 32"/>
          <p:cNvSpPr/>
          <p:nvPr/>
        </p:nvSpPr>
        <p:spPr>
          <a:xfrm>
            <a:off x="4515002" y="3913050"/>
            <a:ext cx="3436010" cy="14813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515002" y="3913050"/>
            <a:ext cx="20320" cy="14813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752746" y="4342235"/>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26482" y="4255367"/>
            <a:ext cx="2786786"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Reward sharing</a:t>
            </a:r>
          </a:p>
        </p:txBody>
      </p:sp>
      <p:sp>
        <p:nvSpPr>
          <p:cNvPr id="37" name="TextBox 36"/>
          <p:cNvSpPr txBox="1"/>
          <p:nvPr/>
        </p:nvSpPr>
        <p:spPr>
          <a:xfrm>
            <a:off x="4752746" y="4664196"/>
            <a:ext cx="2960522" cy="602165"/>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Celebrate the person who shares a working prompt, not just the biggest project.</a:t>
            </a:r>
          </a:p>
        </p:txBody>
      </p:sp>
      <p:sp>
        <p:nvSpPr>
          <p:cNvPr id="38" name="Rectangle 37"/>
          <p:cNvSpPr/>
          <p:nvPr/>
        </p:nvSpPr>
        <p:spPr>
          <a:xfrm>
            <a:off x="8188756" y="3913050"/>
            <a:ext cx="3436010" cy="1481328"/>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8188756" y="3913050"/>
            <a:ext cx="20320" cy="14813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26500" y="4342235"/>
            <a:ext cx="77724" cy="77724"/>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600236" y="4255367"/>
            <a:ext cx="2786786" cy="353964"/>
          </a:xfrm>
          <a:prstGeom prst="rect">
            <a:avLst/>
          </a:prstGeom>
          <a:noFill/>
        </p:spPr>
        <p:txBody>
          <a:bodyPr wrap="square" lIns="0" rIns="0" tIns="0" bIns="0" anchor="t">
            <a:spAutoFit/>
          </a:bodyPr>
          <a:lstStyle/>
          <a:p>
            <a:pPr algn="l">
              <a:lnSpc>
                <a:spcPct val="115000"/>
              </a:lnSpc>
              <a:spcBef>
                <a:spcPts val="0"/>
              </a:spcBef>
              <a:spcAft>
                <a:spcPts val="0"/>
              </a:spcAft>
            </a:pPr>
            <a:r>
              <a:rPr sz="1250" b="0" i="0">
                <a:solidFill>
                  <a:srgbClr val="1F2937"/>
                </a:solidFill>
                <a:latin typeface="Sorts Mill Goudy"/>
                <a:ea typeface="Sorts Mill Goudy"/>
                <a:cs typeface="Sorts Mill Goudy"/>
              </a:rPr>
              <a:t>Redesign the work</a:t>
            </a:r>
          </a:p>
        </p:txBody>
      </p:sp>
      <p:sp>
        <p:nvSpPr>
          <p:cNvPr id="42" name="TextBox 41"/>
          <p:cNvSpPr txBox="1"/>
          <p:nvPr/>
        </p:nvSpPr>
        <p:spPr>
          <a:xfrm>
            <a:off x="8426500" y="4664196"/>
            <a:ext cx="2960522" cy="602165"/>
          </a:xfrm>
          <a:prstGeom prst="rect">
            <a:avLst/>
          </a:prstGeom>
          <a:noFill/>
        </p:spPr>
        <p:txBody>
          <a:bodyPr wrap="square" lIns="0" rIns="0" tIns="0" bIns="0" anchor="t">
            <a:spAutoFit/>
          </a:bodyPr>
          <a:lstStyle/>
          <a:p>
            <a:pPr algn="l">
              <a:lnSpc>
                <a:spcPct val="134000"/>
              </a:lnSpc>
              <a:spcBef>
                <a:spcPts val="0"/>
              </a:spcBef>
              <a:spcAft>
                <a:spcPts val="0"/>
              </a:spcAft>
            </a:pPr>
            <a:r>
              <a:rPr sz="980" b="0" i="0">
                <a:solidFill>
                  <a:srgbClr val="6B7280"/>
                </a:solidFill>
                <a:latin typeface="Quattrocento Sans"/>
                <a:ea typeface="Quattrocento Sans"/>
                <a:cs typeface="Quattrocento Sans"/>
              </a:rPr>
              <a:t>If the process stays the same, you get a faster version of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F2937"/>
              </a:gs>
              <a:gs pos="100000">
                <a:srgbClr val="0F1722"/>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778240" y="-1280160"/>
            <a:ext cx="5303520" cy="5303520"/>
          </a:xfrm>
          <a:prstGeom prst="ellipse">
            <a:avLst/>
          </a:prstGeom>
          <a:solidFill>
            <a:srgbClr val="FFFFFF">
              <a:alpha val="24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607040" y="3657600"/>
            <a:ext cx="3474720" cy="3474720"/>
          </a:xfrm>
          <a:prstGeom prst="ellipse">
            <a:avLst/>
          </a:prstGeom>
          <a:solidFill>
            <a:srgbClr val="8B0000">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780727" y="448056"/>
            <a:ext cx="1908048" cy="9509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9899599" y="566928"/>
            <a:ext cx="1670304" cy="713232"/>
          </a:xfrm>
          <a:prstGeom prst="rect">
            <a:avLst/>
          </a:prstGeom>
        </p:spPr>
      </p:pic>
      <p:sp>
        <p:nvSpPr>
          <p:cNvPr id="7" name="TextBox 6"/>
          <p:cNvSpPr txBox="1"/>
          <p:nvPr/>
        </p:nvSpPr>
        <p:spPr>
          <a:xfrm>
            <a:off x="7223760" y="1170432"/>
            <a:ext cx="4480560" cy="4023360"/>
          </a:xfrm>
          <a:prstGeom prst="rect">
            <a:avLst/>
          </a:prstGeom>
          <a:noFill/>
        </p:spPr>
        <p:txBody>
          <a:bodyPr wrap="square" lIns="0" rIns="0" tIns="0" bIns="0" anchor="t">
            <a:spAutoFit/>
          </a:bodyPr>
          <a:lstStyle/>
          <a:p>
            <a:pPr algn="r">
              <a:lnSpc>
                <a:spcPct val="100000"/>
              </a:lnSpc>
              <a:spcBef>
                <a:spcPts val="0"/>
              </a:spcBef>
              <a:spcAft>
                <a:spcPts val="0"/>
              </a:spcAft>
            </a:pPr>
            <a:r>
              <a:rPr sz="19000" b="0" i="0">
                <a:solidFill>
                  <a:srgbClr val="273140"/>
                </a:solidFill>
                <a:latin typeface="Sorts Mill Goudy"/>
                <a:ea typeface="Sorts Mill Goudy"/>
                <a:cs typeface="Sorts Mill Goudy"/>
              </a:rPr>
              <a:t>04</a:t>
            </a:r>
          </a:p>
        </p:txBody>
      </p:sp>
      <p:sp>
        <p:nvSpPr>
          <p:cNvPr id="8" name="Rectangle 7"/>
          <p:cNvSpPr/>
          <p:nvPr/>
        </p:nvSpPr>
        <p:spPr>
          <a:xfrm>
            <a:off x="859536" y="2696713"/>
            <a:ext cx="1130834" cy="274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50" b="0" i="0" spc="130">
                <a:solidFill>
                  <a:srgbClr val="FFFFFF"/>
                </a:solidFill>
                <a:latin typeface="Quattrocento Sans"/>
                <a:ea typeface="Quattrocento Sans"/>
                <a:cs typeface="Quattrocento Sans"/>
              </a:rPr>
              <a:t>SECTION 04</a:t>
            </a:r>
          </a:p>
        </p:txBody>
      </p:sp>
      <p:sp>
        <p:nvSpPr>
          <p:cNvPr id="9" name="TextBox 8"/>
          <p:cNvSpPr txBox="1"/>
          <p:nvPr/>
        </p:nvSpPr>
        <p:spPr>
          <a:xfrm>
            <a:off x="859536" y="3281929"/>
            <a:ext cx="7315200" cy="792069"/>
          </a:xfrm>
          <a:prstGeom prst="rect">
            <a:avLst/>
          </a:prstGeom>
          <a:noFill/>
        </p:spPr>
        <p:txBody>
          <a:bodyPr wrap="square" lIns="0" rIns="0" tIns="0" bIns="0" anchor="t">
            <a:spAutoFit/>
          </a:bodyPr>
          <a:lstStyle/>
          <a:p>
            <a:pPr algn="l">
              <a:lnSpc>
                <a:spcPct val="104000"/>
              </a:lnSpc>
              <a:spcBef>
                <a:spcPts val="0"/>
              </a:spcBef>
              <a:spcAft>
                <a:spcPts val="0"/>
              </a:spcAft>
            </a:pPr>
            <a:r>
              <a:rPr sz="3400" b="0" i="0">
                <a:solidFill>
                  <a:srgbClr val="FFFFFF"/>
                </a:solidFill>
                <a:latin typeface="Sorts Mill Goudy"/>
                <a:ea typeface="Sorts Mill Goudy"/>
                <a:cs typeface="Sorts Mill Goudy"/>
              </a:rPr>
              <a:t>From Employee to Force Multiplier</a:t>
            </a:r>
          </a:p>
        </p:txBody>
      </p:sp>
      <p:sp>
        <p:nvSpPr>
          <p:cNvPr id="10" name="Rectangle 9"/>
          <p:cNvSpPr/>
          <p:nvPr/>
        </p:nvSpPr>
        <p:spPr>
          <a:xfrm>
            <a:off x="859536" y="4147151"/>
            <a:ext cx="786384" cy="20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421471"/>
            <a:ext cx="6766560" cy="352463"/>
          </a:xfrm>
          <a:prstGeom prst="rect">
            <a:avLst/>
          </a:prstGeom>
          <a:noFill/>
        </p:spPr>
        <p:txBody>
          <a:bodyPr wrap="square" lIns="0" rIns="0" tIns="0" bIns="0" anchor="t">
            <a:spAutoFit/>
          </a:bodyPr>
          <a:lstStyle/>
          <a:p>
            <a:pPr algn="l">
              <a:lnSpc>
                <a:spcPct val="138000"/>
              </a:lnSpc>
              <a:spcBef>
                <a:spcPts val="0"/>
              </a:spcBef>
              <a:spcAft>
                <a:spcPts val="0"/>
              </a:spcAft>
            </a:pPr>
            <a:r>
              <a:rPr sz="1250" b="0" i="0">
                <a:solidFill>
                  <a:srgbClr val="C7CED8"/>
                </a:solidFill>
                <a:latin typeface="Quattrocento Sans"/>
                <a:ea typeface="Quattrocento Sans"/>
                <a:cs typeface="Quattrocento Sans"/>
              </a:rPr>
              <a:t>Five levels of AI capability in a team.</a:t>
            </a:r>
          </a:p>
        </p:txBody>
      </p:sp>
      <p:sp>
        <p:nvSpPr>
          <p:cNvPr id="12" name="TextBox 11"/>
          <p:cNvSpPr txBox="1"/>
          <p:nvPr/>
        </p:nvSpPr>
        <p:spPr>
          <a:xfrm>
            <a:off x="859536"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7A8493"/>
                </a:solidFill>
                <a:latin typeface="Quattrocento Sans"/>
                <a:ea typeface="Quattrocento Sans"/>
                <a:cs typeface="Quattrocento Sans"/>
              </a:rPr>
              <a:t>Lingesh K  ·  Register No. OSI2509030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17</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12</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THE MATURITY LADDER</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Five levels to a super-efficient employee</a:t>
            </a:r>
          </a:p>
        </p:txBody>
      </p:sp>
      <p:sp>
        <p:nvSpPr>
          <p:cNvPr id="10" name="Rectangle 9"/>
          <p:cNvSpPr/>
          <p:nvPr/>
        </p:nvSpPr>
        <p:spPr>
          <a:xfrm>
            <a:off x="566928" y="1242948"/>
            <a:ext cx="11057839" cy="15875"/>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Most people are stuck between level 1 and 2. The value is at 4 and 5.</a:t>
            </a:r>
          </a:p>
        </p:txBody>
      </p:sp>
      <p:sp>
        <p:nvSpPr>
          <p:cNvPr id="12" name="Rectangle 11"/>
          <p:cNvSpPr/>
          <p:nvPr/>
        </p:nvSpPr>
        <p:spPr>
          <a:xfrm>
            <a:off x="566928" y="1764210"/>
            <a:ext cx="19050" cy="4325693"/>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5334493"/>
            <a:ext cx="10783519" cy="75541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41247" y="5334493"/>
            <a:ext cx="20320" cy="75541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42415" y="5565894"/>
            <a:ext cx="292608" cy="29260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42415" y="5611614"/>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L1</a:t>
            </a:r>
          </a:p>
        </p:txBody>
      </p:sp>
      <p:sp>
        <p:nvSpPr>
          <p:cNvPr id="17" name="TextBox 16"/>
          <p:cNvSpPr txBox="1"/>
          <p:nvPr/>
        </p:nvSpPr>
        <p:spPr>
          <a:xfrm>
            <a:off x="1463040" y="5612571"/>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Curious</a:t>
            </a:r>
          </a:p>
        </p:txBody>
      </p:sp>
      <p:sp>
        <p:nvSpPr>
          <p:cNvPr id="18" name="TextBox 17"/>
          <p:cNvSpPr txBox="1"/>
          <p:nvPr/>
        </p:nvSpPr>
        <p:spPr>
          <a:xfrm>
            <a:off x="4443983" y="5620733"/>
            <a:ext cx="6961327" cy="256082"/>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Has tried a chatbot once or twice. No routine, no habit.</a:t>
            </a:r>
          </a:p>
        </p:txBody>
      </p:sp>
      <p:sp>
        <p:nvSpPr>
          <p:cNvPr id="19" name="Rectangle 18"/>
          <p:cNvSpPr/>
          <p:nvPr/>
        </p:nvSpPr>
        <p:spPr>
          <a:xfrm>
            <a:off x="1542176" y="4451066"/>
            <a:ext cx="10082590" cy="75541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1542176" y="4451066"/>
            <a:ext cx="20320" cy="75541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743344" y="4682467"/>
            <a:ext cx="292608" cy="29260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743344" y="4728187"/>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L2</a:t>
            </a:r>
          </a:p>
        </p:txBody>
      </p:sp>
      <p:sp>
        <p:nvSpPr>
          <p:cNvPr id="23" name="TextBox 22"/>
          <p:cNvSpPr txBox="1"/>
          <p:nvPr/>
        </p:nvSpPr>
        <p:spPr>
          <a:xfrm>
            <a:off x="2163968" y="4729144"/>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User</a:t>
            </a:r>
          </a:p>
        </p:txBody>
      </p:sp>
      <p:sp>
        <p:nvSpPr>
          <p:cNvPr id="24" name="TextBox 23"/>
          <p:cNvSpPr txBox="1"/>
          <p:nvPr/>
        </p:nvSpPr>
        <p:spPr>
          <a:xfrm>
            <a:off x="5144912" y="4737306"/>
            <a:ext cx="6260398" cy="256082"/>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Uses AI daily for drafting and summarising. Saves a few hours a week.</a:t>
            </a:r>
          </a:p>
        </p:txBody>
      </p:sp>
      <p:sp>
        <p:nvSpPr>
          <p:cNvPr id="25" name="Rectangle 24"/>
          <p:cNvSpPr/>
          <p:nvPr/>
        </p:nvSpPr>
        <p:spPr>
          <a:xfrm>
            <a:off x="2243105" y="3567639"/>
            <a:ext cx="9381661" cy="75541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2243105" y="3567639"/>
            <a:ext cx="20320" cy="75541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44273" y="3799041"/>
            <a:ext cx="292608" cy="29260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444273" y="3844761"/>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L3</a:t>
            </a:r>
          </a:p>
        </p:txBody>
      </p:sp>
      <p:sp>
        <p:nvSpPr>
          <p:cNvPr id="29" name="TextBox 28"/>
          <p:cNvSpPr txBox="1"/>
          <p:nvPr/>
        </p:nvSpPr>
        <p:spPr>
          <a:xfrm>
            <a:off x="2864897" y="3845718"/>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Practitioner</a:t>
            </a:r>
          </a:p>
        </p:txBody>
      </p:sp>
      <p:sp>
        <p:nvSpPr>
          <p:cNvPr id="30" name="TextBox 29"/>
          <p:cNvSpPr txBox="1"/>
          <p:nvPr/>
        </p:nvSpPr>
        <p:spPr>
          <a:xfrm>
            <a:off x="5845841" y="3853879"/>
            <a:ext cx="5559469" cy="256082"/>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Writes strong prompts, saves and reuses them, checks output properly.</a:t>
            </a:r>
          </a:p>
        </p:txBody>
      </p:sp>
      <p:sp>
        <p:nvSpPr>
          <p:cNvPr id="31" name="Rectangle 30"/>
          <p:cNvSpPr/>
          <p:nvPr/>
        </p:nvSpPr>
        <p:spPr>
          <a:xfrm>
            <a:off x="2944034" y="2684213"/>
            <a:ext cx="8680732" cy="75541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944034" y="2684213"/>
            <a:ext cx="20320" cy="755410"/>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145202" y="2915614"/>
            <a:ext cx="292608" cy="292608"/>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145202" y="2961334"/>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L4</a:t>
            </a:r>
          </a:p>
        </p:txBody>
      </p:sp>
      <p:sp>
        <p:nvSpPr>
          <p:cNvPr id="35" name="TextBox 34"/>
          <p:cNvSpPr txBox="1"/>
          <p:nvPr/>
        </p:nvSpPr>
        <p:spPr>
          <a:xfrm>
            <a:off x="3565826" y="2962291"/>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Builder</a:t>
            </a:r>
          </a:p>
        </p:txBody>
      </p:sp>
      <p:sp>
        <p:nvSpPr>
          <p:cNvPr id="36" name="TextBox 35"/>
          <p:cNvSpPr txBox="1"/>
          <p:nvPr/>
        </p:nvSpPr>
        <p:spPr>
          <a:xfrm>
            <a:off x="6546770" y="2878987"/>
            <a:ext cx="4858540" cy="439013"/>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Automates whole workflows with no-code tools. Saves the team's time, not just their own.</a:t>
            </a:r>
          </a:p>
        </p:txBody>
      </p:sp>
      <p:sp>
        <p:nvSpPr>
          <p:cNvPr id="37" name="Rectangle 36"/>
          <p:cNvSpPr/>
          <p:nvPr/>
        </p:nvSpPr>
        <p:spPr>
          <a:xfrm>
            <a:off x="3644962" y="1800786"/>
            <a:ext cx="7979804" cy="755410"/>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3644962" y="1800786"/>
            <a:ext cx="20320" cy="75541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846130" y="2032187"/>
            <a:ext cx="292608" cy="29260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46130" y="2077907"/>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000" b="0" i="0">
                <a:solidFill>
                  <a:srgbClr val="FFFFFF"/>
                </a:solidFill>
                <a:latin typeface="Quattrocento Sans"/>
                <a:ea typeface="Quattrocento Sans"/>
                <a:cs typeface="Quattrocento Sans"/>
              </a:rPr>
              <a:t>L5</a:t>
            </a:r>
          </a:p>
        </p:txBody>
      </p:sp>
      <p:sp>
        <p:nvSpPr>
          <p:cNvPr id="41" name="TextBox 40"/>
          <p:cNvSpPr txBox="1"/>
          <p:nvPr/>
        </p:nvSpPr>
        <p:spPr>
          <a:xfrm>
            <a:off x="4266754" y="2078864"/>
            <a:ext cx="2743200" cy="272405"/>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Multiplier</a:t>
            </a:r>
          </a:p>
        </p:txBody>
      </p:sp>
      <p:sp>
        <p:nvSpPr>
          <p:cNvPr id="42" name="TextBox 41"/>
          <p:cNvSpPr txBox="1"/>
          <p:nvPr/>
        </p:nvSpPr>
        <p:spPr>
          <a:xfrm>
            <a:off x="7247698" y="1995560"/>
            <a:ext cx="4157612" cy="439013"/>
          </a:xfrm>
          <a:prstGeom prst="rect">
            <a:avLst/>
          </a:prstGeom>
          <a:noFill/>
        </p:spPr>
        <p:txBody>
          <a:bodyPr wrap="square" lIns="0" rIns="0" tIns="0" bIns="0" anchor="t">
            <a:spAutoFit/>
          </a:bodyPr>
          <a:lstStyle/>
          <a:p>
            <a:pPr algn="l">
              <a:lnSpc>
                <a:spcPct val="130000"/>
              </a:lnSpc>
              <a:spcBef>
                <a:spcPts val="0"/>
              </a:spcBef>
              <a:spcAft>
                <a:spcPts val="0"/>
              </a:spcAft>
            </a:pPr>
            <a:r>
              <a:rPr sz="1000" b="0" i="0">
                <a:solidFill>
                  <a:srgbClr val="6B7280"/>
                </a:solidFill>
                <a:latin typeface="Quattrocento Sans"/>
                <a:ea typeface="Quattrocento Sans"/>
                <a:cs typeface="Quattrocento Sans"/>
              </a:rPr>
              <a:t>Redesigns how the team works and teaches others. Raises the whole function.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18</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13</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MOVING UP A LEVEL</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What it takes at each step</a:t>
            </a:r>
          </a:p>
        </p:txBody>
      </p:sp>
      <p:sp>
        <p:nvSpPr>
          <p:cNvPr id="10" name="Rectangle 9"/>
          <p:cNvSpPr/>
          <p:nvPr/>
        </p:nvSpPr>
        <p:spPr>
          <a:xfrm>
            <a:off x="566928" y="1242948"/>
            <a:ext cx="11057839" cy="15875"/>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480692"/>
            <a:ext cx="19050" cy="4609211"/>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841247" y="1919922"/>
          <a:ext cx="10783516" cy="2980944"/>
        </p:xfrm>
        <a:graphic>
          <a:graphicData uri="http://schemas.openxmlformats.org/drawingml/2006/table">
            <a:tbl>
              <a:tblPr firstRow="1" bandRow="0" bandCol="0" firstCol="0" lastRow="0" lastCol="0">
                <a:tableStyleId>{5C22544A-7EE6-4342-B048-85BDC9FD1C3A}</a:tableStyleId>
              </a:tblPr>
              <a:tblGrid>
                <a:gridCol w="1752321"/>
                <a:gridCol w="2830673"/>
                <a:gridCol w="2695879"/>
                <a:gridCol w="3504643"/>
              </a:tblGrid>
              <a:tr h="420624">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LEVEL</a:t>
                      </a:r>
                    </a:p>
                  </a:txBody>
                  <a:tcPr marL="146304" marR="146304" marT="73152" marB="73152" anchor="ctr">
                    <a:solidFill>
                      <a:srgbClr val="4B5563"/>
                    </a:solidFill>
                  </a:tcPr>
                </a:tc>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BEHAVIOUR</a:t>
                      </a:r>
                    </a:p>
                  </a:txBody>
                  <a:tcPr marL="146304" marR="146304" marT="73152" marB="73152" anchor="ctr">
                    <a:solidFill>
                      <a:srgbClr val="4B5563"/>
                    </a:solidFill>
                  </a:tcPr>
                </a:tc>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VALUE CREATED</a:t>
                      </a:r>
                    </a:p>
                  </a:txBody>
                  <a:tcPr marL="146304" marR="146304" marT="73152" marB="73152" anchor="ctr">
                    <a:solidFill>
                      <a:srgbClr val="4B5563"/>
                    </a:solidFill>
                  </a:tcPr>
                </a:tc>
                <a:tc>
                  <a:txBody>
                    <a:bodyPr wrap="square"/>
                    <a:lstStyle/>
                    <a:p>
                      <a:pPr algn="l">
                        <a:lnSpc>
                          <a:spcPct val="115000"/>
                        </a:lnSpc>
                        <a:spcBef>
                          <a:spcPts val="0"/>
                        </a:spcBef>
                        <a:spcAft>
                          <a:spcPts val="0"/>
                        </a:spcAft>
                      </a:pPr>
                      <a:r>
                        <a:rPr sz="1000" b="0" i="0" spc="110">
                          <a:solidFill>
                            <a:srgbClr val="FFFFFF"/>
                          </a:solidFill>
                          <a:latin typeface="Quattrocento Sans"/>
                          <a:ea typeface="Quattrocento Sans"/>
                          <a:cs typeface="Quattrocento Sans"/>
                        </a:rPr>
                        <a:t>WHAT UNLOCKS THE NEXT LEVEL</a:t>
                      </a:r>
                    </a:p>
                  </a:txBody>
                  <a:tcPr marL="146304" marR="146304" marT="73152" marB="73152" anchor="ctr">
                    <a:solidFill>
                      <a:srgbClr val="4B5563"/>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1 · Curious</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Occasional experiments</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Almost none</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A relevant use case in their own job</a:t>
                      </a:r>
                    </a:p>
                  </a:txBody>
                  <a:tcPr marL="146304" marR="146304" marT="73152" marB="73152" anchor="ctr">
                    <a:solidFill>
                      <a:srgbClr val="FFFFFF"/>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2 · User</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Daily drafting and summarising</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A few hours a week</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Learning the five-part prompt recipe</a:t>
                      </a:r>
                    </a:p>
                  </a:txBody>
                  <a:tcPr marL="146304" marR="146304" marT="73152" marB="73152" anchor="ctr">
                    <a:solidFill>
                      <a:srgbClr val="F9FAFB"/>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3 · Practitioner</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Reusable prompts, verified output</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Consistent quality and speed</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Exposure to no-code automation</a:t>
                      </a:r>
                    </a:p>
                  </a:txBody>
                  <a:tcPr marL="146304" marR="146304" marT="73152" marB="73152" anchor="ctr">
                    <a:solidFill>
                      <a:srgbClr val="FFFFFF"/>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4 · Builder</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Automates real workflows</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Whole-team time savings</a:t>
                      </a:r>
                    </a:p>
                  </a:txBody>
                  <a:tcPr marL="146304" marR="146304" marT="73152" marB="73152" anchor="ctr">
                    <a:solidFill>
                      <a:srgbClr val="F9FAFB"/>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Authority to change how work is done</a:t>
                      </a:r>
                    </a:p>
                  </a:txBody>
                  <a:tcPr marL="146304" marR="146304" marT="73152" marB="73152" anchor="ctr">
                    <a:solidFill>
                      <a:srgbClr val="F9FAFB"/>
                    </a:solidFill>
                  </a:tcPr>
                </a:tc>
              </a:tr>
              <a:tr h="512064">
                <a:tc>
                  <a:txBody>
                    <a:bodyPr wrap="square"/>
                    <a:lstStyle/>
                    <a:p>
                      <a:pPr algn="l">
                        <a:lnSpc>
                          <a:spcPct val="126000"/>
                        </a:lnSpc>
                        <a:spcBef>
                          <a:spcPts val="0"/>
                        </a:spcBef>
                        <a:spcAft>
                          <a:spcPts val="0"/>
                        </a:spcAft>
                      </a:pPr>
                      <a:r>
                        <a:rPr sz="1000" b="1" i="0">
                          <a:solidFill>
                            <a:srgbClr val="1F2937"/>
                          </a:solidFill>
                          <a:latin typeface="Quattrocento Sans"/>
                          <a:ea typeface="Quattrocento Sans"/>
                          <a:cs typeface="Quattrocento Sans"/>
                        </a:rPr>
                        <a:t>5 · Multiplier</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Redesigns and teaches</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Function-level performance</a:t>
                      </a:r>
                    </a:p>
                  </a:txBody>
                  <a:tcPr marL="146304" marR="146304" marT="73152" marB="73152" anchor="ctr">
                    <a:solidFill>
                      <a:srgbClr val="FFFFFF"/>
                    </a:solidFill>
                  </a:tcPr>
                </a:tc>
                <a:tc>
                  <a:txBody>
                    <a:bodyPr wrap="square"/>
                    <a:lstStyle/>
                    <a:p>
                      <a:pPr algn="l">
                        <a:lnSpc>
                          <a:spcPct val="126000"/>
                        </a:lnSpc>
                        <a:spcBef>
                          <a:spcPts val="0"/>
                        </a:spcBef>
                        <a:spcAft>
                          <a:spcPts val="0"/>
                        </a:spcAft>
                      </a:pPr>
                      <a:r>
                        <a:rPr sz="1000" b="0" i="0">
                          <a:solidFill>
                            <a:srgbClr val="6B7280"/>
                          </a:solidFill>
                          <a:latin typeface="Quattrocento Sans"/>
                          <a:ea typeface="Quattrocento Sans"/>
                          <a:cs typeface="Quattrocento Sans"/>
                        </a:rPr>
                        <a:t>A role that rewards enabling others</a:t>
                      </a:r>
                    </a:p>
                  </a:txBody>
                  <a:tcPr marL="146304" marR="146304" marT="73152" marB="73152" anchor="ctr">
                    <a:solidFill>
                      <a:srgbClr val="FFFFFF"/>
                    </a:solidFill>
                  </a:tcPr>
                </a:tc>
              </a:tr>
            </a:tbl>
          </a:graphicData>
        </a:graphic>
      </p:graphicFrame>
      <p:sp>
        <p:nvSpPr>
          <p:cNvPr id="13" name="Rectangle 12"/>
          <p:cNvSpPr/>
          <p:nvPr/>
        </p:nvSpPr>
        <p:spPr>
          <a:xfrm>
            <a:off x="566928" y="5522976"/>
            <a:ext cx="11057839" cy="566928"/>
          </a:xfrm>
          <a:prstGeom prst="rect">
            <a:avLst/>
          </a:prstGeom>
          <a:solidFill>
            <a:srgbClr val="4B55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41247" y="5522976"/>
            <a:ext cx="10509199" cy="566928"/>
          </a:xfrm>
          <a:prstGeom prst="rect">
            <a:avLst/>
          </a:prstGeom>
          <a:noFill/>
        </p:spPr>
        <p:txBody>
          <a:bodyPr wrap="square" lIns="0" rIns="0" tIns="0" bIns="0" anchor="ctr">
            <a:spAutoFit/>
          </a:bodyPr>
          <a:lstStyle/>
          <a:p>
            <a:pPr algn="l">
              <a:lnSpc>
                <a:spcPct val="125000"/>
              </a:lnSpc>
              <a:spcBef>
                <a:spcPts val="0"/>
              </a:spcBef>
              <a:spcAft>
                <a:spcPts val="0"/>
              </a:spcAft>
            </a:pPr>
            <a:r>
              <a:rPr sz="1150" b="0" i="0">
                <a:solidFill>
                  <a:srgbClr val="FFFFFF"/>
                </a:solidFill>
                <a:latin typeface="Quattrocento Sans"/>
                <a:ea typeface="Quattrocento Sans"/>
                <a:cs typeface="Quattrocento Sans"/>
              </a:rPr>
              <a:t>Notice the pattern: the first three levels are skill. The last two are permission.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19</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14</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THE SKILLS THAT TRAVEL</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What stays valuable as AI gets better</a:t>
            </a:r>
          </a:p>
        </p:txBody>
      </p:sp>
      <p:sp>
        <p:nvSpPr>
          <p:cNvPr id="10" name="Rectangle 9"/>
          <p:cNvSpPr/>
          <p:nvPr/>
        </p:nvSpPr>
        <p:spPr>
          <a:xfrm>
            <a:off x="566928" y="1242948"/>
            <a:ext cx="11057839" cy="15875"/>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Notice what is missing: producing the first draft.</a:t>
            </a:r>
          </a:p>
        </p:txBody>
      </p:sp>
      <p:sp>
        <p:nvSpPr>
          <p:cNvPr id="12" name="Rectangle 11"/>
          <p:cNvSpPr/>
          <p:nvPr/>
        </p:nvSpPr>
        <p:spPr>
          <a:xfrm>
            <a:off x="566928" y="1764210"/>
            <a:ext cx="19050" cy="4325693"/>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57250" y="2708619"/>
            <a:ext cx="77724" cy="77724"/>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60704" y="2628609"/>
            <a:ext cx="4852263" cy="749808"/>
          </a:xfrm>
          <a:prstGeom prst="rect">
            <a:avLst/>
          </a:prstGeom>
          <a:noFill/>
        </p:spPr>
        <p:txBody>
          <a:bodyPr wrap="square" lIns="0" rIns="0" tIns="0" bIns="0" anchor="t">
            <a:spAutoFit/>
          </a:bodyPr>
          <a:lstStyle/>
          <a:p>
            <a:pPr algn="l">
              <a:lnSpc>
                <a:spcPct val="122000"/>
              </a:lnSpc>
              <a:spcBef>
                <a:spcPts val="0"/>
              </a:spcBef>
              <a:spcAft>
                <a:spcPts val="0"/>
              </a:spcAft>
            </a:pPr>
            <a:r>
              <a:rPr sz="1200" b="1" i="0">
                <a:solidFill>
                  <a:srgbClr val="1F2937"/>
                </a:solidFill>
                <a:latin typeface="Quattrocento Sans"/>
                <a:ea typeface="Quattrocento Sans"/>
                <a:cs typeface="Quattrocento Sans"/>
              </a:rPr>
              <a:t>Asking the right question</a:t>
            </a:r>
          </a:p>
          <a:p>
            <a:pPr algn="l">
              <a:lnSpc>
                <a:spcPct val="130000"/>
              </a:lnSpc>
              <a:spcBef>
                <a:spcPts val="200"/>
              </a:spcBef>
              <a:spcAft>
                <a:spcPts val="0"/>
              </a:spcAft>
            </a:pPr>
            <a:r>
              <a:rPr sz="950" b="0" i="0">
                <a:solidFill>
                  <a:srgbClr val="6B7280"/>
                </a:solidFill>
                <a:latin typeface="Quattrocento Sans"/>
                <a:ea typeface="Quattrocento Sans"/>
                <a:cs typeface="Quattrocento Sans"/>
              </a:rPr>
              <a:t>Framing the problem is the work AI cannot do for you.</a:t>
            </a:r>
          </a:p>
        </p:txBody>
      </p:sp>
      <p:sp>
        <p:nvSpPr>
          <p:cNvPr id="15" name="Oval 14"/>
          <p:cNvSpPr/>
          <p:nvPr/>
        </p:nvSpPr>
        <p:spPr>
          <a:xfrm>
            <a:off x="857250" y="3586443"/>
            <a:ext cx="77724" cy="77724"/>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60704" y="3506433"/>
            <a:ext cx="4852263" cy="749808"/>
          </a:xfrm>
          <a:prstGeom prst="rect">
            <a:avLst/>
          </a:prstGeom>
          <a:noFill/>
        </p:spPr>
        <p:txBody>
          <a:bodyPr wrap="square" lIns="0" rIns="0" tIns="0" bIns="0" anchor="t">
            <a:spAutoFit/>
          </a:bodyPr>
          <a:lstStyle/>
          <a:p>
            <a:pPr algn="l">
              <a:lnSpc>
                <a:spcPct val="122000"/>
              </a:lnSpc>
              <a:spcBef>
                <a:spcPts val="0"/>
              </a:spcBef>
              <a:spcAft>
                <a:spcPts val="0"/>
              </a:spcAft>
            </a:pPr>
            <a:r>
              <a:rPr sz="1200" b="1" i="0">
                <a:solidFill>
                  <a:srgbClr val="1F2937"/>
                </a:solidFill>
                <a:latin typeface="Quattrocento Sans"/>
                <a:ea typeface="Quattrocento Sans"/>
                <a:cs typeface="Quattrocento Sans"/>
              </a:rPr>
              <a:t>Judging quality</a:t>
            </a:r>
          </a:p>
          <a:p>
            <a:pPr algn="l">
              <a:lnSpc>
                <a:spcPct val="130000"/>
              </a:lnSpc>
              <a:spcBef>
                <a:spcPts val="200"/>
              </a:spcBef>
              <a:spcAft>
                <a:spcPts val="0"/>
              </a:spcAft>
            </a:pPr>
            <a:r>
              <a:rPr sz="950" b="0" i="0">
                <a:solidFill>
                  <a:srgbClr val="6B7280"/>
                </a:solidFill>
                <a:latin typeface="Quattrocento Sans"/>
                <a:ea typeface="Quattrocento Sans"/>
                <a:cs typeface="Quattrocento Sans"/>
              </a:rPr>
              <a:t>Knowing when a confident answer is actually wrong.</a:t>
            </a:r>
          </a:p>
        </p:txBody>
      </p:sp>
      <p:sp>
        <p:nvSpPr>
          <p:cNvPr id="17" name="Oval 16"/>
          <p:cNvSpPr/>
          <p:nvPr/>
        </p:nvSpPr>
        <p:spPr>
          <a:xfrm>
            <a:off x="857250" y="4464267"/>
            <a:ext cx="77724" cy="77724"/>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60704" y="4384257"/>
            <a:ext cx="4852263" cy="749808"/>
          </a:xfrm>
          <a:prstGeom prst="rect">
            <a:avLst/>
          </a:prstGeom>
          <a:noFill/>
        </p:spPr>
        <p:txBody>
          <a:bodyPr wrap="square" lIns="0" rIns="0" tIns="0" bIns="0" anchor="t">
            <a:spAutoFit/>
          </a:bodyPr>
          <a:lstStyle/>
          <a:p>
            <a:pPr algn="l">
              <a:lnSpc>
                <a:spcPct val="122000"/>
              </a:lnSpc>
              <a:spcBef>
                <a:spcPts val="0"/>
              </a:spcBef>
              <a:spcAft>
                <a:spcPts val="0"/>
              </a:spcAft>
            </a:pPr>
            <a:r>
              <a:rPr sz="1200" b="1" i="0">
                <a:solidFill>
                  <a:srgbClr val="1F2937"/>
                </a:solidFill>
                <a:latin typeface="Quattrocento Sans"/>
                <a:ea typeface="Quattrocento Sans"/>
                <a:cs typeface="Quattrocento Sans"/>
              </a:rPr>
              <a:t>Context</a:t>
            </a:r>
          </a:p>
          <a:p>
            <a:pPr algn="l">
              <a:lnSpc>
                <a:spcPct val="130000"/>
              </a:lnSpc>
              <a:spcBef>
                <a:spcPts val="200"/>
              </a:spcBef>
              <a:spcAft>
                <a:spcPts val="0"/>
              </a:spcAft>
            </a:pPr>
            <a:r>
              <a:rPr sz="950" b="0" i="0">
                <a:solidFill>
                  <a:srgbClr val="6B7280"/>
                </a:solidFill>
                <a:latin typeface="Quattrocento Sans"/>
                <a:ea typeface="Quattrocento Sans"/>
                <a:cs typeface="Quattrocento Sans"/>
              </a:rPr>
              <a:t>Understanding your customers, your business, your constraints.</a:t>
            </a:r>
          </a:p>
        </p:txBody>
      </p:sp>
      <p:sp>
        <p:nvSpPr>
          <p:cNvPr id="19" name="Oval 18"/>
          <p:cNvSpPr/>
          <p:nvPr/>
        </p:nvSpPr>
        <p:spPr>
          <a:xfrm>
            <a:off x="6477609" y="2708619"/>
            <a:ext cx="77724" cy="77724"/>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81063" y="2628609"/>
            <a:ext cx="4852263" cy="749808"/>
          </a:xfrm>
          <a:prstGeom prst="rect">
            <a:avLst/>
          </a:prstGeom>
          <a:noFill/>
        </p:spPr>
        <p:txBody>
          <a:bodyPr wrap="square" lIns="0" rIns="0" tIns="0" bIns="0" anchor="t">
            <a:spAutoFit/>
          </a:bodyPr>
          <a:lstStyle/>
          <a:p>
            <a:pPr algn="l">
              <a:lnSpc>
                <a:spcPct val="122000"/>
              </a:lnSpc>
              <a:spcBef>
                <a:spcPts val="0"/>
              </a:spcBef>
              <a:spcAft>
                <a:spcPts val="0"/>
              </a:spcAft>
            </a:pPr>
            <a:r>
              <a:rPr sz="1200" b="1" i="0">
                <a:solidFill>
                  <a:srgbClr val="1F2937"/>
                </a:solidFill>
                <a:latin typeface="Quattrocento Sans"/>
                <a:ea typeface="Quattrocento Sans"/>
                <a:cs typeface="Quattrocento Sans"/>
              </a:rPr>
              <a:t>Decision-making</a:t>
            </a:r>
          </a:p>
          <a:p>
            <a:pPr algn="l">
              <a:lnSpc>
                <a:spcPct val="130000"/>
              </a:lnSpc>
              <a:spcBef>
                <a:spcPts val="200"/>
              </a:spcBef>
              <a:spcAft>
                <a:spcPts val="0"/>
              </a:spcAft>
            </a:pPr>
            <a:r>
              <a:rPr sz="950" b="0" i="0">
                <a:solidFill>
                  <a:srgbClr val="6B7280"/>
                </a:solidFill>
                <a:latin typeface="Quattrocento Sans"/>
                <a:ea typeface="Quattrocento Sans"/>
                <a:cs typeface="Quattrocento Sans"/>
              </a:rPr>
              <a:t>Choosing under uncertainty, and owning the consequence.</a:t>
            </a:r>
          </a:p>
        </p:txBody>
      </p:sp>
      <p:sp>
        <p:nvSpPr>
          <p:cNvPr id="21" name="Oval 20"/>
          <p:cNvSpPr/>
          <p:nvPr/>
        </p:nvSpPr>
        <p:spPr>
          <a:xfrm>
            <a:off x="6477609" y="3586443"/>
            <a:ext cx="77724" cy="77724"/>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81063" y="3506433"/>
            <a:ext cx="4852263" cy="749808"/>
          </a:xfrm>
          <a:prstGeom prst="rect">
            <a:avLst/>
          </a:prstGeom>
          <a:noFill/>
        </p:spPr>
        <p:txBody>
          <a:bodyPr wrap="square" lIns="0" rIns="0" tIns="0" bIns="0" anchor="t">
            <a:spAutoFit/>
          </a:bodyPr>
          <a:lstStyle/>
          <a:p>
            <a:pPr algn="l">
              <a:lnSpc>
                <a:spcPct val="122000"/>
              </a:lnSpc>
              <a:spcBef>
                <a:spcPts val="0"/>
              </a:spcBef>
              <a:spcAft>
                <a:spcPts val="0"/>
              </a:spcAft>
            </a:pPr>
            <a:r>
              <a:rPr sz="1200" b="1" i="0">
                <a:solidFill>
                  <a:srgbClr val="1F2937"/>
                </a:solidFill>
                <a:latin typeface="Quattrocento Sans"/>
                <a:ea typeface="Quattrocento Sans"/>
                <a:cs typeface="Quattrocento Sans"/>
              </a:rPr>
              <a:t>Communication</a:t>
            </a:r>
          </a:p>
          <a:p>
            <a:pPr algn="l">
              <a:lnSpc>
                <a:spcPct val="130000"/>
              </a:lnSpc>
              <a:spcBef>
                <a:spcPts val="200"/>
              </a:spcBef>
              <a:spcAft>
                <a:spcPts val="0"/>
              </a:spcAft>
            </a:pPr>
            <a:r>
              <a:rPr sz="950" b="0" i="0">
                <a:solidFill>
                  <a:srgbClr val="6B7280"/>
                </a:solidFill>
                <a:latin typeface="Quattrocento Sans"/>
                <a:ea typeface="Quattrocento Sans"/>
                <a:cs typeface="Quattrocento Sans"/>
              </a:rPr>
              <a:t>Persuading people, which is still a human-to-human act.</a:t>
            </a:r>
          </a:p>
        </p:txBody>
      </p:sp>
      <p:sp>
        <p:nvSpPr>
          <p:cNvPr id="23" name="Oval 22"/>
          <p:cNvSpPr/>
          <p:nvPr/>
        </p:nvSpPr>
        <p:spPr>
          <a:xfrm>
            <a:off x="6477609" y="4464267"/>
            <a:ext cx="77724" cy="77724"/>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81063" y="4384257"/>
            <a:ext cx="4852263" cy="749808"/>
          </a:xfrm>
          <a:prstGeom prst="rect">
            <a:avLst/>
          </a:prstGeom>
          <a:noFill/>
        </p:spPr>
        <p:txBody>
          <a:bodyPr wrap="square" lIns="0" rIns="0" tIns="0" bIns="0" anchor="t">
            <a:spAutoFit/>
          </a:bodyPr>
          <a:lstStyle/>
          <a:p>
            <a:pPr algn="l">
              <a:lnSpc>
                <a:spcPct val="122000"/>
              </a:lnSpc>
              <a:spcBef>
                <a:spcPts val="0"/>
              </a:spcBef>
              <a:spcAft>
                <a:spcPts val="0"/>
              </a:spcAft>
            </a:pPr>
            <a:r>
              <a:rPr sz="1200" b="1" i="0">
                <a:solidFill>
                  <a:srgbClr val="1F2937"/>
                </a:solidFill>
                <a:latin typeface="Quattrocento Sans"/>
                <a:ea typeface="Quattrocento Sans"/>
                <a:cs typeface="Quattrocento Sans"/>
              </a:rPr>
              <a:t>Learning speed</a:t>
            </a:r>
          </a:p>
          <a:p>
            <a:pPr algn="l">
              <a:lnSpc>
                <a:spcPct val="130000"/>
              </a:lnSpc>
              <a:spcBef>
                <a:spcPts val="200"/>
              </a:spcBef>
              <a:spcAft>
                <a:spcPts val="0"/>
              </a:spcAft>
            </a:pPr>
            <a:r>
              <a:rPr sz="950" b="0" i="0">
                <a:solidFill>
                  <a:srgbClr val="6B7280"/>
                </a:solidFill>
                <a:latin typeface="Quattrocento Sans"/>
                <a:ea typeface="Quattrocento Sans"/>
                <a:cs typeface="Quattrocento Sans"/>
              </a:rPr>
              <a:t>The tools will change again. The ability to adapt is the real asset.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20</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15</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WHERE TO START</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A realistic first 90 days</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Small, fast, measured - then repeat.</a:t>
            </a:r>
          </a:p>
        </p:txBody>
      </p:sp>
      <p:sp>
        <p:nvSpPr>
          <p:cNvPr id="12" name="Rectangle 11"/>
          <p:cNvSpPr/>
          <p:nvPr/>
        </p:nvSpPr>
        <p:spPr>
          <a:xfrm>
            <a:off x="566928" y="1764210"/>
            <a:ext cx="19050" cy="432569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7541" y="2561567"/>
            <a:ext cx="7310932"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03805" y="2395146"/>
            <a:ext cx="347472" cy="347472"/>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03805" y="2438123"/>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1</a:t>
            </a:r>
          </a:p>
        </p:txBody>
      </p:sp>
      <p:sp>
        <p:nvSpPr>
          <p:cNvPr id="16" name="Rectangle 15"/>
          <p:cNvSpPr/>
          <p:nvPr/>
        </p:nvSpPr>
        <p:spPr>
          <a:xfrm>
            <a:off x="841247" y="2916354"/>
            <a:ext cx="3472586" cy="1074219"/>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41247" y="2916354"/>
            <a:ext cx="3472586" cy="1778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5" y="3099234"/>
            <a:ext cx="3161690"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Days 1-30</a:t>
            </a:r>
          </a:p>
        </p:txBody>
      </p:sp>
      <p:sp>
        <p:nvSpPr>
          <p:cNvPr id="19" name="TextBox 18"/>
          <p:cNvSpPr txBox="1"/>
          <p:nvPr/>
        </p:nvSpPr>
        <p:spPr>
          <a:xfrm>
            <a:off x="996695" y="3399913"/>
            <a:ext cx="3161690" cy="55408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Approve tools, publish a one-page policy, train everyone once.</a:t>
            </a:r>
          </a:p>
        </p:txBody>
      </p:sp>
      <p:sp>
        <p:nvSpPr>
          <p:cNvPr id="20" name="Rectangle 19"/>
          <p:cNvSpPr/>
          <p:nvPr/>
        </p:nvSpPr>
        <p:spPr>
          <a:xfrm>
            <a:off x="6059271" y="2395146"/>
            <a:ext cx="347472" cy="347472"/>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59271" y="2438123"/>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2</a:t>
            </a:r>
          </a:p>
        </p:txBody>
      </p:sp>
      <p:sp>
        <p:nvSpPr>
          <p:cNvPr id="22" name="Rectangle 21"/>
          <p:cNvSpPr/>
          <p:nvPr/>
        </p:nvSpPr>
        <p:spPr>
          <a:xfrm>
            <a:off x="4496714" y="2916354"/>
            <a:ext cx="3472586" cy="1074219"/>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496714" y="2916354"/>
            <a:ext cx="3472586" cy="1778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2162" y="3099234"/>
            <a:ext cx="3161690"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Days 31-60</a:t>
            </a:r>
          </a:p>
        </p:txBody>
      </p:sp>
      <p:sp>
        <p:nvSpPr>
          <p:cNvPr id="25" name="TextBox 24"/>
          <p:cNvSpPr txBox="1"/>
          <p:nvPr/>
        </p:nvSpPr>
        <p:spPr>
          <a:xfrm>
            <a:off x="4652162" y="3399913"/>
            <a:ext cx="3161690" cy="55408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Pick two narrow use cases. Prototype both. Capture a baseline.</a:t>
            </a:r>
          </a:p>
        </p:txBody>
      </p:sp>
      <p:sp>
        <p:nvSpPr>
          <p:cNvPr id="26" name="Rectangle 25"/>
          <p:cNvSpPr/>
          <p:nvPr/>
        </p:nvSpPr>
        <p:spPr>
          <a:xfrm>
            <a:off x="9714738" y="2395146"/>
            <a:ext cx="347472" cy="347472"/>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714738" y="2438123"/>
            <a:ext cx="347472" cy="347472"/>
          </a:xfrm>
          <a:prstGeom prst="rect">
            <a:avLst/>
          </a:prstGeom>
          <a:noFill/>
        </p:spPr>
        <p:txBody>
          <a:bodyPr wrap="square" lIns="0" rIns="0" tIns="0" bIns="0" anchor="t">
            <a:spAutoFit/>
          </a:bodyPr>
          <a:lstStyle/>
          <a:p>
            <a:pPr algn="ctr">
              <a:lnSpc>
                <a:spcPct val="100000"/>
              </a:lnSpc>
              <a:spcBef>
                <a:spcPts val="0"/>
              </a:spcBef>
              <a:spcAft>
                <a:spcPts val="0"/>
              </a:spcAft>
            </a:pPr>
            <a:r>
              <a:rPr sz="1300" b="0" i="0">
                <a:solidFill>
                  <a:srgbClr val="FFFFFF"/>
                </a:solidFill>
                <a:latin typeface="Sorts Mill Goudy"/>
                <a:ea typeface="Sorts Mill Goudy"/>
                <a:cs typeface="Sorts Mill Goudy"/>
              </a:rPr>
              <a:t>3</a:t>
            </a:r>
          </a:p>
        </p:txBody>
      </p:sp>
      <p:sp>
        <p:nvSpPr>
          <p:cNvPr id="28" name="Rectangle 27"/>
          <p:cNvSpPr/>
          <p:nvPr/>
        </p:nvSpPr>
        <p:spPr>
          <a:xfrm>
            <a:off x="8152180" y="2916354"/>
            <a:ext cx="3472586" cy="1074219"/>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152180" y="2916354"/>
            <a:ext cx="3472586" cy="1778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7628" y="3099234"/>
            <a:ext cx="3161690" cy="264103"/>
          </a:xfrm>
          <a:prstGeom prst="rect">
            <a:avLst/>
          </a:prstGeom>
          <a:noFill/>
        </p:spPr>
        <p:txBody>
          <a:bodyPr wrap="square" lIns="0" rIns="0" tIns="0" bIns="0" anchor="t">
            <a:spAutoFit/>
          </a:bodyPr>
          <a:lstStyle/>
          <a:p>
            <a:pPr algn="ctr">
              <a:lnSpc>
                <a:spcPct val="118000"/>
              </a:lnSpc>
              <a:spcBef>
                <a:spcPts val="0"/>
              </a:spcBef>
              <a:spcAft>
                <a:spcPts val="0"/>
              </a:spcAft>
            </a:pPr>
            <a:r>
              <a:rPr sz="1150" b="1" i="0">
                <a:solidFill>
                  <a:srgbClr val="1F2937"/>
                </a:solidFill>
                <a:latin typeface="Quattrocento Sans"/>
                <a:ea typeface="Quattrocento Sans"/>
                <a:cs typeface="Quattrocento Sans"/>
              </a:rPr>
              <a:t>Days 61-90</a:t>
            </a:r>
          </a:p>
        </p:txBody>
      </p:sp>
      <p:sp>
        <p:nvSpPr>
          <p:cNvPr id="31" name="TextBox 30"/>
          <p:cNvSpPr txBox="1"/>
          <p:nvPr/>
        </p:nvSpPr>
        <p:spPr>
          <a:xfrm>
            <a:off x="8307628" y="3399913"/>
            <a:ext cx="3161690" cy="554083"/>
          </a:xfrm>
          <a:prstGeom prst="rect">
            <a:avLst/>
          </a:prstGeom>
          <a:noFill/>
        </p:spPr>
        <p:txBody>
          <a:bodyPr wrap="square" lIns="0" rIns="0" tIns="0" bIns="0" anchor="t">
            <a:spAutoFit/>
          </a:bodyPr>
          <a:lstStyle/>
          <a:p>
            <a:pPr algn="ctr">
              <a:lnSpc>
                <a:spcPct val="132000"/>
              </a:lnSpc>
              <a:spcBef>
                <a:spcPts val="0"/>
              </a:spcBef>
              <a:spcAft>
                <a:spcPts val="0"/>
              </a:spcAft>
            </a:pPr>
            <a:r>
              <a:rPr sz="950" b="0" i="0">
                <a:solidFill>
                  <a:srgbClr val="6B7280"/>
                </a:solidFill>
                <a:latin typeface="Quattrocento Sans"/>
                <a:ea typeface="Quattrocento Sans"/>
                <a:cs typeface="Quattrocento Sans"/>
              </a:rPr>
              <a:t>Keep the one that worked, kill the other, and publish the numbers.</a:t>
            </a:r>
          </a:p>
        </p:txBody>
      </p:sp>
      <p:sp>
        <p:nvSpPr>
          <p:cNvPr id="32" name="Rectangle 31"/>
          <p:cNvSpPr/>
          <p:nvPr/>
        </p:nvSpPr>
        <p:spPr>
          <a:xfrm>
            <a:off x="566928" y="5522976"/>
            <a:ext cx="11057839" cy="5669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41247" y="5522976"/>
            <a:ext cx="10509199" cy="566928"/>
          </a:xfrm>
          <a:prstGeom prst="rect">
            <a:avLst/>
          </a:prstGeom>
          <a:noFill/>
        </p:spPr>
        <p:txBody>
          <a:bodyPr wrap="square" lIns="0" rIns="0" tIns="0" bIns="0" anchor="ctr">
            <a:spAutoFit/>
          </a:bodyPr>
          <a:lstStyle/>
          <a:p>
            <a:pPr algn="l">
              <a:lnSpc>
                <a:spcPct val="125000"/>
              </a:lnSpc>
              <a:spcBef>
                <a:spcPts val="0"/>
              </a:spcBef>
              <a:spcAft>
                <a:spcPts val="0"/>
              </a:spcAft>
            </a:pPr>
            <a:r>
              <a:rPr sz="1150" b="0" i="0">
                <a:solidFill>
                  <a:srgbClr val="FFFFFF"/>
                </a:solidFill>
                <a:latin typeface="Quattrocento Sans"/>
                <a:ea typeface="Quattrocento Sans"/>
                <a:cs typeface="Quattrocento Sans"/>
              </a:rPr>
              <a:t>Publishing real numbers - including the failure - is what earns budget and trust for the next round.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8B0000"/>
              </a:gs>
              <a:gs pos="100000">
                <a:srgbClr val="63000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1645920" y="3474720"/>
            <a:ext cx="5120640" cy="5120640"/>
          </a:xfrm>
          <a:prstGeom prst="ellipse">
            <a:avLst/>
          </a:prstGeom>
          <a:solidFill>
            <a:srgbClr val="000000">
              <a:alpha val="2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9509760" y="-1463040"/>
            <a:ext cx="5120640" cy="5120640"/>
          </a:xfrm>
          <a:prstGeom prst="ellipse">
            <a:avLst/>
          </a:prstGeom>
          <a:solidFill>
            <a:srgbClr val="FFFFFF">
              <a:alpha val="2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952040" y="448056"/>
            <a:ext cx="173673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10070912" y="566928"/>
            <a:ext cx="1498991" cy="640080"/>
          </a:xfrm>
          <a:prstGeom prst="rect">
            <a:avLst/>
          </a:prstGeom>
        </p:spPr>
      </p:pic>
      <p:sp>
        <p:nvSpPr>
          <p:cNvPr id="7" name="Rectangle 6"/>
          <p:cNvSpPr/>
          <p:nvPr/>
        </p:nvSpPr>
        <p:spPr>
          <a:xfrm>
            <a:off x="5159037" y="2103120"/>
            <a:ext cx="1873621" cy="274320"/>
          </a:xfrm>
          <a:prstGeom prst="rect">
            <a:avLst/>
          </a:prstGeom>
          <a:solidFill>
            <a:srgbClr val="A8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50" b="0" i="0" spc="130">
                <a:solidFill>
                  <a:srgbClr val="FFFFFF"/>
                </a:solidFill>
                <a:latin typeface="Quattrocento Sans"/>
                <a:ea typeface="Quattrocento Sans"/>
                <a:cs typeface="Quattrocento Sans"/>
              </a:rPr>
              <a:t>THE CLOSING THOUGHT</a:t>
            </a:r>
          </a:p>
        </p:txBody>
      </p:sp>
      <p:sp>
        <p:nvSpPr>
          <p:cNvPr id="8" name="TextBox 7"/>
          <p:cNvSpPr txBox="1"/>
          <p:nvPr/>
        </p:nvSpPr>
        <p:spPr>
          <a:xfrm>
            <a:off x="1554480" y="3056823"/>
            <a:ext cx="9082735" cy="1475872"/>
          </a:xfrm>
          <a:prstGeom prst="rect">
            <a:avLst/>
          </a:prstGeom>
          <a:noFill/>
        </p:spPr>
        <p:txBody>
          <a:bodyPr wrap="square" lIns="0" rIns="0" tIns="0" bIns="0" anchor="t">
            <a:spAutoFit/>
          </a:bodyPr>
          <a:lstStyle/>
          <a:p>
            <a:pPr algn="ctr">
              <a:lnSpc>
                <a:spcPct val="118000"/>
              </a:lnSpc>
              <a:spcBef>
                <a:spcPts val="0"/>
              </a:spcBef>
              <a:spcAft>
                <a:spcPts val="0"/>
              </a:spcAft>
            </a:pPr>
            <a:r>
              <a:rPr sz="3000" b="0" i="0">
                <a:solidFill>
                  <a:srgbClr val="FFFFFF"/>
                </a:solidFill>
                <a:latin typeface="Sorts Mill Goudy"/>
                <a:ea typeface="Sorts Mill Goudy"/>
                <a:cs typeface="Sorts Mill Goudy"/>
              </a:rPr>
              <a:t>Strategy is not choosing a model. It is choosing which work to redesign.</a:t>
            </a:r>
          </a:p>
        </p:txBody>
      </p:sp>
      <p:sp>
        <p:nvSpPr>
          <p:cNvPr id="9" name="Rectangle 8"/>
          <p:cNvSpPr/>
          <p:nvPr/>
        </p:nvSpPr>
        <p:spPr>
          <a:xfrm>
            <a:off x="5711799" y="4882896"/>
            <a:ext cx="768096" cy="17780"/>
          </a:xfrm>
          <a:prstGeom prst="rect">
            <a:avLst/>
          </a:prstGeom>
          <a:solidFill>
            <a:srgbClr val="E3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03120" y="5138928"/>
            <a:ext cx="7985455" cy="548640"/>
          </a:xfrm>
          <a:prstGeom prst="rect">
            <a:avLst/>
          </a:prstGeom>
          <a:noFill/>
        </p:spPr>
        <p:txBody>
          <a:bodyPr wrap="square" lIns="0" rIns="0" tIns="0" bIns="0" anchor="t">
            <a:spAutoFit/>
          </a:bodyPr>
          <a:lstStyle/>
          <a:p>
            <a:pPr algn="ctr">
              <a:lnSpc>
                <a:spcPct val="134000"/>
              </a:lnSpc>
              <a:spcBef>
                <a:spcPts val="0"/>
              </a:spcBef>
              <a:spcAft>
                <a:spcPts val="0"/>
              </a:spcAft>
            </a:pPr>
            <a:r>
              <a:rPr sz="1150" b="0" i="0">
                <a:solidFill>
                  <a:srgbClr val="F2D9D9"/>
                </a:solidFill>
                <a:latin typeface="Quattrocento Sans"/>
                <a:ea typeface="Quattrocento Sans"/>
                <a:cs typeface="Quattrocento Sans"/>
              </a:rPr>
              <a:t>The tools are available to everyone. What you do with them is not.</a:t>
            </a:r>
          </a:p>
        </p:txBody>
      </p:sp>
      <p:sp>
        <p:nvSpPr>
          <p:cNvPr id="11" name="TextBox 10"/>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E3B4B4"/>
                </a:solidFill>
                <a:latin typeface="Quattrocento Sans"/>
                <a:ea typeface="Quattrocento Sans"/>
                <a:cs typeface="Quattrocento Sans"/>
              </a:rPr>
              <a:t>Lingesh K  ·  Register No. OSI2509030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6345936"/>
            <a:ext cx="4572000" cy="201168"/>
          </a:xfrm>
          <a:prstGeom prst="rect">
            <a:avLst/>
          </a:prstGeom>
          <a:noFill/>
        </p:spPr>
        <p:txBody>
          <a:bodyPr wrap="square" lIns="0" rIns="0" tIns="0" bIns="0" anchor="t">
            <a:spAutoFit/>
          </a:bodyPr>
          <a:lstStyle/>
          <a:p>
            <a:pPr algn="l">
              <a:lnSpc>
                <a:spcPct val="110000"/>
              </a:lnSpc>
              <a:spcBef>
                <a:spcPts val="0"/>
              </a:spcBef>
              <a:spcAft>
                <a:spcPts val="0"/>
              </a:spcAft>
            </a:pPr>
            <a:r>
              <a:rPr sz="750" b="0" i="0">
                <a:solidFill>
                  <a:srgbClr val="9CA3AF"/>
                </a:solidFill>
                <a:latin typeface="Quattrocento Sans"/>
                <a:ea typeface="Quattrocento Sans"/>
                <a:cs typeface="Quattrocento Sans"/>
              </a:rPr>
              <a:t>Lingesh K  ·  Register No. OSI2509030</a:t>
            </a:r>
          </a:p>
        </p:txBody>
      </p:sp>
      <p:sp>
        <p:nvSpPr>
          <p:cNvPr id="4" name="TextBox 3"/>
          <p:cNvSpPr txBox="1"/>
          <p:nvPr/>
        </p:nvSpPr>
        <p:spPr>
          <a:xfrm>
            <a:off x="8881567" y="6345936"/>
            <a:ext cx="2743200" cy="201168"/>
          </a:xfrm>
          <a:prstGeom prst="rect">
            <a:avLst/>
          </a:prstGeom>
          <a:noFill/>
        </p:spPr>
        <p:txBody>
          <a:bodyPr wrap="square" lIns="0" rIns="0" tIns="0" bIns="0" anchor="t">
            <a:spAutoFit/>
          </a:bodyPr>
          <a:lstStyle/>
          <a:p>
            <a:pPr algn="r">
              <a:lnSpc>
                <a:spcPct val="110000"/>
              </a:lnSpc>
              <a:spcBef>
                <a:spcPts val="0"/>
              </a:spcBef>
              <a:spcAft>
                <a:spcPts val="0"/>
              </a:spcAft>
            </a:pPr>
            <a:r>
              <a:rPr sz="850" b="0" i="0">
                <a:solidFill>
                  <a:srgbClr val="8B0000"/>
                </a:solidFill>
                <a:latin typeface="Sorts Mill Goudy"/>
                <a:ea typeface="Sorts Mill Goudy"/>
                <a:cs typeface="Sorts Mill Goudy"/>
              </a:rPr>
              <a:t>22</a:t>
            </a:r>
          </a:p>
        </p:txBody>
      </p:sp>
      <p:pic>
        <p:nvPicPr>
          <p:cNvPr id="5" name="college-logo" descr="logo-full.png"/>
          <p:cNvPicPr>
            <a:picLocks noChangeAspect="1"/>
          </p:cNvPicPr>
          <p:nvPr/>
        </p:nvPicPr>
        <p:blipFill>
          <a:blip r:embed="rId2"/>
          <a:stretch>
            <a:fillRect/>
          </a:stretch>
        </p:blipFill>
        <p:spPr>
          <a:xfrm>
            <a:off x="10639716" y="365760"/>
            <a:ext cx="985051" cy="420624"/>
          </a:xfrm>
          <a:prstGeom prst="rect">
            <a:avLst/>
          </a:prstGeom>
        </p:spPr>
      </p:pic>
      <p:sp>
        <p:nvSpPr>
          <p:cNvPr id="6" name="Rectangle 5"/>
          <p:cNvSpPr/>
          <p:nvPr/>
        </p:nvSpPr>
        <p:spPr>
          <a:xfrm>
            <a:off x="566928" y="502920"/>
            <a:ext cx="310896" cy="310896"/>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522579"/>
            <a:ext cx="310896" cy="310896"/>
          </a:xfrm>
          <a:prstGeom prst="rect">
            <a:avLst/>
          </a:prstGeom>
          <a:noFill/>
        </p:spPr>
        <p:txBody>
          <a:bodyPr wrap="square" lIns="0" rIns="0" tIns="0" bIns="0" anchor="t">
            <a:spAutoFit/>
          </a:bodyPr>
          <a:lstStyle/>
          <a:p>
            <a:pPr algn="ctr">
              <a:lnSpc>
                <a:spcPct val="100000"/>
              </a:lnSpc>
              <a:spcBef>
                <a:spcPts val="0"/>
              </a:spcBef>
              <a:spcAft>
                <a:spcPts val="0"/>
              </a:spcAft>
            </a:pPr>
            <a:r>
              <a:rPr sz="1350" b="0" i="0">
                <a:solidFill>
                  <a:srgbClr val="FFFFFF"/>
                </a:solidFill>
                <a:latin typeface="Sorts Mill Goudy"/>
                <a:ea typeface="Sorts Mill Goudy"/>
                <a:cs typeface="Sorts Mill Goudy"/>
              </a:rPr>
              <a:t>16</a:t>
            </a:r>
          </a:p>
        </p:txBody>
      </p:sp>
      <p:sp>
        <p:nvSpPr>
          <p:cNvPr id="8" name="TextBox 7"/>
          <p:cNvSpPr txBox="1"/>
          <p:nvPr/>
        </p:nvSpPr>
        <p:spPr>
          <a:xfrm>
            <a:off x="1024128" y="475488"/>
            <a:ext cx="9183319" cy="182880"/>
          </a:xfrm>
          <a:prstGeom prst="rect">
            <a:avLst/>
          </a:prstGeom>
          <a:noFill/>
        </p:spPr>
        <p:txBody>
          <a:bodyPr wrap="square" lIns="0" rIns="0" tIns="0" bIns="0" anchor="t">
            <a:spAutoFit/>
          </a:bodyPr>
          <a:lstStyle/>
          <a:p>
            <a:pPr algn="l">
              <a:lnSpc>
                <a:spcPct val="100000"/>
              </a:lnSpc>
              <a:spcBef>
                <a:spcPts val="0"/>
              </a:spcBef>
              <a:spcAft>
                <a:spcPts val="0"/>
              </a:spcAft>
            </a:pPr>
            <a:r>
              <a:rPr sz="800" b="0" i="0" spc="130">
                <a:solidFill>
                  <a:srgbClr val="6B7280"/>
                </a:solidFill>
                <a:latin typeface="Quattrocento Sans"/>
                <a:ea typeface="Quattrocento Sans"/>
                <a:cs typeface="Quattrocento Sans"/>
              </a:rPr>
              <a:t>RECAP</a:t>
            </a:r>
          </a:p>
        </p:txBody>
      </p:sp>
      <p:sp>
        <p:nvSpPr>
          <p:cNvPr id="9" name="TextBox 8"/>
          <p:cNvSpPr txBox="1"/>
          <p:nvPr/>
        </p:nvSpPr>
        <p:spPr>
          <a:xfrm>
            <a:off x="1024128" y="658368"/>
            <a:ext cx="9183319" cy="566293"/>
          </a:xfrm>
          <a:prstGeom prst="rect">
            <a:avLst/>
          </a:prstGeom>
          <a:noFill/>
        </p:spPr>
        <p:txBody>
          <a:bodyPr wrap="square" lIns="0" rIns="0" tIns="0" bIns="0" anchor="t">
            <a:spAutoFit/>
          </a:bodyPr>
          <a:lstStyle/>
          <a:p>
            <a:pPr algn="l">
              <a:lnSpc>
                <a:spcPct val="100000"/>
              </a:lnSpc>
              <a:spcBef>
                <a:spcPts val="0"/>
              </a:spcBef>
              <a:spcAft>
                <a:spcPts val="0"/>
              </a:spcAft>
            </a:pPr>
            <a:r>
              <a:rPr sz="2500" b="0" i="0">
                <a:solidFill>
                  <a:srgbClr val="1F2937"/>
                </a:solidFill>
                <a:latin typeface="Sorts Mill Goudy"/>
                <a:ea typeface="Sorts Mill Goudy"/>
                <a:cs typeface="Sorts Mill Goudy"/>
              </a:rPr>
              <a:t>Key takeaways</a:t>
            </a:r>
          </a:p>
        </p:txBody>
      </p:sp>
      <p:sp>
        <p:nvSpPr>
          <p:cNvPr id="10" name="Rectangle 9"/>
          <p:cNvSpPr/>
          <p:nvPr/>
        </p:nvSpPr>
        <p:spPr>
          <a:xfrm>
            <a:off x="566928" y="1242948"/>
            <a:ext cx="11057839" cy="1587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389252"/>
            <a:ext cx="9067428" cy="283517"/>
          </a:xfrm>
          <a:prstGeom prst="rect">
            <a:avLst/>
          </a:prstGeom>
          <a:noFill/>
        </p:spPr>
        <p:txBody>
          <a:bodyPr wrap="square" lIns="0" rIns="0" tIns="0" bIns="0" anchor="t">
            <a:spAutoFit/>
          </a:bodyPr>
          <a:lstStyle/>
          <a:p>
            <a:pPr algn="l">
              <a:lnSpc>
                <a:spcPct val="130000"/>
              </a:lnSpc>
              <a:spcBef>
                <a:spcPts val="0"/>
              </a:spcBef>
              <a:spcAft>
                <a:spcPts val="0"/>
              </a:spcAft>
            </a:pPr>
            <a:r>
              <a:rPr sz="1050" b="0" i="0">
                <a:solidFill>
                  <a:srgbClr val="6B7280"/>
                </a:solidFill>
                <a:latin typeface="Quattrocento Sans"/>
                <a:ea typeface="Quattrocento Sans"/>
                <a:cs typeface="Quattrocento Sans"/>
              </a:rPr>
              <a:t>Unit 5 in six lines.</a:t>
            </a:r>
          </a:p>
        </p:txBody>
      </p:sp>
      <p:sp>
        <p:nvSpPr>
          <p:cNvPr id="12" name="Rectangle 11"/>
          <p:cNvSpPr/>
          <p:nvPr/>
        </p:nvSpPr>
        <p:spPr>
          <a:xfrm>
            <a:off x="566928" y="1764210"/>
            <a:ext cx="19050" cy="4325693"/>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1247" y="1800786"/>
            <a:ext cx="5263743" cy="1307785"/>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41247" y="1800786"/>
            <a:ext cx="20320" cy="130778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78992" y="2308375"/>
            <a:ext cx="292608" cy="29260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78992" y="2333978"/>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200" b="0" i="0">
                <a:solidFill>
                  <a:srgbClr val="FFFFFF"/>
                </a:solidFill>
                <a:latin typeface="Sorts Mill Goudy"/>
                <a:ea typeface="Sorts Mill Goudy"/>
                <a:cs typeface="Sorts Mill Goudy"/>
              </a:rPr>
              <a:t>1</a:t>
            </a:r>
          </a:p>
        </p:txBody>
      </p:sp>
      <p:sp>
        <p:nvSpPr>
          <p:cNvPr id="17" name="TextBox 16"/>
          <p:cNvSpPr txBox="1"/>
          <p:nvPr/>
        </p:nvSpPr>
        <p:spPr>
          <a:xfrm>
            <a:off x="1517904" y="2245749"/>
            <a:ext cx="4294479" cy="509300"/>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Gen AI made content cheap and judgement valuable</a:t>
            </a:r>
          </a:p>
          <a:p>
            <a:pPr algn="l">
              <a:lnSpc>
                <a:spcPct val="132000"/>
              </a:lnSpc>
              <a:spcBef>
                <a:spcPts val="200"/>
              </a:spcBef>
              <a:spcAft>
                <a:spcPts val="0"/>
              </a:spcAft>
            </a:pPr>
            <a:r>
              <a:rPr sz="980" b="0" i="0">
                <a:solidFill>
                  <a:srgbClr val="6B7280"/>
                </a:solidFill>
                <a:latin typeface="Quattrocento Sans"/>
                <a:ea typeface="Quattrocento Sans"/>
                <a:cs typeface="Quattrocento Sans"/>
              </a:rPr>
              <a:t>The bottleneck moved from producing to deciding.</a:t>
            </a:r>
          </a:p>
        </p:txBody>
      </p:sp>
      <p:sp>
        <p:nvSpPr>
          <p:cNvPr id="18" name="Rectangle 17"/>
          <p:cNvSpPr/>
          <p:nvPr/>
        </p:nvSpPr>
        <p:spPr>
          <a:xfrm>
            <a:off x="841247" y="3291452"/>
            <a:ext cx="5263743" cy="1307785"/>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41247" y="3291452"/>
            <a:ext cx="20320" cy="1307785"/>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8992" y="3799041"/>
            <a:ext cx="292608" cy="29260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78992" y="3824644"/>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200" b="0" i="0">
                <a:solidFill>
                  <a:srgbClr val="FFFFFF"/>
                </a:solidFill>
                <a:latin typeface="Sorts Mill Goudy"/>
                <a:ea typeface="Sorts Mill Goudy"/>
                <a:cs typeface="Sorts Mill Goudy"/>
              </a:rPr>
              <a:t>2</a:t>
            </a:r>
          </a:p>
        </p:txBody>
      </p:sp>
      <p:sp>
        <p:nvSpPr>
          <p:cNvPr id="22" name="TextBox 21"/>
          <p:cNvSpPr txBox="1"/>
          <p:nvPr/>
        </p:nvSpPr>
        <p:spPr>
          <a:xfrm>
            <a:off x="1517904" y="3736415"/>
            <a:ext cx="4294479" cy="509300"/>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The model is not the moat</a:t>
            </a:r>
          </a:p>
          <a:p>
            <a:pPr algn="l">
              <a:lnSpc>
                <a:spcPct val="132000"/>
              </a:lnSpc>
              <a:spcBef>
                <a:spcPts val="200"/>
              </a:spcBef>
              <a:spcAft>
                <a:spcPts val="0"/>
              </a:spcAft>
            </a:pPr>
            <a:r>
              <a:rPr sz="980" b="0" i="0">
                <a:solidFill>
                  <a:srgbClr val="6B7280"/>
                </a:solidFill>
                <a:latin typeface="Quattrocento Sans"/>
                <a:ea typeface="Quattrocento Sans"/>
                <a:cs typeface="Quattrocento Sans"/>
              </a:rPr>
              <a:t>Your data, workflow, people and trust are.</a:t>
            </a:r>
          </a:p>
        </p:txBody>
      </p:sp>
      <p:sp>
        <p:nvSpPr>
          <p:cNvPr id="23" name="Rectangle 22"/>
          <p:cNvSpPr/>
          <p:nvPr/>
        </p:nvSpPr>
        <p:spPr>
          <a:xfrm>
            <a:off x="841247" y="4782118"/>
            <a:ext cx="5263743" cy="1307785"/>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41247" y="4782118"/>
            <a:ext cx="20320" cy="130778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78992" y="5289707"/>
            <a:ext cx="292608" cy="29260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78992" y="5315310"/>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200" b="0" i="0">
                <a:solidFill>
                  <a:srgbClr val="FFFFFF"/>
                </a:solidFill>
                <a:latin typeface="Sorts Mill Goudy"/>
                <a:ea typeface="Sorts Mill Goudy"/>
                <a:cs typeface="Sorts Mill Goudy"/>
              </a:rPr>
              <a:t>3</a:t>
            </a:r>
          </a:p>
        </p:txBody>
      </p:sp>
      <p:sp>
        <p:nvSpPr>
          <p:cNvPr id="27" name="TextBox 26"/>
          <p:cNvSpPr txBox="1"/>
          <p:nvPr/>
        </p:nvSpPr>
        <p:spPr>
          <a:xfrm>
            <a:off x="1517904" y="5227081"/>
            <a:ext cx="4294479" cy="509300"/>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Adopt, embed, transform - run all three</a:t>
            </a:r>
          </a:p>
          <a:p>
            <a:pPr algn="l">
              <a:lnSpc>
                <a:spcPct val="132000"/>
              </a:lnSpc>
              <a:spcBef>
                <a:spcPts val="200"/>
              </a:spcBef>
              <a:spcAft>
                <a:spcPts val="0"/>
              </a:spcAft>
            </a:pPr>
            <a:r>
              <a:rPr sz="980" b="0" i="0">
                <a:solidFill>
                  <a:srgbClr val="6B7280"/>
                </a:solidFill>
                <a:latin typeface="Quattrocento Sans"/>
                <a:ea typeface="Quattrocento Sans"/>
                <a:cs typeface="Quattrocento Sans"/>
              </a:rPr>
              <a:t>Different speeds, different levels of risk.</a:t>
            </a:r>
          </a:p>
        </p:txBody>
      </p:sp>
      <p:sp>
        <p:nvSpPr>
          <p:cNvPr id="28" name="Rectangle 27"/>
          <p:cNvSpPr/>
          <p:nvPr/>
        </p:nvSpPr>
        <p:spPr>
          <a:xfrm>
            <a:off x="6361023" y="1800786"/>
            <a:ext cx="5263743" cy="1307785"/>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361023" y="1800786"/>
            <a:ext cx="20320" cy="1307785"/>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8767" y="2308375"/>
            <a:ext cx="292608" cy="29260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8767" y="2333978"/>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200" b="0" i="0">
                <a:solidFill>
                  <a:srgbClr val="FFFFFF"/>
                </a:solidFill>
                <a:latin typeface="Sorts Mill Goudy"/>
                <a:ea typeface="Sorts Mill Goudy"/>
                <a:cs typeface="Sorts Mill Goudy"/>
              </a:rPr>
              <a:t>4</a:t>
            </a:r>
          </a:p>
        </p:txBody>
      </p:sp>
      <p:sp>
        <p:nvSpPr>
          <p:cNvPr id="32" name="TextBox 31"/>
          <p:cNvSpPr txBox="1"/>
          <p:nvPr/>
        </p:nvSpPr>
        <p:spPr>
          <a:xfrm>
            <a:off x="7037679" y="2245749"/>
            <a:ext cx="4294479" cy="509300"/>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Start from a problem with a number in it</a:t>
            </a:r>
          </a:p>
          <a:p>
            <a:pPr algn="l">
              <a:lnSpc>
                <a:spcPct val="132000"/>
              </a:lnSpc>
              <a:spcBef>
                <a:spcPts val="200"/>
              </a:spcBef>
              <a:spcAft>
                <a:spcPts val="0"/>
              </a:spcAft>
            </a:pPr>
            <a:r>
              <a:rPr sz="980" b="0" i="0">
                <a:solidFill>
                  <a:srgbClr val="6B7280"/>
                </a:solidFill>
                <a:latin typeface="Quattrocento Sans"/>
                <a:ea typeface="Quattrocento Sans"/>
                <a:cs typeface="Quattrocento Sans"/>
              </a:rPr>
              <a:t>Frame it, prototype in weeks, measure against a baseline.</a:t>
            </a:r>
          </a:p>
        </p:txBody>
      </p:sp>
      <p:sp>
        <p:nvSpPr>
          <p:cNvPr id="33" name="Rectangle 32"/>
          <p:cNvSpPr/>
          <p:nvPr/>
        </p:nvSpPr>
        <p:spPr>
          <a:xfrm>
            <a:off x="6361023" y="3291452"/>
            <a:ext cx="5263743" cy="1307785"/>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361023" y="3291452"/>
            <a:ext cx="20320" cy="1307785"/>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98767" y="3799041"/>
            <a:ext cx="292608" cy="29260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8767" y="3824644"/>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200" b="0" i="0">
                <a:solidFill>
                  <a:srgbClr val="FFFFFF"/>
                </a:solidFill>
                <a:latin typeface="Sorts Mill Goudy"/>
                <a:ea typeface="Sorts Mill Goudy"/>
                <a:cs typeface="Sorts Mill Goudy"/>
              </a:rPr>
              <a:t>5</a:t>
            </a:r>
          </a:p>
        </p:txBody>
      </p:sp>
      <p:sp>
        <p:nvSpPr>
          <p:cNvPr id="37" name="TextBox 36"/>
          <p:cNvSpPr txBox="1"/>
          <p:nvPr/>
        </p:nvSpPr>
        <p:spPr>
          <a:xfrm>
            <a:off x="7037679" y="3736415"/>
            <a:ext cx="4294479" cy="509300"/>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Most failures are management failures</a:t>
            </a:r>
          </a:p>
          <a:p>
            <a:pPr algn="l">
              <a:lnSpc>
                <a:spcPct val="132000"/>
              </a:lnSpc>
              <a:spcBef>
                <a:spcPts val="200"/>
              </a:spcBef>
              <a:spcAft>
                <a:spcPts val="0"/>
              </a:spcAft>
            </a:pPr>
            <a:r>
              <a:rPr sz="980" b="0" i="0">
                <a:solidFill>
                  <a:srgbClr val="6B7280"/>
                </a:solidFill>
                <a:latin typeface="Quattrocento Sans"/>
                <a:ea typeface="Quattrocento Sans"/>
                <a:cs typeface="Quattrocento Sans"/>
              </a:rPr>
              <a:t>No owner, no adoption, no decision date.</a:t>
            </a:r>
          </a:p>
        </p:txBody>
      </p:sp>
      <p:sp>
        <p:nvSpPr>
          <p:cNvPr id="38" name="Rectangle 37"/>
          <p:cNvSpPr/>
          <p:nvPr/>
        </p:nvSpPr>
        <p:spPr>
          <a:xfrm>
            <a:off x="6361023" y="4782118"/>
            <a:ext cx="5263743" cy="1307785"/>
          </a:xfrm>
          <a:prstGeom prst="rect">
            <a:avLst/>
          </a:prstGeom>
          <a:solidFill>
            <a:srgbClr val="F9FAF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6361023" y="4782118"/>
            <a:ext cx="20320" cy="1307785"/>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98767" y="5289707"/>
            <a:ext cx="292608" cy="29260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98767" y="5315310"/>
            <a:ext cx="292608" cy="292608"/>
          </a:xfrm>
          <a:prstGeom prst="rect">
            <a:avLst/>
          </a:prstGeom>
          <a:noFill/>
        </p:spPr>
        <p:txBody>
          <a:bodyPr wrap="square" lIns="0" rIns="0" tIns="0" bIns="0" anchor="t">
            <a:spAutoFit/>
          </a:bodyPr>
          <a:lstStyle/>
          <a:p>
            <a:pPr algn="ctr">
              <a:lnSpc>
                <a:spcPct val="100000"/>
              </a:lnSpc>
              <a:spcBef>
                <a:spcPts val="0"/>
              </a:spcBef>
              <a:spcAft>
                <a:spcPts val="0"/>
              </a:spcAft>
            </a:pPr>
            <a:r>
              <a:rPr sz="1200" b="0" i="0">
                <a:solidFill>
                  <a:srgbClr val="FFFFFF"/>
                </a:solidFill>
                <a:latin typeface="Sorts Mill Goudy"/>
                <a:ea typeface="Sorts Mill Goudy"/>
                <a:cs typeface="Sorts Mill Goudy"/>
              </a:rPr>
              <a:t>6</a:t>
            </a:r>
          </a:p>
        </p:txBody>
      </p:sp>
      <p:sp>
        <p:nvSpPr>
          <p:cNvPr id="42" name="TextBox 41"/>
          <p:cNvSpPr txBox="1"/>
          <p:nvPr/>
        </p:nvSpPr>
        <p:spPr>
          <a:xfrm>
            <a:off x="7037679" y="5227081"/>
            <a:ext cx="4294479" cy="509300"/>
          </a:xfrm>
          <a:prstGeom prst="rect">
            <a:avLst/>
          </a:prstGeom>
          <a:noFill/>
        </p:spPr>
        <p:txBody>
          <a:bodyPr wrap="square" lIns="0" rIns="0" tIns="0" bIns="0" anchor="t">
            <a:spAutoFit/>
          </a:bodyPr>
          <a:lstStyle/>
          <a:p>
            <a:pPr algn="l">
              <a:lnSpc>
                <a:spcPct val="118000"/>
              </a:lnSpc>
              <a:spcBef>
                <a:spcPts val="0"/>
              </a:spcBef>
              <a:spcAft>
                <a:spcPts val="0"/>
              </a:spcAft>
            </a:pPr>
            <a:r>
              <a:rPr sz="1200" b="1" i="0">
                <a:solidFill>
                  <a:srgbClr val="1F2937"/>
                </a:solidFill>
                <a:latin typeface="Quattrocento Sans"/>
                <a:ea typeface="Quattrocento Sans"/>
                <a:cs typeface="Quattrocento Sans"/>
              </a:rPr>
              <a:t>The value is at levels four and five</a:t>
            </a:r>
          </a:p>
          <a:p>
            <a:pPr algn="l">
              <a:lnSpc>
                <a:spcPct val="132000"/>
              </a:lnSpc>
              <a:spcBef>
                <a:spcPts val="200"/>
              </a:spcBef>
              <a:spcAft>
                <a:spcPts val="0"/>
              </a:spcAft>
            </a:pPr>
            <a:r>
              <a:rPr sz="980" b="0" i="0">
                <a:solidFill>
                  <a:srgbClr val="6B7280"/>
                </a:solidFill>
                <a:latin typeface="Quattrocento Sans"/>
                <a:ea typeface="Quattrocento Sans"/>
                <a:cs typeface="Quattrocento Sans"/>
              </a:rPr>
              <a:t>Builders and multipliers, unlocked by permission as much as skill.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1F2937"/>
              </a:gs>
              <a:gs pos="100000">
                <a:srgbClr val="0F1722"/>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595360" y="-1463040"/>
            <a:ext cx="5486400" cy="5486400"/>
          </a:xfrm>
          <a:prstGeom prst="ellipse">
            <a:avLst/>
          </a:prstGeom>
          <a:solidFill>
            <a:srgbClr val="FFFFFF">
              <a:alpha val="24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424160" y="3474720"/>
            <a:ext cx="3657600" cy="3657600"/>
          </a:xfrm>
          <a:prstGeom prst="ellipse">
            <a:avLst/>
          </a:prstGeom>
          <a:solidFill>
            <a:srgbClr val="8B0000">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ogo-plate"/>
          <p:cNvSpPr/>
          <p:nvPr/>
        </p:nvSpPr>
        <p:spPr>
          <a:xfrm>
            <a:off x="9737898" y="448056"/>
            <a:ext cx="1950876" cy="9692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college-logo" descr="logo-full.png"/>
          <p:cNvPicPr>
            <a:picLocks noChangeAspect="1"/>
          </p:cNvPicPr>
          <p:nvPr/>
        </p:nvPicPr>
        <p:blipFill>
          <a:blip r:embed="rId2"/>
          <a:stretch>
            <a:fillRect/>
          </a:stretch>
        </p:blipFill>
        <p:spPr>
          <a:xfrm>
            <a:off x="9856770" y="566928"/>
            <a:ext cx="1713132" cy="731520"/>
          </a:xfrm>
          <a:prstGeom prst="rect">
            <a:avLst/>
          </a:prstGeom>
        </p:spPr>
      </p:pic>
      <p:sp>
        <p:nvSpPr>
          <p:cNvPr id="7" name="Rectangle 6"/>
          <p:cNvSpPr/>
          <p:nvPr/>
        </p:nvSpPr>
        <p:spPr>
          <a:xfrm>
            <a:off x="859536" y="1591056"/>
            <a:ext cx="1218048" cy="274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lnSpc>
                <a:spcPct val="100000"/>
              </a:lnSpc>
              <a:spcBef>
                <a:spcPts val="0"/>
              </a:spcBef>
              <a:spcAft>
                <a:spcPts val="0"/>
              </a:spcAft>
            </a:pPr>
            <a:r>
              <a:rPr sz="850" b="0" i="0" spc="130">
                <a:solidFill>
                  <a:srgbClr val="FFFFFF"/>
                </a:solidFill>
                <a:latin typeface="Quattrocento Sans"/>
                <a:ea typeface="Quattrocento Sans"/>
                <a:cs typeface="Quattrocento Sans"/>
              </a:rPr>
              <a:t>CONCLUSION</a:t>
            </a:r>
          </a:p>
        </p:txBody>
      </p:sp>
      <p:sp>
        <p:nvSpPr>
          <p:cNvPr id="8" name="TextBox 7"/>
          <p:cNvSpPr txBox="1"/>
          <p:nvPr/>
        </p:nvSpPr>
        <p:spPr>
          <a:xfrm>
            <a:off x="859536" y="2029968"/>
            <a:ext cx="7863840" cy="891418"/>
          </a:xfrm>
          <a:prstGeom prst="rect">
            <a:avLst/>
          </a:prstGeom>
          <a:noFill/>
        </p:spPr>
        <p:txBody>
          <a:bodyPr wrap="square" lIns="0" rIns="0" tIns="0" bIns="0" anchor="t">
            <a:spAutoFit/>
          </a:bodyPr>
          <a:lstStyle/>
          <a:p>
            <a:pPr algn="l">
              <a:lnSpc>
                <a:spcPct val="102000"/>
              </a:lnSpc>
              <a:spcBef>
                <a:spcPts val="0"/>
              </a:spcBef>
              <a:spcAft>
                <a:spcPts val="0"/>
              </a:spcAft>
            </a:pPr>
            <a:r>
              <a:rPr sz="4000" b="0" i="0">
                <a:solidFill>
                  <a:srgbClr val="FFFFFF"/>
                </a:solidFill>
                <a:latin typeface="Sorts Mill Goudy"/>
                <a:ea typeface="Sorts Mill Goudy"/>
                <a:cs typeface="Sorts Mill Goudy"/>
              </a:rPr>
              <a:t>Thank you</a:t>
            </a:r>
          </a:p>
        </p:txBody>
      </p:sp>
      <p:sp>
        <p:nvSpPr>
          <p:cNvPr id="9" name="Rectangle 8"/>
          <p:cNvSpPr/>
          <p:nvPr/>
        </p:nvSpPr>
        <p:spPr>
          <a:xfrm>
            <a:off x="859536" y="2994538"/>
            <a:ext cx="786384" cy="203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250570"/>
            <a:ext cx="7680960" cy="576910"/>
          </a:xfrm>
          <a:prstGeom prst="rect">
            <a:avLst/>
          </a:prstGeom>
          <a:noFill/>
        </p:spPr>
        <p:txBody>
          <a:bodyPr wrap="square" lIns="0" rIns="0" tIns="0" bIns="0" anchor="t">
            <a:spAutoFit/>
          </a:bodyPr>
          <a:lstStyle/>
          <a:p>
            <a:pPr algn="l">
              <a:lnSpc>
                <a:spcPct val="138000"/>
              </a:lnSpc>
              <a:spcBef>
                <a:spcPts val="0"/>
              </a:spcBef>
              <a:spcAft>
                <a:spcPts val="0"/>
              </a:spcAft>
            </a:pPr>
            <a:r>
              <a:rPr sz="1250" b="0" i="0">
                <a:solidFill>
                  <a:srgbClr val="C7CED8"/>
                </a:solidFill>
                <a:latin typeface="Quattrocento Sans"/>
                <a:ea typeface="Quattrocento Sans"/>
                <a:cs typeface="Quattrocento Sans"/>
              </a:rPr>
              <a:t>That completes the five units — from what AI is, through tools and applications, to governance, strategy and leadership.</a:t>
            </a:r>
          </a:p>
        </p:txBody>
      </p:sp>
      <p:sp>
        <p:nvSpPr>
          <p:cNvPr id="11" name="Rectangle 10"/>
          <p:cNvSpPr/>
          <p:nvPr/>
        </p:nvSpPr>
        <p:spPr>
          <a:xfrm>
            <a:off x="566928" y="4065224"/>
            <a:ext cx="3539642" cy="1188720"/>
          </a:xfrm>
          <a:prstGeom prst="rect">
            <a:avLst/>
          </a:prstGeom>
          <a:solidFill>
            <a:srgbClr val="2B35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66928" y="4065224"/>
            <a:ext cx="20320" cy="11887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248104"/>
            <a:ext cx="3119018"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i="0" spc="130">
                <a:solidFill>
                  <a:srgbClr val="8E99A8"/>
                </a:solidFill>
                <a:latin typeface="Quattrocento Sans"/>
                <a:ea typeface="Quattrocento Sans"/>
                <a:cs typeface="Quattrocento Sans"/>
              </a:rPr>
              <a:t>QUESTION 1</a:t>
            </a:r>
          </a:p>
        </p:txBody>
      </p:sp>
      <p:sp>
        <p:nvSpPr>
          <p:cNvPr id="14" name="TextBox 13"/>
          <p:cNvSpPr txBox="1"/>
          <p:nvPr/>
        </p:nvSpPr>
        <p:spPr>
          <a:xfrm>
            <a:off x="786384" y="4485848"/>
            <a:ext cx="3119018" cy="621792"/>
          </a:xfrm>
          <a:prstGeom prst="rect">
            <a:avLst/>
          </a:prstGeom>
          <a:noFill/>
        </p:spPr>
        <p:txBody>
          <a:bodyPr wrap="square" lIns="0" rIns="0" tIns="0" bIns="0" anchor="t">
            <a:spAutoFit/>
          </a:bodyPr>
          <a:lstStyle/>
          <a:p>
            <a:pPr algn="l">
              <a:lnSpc>
                <a:spcPct val="132000"/>
              </a:lnSpc>
              <a:spcBef>
                <a:spcPts val="0"/>
              </a:spcBef>
              <a:spcAft>
                <a:spcPts val="0"/>
              </a:spcAft>
            </a:pPr>
            <a:r>
              <a:rPr sz="1000" b="0" i="0">
                <a:solidFill>
                  <a:srgbClr val="D8DEE6"/>
                </a:solidFill>
                <a:latin typeface="Quattrocento Sans"/>
                <a:ea typeface="Quattrocento Sans"/>
                <a:cs typeface="Quattrocento Sans"/>
              </a:rPr>
              <a:t>Which one workflow would you redesign first, and why that one?</a:t>
            </a:r>
          </a:p>
        </p:txBody>
      </p:sp>
      <p:sp>
        <p:nvSpPr>
          <p:cNvPr id="15" name="Rectangle 14"/>
          <p:cNvSpPr/>
          <p:nvPr/>
        </p:nvSpPr>
        <p:spPr>
          <a:xfrm>
            <a:off x="4326026" y="4065224"/>
            <a:ext cx="3539642" cy="1188720"/>
          </a:xfrm>
          <a:prstGeom prst="rect">
            <a:avLst/>
          </a:prstGeom>
          <a:solidFill>
            <a:srgbClr val="2B35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326026" y="4065224"/>
            <a:ext cx="20320" cy="11887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5482" y="4248104"/>
            <a:ext cx="3119018"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i="0" spc="130">
                <a:solidFill>
                  <a:srgbClr val="8E99A8"/>
                </a:solidFill>
                <a:latin typeface="Quattrocento Sans"/>
                <a:ea typeface="Quattrocento Sans"/>
                <a:cs typeface="Quattrocento Sans"/>
              </a:rPr>
              <a:t>QUESTION 2</a:t>
            </a:r>
          </a:p>
        </p:txBody>
      </p:sp>
      <p:sp>
        <p:nvSpPr>
          <p:cNvPr id="18" name="TextBox 17"/>
          <p:cNvSpPr txBox="1"/>
          <p:nvPr/>
        </p:nvSpPr>
        <p:spPr>
          <a:xfrm>
            <a:off x="4545482" y="4485848"/>
            <a:ext cx="3119018" cy="621792"/>
          </a:xfrm>
          <a:prstGeom prst="rect">
            <a:avLst/>
          </a:prstGeom>
          <a:noFill/>
        </p:spPr>
        <p:txBody>
          <a:bodyPr wrap="square" lIns="0" rIns="0" tIns="0" bIns="0" anchor="t">
            <a:spAutoFit/>
          </a:bodyPr>
          <a:lstStyle/>
          <a:p>
            <a:pPr algn="l">
              <a:lnSpc>
                <a:spcPct val="132000"/>
              </a:lnSpc>
              <a:spcBef>
                <a:spcPts val="0"/>
              </a:spcBef>
              <a:spcAft>
                <a:spcPts val="0"/>
              </a:spcAft>
            </a:pPr>
            <a:r>
              <a:rPr sz="1000" b="0" i="0">
                <a:solidFill>
                  <a:srgbClr val="D8DEE6"/>
                </a:solidFill>
                <a:latin typeface="Quattrocento Sans"/>
                <a:ea typeface="Quattrocento Sans"/>
                <a:cs typeface="Quattrocento Sans"/>
              </a:rPr>
              <a:t>What level are you on the ladder today, and what is your next step?</a:t>
            </a:r>
          </a:p>
        </p:txBody>
      </p:sp>
      <p:sp>
        <p:nvSpPr>
          <p:cNvPr id="19" name="Rectangle 18"/>
          <p:cNvSpPr/>
          <p:nvPr/>
        </p:nvSpPr>
        <p:spPr>
          <a:xfrm>
            <a:off x="8085124" y="4065224"/>
            <a:ext cx="3539642" cy="1188720"/>
          </a:xfrm>
          <a:prstGeom prst="rect">
            <a:avLst/>
          </a:prstGeom>
          <a:solidFill>
            <a:srgbClr val="2B35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85124" y="4065224"/>
            <a:ext cx="20320" cy="118872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4580" y="4248104"/>
            <a:ext cx="3119018"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i="0" spc="130">
                <a:solidFill>
                  <a:srgbClr val="8E99A8"/>
                </a:solidFill>
                <a:latin typeface="Quattrocento Sans"/>
                <a:ea typeface="Quattrocento Sans"/>
                <a:cs typeface="Quattrocento Sans"/>
              </a:rPr>
              <a:t>QUESTION 3</a:t>
            </a:r>
          </a:p>
        </p:txBody>
      </p:sp>
      <p:sp>
        <p:nvSpPr>
          <p:cNvPr id="22" name="TextBox 21"/>
          <p:cNvSpPr txBox="1"/>
          <p:nvPr/>
        </p:nvSpPr>
        <p:spPr>
          <a:xfrm>
            <a:off x="8304580" y="4485848"/>
            <a:ext cx="3119018" cy="621792"/>
          </a:xfrm>
          <a:prstGeom prst="rect">
            <a:avLst/>
          </a:prstGeom>
          <a:noFill/>
        </p:spPr>
        <p:txBody>
          <a:bodyPr wrap="square" lIns="0" rIns="0" tIns="0" bIns="0" anchor="t">
            <a:spAutoFit/>
          </a:bodyPr>
          <a:lstStyle/>
          <a:p>
            <a:pPr algn="l">
              <a:lnSpc>
                <a:spcPct val="132000"/>
              </a:lnSpc>
              <a:spcBef>
                <a:spcPts val="0"/>
              </a:spcBef>
              <a:spcAft>
                <a:spcPts val="0"/>
              </a:spcAft>
            </a:pPr>
            <a:r>
              <a:rPr sz="1000" b="0" i="0">
                <a:solidFill>
                  <a:srgbClr val="D8DEE6"/>
                </a:solidFill>
                <a:latin typeface="Quattrocento Sans"/>
                <a:ea typeface="Quattrocento Sans"/>
                <a:cs typeface="Quattrocento Sans"/>
              </a:rPr>
              <a:t>What will your organisation do with the time AI gives back?</a:t>
            </a:r>
          </a:p>
        </p:txBody>
      </p:sp>
      <p:sp>
        <p:nvSpPr>
          <p:cNvPr id="23" name="Rectangle 22"/>
          <p:cNvSpPr/>
          <p:nvPr/>
        </p:nvSpPr>
        <p:spPr>
          <a:xfrm>
            <a:off x="566928" y="5760720"/>
            <a:ext cx="11057839" cy="566928"/>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41247" y="5760720"/>
            <a:ext cx="10509199" cy="566928"/>
          </a:xfrm>
          <a:prstGeom prst="rect">
            <a:avLst/>
          </a:prstGeom>
          <a:noFill/>
        </p:spPr>
        <p:txBody>
          <a:bodyPr wrap="square" lIns="0" rIns="0" tIns="0" bIns="0" anchor="ctr">
            <a:spAutoFit/>
          </a:bodyPr>
          <a:lstStyle/>
          <a:p>
            <a:pPr algn="l">
              <a:lnSpc>
                <a:spcPct val="125000"/>
              </a:lnSpc>
              <a:spcBef>
                <a:spcPts val="0"/>
              </a:spcBef>
              <a:spcAft>
                <a:spcPts val="0"/>
              </a:spcAft>
            </a:pPr>
            <a:r>
              <a:rPr sz="800" b="0" i="0" spc="130" cap="all">
                <a:solidFill>
                  <a:srgbClr val="E3B4B4"/>
                </a:solidFill>
                <a:latin typeface="Quattrocento Sans"/>
                <a:ea typeface="Quattrocento Sans"/>
                <a:cs typeface="Quattrocento Sans"/>
              </a:rPr>
              <a:t>Presented by   </a:t>
            </a:r>
            <a:r>
              <a:rPr sz="1300" b="0" i="0">
                <a:solidFill>
                  <a:srgbClr val="FFFFFF"/>
                </a:solidFill>
                <a:latin typeface="Sorts Mill Goudy"/>
                <a:ea typeface="Sorts Mill Goudy"/>
                <a:cs typeface="Sorts Mill Goudy"/>
              </a:rPr>
              <a:t>Lingesh K</a:t>
            </a:r>
            <a:r>
              <a:rPr sz="800" b="0" i="0" spc="130" cap="all">
                <a:solidFill>
                  <a:srgbClr val="E3B4B4"/>
                </a:solidFill>
                <a:latin typeface="Quattrocento Sans"/>
                <a:ea typeface="Quattrocento Sans"/>
                <a:cs typeface="Quattrocento Sans"/>
              </a:rPr>
              <a:t>      Register No.   </a:t>
            </a:r>
            <a:r>
              <a:rPr sz="1300" b="0" i="0">
                <a:solidFill>
                  <a:srgbClr val="FFFFFF"/>
                </a:solidFill>
                <a:latin typeface="Sorts Mill Goudy"/>
                <a:ea typeface="Sorts Mill Goudy"/>
                <a:cs typeface="Sorts Mill Goudy"/>
              </a:rPr>
              <a:t>OSI2509030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Strategy, Innovation and Leadership</dc:title>
  <dc:subject>Artificial Intelligence &amp; Generative AI</dc:subject>
  <dc:creator>Lingesh K (OSI2509030)</dc:creator>
  <cp:keywords/>
  <dc:description>PGPM · Systems Specialisation · Unit 5 of 5</dc:description>
  <cp:lastModifiedBy>Steve Canny</cp:lastModifiedBy>
  <cp:revision>1</cp:revision>
  <dcterms:created xsi:type="dcterms:W3CDTF">2013-01-27T09:14:16Z</dcterms:created>
  <dcterms:modified xsi:type="dcterms:W3CDTF">2013-01-27T09:15:58Z</dcterms:modified>
  <cp:category/>
</cp:coreProperties>
</file>