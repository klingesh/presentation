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embeddedFontLst>
    <p:embeddedFont>
      <p:font typeface="Quattrocento Sans" charset="-122" pitchFamily="34"/>
      <p:regular r:id="rId32"/>
      <p:bold r:id="rId33"/>
      <p:italic r:id="rId34"/>
    </p:embeddedFont>
    <p:embeddedFont>
      <p:font typeface="Sorts Mill Goudy" charset="-122" pitchFamily="34"/>
      <p:regular r:id="rId35"/>
      <p: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show of hands: who knows roughly what they spent last week? Most will not. That is the whole reason for this session - not more income, just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which of the four is their own biggest leak. Almost everyone can name it instantly - which proves the problem is not knowledge, it is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percentages are a starting frame, not a law. If rent alone is 60%, the split shifts - but the habit of naming three buckets still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E1B1B"/>
              </a:gs>
              <a:gs pos="100000">
                <a:srgbClr val="5E0E0E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412480" y="-1737360"/>
            <a:ext cx="5852160" cy="5852160"/>
          </a:xfrm>
          <a:prstGeom prst="ellipse">
            <a:avLst/>
          </a:prstGeom>
          <a:solidFill>
            <a:srgbClr val="FFFFFF">
              <a:alpha val="3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FFFFFF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bleed"/>
          <p:cNvSpPr/>
          <p:nvPr/>
        </p:nvSpPr>
        <p:spPr>
          <a:xfrm>
            <a:off x="-1371600" y="4023360"/>
            <a:ext cx="4389120" cy="4389120"/>
          </a:xfrm>
          <a:prstGeom prst="ellipse">
            <a:avLst/>
          </a:prstGeom>
          <a:solidFill>
            <a:srgbClr val="000000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-plate"/>
          <p:cNvSpPr/>
          <p:nvPr/>
        </p:nvSpPr>
        <p:spPr>
          <a:xfrm>
            <a:off x="9695070" y="448056"/>
            <a:ext cx="1993704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942" y="566928"/>
            <a:ext cx="1755961" cy="749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" y="1517904"/>
            <a:ext cx="2597645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PERSONAL FINANCE 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03120"/>
            <a:ext cx="8549640" cy="16365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Budgeting and Savings Habits Among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49380"/>
            <a:ext cx="7955279" cy="659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Where student money quietly disappears, a simple way to plan it, and the small habits that make saving stick — with numbers you can try this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4747046"/>
            <a:ext cx="1606118" cy="292608"/>
          </a:xfrm>
          <a:prstGeom prst="rect">
            <a:avLst/>
          </a:prstGeom>
          <a:noFill/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WHERE MONEY GOES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526" y="4747046"/>
            <a:ext cx="1547296" cy="292608"/>
          </a:xfrm>
          <a:prstGeom prst="rect">
            <a:avLst/>
          </a:prstGeom>
          <a:noFill/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THE 50-30-20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0694" y="4747046"/>
            <a:ext cx="1383714" cy="292608"/>
          </a:xfrm>
          <a:prstGeom prst="rect">
            <a:avLst/>
          </a:prstGeom>
          <a:noFill/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SAVINGS LADDER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53281" y="4747046"/>
            <a:ext cx="1151175" cy="292608"/>
          </a:xfrm>
          <a:prstGeom prst="rect">
            <a:avLst/>
          </a:prstGeom>
          <a:noFill/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30-DAY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5376672"/>
            <a:ext cx="20320" cy="6583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4315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6509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Lingesh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1" y="5376672"/>
            <a:ext cx="20320" cy="6583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54315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REGISTER 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56509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OSI2509030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What we will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Half of this is understanding the problem. Half is a plan you can start on Monday.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99425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33920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262849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 student money reality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Why managing money feels harder than it looks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3140673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8044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104097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Budgeting vs saving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Two different habits, often confused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3981921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02169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945345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Where the money goes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four traps that catch almost everyone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7" y="4823169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86294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786593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 leak test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What a small daily spend really costs in a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9311" y="2299425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9311" y="233920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4799" y="2262849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 50-30-20 rule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One simple split anyone can remember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9311" y="3140673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9311" y="318044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3104097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Build your budget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Five steps, ten minutes, no app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9311" y="3981921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402169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4799" y="3945345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 savings ladder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Five levels from first ₹100 to real goals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9311" y="4823169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86294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4799" y="4786593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A 30-day starter plan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What to actually do over the next four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0C0C"/>
              </a:gs>
              <a:gs pos="100000">
                <a:srgbClr val="1C040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B886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521111"/>
                </a:solidFill>
                <a:latin typeface="Sorts Mill Goudy"/>
                <a:ea typeface="Sorts Mill Goudy"/>
                <a:cs typeface="Sorts Mill Goudy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10222" cy="274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The Student Money Reality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D6C4"/>
                </a:solidFill>
                <a:latin typeface="Quattrocento Sans"/>
                <a:ea typeface="Quattrocento Sans"/>
                <a:cs typeface="Quattrocento Sans"/>
              </a:rPr>
              <a:t>Why this is genuinely harder than people admit.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7B6B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Six reasons student money runs out early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None of these are about being careless. They are about how student money actually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641451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Income is irregular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Allowance, part-time work or freelance pay arrive at different times and different amounts.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641451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First time in charge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Nobody taught most of us how to plan money. We learn by running 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641451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Paying is frictionless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UPI takes two seconds. There is no pause to think, and no cash left in hand to warn you.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Group spending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Plans are made together, so the cost is decided by the group, not by your budget.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No safety 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One unexpected expense — a phone repair, a trip home — can undo a whole month.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Small feels harmless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₹40 here and ₹80 there never feels like a decision. Together they are the biggest expense.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05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CLEARING IT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Budgeting and saving are not the same 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You need both. A budget makes room; saving fills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54599" cy="3502733"/>
          </a:xfrm>
          <a:prstGeom prst="rect">
            <a:avLst/>
          </a:prstGeom>
          <a:solidFill>
            <a:srgbClr val="FFFFFF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5254599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1800786"/>
            <a:ext cx="48156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BUDGETING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76274"/>
            <a:ext cx="4742535" cy="377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A plan for money before you spend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745511"/>
            <a:ext cx="4742535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3281" y="3012973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2923819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Decides where each rupee should go</a:t>
            </a:r>
          </a:p>
        </p:txBody>
      </p:sp>
      <p:sp>
        <p:nvSpPr>
          <p:cNvPr id="20" name="Oval 19"/>
          <p:cNvSpPr/>
          <p:nvPr/>
        </p:nvSpPr>
        <p:spPr>
          <a:xfrm>
            <a:off x="1113281" y="3447765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3358611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Happens at the start of the month</a:t>
            </a:r>
          </a:p>
        </p:txBody>
      </p:sp>
      <p:sp>
        <p:nvSpPr>
          <p:cNvPr id="22" name="Oval 21"/>
          <p:cNvSpPr/>
          <p:nvPr/>
        </p:nvSpPr>
        <p:spPr>
          <a:xfrm>
            <a:off x="1113281" y="3882557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793403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Answers: can I afford this?</a:t>
            </a:r>
          </a:p>
        </p:txBody>
      </p:sp>
      <p:sp>
        <p:nvSpPr>
          <p:cNvPr id="24" name="Oval 23"/>
          <p:cNvSpPr/>
          <p:nvPr/>
        </p:nvSpPr>
        <p:spPr>
          <a:xfrm>
            <a:off x="1113281" y="4317349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4228195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Takes about ten minutes to set up</a:t>
            </a:r>
          </a:p>
        </p:txBody>
      </p:sp>
      <p:sp>
        <p:nvSpPr>
          <p:cNvPr id="26" name="Oval 25"/>
          <p:cNvSpPr/>
          <p:nvPr/>
        </p:nvSpPr>
        <p:spPr>
          <a:xfrm>
            <a:off x="1113281" y="4752141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4662987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Without it, saving rarely happens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0167" y="1800786"/>
            <a:ext cx="5254599" cy="3502733"/>
          </a:xfrm>
          <a:prstGeom prst="rect">
            <a:avLst/>
          </a:prstGeom>
          <a:solidFill>
            <a:srgbClr val="FFFFFF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0167" y="1800786"/>
            <a:ext cx="5254599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9623" y="1800786"/>
            <a:ext cx="48156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6199" y="2276274"/>
            <a:ext cx="4742535" cy="377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Money you deliberately keep aside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6199" y="2745511"/>
            <a:ext cx="4742535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2201" y="3012973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2923819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Sets money apart before it can be spent</a:t>
            </a:r>
          </a:p>
        </p:txBody>
      </p:sp>
      <p:sp>
        <p:nvSpPr>
          <p:cNvPr id="35" name="Oval 34"/>
          <p:cNvSpPr/>
          <p:nvPr/>
        </p:nvSpPr>
        <p:spPr>
          <a:xfrm>
            <a:off x="6642201" y="3447765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7367" y="3358611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Happens on the day money arrives</a:t>
            </a:r>
          </a:p>
        </p:txBody>
      </p:sp>
      <p:sp>
        <p:nvSpPr>
          <p:cNvPr id="37" name="Oval 36"/>
          <p:cNvSpPr/>
          <p:nvPr/>
        </p:nvSpPr>
        <p:spPr>
          <a:xfrm>
            <a:off x="6642201" y="3882557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7367" y="3793403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Answers: what is this money for?</a:t>
            </a:r>
          </a:p>
        </p:txBody>
      </p:sp>
      <p:sp>
        <p:nvSpPr>
          <p:cNvPr id="39" name="Oval 38"/>
          <p:cNvSpPr/>
          <p:nvPr/>
        </p:nvSpPr>
        <p:spPr>
          <a:xfrm>
            <a:off x="6642201" y="4317349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7367" y="4228195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Works best when it is automatic</a:t>
            </a:r>
          </a:p>
        </p:txBody>
      </p:sp>
      <p:sp>
        <p:nvSpPr>
          <p:cNvPr id="41" name="Oval 40"/>
          <p:cNvSpPr/>
          <p:nvPr/>
        </p:nvSpPr>
        <p:spPr>
          <a:xfrm>
            <a:off x="6642201" y="4752141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7367" y="4662987"/>
            <a:ext cx="4468215" cy="43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Grows a buffer and funds real goals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IN SHORT   </a:t>
            </a: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Budgeting is the plan. Saving is the result of following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0C0C"/>
              </a:gs>
              <a:gs pos="100000">
                <a:srgbClr val="1C040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B886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521111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0934" cy="274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Where The Money Goes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D6C4"/>
                </a:solidFill>
                <a:latin typeface="Quattrocento Sans"/>
                <a:ea typeface="Quattrocento Sans"/>
                <a:cs typeface="Quattrocento Sans"/>
              </a:rPr>
              <a:t>Find the leaks before trying to plug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7B6B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07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FOUR TRAPS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Where student budgets usually leak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Notice that none of these are big single purchases. They are repeated small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20320" cy="204397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052246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Food and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417657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3281" y="2611967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Ordering in because cooking feels like effort</a:t>
            </a:r>
          </a:p>
        </p:txBody>
      </p:sp>
      <p:sp>
        <p:nvSpPr>
          <p:cNvPr id="20" name="Oval 19"/>
          <p:cNvSpPr/>
          <p:nvPr/>
        </p:nvSpPr>
        <p:spPr>
          <a:xfrm>
            <a:off x="1113281" y="2996228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Delivery fees and small order charges add up</a:t>
            </a:r>
          </a:p>
        </p:txBody>
      </p:sp>
      <p:sp>
        <p:nvSpPr>
          <p:cNvPr id="22" name="Oval 21"/>
          <p:cNvSpPr/>
          <p:nvPr/>
        </p:nvSpPr>
        <p:spPr>
          <a:xfrm>
            <a:off x="1113281" y="3380489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Often the single biggest avoidable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1879" y="1800786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800786"/>
            <a:ext cx="20320" cy="204397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7911" y="2052246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647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Subscriptions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7911" y="2417657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3913" y="2611967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9079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Free trials that quietly start charging</a:t>
            </a:r>
          </a:p>
        </p:txBody>
      </p:sp>
      <p:sp>
        <p:nvSpPr>
          <p:cNvPr id="31" name="Oval 30"/>
          <p:cNvSpPr/>
          <p:nvPr/>
        </p:nvSpPr>
        <p:spPr>
          <a:xfrm>
            <a:off x="6623913" y="2996228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9079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Several streaming or music plans at once</a:t>
            </a:r>
          </a:p>
        </p:txBody>
      </p:sp>
      <p:sp>
        <p:nvSpPr>
          <p:cNvPr id="33" name="Oval 32"/>
          <p:cNvSpPr/>
          <p:nvPr/>
        </p:nvSpPr>
        <p:spPr>
          <a:xfrm>
            <a:off x="6623913" y="3380489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9079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Money leaves without a decision each month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" y="4045929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7" y="4045929"/>
            <a:ext cx="20320" cy="2043974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4297389"/>
            <a:ext cx="77724" cy="77724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71016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Sales and impulse buys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4662799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3281" y="4857109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Discounts create urgency that feels real</a:t>
            </a:r>
          </a:p>
        </p:txBody>
      </p:sp>
      <p:sp>
        <p:nvSpPr>
          <p:cNvPr id="42" name="Oval 41"/>
          <p:cNvSpPr/>
          <p:nvPr/>
        </p:nvSpPr>
        <p:spPr>
          <a:xfrm>
            <a:off x="1113281" y="5241371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8448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Saved cards make checkout too easy</a:t>
            </a:r>
          </a:p>
        </p:txBody>
      </p:sp>
      <p:sp>
        <p:nvSpPr>
          <p:cNvPr id="44" name="Oval 43"/>
          <p:cNvSpPr/>
          <p:nvPr/>
        </p:nvSpPr>
        <p:spPr>
          <a:xfrm>
            <a:off x="1113281" y="5625632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98448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You buy the offer, not the item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1879" y="4045929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1879" y="4045929"/>
            <a:ext cx="20320" cy="204397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7911" y="4297389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1647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Outings and peer pressure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07911" y="4662799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23913" y="4857109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9079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Saying no feels socially expensive</a:t>
            </a:r>
          </a:p>
        </p:txBody>
      </p:sp>
      <p:sp>
        <p:nvSpPr>
          <p:cNvPr id="53" name="Oval 52"/>
          <p:cNvSpPr/>
          <p:nvPr/>
        </p:nvSpPr>
        <p:spPr>
          <a:xfrm>
            <a:off x="6623913" y="5241371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9079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One outing can equal a week's budget</a:t>
            </a:r>
          </a:p>
        </p:txBody>
      </p:sp>
      <p:sp>
        <p:nvSpPr>
          <p:cNvPr id="55" name="Oval 54"/>
          <p:cNvSpPr/>
          <p:nvPr/>
        </p:nvSpPr>
        <p:spPr>
          <a:xfrm>
            <a:off x="6623913" y="5625632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09079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Nobody discusses what they can afford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08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LEAK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What one small daily habit really costs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Figures are illustrative, but the arithmetic is the point: small and daily beats large and rare.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409153"/>
            <a:ext cx="3436010" cy="228600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409153"/>
            <a:ext cx="3436010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720049"/>
            <a:ext cx="2960522" cy="639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₹1,500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3432519"/>
            <a:ext cx="457200" cy="152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97111"/>
            <a:ext cx="2960522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One snack a day, for a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79502"/>
            <a:ext cx="2960522" cy="596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₹50 a day feels like nothing. Over a month it is often more than a phone recharge and a subscription combined.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5002" y="2409153"/>
            <a:ext cx="3436010" cy="228600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15002" y="2409153"/>
            <a:ext cx="3436010" cy="20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2746" y="2720049"/>
            <a:ext cx="2960522" cy="639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B8860B"/>
                </a:solidFill>
                <a:latin typeface="Sorts Mill Goudy"/>
                <a:ea typeface="Sorts Mill Goudy"/>
                <a:cs typeface="Sorts Mill Goudy"/>
              </a:rPr>
              <a:t>₹18,000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2746" y="3432519"/>
            <a:ext cx="457200" cy="152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2746" y="3597111"/>
            <a:ext cx="2960522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 same habit, over a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746" y="3879502"/>
            <a:ext cx="2960522" cy="596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That is a laptop upgrade, a certification course, or a serious start to an emergency buffer.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8756" y="2409153"/>
            <a:ext cx="3436010" cy="228600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8756" y="2409153"/>
            <a:ext cx="3436010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6500" y="2720049"/>
            <a:ext cx="2960522" cy="639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₹0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26500" y="3432519"/>
            <a:ext cx="457200" cy="152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6500" y="3597111"/>
            <a:ext cx="2960522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What it costs to fix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6500" y="3879502"/>
            <a:ext cx="2960522" cy="596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Nothing. Cutting it from daily to twice a week keeps most of the money and none of the misery.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Run this on your own habit. Daily amount × 30, then × 12. The number is usually uncomfortable.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09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HONEST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Why overspending happens to sensible 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Understanding the cause matters, because willpower alone is a weak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10783519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00786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Overspending is rarely a discipline problem. It is usually a visibility problem.</a:t>
            </a:r>
          </a:p>
        </p:txBody>
      </p:sp>
      <p:sp>
        <p:nvSpPr>
          <p:cNvPr id="15" name="Oval 14"/>
          <p:cNvSpPr/>
          <p:nvPr/>
        </p:nvSpPr>
        <p:spPr>
          <a:xfrm>
            <a:off x="857250" y="3129243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0492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Small amounts skip the decision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We judge ₹60 as 'nothing' instead of comparing it to the month.</a:t>
            </a:r>
          </a:p>
        </p:txBody>
      </p:sp>
      <p:sp>
        <p:nvSpPr>
          <p:cNvPr id="17" name="Oval 16"/>
          <p:cNvSpPr/>
          <p:nvPr/>
        </p:nvSpPr>
        <p:spPr>
          <a:xfrm>
            <a:off x="857250" y="4007067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9270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Digital payment removes the pause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Handing over cash makes you feel the spend. A tap does not.</a:t>
            </a:r>
          </a:p>
        </p:txBody>
      </p:sp>
      <p:sp>
        <p:nvSpPr>
          <p:cNvPr id="19" name="Oval 18"/>
          <p:cNvSpPr/>
          <p:nvPr/>
        </p:nvSpPr>
        <p:spPr>
          <a:xfrm>
            <a:off x="857250" y="4884891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804881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Offers manufacture urgency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deadline makes a want feel like a need.</a:t>
            </a:r>
          </a:p>
        </p:txBody>
      </p:sp>
      <p:sp>
        <p:nvSpPr>
          <p:cNvPr id="21" name="Oval 20"/>
          <p:cNvSpPr/>
          <p:nvPr/>
        </p:nvSpPr>
        <p:spPr>
          <a:xfrm>
            <a:off x="6477609" y="3129243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1063" y="30492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Spending is social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It is easier to overspend with friends than alone.</a:t>
            </a:r>
          </a:p>
        </p:txBody>
      </p:sp>
      <p:sp>
        <p:nvSpPr>
          <p:cNvPr id="23" name="Oval 22"/>
          <p:cNvSpPr/>
          <p:nvPr/>
        </p:nvSpPr>
        <p:spPr>
          <a:xfrm>
            <a:off x="6477609" y="4007067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063" y="39270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Boredom costs money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Scrolling and shopping fill the same empty twenty minutes.</a:t>
            </a:r>
          </a:p>
        </p:txBody>
      </p:sp>
      <p:sp>
        <p:nvSpPr>
          <p:cNvPr id="25" name="Oval 24"/>
          <p:cNvSpPr/>
          <p:nvPr/>
        </p:nvSpPr>
        <p:spPr>
          <a:xfrm>
            <a:off x="6477609" y="4884891"/>
            <a:ext cx="77724" cy="77724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1063" y="4804881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No record, no reality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If nothing is written down, the month has no scoreboard.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0C0C"/>
              </a:gs>
              <a:gs pos="100000">
                <a:srgbClr val="1C040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B886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521111"/>
                </a:solidFill>
                <a:latin typeface="Sorts Mill Goudy"/>
                <a:ea typeface="Sorts Mill Goudy"/>
                <a:cs typeface="Sorts Mill Goudy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3736" cy="274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How To Budget Simply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D6C4"/>
                </a:solidFill>
                <a:latin typeface="Quattrocento Sans"/>
                <a:ea typeface="Quattrocento Sans"/>
                <a:cs typeface="Quattrocento Sans"/>
              </a:rPr>
              <a:t>One rule, five steps, ten minutes a 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7B6B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11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The 50-30-20 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On ₹10,000 a month that is ₹5,000 for needs, ₹3,000 for wants and ₹2,000 saved.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26060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32151"/>
            <a:ext cx="2960522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50% —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340980"/>
            <a:ext cx="2960522" cy="1349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Things you cannot skip.</a:t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/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Hostel or rent, mess food, travel, data, books and course material.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15002" y="2212266"/>
            <a:ext cx="3436010" cy="260604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2746" y="3024545"/>
            <a:ext cx="2960522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30% — Wants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2746" y="3433374"/>
            <a:ext cx="2960522" cy="125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Things that make life enjoyable.</a:t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/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Eating out, subscriptions, outings, clothes, games.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8756" y="2212266"/>
            <a:ext cx="3436010" cy="26060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6500" y="2932151"/>
            <a:ext cx="2960522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20% — Savings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6500" y="3340980"/>
            <a:ext cx="2960522" cy="1349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Money set aside first.</a:t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/>
            </a:r>
            <a:br/>
            <a:r>
              <a:rPr sz="98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Emergency buffer, goals, and anything you are building towards.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Build your budget in five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No app required. A page in a notebook is enough to start.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46447" y="2561567"/>
            <a:ext cx="8773119" cy="19050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72711" y="2395146"/>
            <a:ext cx="347472" cy="34747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271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2916354"/>
            <a:ext cx="2010399" cy="1250677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" y="2916354"/>
            <a:ext cx="2010399" cy="177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099234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Know your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3399913"/>
            <a:ext cx="1699503" cy="730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Add every rupee that comes in each month, from every source.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5991" y="2395146"/>
            <a:ext cx="347472" cy="34747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599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4527" y="2916354"/>
            <a:ext cx="2010399" cy="1250677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34527" y="2916354"/>
            <a:ext cx="2010399" cy="177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9975" y="3099234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List fixed needs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9975" y="3399913"/>
            <a:ext cx="1699503" cy="730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Rent, mess, travel, data. These are decided before anything else.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9271" y="2395146"/>
            <a:ext cx="347472" cy="347472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92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27807" y="2916354"/>
            <a:ext cx="2010399" cy="1250677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27807" y="2916354"/>
            <a:ext cx="2010399" cy="177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3255" y="3099234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Save first, not last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3255" y="3399913"/>
            <a:ext cx="1699503" cy="730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Move your savings amount out on day one, before you can spend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2551" y="2395146"/>
            <a:ext cx="347472" cy="34747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255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1087" y="2916354"/>
            <a:ext cx="2010399" cy="1250677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21087" y="2916354"/>
            <a:ext cx="2010399" cy="177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6535" y="3099234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Give wants a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6535" y="3399913"/>
            <a:ext cx="1699503" cy="730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number, not a feeling. When it is gone, it is gone.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45831" y="2395146"/>
            <a:ext cx="347472" cy="34747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4583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14367" y="2916354"/>
            <a:ext cx="2010399" cy="1250677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14367" y="2916354"/>
            <a:ext cx="2010399" cy="177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9815" y="3099234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Review weekly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9815" y="3399913"/>
            <a:ext cx="1699503" cy="730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Five minutes every Sunday. Adjust early instead of discovering late.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Step three is the one that changes outcomes. Saving what is left over almost always means saving nothing.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13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WORKED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One month on ₹10,000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7" y="1517268"/>
          <a:ext cx="10783517" cy="3786248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3351634"/>
                <a:gridCol w="1457232"/>
                <a:gridCol w="1602955"/>
                <a:gridCol w="437169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CATEGORY</a:t>
                      </a:r>
                    </a:p>
                  </a:txBody>
                  <a:tcPr marL="146304" marR="146304" marT="73152" marB="73152" anchor="ctr">
                    <a:solidFill>
                      <a:srgbClr val="9E1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TYPE</a:t>
                      </a:r>
                    </a:p>
                  </a:txBody>
                  <a:tcPr marL="146304" marR="146304" marT="73152" marB="73152" anchor="ctr">
                    <a:solidFill>
                      <a:srgbClr val="9E1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PLANNED</a:t>
                      </a:r>
                    </a:p>
                  </a:txBody>
                  <a:tcPr marL="146304" marR="146304" marT="73152" marB="73152" anchor="ctr">
                    <a:solidFill>
                      <a:srgbClr val="9E1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HOW IT IS DECIDED</a:t>
                      </a:r>
                    </a:p>
                  </a:txBody>
                  <a:tcPr marL="146304" marR="146304" marT="73152" marB="73152" anchor="ctr">
                    <a:solidFill>
                      <a:srgbClr val="9E1B1B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Mess and food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Need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₹3,500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Fixed before the month starts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Travel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Need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₹800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Bus pass or regular commute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Phone and data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Need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₹400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Recurring, easy to forget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Books and stationery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Need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₹300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Varies by semester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Eating out and outings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Want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₹1,800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Hard limit for the month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Subscriptions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Want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₹400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Reviewed every few months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Shopping and other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Want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₹800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Whatever is left of wants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420703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Savings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Save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₹2,000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Moved out on day one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Illustrative figures. Copy the structure, not the numbers — yours will look different.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14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Six ways to keep score — pick one you will actually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best system is the boring one you still use in week three.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641451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A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One line per spend. Slow, but you feel every entry, which is the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733845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Phone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Always with you. Add the amount the moment you pay.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641451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Bank and UPI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Already recorded for you. Skim it once a week and total the categories.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342235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A simple spreadsheet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Four columns: date, item, amount, need or want. Nothing more.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434629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347761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A budgeting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756590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Automatic and tidy, but only helps if you open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The envelope 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Cash split into labelled envelopes. Brutal, visible and very effective.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0C0C"/>
              </a:gs>
              <a:gs pos="100000">
                <a:srgbClr val="1C040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B886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521111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0834" cy="274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Building The Savings Habit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D6C4"/>
                </a:solidFill>
                <a:latin typeface="Quattrocento Sans"/>
                <a:ea typeface="Quattrocento Sans"/>
                <a:cs typeface="Quattrocento Sans"/>
              </a:rPr>
              <a:t>Small, automatic and consistent beats large and occasional.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A7B6B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16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Pay yourself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535556"/>
            <a:ext cx="4313407" cy="794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Treat savings as a bill you owe yourself, due the day money arrives.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2421232"/>
            <a:ext cx="566928" cy="20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7250" y="2748130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677264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Decide the amount before the month starts</a:t>
            </a:r>
          </a:p>
        </p:txBody>
      </p:sp>
      <p:sp>
        <p:nvSpPr>
          <p:cNvPr id="16" name="Oval 15"/>
          <p:cNvSpPr/>
          <p:nvPr/>
        </p:nvSpPr>
        <p:spPr>
          <a:xfrm>
            <a:off x="857250" y="3086511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015645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Move it out on day one, not day thirty</a:t>
            </a:r>
          </a:p>
        </p:txBody>
      </p:sp>
      <p:sp>
        <p:nvSpPr>
          <p:cNvPr id="18" name="Oval 17"/>
          <p:cNvSpPr/>
          <p:nvPr/>
        </p:nvSpPr>
        <p:spPr>
          <a:xfrm>
            <a:off x="857250" y="3424893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354027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Keep it somewhere slightly inconvenient to reach</a:t>
            </a:r>
          </a:p>
        </p:txBody>
      </p:sp>
      <p:sp>
        <p:nvSpPr>
          <p:cNvPr id="20" name="Oval 19"/>
          <p:cNvSpPr/>
          <p:nvPr/>
        </p:nvSpPr>
        <p:spPr>
          <a:xfrm>
            <a:off x="857250" y="3763274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3692408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Live on what remains, which is easier than it sounds</a:t>
            </a:r>
          </a:p>
        </p:txBody>
      </p:sp>
      <p:sp>
        <p:nvSpPr>
          <p:cNvPr id="22" name="Oval 21"/>
          <p:cNvSpPr/>
          <p:nvPr/>
        </p:nvSpPr>
        <p:spPr>
          <a:xfrm>
            <a:off x="857250" y="4101656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4030790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Raise the amount slightly whenever income rises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0415" y="1517268"/>
            <a:ext cx="6104351" cy="1414483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0415" y="1517268"/>
            <a:ext cx="20320" cy="141448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76447" y="2012518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0183" y="1930222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The wrong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6447" y="2318480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Spend the month, then save whatever survives. Usually nothing does.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0415" y="3096344"/>
            <a:ext cx="6104351" cy="1414483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0415" y="3096344"/>
            <a:ext cx="20320" cy="141448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6447" y="3591594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0183" y="3509298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The right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6447" y="3897556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Save first, then spend the rest. The same income suddenly produces savings.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0415" y="4675420"/>
            <a:ext cx="6104351" cy="1414483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20415" y="4675420"/>
            <a:ext cx="20320" cy="141448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76447" y="5170670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0183" y="5088374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Why it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6447" y="5476632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You are not relying on willpower at the end of a tiring month.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17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LADDER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Five levels of a savings habit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Most people never get past level one. The gains are at levels three and four.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5334493"/>
            <a:ext cx="10783519" cy="75541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5334493"/>
            <a:ext cx="20320" cy="75541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2415" y="5565894"/>
            <a:ext cx="292608" cy="29260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61161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612571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Just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5620733"/>
            <a:ext cx="6961327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Any fixed amount, any frequency. ₹100 a week counts. The habit matters more than the sum.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2176" y="4451066"/>
            <a:ext cx="10082590" cy="75541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2176" y="4451066"/>
            <a:ext cx="20320" cy="75541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43344" y="4682467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43344" y="472818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3968" y="4729144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Build a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4912" y="4737306"/>
            <a:ext cx="6260398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Set aside one month of essential expenses. This is what stops small emergencies becoming debt.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3105" y="3567639"/>
            <a:ext cx="9381661" cy="75541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3105" y="3567639"/>
            <a:ext cx="20320" cy="75541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4273" y="3799041"/>
            <a:ext cx="292608" cy="29260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4273" y="38447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4897" y="3845718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Name your goals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5841" y="3853879"/>
            <a:ext cx="5559469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Laptop, course fee, trip home. Named money is far harder to spend by accident.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44034" y="2684213"/>
            <a:ext cx="8680732" cy="75541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44034" y="2684213"/>
            <a:ext cx="20320" cy="75541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45202" y="2915614"/>
            <a:ext cx="292608" cy="29260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45202" y="296133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5826" y="2962291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Make it automatic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6770" y="2970453"/>
            <a:ext cx="4858540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standing instruction on allowance day removes the decision entirely.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44962" y="1800786"/>
            <a:ext cx="7979804" cy="755410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44962" y="1800786"/>
            <a:ext cx="20320" cy="75541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6130" y="2032187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6130" y="207790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6754" y="2078864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Learn before you grow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7698" y="1995560"/>
            <a:ext cx="4157612" cy="439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Understand any option properly before you put money into it. Never invest on a tip.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18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WHERE TO KEEP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Common places students park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7" y="1919922"/>
          <a:ext cx="10783518" cy="2980944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2728360"/>
                <a:gridCol w="2208672"/>
                <a:gridCol w="2988204"/>
                <a:gridCol w="285828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OPTION</a:t>
                      </a:r>
                    </a:p>
                  </a:txBody>
                  <a:tcPr marL="146304" marR="146304" marT="73152" marB="73152" anchor="ctr">
                    <a:solidFill>
                      <a:srgbClr val="B886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HOW FAST YOU CAN REACH IT</a:t>
                      </a:r>
                    </a:p>
                  </a:txBody>
                  <a:tcPr marL="146304" marR="146304" marT="73152" marB="73152" anchor="ctr">
                    <a:solidFill>
                      <a:srgbClr val="B886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MAIN DRAWBACK</a:t>
                      </a:r>
                    </a:p>
                  </a:txBody>
                  <a:tcPr marL="146304" marR="146304" marT="73152" marB="73152" anchor="ctr">
                    <a:solidFill>
                      <a:srgbClr val="B886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SUITS</a:t>
                      </a:r>
                    </a:p>
                  </a:txBody>
                  <a:tcPr marL="146304" marR="146304" marT="73152" marB="73152" anchor="ctr">
                    <a:solidFill>
                      <a:srgbClr val="B8860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Cash at home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Instantly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Too easy to spend, easy to lose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Very small amounts only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Savings bank account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Same day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Visible, so tempting to dip into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Your everyday buffer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Separate savings account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Same day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One more account to manage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Keeping goals away from spending money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Recurring deposit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On maturity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Penalty if you break it early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Building a fixed monthly habit</a:t>
                      </a:r>
                    </a:p>
                  </a:txBody>
                  <a:tcPr marL="146304" marR="146304" marT="73152" marB="73152" anchor="ctr">
                    <a:solidFill>
                      <a:srgbClr val="FDFA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A1F1C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Fixed deposit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On maturity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Locked for the chosen term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7A6A62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Money you know you will not need soon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For classroom learning only, not financial advice. Read the terms and understand any product before putting money into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19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MAKING IT STICK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Six habits that survive a busy semester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Pick two to start. Six new habits at once is how people quit.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73384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Save on day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Before the month has a chance to spend it for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641451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Use the 24-hour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For any non-essential buy, wait a day. Most urges do not survive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73384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Cap your weak spot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Set one number for the trap you already know is yours.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Keep one no-spend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One day a week where nothing leaves your account. It resets the habit.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Review for five minutes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Same time every week. Short and regular beats long and never.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Keep the goal visible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note on your phone screen. Saving is easier when it is for something.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20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AVOID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Four mistakes that quietly undo the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Every one of these is a process problem with a simple fix.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20320" cy="204397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052246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Budgeting only in your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417657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3281" y="2611967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Untracked money always feels like more</a:t>
            </a:r>
          </a:p>
        </p:txBody>
      </p:sp>
      <p:sp>
        <p:nvSpPr>
          <p:cNvPr id="20" name="Oval 19"/>
          <p:cNvSpPr/>
          <p:nvPr/>
        </p:nvSpPr>
        <p:spPr>
          <a:xfrm>
            <a:off x="1113281" y="2996228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You forget the small spends first</a:t>
            </a:r>
          </a:p>
        </p:txBody>
      </p:sp>
      <p:sp>
        <p:nvSpPr>
          <p:cNvPr id="22" name="Oval 21"/>
          <p:cNvSpPr/>
          <p:nvPr/>
        </p:nvSpPr>
        <p:spPr>
          <a:xfrm>
            <a:off x="1113281" y="3380489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Fix: write it down, anywhere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1879" y="1800786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800786"/>
            <a:ext cx="20320" cy="204397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7911" y="2052246"/>
            <a:ext cx="77724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647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Saving what is left 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7911" y="2417657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3913" y="2611967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9079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At month end there is rarely anything left</a:t>
            </a:r>
          </a:p>
        </p:txBody>
      </p:sp>
      <p:sp>
        <p:nvSpPr>
          <p:cNvPr id="31" name="Oval 30"/>
          <p:cNvSpPr/>
          <p:nvPr/>
        </p:nvSpPr>
        <p:spPr>
          <a:xfrm>
            <a:off x="6623913" y="2996228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9079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Savings becomes an accident, not a plan</a:t>
            </a:r>
          </a:p>
        </p:txBody>
      </p:sp>
      <p:sp>
        <p:nvSpPr>
          <p:cNvPr id="33" name="Oval 32"/>
          <p:cNvSpPr/>
          <p:nvPr/>
        </p:nvSpPr>
        <p:spPr>
          <a:xfrm>
            <a:off x="6623913" y="3380489"/>
            <a:ext cx="68580" cy="685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9079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Fix: move it out on day 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" y="4045929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7" y="4045929"/>
            <a:ext cx="20320" cy="2043974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4297389"/>
            <a:ext cx="77724" cy="77724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71016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Copying someone else's budget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4662799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3281" y="4857109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Their rent, family support and course costs are not yours</a:t>
            </a:r>
          </a:p>
        </p:txBody>
      </p:sp>
      <p:sp>
        <p:nvSpPr>
          <p:cNvPr id="42" name="Oval 41"/>
          <p:cNvSpPr/>
          <p:nvPr/>
        </p:nvSpPr>
        <p:spPr>
          <a:xfrm>
            <a:off x="1113281" y="5241371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8448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It fails, and you blame yourself</a:t>
            </a:r>
          </a:p>
        </p:txBody>
      </p:sp>
      <p:sp>
        <p:nvSpPr>
          <p:cNvPr id="44" name="Oval 43"/>
          <p:cNvSpPr/>
          <p:nvPr/>
        </p:nvSpPr>
        <p:spPr>
          <a:xfrm>
            <a:off x="1113281" y="5625632"/>
            <a:ext cx="68580" cy="68580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98448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Fix: start from your own numbers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1879" y="4045929"/>
            <a:ext cx="5272887" cy="2043974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1879" y="4045929"/>
            <a:ext cx="20320" cy="204397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7911" y="4297389"/>
            <a:ext cx="77724" cy="777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1647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Quitting after a bad month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07911" y="4662799"/>
            <a:ext cx="4760823" cy="9525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23913" y="4857109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9079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One overspent month is data, not failure</a:t>
            </a:r>
          </a:p>
        </p:txBody>
      </p:sp>
      <p:sp>
        <p:nvSpPr>
          <p:cNvPr id="53" name="Oval 52"/>
          <p:cNvSpPr/>
          <p:nvPr/>
        </p:nvSpPr>
        <p:spPr>
          <a:xfrm>
            <a:off x="6623913" y="5241371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9079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Most people stop here permanently</a:t>
            </a:r>
          </a:p>
        </p:txBody>
      </p:sp>
      <p:sp>
        <p:nvSpPr>
          <p:cNvPr id="55" name="Oval 54"/>
          <p:cNvSpPr/>
          <p:nvPr/>
        </p:nvSpPr>
        <p:spPr>
          <a:xfrm>
            <a:off x="6623913" y="5625632"/>
            <a:ext cx="68580" cy="685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09079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Fix: reset next month and continue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E1B1B"/>
              </a:gs>
              <a:gs pos="100000">
                <a:srgbClr val="5E0E0E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-1645920" y="3474720"/>
            <a:ext cx="5120640" cy="5120640"/>
          </a:xfrm>
          <a:prstGeom prst="ellipse">
            <a:avLst/>
          </a:prstGeom>
          <a:solidFill>
            <a:srgbClr val="000000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9509760" y="-1463040"/>
            <a:ext cx="5120640" cy="5120640"/>
          </a:xfrm>
          <a:prstGeom prst="ellipse">
            <a:avLst/>
          </a:prstGeom>
          <a:solidFill>
            <a:srgbClr val="FFFFFF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952040" y="448056"/>
            <a:ext cx="173673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912" y="566928"/>
            <a:ext cx="149899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93840" y="2103120"/>
            <a:ext cx="1804014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WORTH REMEMBERING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56823"/>
            <a:ext cx="9082735" cy="1475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It is not about how much you earn. It is about how much you keep.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1799" y="4882896"/>
            <a:ext cx="768096" cy="17780"/>
          </a:xfrm>
          <a:prstGeom prst="rect">
            <a:avLst/>
          </a:prstGeom>
          <a:solidFill>
            <a:srgbClr val="E0B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138928"/>
            <a:ext cx="7985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E4D6"/>
                </a:solidFill>
                <a:latin typeface="Quattrocento Sans"/>
                <a:ea typeface="Quattrocento Sans"/>
                <a:cs typeface="Quattrocento Sans"/>
              </a:rPr>
              <a:t>A student who saves ₹500 a month has a habit that will still be working on a salary twenty times larger.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22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START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Your first 30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Four weeks is enough to see your own pattern and prove the habit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20607" y="2561567"/>
            <a:ext cx="8224799" cy="19050"/>
          </a:xfrm>
          <a:prstGeom prst="rect">
            <a:avLst/>
          </a:prstGeom>
          <a:solidFill>
            <a:srgbClr val="EA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46871" y="2395146"/>
            <a:ext cx="347472" cy="34747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68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2916354"/>
            <a:ext cx="2558719" cy="1074219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" y="2916354"/>
            <a:ext cx="2558719" cy="177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Week 1 —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Change nothing. Just write down every rupee you spend.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8471" y="2395146"/>
            <a:ext cx="347472" cy="34747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84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2847" y="2916354"/>
            <a:ext cx="2558719" cy="1074219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82847" y="2916354"/>
            <a:ext cx="2558719" cy="177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82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Week 2 — Find one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82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Total your categories. Pick the single biggest avoidable 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0071" y="2395146"/>
            <a:ext cx="347472" cy="347472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00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447" y="2916354"/>
            <a:ext cx="2558719" cy="1074219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4447" y="2916354"/>
            <a:ext cx="2558719" cy="177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Week 3 — Save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Decide your amount and move it out the day money arrives.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71671" y="2395146"/>
            <a:ext cx="347472" cy="34747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16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6047" y="2916354"/>
            <a:ext cx="2558719" cy="1074219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6047" y="2916354"/>
            <a:ext cx="2558719" cy="177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14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Week 4 — Review and repeat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14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Compare plan against reality, adjust once, and run it again.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Week one is the most important and the easiest to skip. You cannot fix what you have not measured.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79A92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1B1B"/>
                </a:solidFill>
                <a:latin typeface="Sorts Mill Goudy"/>
                <a:ea typeface="Sorts Mill Goudy"/>
                <a:cs typeface="Sorts Mill Goudy"/>
              </a:rPr>
              <a:t>23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A1F1C"/>
                </a:solidFill>
                <a:latin typeface="Sorts Mill Goudy"/>
                <a:ea typeface="Sorts Mill Goudy"/>
                <a:cs typeface="Sorts Mill Goudy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The whole session in six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20320" cy="130778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308375"/>
            <a:ext cx="292608" cy="29260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33397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245749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Overspending is a visibility problem, not a willpower problem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Write it down and most of the leak fixes itself.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" y="3291452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7" y="3291452"/>
            <a:ext cx="20320" cy="130778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3799041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246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736415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Budgeting plans money; saving keeps it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You need both, and the budget has to come first.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7" y="4782118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7" y="4782118"/>
            <a:ext cx="20320" cy="130778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992" y="5289707"/>
            <a:ext cx="292608" cy="29260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31531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5227081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Small repeated spends cost the most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₹50 a day is ₹18,000 a year. Do the arithmetic on your own habit.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1023" y="1800786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1023" y="1800786"/>
            <a:ext cx="20320" cy="130778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98767" y="2308375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8767" y="233397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7679" y="2245749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50-30-20 is enough structure to start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Needs, wants, savings. Adjust the percentages to your reality.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1023" y="3291452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1023" y="3291452"/>
            <a:ext cx="20320" cy="1307785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98767" y="3799041"/>
            <a:ext cx="292608" cy="29260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8767" y="38246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7679" y="3736415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Pay yourself first, on day one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Saving what is left over almost always means saving nothing.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1023" y="4782118"/>
            <a:ext cx="5263743" cy="1307785"/>
          </a:xfrm>
          <a:prstGeom prst="rect">
            <a:avLst/>
          </a:prstGeom>
          <a:solidFill>
            <a:srgbClr val="FDFAF4"/>
          </a:solidFill>
          <a:ln w="9525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1023" y="4782118"/>
            <a:ext cx="20320" cy="130778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98767" y="5289707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8767" y="531531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7679" y="5227081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1F1C"/>
                </a:solidFill>
                <a:latin typeface="Quattrocento Sans"/>
                <a:ea typeface="Quattrocento Sans"/>
                <a:cs typeface="Quattrocento Sans"/>
              </a:rPr>
              <a:t>Start with two habits, not six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7A6A62"/>
                </a:solidFill>
                <a:latin typeface="Quattrocento Sans"/>
                <a:ea typeface="Quattrocento Sans"/>
                <a:cs typeface="Quattrocento Sans"/>
              </a:rPr>
              <a:t>A boring system you still use in week three beats a perfect one you abandon.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0C0C"/>
              </a:gs>
              <a:gs pos="100000">
                <a:srgbClr val="1C040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474720"/>
            <a:ext cx="3657600" cy="3657600"/>
          </a:xfrm>
          <a:prstGeom prst="ellipse">
            <a:avLst/>
          </a:prstGeom>
          <a:solidFill>
            <a:srgbClr val="B886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37898" y="448056"/>
            <a:ext cx="1950876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770" y="566928"/>
            <a:ext cx="1713132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" y="1591056"/>
            <a:ext cx="1218048" cy="274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7863840" cy="891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994538"/>
            <a:ext cx="786384" cy="203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250570"/>
            <a:ext cx="7680960" cy="334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D6C4"/>
                </a:solidFill>
                <a:latin typeface="Quattrocento Sans"/>
                <a:ea typeface="Quattrocento Sans"/>
                <a:cs typeface="Quattrocento Sans"/>
              </a:rPr>
              <a:t>Budgeting is not about spending less on everything. It is about deciding, in advance, what your money is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31920"/>
            <a:ext cx="3539642" cy="1188720"/>
          </a:xfrm>
          <a:prstGeom prst="rect">
            <a:avLst/>
          </a:prstGeom>
          <a:solidFill>
            <a:srgbClr val="5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31920"/>
            <a:ext cx="20320" cy="1188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114800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C29A6B"/>
                </a:solidFill>
                <a:latin typeface="Quattrocento Sans"/>
                <a:ea typeface="Quattrocento Sans"/>
                <a:cs typeface="Quattrocento Sans"/>
              </a:rPr>
              <a:t>QUESTION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35254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ADCCB"/>
                </a:solidFill>
                <a:latin typeface="Quattrocento Sans"/>
                <a:ea typeface="Quattrocento Sans"/>
                <a:cs typeface="Quattrocento Sans"/>
              </a:rPr>
              <a:t>What is your single biggest avoidable spend this month?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026" y="3931920"/>
            <a:ext cx="3539642" cy="1188720"/>
          </a:xfrm>
          <a:prstGeom prst="rect">
            <a:avLst/>
          </a:prstGeom>
          <a:solidFill>
            <a:srgbClr val="5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6026" y="3931920"/>
            <a:ext cx="20320" cy="1188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5482" y="4114800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C29A6B"/>
                </a:solidFill>
                <a:latin typeface="Quattrocento Sans"/>
                <a:ea typeface="Quattrocento Sans"/>
                <a:cs typeface="Quattrocento Sans"/>
              </a:rPr>
              <a:t>QUESTION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5482" y="435254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ADCCB"/>
                </a:solidFill>
                <a:latin typeface="Quattrocento Sans"/>
                <a:ea typeface="Quattrocento Sans"/>
                <a:cs typeface="Quattrocento Sans"/>
              </a:rPr>
              <a:t>What amount could you move out on day one, starting now?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5124" y="3931920"/>
            <a:ext cx="3539642" cy="1188720"/>
          </a:xfrm>
          <a:prstGeom prst="rect">
            <a:avLst/>
          </a:prstGeom>
          <a:solidFill>
            <a:srgbClr val="5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5124" y="3931920"/>
            <a:ext cx="20320" cy="1188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4580" y="4114800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C29A6B"/>
                </a:solidFill>
                <a:latin typeface="Quattrocento Sans"/>
                <a:ea typeface="Quattrocento Sans"/>
                <a:cs typeface="Quattrocento Sans"/>
              </a:rPr>
              <a:t>QUESTION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4580" y="435254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ADCCB"/>
                </a:solidFill>
                <a:latin typeface="Quattrocento Sans"/>
                <a:ea typeface="Quattrocento Sans"/>
                <a:cs typeface="Quattrocento Sans"/>
              </a:rPr>
              <a:t>Which one goal would make saving feel worth it?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60720"/>
            <a:ext cx="11057839" cy="5669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760720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 cap="all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Presented by   </a:t>
            </a: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Lingesh K</a:t>
            </a:r>
            <a:r>
              <a:rPr sz="800" b="0" i="0" spc="130" cap="all">
                <a:solidFill>
                  <a:srgbClr val="E0B978"/>
                </a:solidFill>
                <a:latin typeface="Quattrocento Sans"/>
                <a:ea typeface="Quattrocento Sans"/>
                <a:cs typeface="Quattrocento Sans"/>
              </a:rPr>
              <a:t>      Register No.   </a:t>
            </a: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OSI2509030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Budgeting and Savings Habits Among Students</dc:title>
  <dc:subject>Personal Finance for Students</dc:subject>
  <dc:creator>Lingesh K (OSI2509030)</dc:creator>
  <cp:keywords/>
  <dc:description>Personal finance session for students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